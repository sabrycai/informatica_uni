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1.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30.xml" ContentType="application/vnd.openxmlformats-officedocument.presentationml.slide+xml"/>
  <Override PartName="/ppt/slides/slide16.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2.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21.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23.xml" ContentType="application/vnd.openxmlformats-officedocument.presentationml.notesSlide+xml"/>
  <Override PartName="/ppt/notesSlides/notesSlide15.xml" ContentType="application/vnd.openxmlformats-officedocument.presentationml.notes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notesSlides/notesSlide10.xml" ContentType="application/vnd.openxmlformats-officedocument.presentationml.notesSlide+xml"/>
  <Override PartName="/ppt/notesSlides/notesSlide6.xml" ContentType="application/vnd.openxmlformats-officedocument.presentationml.notesSlide+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 id="2147483672" r:id="rId2"/>
    <p:sldMasterId id="2147483691" r:id="rId3"/>
  </p:sldMasterIdLst>
  <p:notesMasterIdLst>
    <p:notesMasterId r:id="rId55"/>
  </p:notesMasterIdLst>
  <p:sldIdLst>
    <p:sldId id="367" r:id="rId4"/>
    <p:sldId id="327" r:id="rId5"/>
    <p:sldId id="328" r:id="rId6"/>
    <p:sldId id="330" r:id="rId7"/>
    <p:sldId id="329" r:id="rId8"/>
    <p:sldId id="342" r:id="rId9"/>
    <p:sldId id="331" r:id="rId10"/>
    <p:sldId id="343" r:id="rId11"/>
    <p:sldId id="332" r:id="rId12"/>
    <p:sldId id="344" r:id="rId13"/>
    <p:sldId id="333" r:id="rId14"/>
    <p:sldId id="345" r:id="rId15"/>
    <p:sldId id="334" r:id="rId16"/>
    <p:sldId id="357" r:id="rId17"/>
    <p:sldId id="335" r:id="rId18"/>
    <p:sldId id="346" r:id="rId19"/>
    <p:sldId id="336" r:id="rId20"/>
    <p:sldId id="347" r:id="rId21"/>
    <p:sldId id="348" r:id="rId22"/>
    <p:sldId id="337" r:id="rId23"/>
    <p:sldId id="338" r:id="rId24"/>
    <p:sldId id="339" r:id="rId25"/>
    <p:sldId id="340" r:id="rId26"/>
    <p:sldId id="341" r:id="rId27"/>
    <p:sldId id="256" r:id="rId28"/>
    <p:sldId id="371" r:id="rId29"/>
    <p:sldId id="372" r:id="rId30"/>
    <p:sldId id="373" r:id="rId31"/>
    <p:sldId id="374" r:id="rId32"/>
    <p:sldId id="375" r:id="rId33"/>
    <p:sldId id="376" r:id="rId34"/>
    <p:sldId id="263" r:id="rId35"/>
    <p:sldId id="264" r:id="rId36"/>
    <p:sldId id="265" r:id="rId37"/>
    <p:sldId id="349" r:id="rId38"/>
    <p:sldId id="257" r:id="rId39"/>
    <p:sldId id="355" r:id="rId40"/>
    <p:sldId id="350" r:id="rId41"/>
    <p:sldId id="258" r:id="rId42"/>
    <p:sldId id="370" r:id="rId43"/>
    <p:sldId id="351" r:id="rId44"/>
    <p:sldId id="259" r:id="rId45"/>
    <p:sldId id="369" r:id="rId46"/>
    <p:sldId id="352" r:id="rId47"/>
    <p:sldId id="260" r:id="rId48"/>
    <p:sldId id="353" r:id="rId49"/>
    <p:sldId id="261" r:id="rId50"/>
    <p:sldId id="354" r:id="rId51"/>
    <p:sldId id="262" r:id="rId52"/>
    <p:sldId id="368" r:id="rId53"/>
    <p:sldId id="356" r:id="rId54"/>
  </p:sldIdLst>
  <p:sldSz cx="9144000" cy="6858000" type="screen4x3"/>
  <p:notesSz cx="6858000" cy="9144000"/>
  <p:embeddedFontLst>
    <p:embeddedFont>
      <p:font typeface="Calibri" panose="020F0502020204030204" pitchFamily="34" charset="0"/>
      <p:regular r:id="rId56"/>
      <p:bold r:id="rId57"/>
      <p:italic r:id="rId58"/>
      <p:boldItalic r:id="rId59"/>
    </p:embeddedFont>
    <p:embeddedFont>
      <p:font typeface="Calibri Light" panose="020F0302020204030204" pitchFamily="34" charset="0"/>
      <p:regular r:id="rId60"/>
      <p:italic r:id="rId61"/>
    </p:embeddedFont>
    <p:embeddedFont>
      <p:font typeface="Source Sans Pro" panose="020B0503030403020204" pitchFamily="3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5" roundtripDataSignature="AMtx7mg7PAWhXJQmo3lPgQy8J3J+f46l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08" autoAdjust="0"/>
  </p:normalViewPr>
  <p:slideViewPr>
    <p:cSldViewPr snapToGrid="0">
      <p:cViewPr varScale="1">
        <p:scale>
          <a:sx n="85" d="100"/>
          <a:sy n="85" d="100"/>
        </p:scale>
        <p:origin x="1378" y="6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3.fntdata"/><Relationship Id="rId79"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6.fntdata"/><Relationship Id="rId82" Type="http://schemas.openxmlformats.org/officeDocument/2006/relationships/customXml" Target="../customXml/item3.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1.fntdata"/><Relationship Id="rId64" Type="http://schemas.openxmlformats.org/officeDocument/2006/relationships/font" Target="fonts/font9.fntdata"/><Relationship Id="rId7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80" Type="http://schemas.openxmlformats.org/officeDocument/2006/relationships/customXml" Target="../customXml/item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4.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7.fntdata"/><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2.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5.fntdata"/><Relationship Id="rId65" Type="http://schemas.openxmlformats.org/officeDocument/2006/relationships/font" Target="fonts/font10.fntdata"/><Relationship Id="rId78" Type="http://schemas.openxmlformats.org/officeDocument/2006/relationships/theme" Target="theme/theme1.xml"/><Relationship Id="rId81"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notesMaster" Target="notesMasters/notesMaster1.xml"/><Relationship Id="rId76" Type="http://schemas.openxmlformats.org/officeDocument/2006/relationships/presProps" Target="presProps.xml"/><Relationship Id="rId7"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415576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158750" indent="0">
              <a:buNone/>
            </a:pPr>
            <a:endParaRPr lang="it-IT" dirty="0"/>
          </a:p>
        </p:txBody>
      </p:sp>
    </p:spTree>
    <p:extLst>
      <p:ext uri="{BB962C8B-B14F-4D97-AF65-F5344CB8AC3E}">
        <p14:creationId xmlns:p14="http://schemas.microsoft.com/office/powerpoint/2010/main" val="3298149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158750" indent="0">
              <a:buNone/>
            </a:pPr>
            <a:endParaRPr lang="it-IT" dirty="0"/>
          </a:p>
        </p:txBody>
      </p:sp>
    </p:spTree>
    <p:extLst>
      <p:ext uri="{BB962C8B-B14F-4D97-AF65-F5344CB8AC3E}">
        <p14:creationId xmlns:p14="http://schemas.microsoft.com/office/powerpoint/2010/main" val="2417917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687805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367AC0-BB0E-EE45-B67E-6606AB89C3E0}"/>
              </a:ext>
            </a:extLst>
          </p:cNvPr>
          <p:cNvSpPr>
            <a:spLocks noGrp="1"/>
          </p:cNvSpPr>
          <p:nvPr>
            <p:ph type="ctrTitle"/>
          </p:nvPr>
        </p:nvSpPr>
        <p:spPr>
          <a:xfrm>
            <a:off x="1143000" y="1122363"/>
            <a:ext cx="6858000" cy="2387600"/>
          </a:xfrm>
        </p:spPr>
        <p:txBody>
          <a:bodyPr anchor="b"/>
          <a:lstStyle>
            <a:lvl1pPr algn="ctr">
              <a:defRPr sz="45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FF53AB7-2040-6A4E-B8ED-67778AF88E5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7FF3A72-D704-1841-96AA-28EC3DD8E2CE}"/>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5" name="Segnaposto piè di pagina 4">
            <a:extLst>
              <a:ext uri="{FF2B5EF4-FFF2-40B4-BE49-F238E27FC236}">
                <a16:creationId xmlns:a16="http://schemas.microsoft.com/office/drawing/2014/main" id="{A9CA5FEA-D3F6-8D4F-BD4F-ECA6856542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EAAD52E-67DD-4B40-8F63-C3017CBE6B68}"/>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528255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36CF00-FD7E-3F4B-9F94-8678F6E867F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92E0252-69EC-B644-974B-5C54AEBC12B1}"/>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6FA8D48-3180-EF46-9462-2E11F852B0FF}"/>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5" name="Segnaposto piè di pagina 4">
            <a:extLst>
              <a:ext uri="{FF2B5EF4-FFF2-40B4-BE49-F238E27FC236}">
                <a16:creationId xmlns:a16="http://schemas.microsoft.com/office/drawing/2014/main" id="{6E8CBD3E-9CC2-AB4D-9F84-714C51B156A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39A2179-0F5D-7A48-8EB5-044E5DCF17D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4140931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D9337D-EA32-C342-971D-6F706E94AAA7}"/>
              </a:ext>
            </a:extLst>
          </p:cNvPr>
          <p:cNvSpPr>
            <a:spLocks noGrp="1"/>
          </p:cNvSpPr>
          <p:nvPr>
            <p:ph type="title"/>
          </p:nvPr>
        </p:nvSpPr>
        <p:spPr>
          <a:xfrm>
            <a:off x="623888" y="1709739"/>
            <a:ext cx="7886700" cy="2852737"/>
          </a:xfrm>
        </p:spPr>
        <p:txBody>
          <a:bodyPr anchor="b"/>
          <a:lstStyle>
            <a:lvl1pPr>
              <a:defRPr sz="45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F038567C-11D6-3149-815B-596D4EE5068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3841DE1-40FA-5541-A83E-AFF6A60DA277}"/>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5" name="Segnaposto piè di pagina 4">
            <a:extLst>
              <a:ext uri="{FF2B5EF4-FFF2-40B4-BE49-F238E27FC236}">
                <a16:creationId xmlns:a16="http://schemas.microsoft.com/office/drawing/2014/main" id="{DDE33406-5847-C144-9808-ECE09FA3E14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DE7CB0-65E2-9D44-9CF8-6BF203218AB3}"/>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84106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A7A561-BA9A-1247-922E-6C11556BBC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C522E11-E4F4-3542-8669-453F68FA8398}"/>
              </a:ext>
            </a:extLst>
          </p:cNvPr>
          <p:cNvSpPr>
            <a:spLocks noGrp="1"/>
          </p:cNvSpPr>
          <p:nvPr>
            <p:ph sz="half" idx="1"/>
          </p:nvPr>
        </p:nvSpPr>
        <p:spPr>
          <a:xfrm>
            <a:off x="6286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0F52616-68E6-BB4A-96A9-1B7ACBF51BEC}"/>
              </a:ext>
            </a:extLst>
          </p:cNvPr>
          <p:cNvSpPr>
            <a:spLocks noGrp="1"/>
          </p:cNvSpPr>
          <p:nvPr>
            <p:ph sz="half" idx="2"/>
          </p:nvPr>
        </p:nvSpPr>
        <p:spPr>
          <a:xfrm>
            <a:off x="46291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7CC6BDC-A9E5-AA42-A8A5-C1103F0C3C64}"/>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6" name="Segnaposto piè di pagina 5">
            <a:extLst>
              <a:ext uri="{FF2B5EF4-FFF2-40B4-BE49-F238E27FC236}">
                <a16:creationId xmlns:a16="http://schemas.microsoft.com/office/drawing/2014/main" id="{42F679D5-D7D6-4749-9054-BD128D89C9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89AA0E8-25D9-1E40-804D-997B6AEA01BD}"/>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639831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B8D5F3-5523-B347-8B04-827E78F83122}"/>
              </a:ext>
            </a:extLst>
          </p:cNvPr>
          <p:cNvSpPr>
            <a:spLocks noGrp="1"/>
          </p:cNvSpPr>
          <p:nvPr>
            <p:ph type="title"/>
          </p:nvPr>
        </p:nvSpPr>
        <p:spPr>
          <a:xfrm>
            <a:off x="629841" y="365126"/>
            <a:ext cx="78867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B603646-5E6A-2F41-B712-8E476B6A62E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98D5E67-11E2-1046-A296-1CC9171C7BAB}"/>
              </a:ext>
            </a:extLst>
          </p:cNvPr>
          <p:cNvSpPr>
            <a:spLocks noGrp="1"/>
          </p:cNvSpPr>
          <p:nvPr>
            <p:ph sz="half" idx="2"/>
          </p:nvPr>
        </p:nvSpPr>
        <p:spPr>
          <a:xfrm>
            <a:off x="629842" y="2505075"/>
            <a:ext cx="3868340"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D30E96A8-2A9D-BA44-82AB-B82F09212EC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8018130-58EC-284C-A192-C371081C2517}"/>
              </a:ext>
            </a:extLst>
          </p:cNvPr>
          <p:cNvSpPr>
            <a:spLocks noGrp="1"/>
          </p:cNvSpPr>
          <p:nvPr>
            <p:ph sz="quarter" idx="4"/>
          </p:nvPr>
        </p:nvSpPr>
        <p:spPr>
          <a:xfrm>
            <a:off x="4629150" y="2505075"/>
            <a:ext cx="3887391"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CB29458A-6CF3-B94E-B727-939D1A471561}"/>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8" name="Segnaposto piè di pagina 7">
            <a:extLst>
              <a:ext uri="{FF2B5EF4-FFF2-40B4-BE49-F238E27FC236}">
                <a16:creationId xmlns:a16="http://schemas.microsoft.com/office/drawing/2014/main" id="{59E19C0E-0F91-0940-9385-12ABA967BD6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0768A48-068F-974D-98D6-0EC1DDB35679}"/>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7848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ED85C5-357B-0E40-828C-67A5C373E61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53762B7-CE4C-5348-82D8-7D04F258B97C}"/>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4" name="Segnaposto piè di pagina 3">
            <a:extLst>
              <a:ext uri="{FF2B5EF4-FFF2-40B4-BE49-F238E27FC236}">
                <a16:creationId xmlns:a16="http://schemas.microsoft.com/office/drawing/2014/main" id="{64DB46E7-B21B-A941-B987-55316164A5D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BEEB6E9-366B-B649-B905-E5A56D276216}"/>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89856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8D75B54-E12A-5442-8D55-468B050E0F6F}"/>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3" name="Segnaposto piè di pagina 2">
            <a:extLst>
              <a:ext uri="{FF2B5EF4-FFF2-40B4-BE49-F238E27FC236}">
                <a16:creationId xmlns:a16="http://schemas.microsoft.com/office/drawing/2014/main" id="{FAB2A5C5-1808-2946-8DFE-67203370BD8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F6E26AB-A10A-934A-A0EC-30A1322A1E35}"/>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19021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E5C40B-E968-214F-8001-CA7591B0DD2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825A044-FBFB-9644-BF3A-2594AC0412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2B36071-4534-D54F-AFF1-F727D2DC2AB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8641952-BC71-5A4B-BC34-62A2DD8CBCC3}"/>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6" name="Segnaposto piè di pagina 5">
            <a:extLst>
              <a:ext uri="{FF2B5EF4-FFF2-40B4-BE49-F238E27FC236}">
                <a16:creationId xmlns:a16="http://schemas.microsoft.com/office/drawing/2014/main" id="{0E0AA137-16A9-154E-87E2-05B30FB762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F91609-B2E7-2840-A72D-7EDA1C24F960}"/>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067515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F754E3-2D14-8F40-B464-14B90BB9B1E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4E2F00A2-A169-3647-A99A-786F0618B58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it-IT"/>
          </a:p>
        </p:txBody>
      </p:sp>
      <p:sp>
        <p:nvSpPr>
          <p:cNvPr id="4" name="Segnaposto testo 3">
            <a:extLst>
              <a:ext uri="{FF2B5EF4-FFF2-40B4-BE49-F238E27FC236}">
                <a16:creationId xmlns:a16="http://schemas.microsoft.com/office/drawing/2014/main" id="{CACC0AB3-6414-2145-B265-67BDAB7EE15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BB4EDBE-6213-DF4D-A4EE-AAF863ADF158}"/>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6" name="Segnaposto piè di pagina 5">
            <a:extLst>
              <a:ext uri="{FF2B5EF4-FFF2-40B4-BE49-F238E27FC236}">
                <a16:creationId xmlns:a16="http://schemas.microsoft.com/office/drawing/2014/main" id="{DDBE1ECD-E8FF-E24F-9FBA-9BB14237E8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FBF896D-807F-2149-A5ED-B820001F78E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862986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EE0EDF-6CF5-A14C-99B4-55F664CB25B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6562458-A655-544A-A151-8A948B62E3A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AF6DD5-DF38-A143-851C-B8924309AC7C}"/>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5" name="Segnaposto piè di pagina 4">
            <a:extLst>
              <a:ext uri="{FF2B5EF4-FFF2-40B4-BE49-F238E27FC236}">
                <a16:creationId xmlns:a16="http://schemas.microsoft.com/office/drawing/2014/main" id="{D3174AE1-61D9-8F49-9F60-D7301C88E36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B979509-6812-5346-836E-1B19A053E28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35161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E2465E9-337A-1545-8D0B-9B65F6A3D8D8}"/>
              </a:ext>
            </a:extLst>
          </p:cNvPr>
          <p:cNvSpPr>
            <a:spLocks noGrp="1"/>
          </p:cNvSpPr>
          <p:nvPr>
            <p:ph type="title" orient="vert"/>
          </p:nvPr>
        </p:nvSpPr>
        <p:spPr>
          <a:xfrm>
            <a:off x="6543675" y="365125"/>
            <a:ext cx="1971675"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430FEB-0602-2D4E-AF90-10E335830C3A}"/>
              </a:ext>
            </a:extLst>
          </p:cNvPr>
          <p:cNvSpPr>
            <a:spLocks noGrp="1"/>
          </p:cNvSpPr>
          <p:nvPr>
            <p:ph type="body" orient="vert" idx="1"/>
          </p:nvPr>
        </p:nvSpPr>
        <p:spPr>
          <a:xfrm>
            <a:off x="628650" y="365125"/>
            <a:ext cx="5800725"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C2387C-14AF-1547-87D4-20939D3E801F}"/>
              </a:ext>
            </a:extLst>
          </p:cNvPr>
          <p:cNvSpPr>
            <a:spLocks noGrp="1"/>
          </p:cNvSpPr>
          <p:nvPr>
            <p:ph type="dt" sz="half" idx="10"/>
          </p:nvPr>
        </p:nvSpPr>
        <p:spPr/>
        <p:txBody>
          <a:bodyPr/>
          <a:lstStyle/>
          <a:p>
            <a:fld id="{4CE450D7-51B2-DC41-A285-84B90542AA55}" type="datetimeFigureOut">
              <a:rPr lang="it-IT" smtClean="0"/>
              <a:t>14/04/2026</a:t>
            </a:fld>
            <a:endParaRPr lang="it-IT"/>
          </a:p>
        </p:txBody>
      </p:sp>
      <p:sp>
        <p:nvSpPr>
          <p:cNvPr id="5" name="Segnaposto piè di pagina 4">
            <a:extLst>
              <a:ext uri="{FF2B5EF4-FFF2-40B4-BE49-F238E27FC236}">
                <a16:creationId xmlns:a16="http://schemas.microsoft.com/office/drawing/2014/main" id="{9B85970C-D285-FC46-9BB1-94A16BE1E3F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5CA9C2E-F38A-3642-A45E-1F01AE95919B}"/>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78176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78" b="1" i="0">
                <a:solidFill>
                  <a:srgbClr val="330065"/>
                </a:solidFill>
                <a:latin typeface="Arial"/>
                <a:cs typeface="Arial"/>
              </a:defRPr>
            </a:lvl1pPr>
          </a:lstStyle>
          <a:p>
            <a:endParaRPr/>
          </a:p>
        </p:txBody>
      </p:sp>
      <p:sp>
        <p:nvSpPr>
          <p:cNvPr id="3" name="Holder 3"/>
          <p:cNvSpPr>
            <a:spLocks noGrp="1"/>
          </p:cNvSpPr>
          <p:nvPr>
            <p:ph sz="half" idx="2"/>
          </p:nvPr>
        </p:nvSpPr>
        <p:spPr>
          <a:xfrm>
            <a:off x="457201" y="1577340"/>
            <a:ext cx="397764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1" y="1577340"/>
            <a:ext cx="3977640" cy="2908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45" b="0" i="0">
                <a:solidFill>
                  <a:schemeClr val="tx1"/>
                </a:solidFill>
                <a:latin typeface="Arial"/>
                <a:cs typeface="Arial"/>
              </a:defRPr>
            </a:lvl1pPr>
          </a:lstStyle>
          <a:p>
            <a:pPr marL="8645">
              <a:spcBef>
                <a:spcPts val="17"/>
              </a:spcBef>
            </a:pPr>
            <a:r>
              <a:rPr lang="it-IT"/>
              <a:t>Sergio Sciarelli - </a:t>
            </a:r>
            <a:r>
              <a:rPr lang="it-IT" spc="-4"/>
              <a:t>La gestione dell'impresa CEDAM </a:t>
            </a:r>
            <a:r>
              <a:rPr lang="it-IT"/>
              <a:t>© </a:t>
            </a:r>
            <a:r>
              <a:rPr lang="it-IT" spc="-4"/>
              <a:t>2011 </a:t>
            </a:r>
            <a:r>
              <a:rPr lang="it-IT"/>
              <a:t>Wolters Kluwer Italia</a:t>
            </a:r>
            <a:r>
              <a:rPr lang="it-IT" spc="-41"/>
              <a:t> </a:t>
            </a:r>
            <a:r>
              <a:rPr lang="it-IT"/>
              <a:t>S.r.l.</a:t>
            </a:r>
            <a:endParaRPr lang="it-IT"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633432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DEDED"/>
          </a:solidFill>
          <a:ln/>
        </p:spPr>
      </p:sp>
      <p:sp>
        <p:nvSpPr>
          <p:cNvPr id="3" name="Shape 1"/>
          <p:cNvSpPr/>
          <p:nvPr/>
        </p:nvSpPr>
        <p:spPr>
          <a:xfrm>
            <a:off x="0" y="0"/>
            <a:ext cx="9144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3489083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5928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DEDED"/>
          </a:solidFill>
          <a:ln/>
        </p:spPr>
      </p:sp>
      <p:sp>
        <p:nvSpPr>
          <p:cNvPr id="3" name="Shape 1"/>
          <p:cNvSpPr/>
          <p:nvPr/>
        </p:nvSpPr>
        <p:spPr>
          <a:xfrm>
            <a:off x="0" y="0"/>
            <a:ext cx="9144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4003601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89456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580772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EDEDED"/>
          </a:solidFill>
          <a:ln/>
        </p:spPr>
      </p:sp>
      <p:sp>
        <p:nvSpPr>
          <p:cNvPr id="3" name="Shape 1"/>
          <p:cNvSpPr/>
          <p:nvPr/>
        </p:nvSpPr>
        <p:spPr>
          <a:xfrm>
            <a:off x="0" y="0"/>
            <a:ext cx="9144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1553680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773662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8105088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42900" y="1420283"/>
            <a:ext cx="38862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685800" y="2590800"/>
            <a:ext cx="3200400" cy="1168400"/>
          </a:xfrm>
          <a:prstGeom prst="rect">
            <a:avLst/>
          </a:prstGeom>
          <a:noFill/>
          <a:ln>
            <a:noFill/>
          </a:ln>
        </p:spPr>
        <p:txBody>
          <a:bodyPr spcFirstLastPara="1" wrap="square" lIns="91425" tIns="45700" rIns="91425" bIns="45700" anchor="t" anchorCtr="0">
            <a:normAutofit/>
          </a:bodyPr>
          <a:lstStyle>
            <a:lvl1pPr lvl="0" algn="ctr">
              <a:spcBef>
                <a:spcPts val="320"/>
              </a:spcBef>
              <a:spcAft>
                <a:spcPts val="0"/>
              </a:spcAft>
              <a:buClr>
                <a:srgbClr val="888888"/>
              </a:buClr>
              <a:buSzPts val="3200"/>
              <a:buNone/>
              <a:defRPr>
                <a:solidFill>
                  <a:srgbClr val="888888"/>
                </a:solidFill>
              </a:defRPr>
            </a:lvl1pPr>
            <a:lvl2pPr lvl="1" algn="ctr">
              <a:spcBef>
                <a:spcPts val="280"/>
              </a:spcBef>
              <a:spcAft>
                <a:spcPts val="0"/>
              </a:spcAft>
              <a:buClr>
                <a:srgbClr val="888888"/>
              </a:buClr>
              <a:buSzPts val="2800"/>
              <a:buNone/>
              <a:defRPr>
                <a:solidFill>
                  <a:srgbClr val="888888"/>
                </a:solidFill>
              </a:defRPr>
            </a:lvl2pPr>
            <a:lvl3pPr lvl="2" algn="ctr">
              <a:spcBef>
                <a:spcPts val="240"/>
              </a:spcBef>
              <a:spcAft>
                <a:spcPts val="0"/>
              </a:spcAft>
              <a:buClr>
                <a:srgbClr val="888888"/>
              </a:buClr>
              <a:buSzPts val="2400"/>
              <a:buNone/>
              <a:defRPr>
                <a:solidFill>
                  <a:srgbClr val="888888"/>
                </a:solidFill>
              </a:defRPr>
            </a:lvl3pPr>
            <a:lvl4pPr lvl="3" algn="ctr">
              <a:spcBef>
                <a:spcPts val="200"/>
              </a:spcBef>
              <a:spcAft>
                <a:spcPts val="0"/>
              </a:spcAft>
              <a:buClr>
                <a:srgbClr val="888888"/>
              </a:buClr>
              <a:buSzPts val="2000"/>
              <a:buNone/>
              <a:defRPr>
                <a:solidFill>
                  <a:srgbClr val="888888"/>
                </a:solidFill>
              </a:defRPr>
            </a:lvl4pPr>
            <a:lvl5pPr lvl="4" algn="ctr">
              <a:spcBef>
                <a:spcPts val="200"/>
              </a:spcBef>
              <a:spcAft>
                <a:spcPts val="0"/>
              </a:spcAft>
              <a:buClr>
                <a:srgbClr val="888888"/>
              </a:buClr>
              <a:buSzPts val="2000"/>
              <a:buNone/>
              <a:defRPr>
                <a:solidFill>
                  <a:srgbClr val="888888"/>
                </a:solidFill>
              </a:defRPr>
            </a:lvl5pPr>
            <a:lvl6pPr lvl="5" algn="ctr">
              <a:spcBef>
                <a:spcPts val="200"/>
              </a:spcBef>
              <a:spcAft>
                <a:spcPts val="0"/>
              </a:spcAft>
              <a:buClr>
                <a:srgbClr val="888888"/>
              </a:buClr>
              <a:buSzPts val="2000"/>
              <a:buNone/>
              <a:defRPr>
                <a:solidFill>
                  <a:srgbClr val="888888"/>
                </a:solidFill>
              </a:defRPr>
            </a:lvl6pPr>
            <a:lvl7pPr lvl="6" algn="ctr">
              <a:spcBef>
                <a:spcPts val="200"/>
              </a:spcBef>
              <a:spcAft>
                <a:spcPts val="0"/>
              </a:spcAft>
              <a:buClr>
                <a:srgbClr val="888888"/>
              </a:buClr>
              <a:buSzPts val="2000"/>
              <a:buNone/>
              <a:defRPr>
                <a:solidFill>
                  <a:srgbClr val="888888"/>
                </a:solidFill>
              </a:defRPr>
            </a:lvl7pPr>
            <a:lvl8pPr lvl="7" algn="ctr">
              <a:spcBef>
                <a:spcPts val="200"/>
              </a:spcBef>
              <a:spcAft>
                <a:spcPts val="0"/>
              </a:spcAft>
              <a:buClr>
                <a:srgbClr val="888888"/>
              </a:buClr>
              <a:buSzPts val="2000"/>
              <a:buNone/>
              <a:defRPr>
                <a:solidFill>
                  <a:srgbClr val="888888"/>
                </a:solidFill>
              </a:defRPr>
            </a:lvl8pPr>
            <a:lvl9pPr lvl="8" algn="ctr">
              <a:spcBef>
                <a:spcPts val="2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4171102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515049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61157" y="2937934"/>
            <a:ext cx="38862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361157" y="1937810"/>
            <a:ext cx="3886200" cy="1000125"/>
          </a:xfrm>
          <a:prstGeom prst="rect">
            <a:avLst/>
          </a:prstGeom>
          <a:noFill/>
          <a:ln>
            <a:noFill/>
          </a:ln>
        </p:spPr>
        <p:txBody>
          <a:bodyPr spcFirstLastPara="1" wrap="square" lIns="91425" tIns="45700" rIns="91425" bIns="45700" anchor="b" anchorCtr="0">
            <a:normAutofit/>
          </a:bodyPr>
          <a:lstStyle>
            <a:lvl1pPr marL="228611" lvl="0" indent="-114306" algn="l">
              <a:spcBef>
                <a:spcPts val="200"/>
              </a:spcBef>
              <a:spcAft>
                <a:spcPts val="0"/>
              </a:spcAft>
              <a:buClr>
                <a:srgbClr val="888888"/>
              </a:buClr>
              <a:buSzPts val="2000"/>
              <a:buNone/>
              <a:defRPr sz="1000">
                <a:solidFill>
                  <a:srgbClr val="888888"/>
                </a:solidFill>
              </a:defRPr>
            </a:lvl1pPr>
            <a:lvl2pPr marL="457223" lvl="1" indent="-114306" algn="l">
              <a:spcBef>
                <a:spcPts val="180"/>
              </a:spcBef>
              <a:spcAft>
                <a:spcPts val="0"/>
              </a:spcAft>
              <a:buClr>
                <a:srgbClr val="888888"/>
              </a:buClr>
              <a:buSzPts val="1800"/>
              <a:buNone/>
              <a:defRPr sz="900">
                <a:solidFill>
                  <a:srgbClr val="888888"/>
                </a:solidFill>
              </a:defRPr>
            </a:lvl2pPr>
            <a:lvl3pPr marL="685835" lvl="2" indent="-114306" algn="l">
              <a:spcBef>
                <a:spcPts val="160"/>
              </a:spcBef>
              <a:spcAft>
                <a:spcPts val="0"/>
              </a:spcAft>
              <a:buClr>
                <a:srgbClr val="888888"/>
              </a:buClr>
              <a:buSzPts val="1600"/>
              <a:buNone/>
              <a:defRPr sz="800">
                <a:solidFill>
                  <a:srgbClr val="888888"/>
                </a:solidFill>
              </a:defRPr>
            </a:lvl3pPr>
            <a:lvl4pPr marL="914446" lvl="3" indent="-114306" algn="l">
              <a:spcBef>
                <a:spcPts val="140"/>
              </a:spcBef>
              <a:spcAft>
                <a:spcPts val="0"/>
              </a:spcAft>
              <a:buClr>
                <a:srgbClr val="888888"/>
              </a:buClr>
              <a:buSzPts val="1400"/>
              <a:buNone/>
              <a:defRPr sz="700">
                <a:solidFill>
                  <a:srgbClr val="888888"/>
                </a:solidFill>
              </a:defRPr>
            </a:lvl4pPr>
            <a:lvl5pPr marL="1143057" lvl="4" indent="-114306" algn="l">
              <a:spcBef>
                <a:spcPts val="140"/>
              </a:spcBef>
              <a:spcAft>
                <a:spcPts val="0"/>
              </a:spcAft>
              <a:buClr>
                <a:srgbClr val="888888"/>
              </a:buClr>
              <a:buSzPts val="1400"/>
              <a:buNone/>
              <a:defRPr sz="700">
                <a:solidFill>
                  <a:srgbClr val="888888"/>
                </a:solidFill>
              </a:defRPr>
            </a:lvl5pPr>
            <a:lvl6pPr marL="1371668" lvl="5" indent="-114306" algn="l">
              <a:spcBef>
                <a:spcPts val="140"/>
              </a:spcBef>
              <a:spcAft>
                <a:spcPts val="0"/>
              </a:spcAft>
              <a:buClr>
                <a:srgbClr val="888888"/>
              </a:buClr>
              <a:buSzPts val="1400"/>
              <a:buNone/>
              <a:defRPr sz="700">
                <a:solidFill>
                  <a:srgbClr val="888888"/>
                </a:solidFill>
              </a:defRPr>
            </a:lvl6pPr>
            <a:lvl7pPr marL="1600280" lvl="6" indent="-114306" algn="l">
              <a:spcBef>
                <a:spcPts val="140"/>
              </a:spcBef>
              <a:spcAft>
                <a:spcPts val="0"/>
              </a:spcAft>
              <a:buClr>
                <a:srgbClr val="888888"/>
              </a:buClr>
              <a:buSzPts val="1400"/>
              <a:buNone/>
              <a:defRPr sz="700">
                <a:solidFill>
                  <a:srgbClr val="888888"/>
                </a:solidFill>
              </a:defRPr>
            </a:lvl7pPr>
            <a:lvl8pPr marL="1828892" lvl="7" indent="-114306" algn="l">
              <a:spcBef>
                <a:spcPts val="140"/>
              </a:spcBef>
              <a:spcAft>
                <a:spcPts val="0"/>
              </a:spcAft>
              <a:buClr>
                <a:srgbClr val="888888"/>
              </a:buClr>
              <a:buSzPts val="1400"/>
              <a:buNone/>
              <a:defRPr sz="700">
                <a:solidFill>
                  <a:srgbClr val="888888"/>
                </a:solidFill>
              </a:defRPr>
            </a:lvl8pPr>
            <a:lvl9pPr marL="2057503" lvl="8" indent="-114306" algn="l">
              <a:spcBef>
                <a:spcPts val="140"/>
              </a:spcBef>
              <a:spcAft>
                <a:spcPts val="0"/>
              </a:spcAft>
              <a:buClr>
                <a:srgbClr val="888888"/>
              </a:buClr>
              <a:buSzPts val="1400"/>
              <a:buNone/>
              <a:defRPr sz="700">
                <a:solidFill>
                  <a:srgbClr val="888888"/>
                </a:solidFill>
              </a:defRPr>
            </a:lvl9pPr>
          </a:lstStyle>
          <a:p>
            <a:endParaRPr/>
          </a:p>
        </p:txBody>
      </p:sp>
      <p:sp>
        <p:nvSpPr>
          <p:cNvPr id="30" name="Google Shape;30;p5"/>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7305193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86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6" name="Google Shape;36;p6"/>
          <p:cNvSpPr txBox="1">
            <a:spLocks noGrp="1"/>
          </p:cNvSpPr>
          <p:nvPr>
            <p:ph type="body" idx="2"/>
          </p:nvPr>
        </p:nvSpPr>
        <p:spPr>
          <a:xfrm>
            <a:off x="23241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7" name="Google Shape;37;p6"/>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9041826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8601" y="1023409"/>
            <a:ext cx="2020094"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3" name="Google Shape;43;p7"/>
          <p:cNvSpPr txBox="1">
            <a:spLocks noGrp="1"/>
          </p:cNvSpPr>
          <p:nvPr>
            <p:ph type="body" idx="2"/>
          </p:nvPr>
        </p:nvSpPr>
        <p:spPr>
          <a:xfrm>
            <a:off x="228601" y="1449917"/>
            <a:ext cx="2020094"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4" name="Google Shape;44;p7"/>
          <p:cNvSpPr txBox="1">
            <a:spLocks noGrp="1"/>
          </p:cNvSpPr>
          <p:nvPr>
            <p:ph type="body" idx="3"/>
          </p:nvPr>
        </p:nvSpPr>
        <p:spPr>
          <a:xfrm>
            <a:off x="2322513" y="1023409"/>
            <a:ext cx="2020888"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5" name="Google Shape;45;p7"/>
          <p:cNvSpPr txBox="1">
            <a:spLocks noGrp="1"/>
          </p:cNvSpPr>
          <p:nvPr>
            <p:ph type="body" idx="4"/>
          </p:nvPr>
        </p:nvSpPr>
        <p:spPr>
          <a:xfrm>
            <a:off x="2322513" y="1449917"/>
            <a:ext cx="2020888"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6" name="Google Shape;46;p7"/>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9917417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8105275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8600" y="182033"/>
            <a:ext cx="1504157"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787526" y="182035"/>
            <a:ext cx="2555875" cy="3902075"/>
          </a:xfrm>
          <a:prstGeom prst="rect">
            <a:avLst/>
          </a:prstGeom>
          <a:noFill/>
          <a:ln>
            <a:noFill/>
          </a:ln>
        </p:spPr>
        <p:txBody>
          <a:bodyPr spcFirstLastPara="1" wrap="square" lIns="91425" tIns="45700" rIns="91425" bIns="45700" anchor="t" anchorCtr="0">
            <a:normAutofit/>
          </a:bodyPr>
          <a:lstStyle>
            <a:lvl1pPr marL="228611" lvl="0" indent="-215911" algn="l">
              <a:spcBef>
                <a:spcPts val="320"/>
              </a:spcBef>
              <a:spcAft>
                <a:spcPts val="0"/>
              </a:spcAft>
              <a:buClr>
                <a:schemeClr val="dk1"/>
              </a:buClr>
              <a:buSzPts val="3200"/>
              <a:buChar char="•"/>
              <a:defRPr sz="1600"/>
            </a:lvl1pPr>
            <a:lvl2pPr marL="457223" lvl="1" indent="-203210" algn="l">
              <a:spcBef>
                <a:spcPts val="280"/>
              </a:spcBef>
              <a:spcAft>
                <a:spcPts val="0"/>
              </a:spcAft>
              <a:buClr>
                <a:schemeClr val="dk1"/>
              </a:buClr>
              <a:buSzPts val="2800"/>
              <a:buChar char="–"/>
              <a:defRPr sz="1400"/>
            </a:lvl2pPr>
            <a:lvl3pPr marL="685835" lvl="2" indent="-190510" algn="l">
              <a:spcBef>
                <a:spcPts val="240"/>
              </a:spcBef>
              <a:spcAft>
                <a:spcPts val="0"/>
              </a:spcAft>
              <a:buClr>
                <a:schemeClr val="dk1"/>
              </a:buClr>
              <a:buSzPts val="2400"/>
              <a:buChar char="•"/>
              <a:defRPr sz="1200"/>
            </a:lvl3pPr>
            <a:lvl4pPr marL="914446" lvl="3" indent="-177809" algn="l">
              <a:spcBef>
                <a:spcPts val="200"/>
              </a:spcBef>
              <a:spcAft>
                <a:spcPts val="0"/>
              </a:spcAft>
              <a:buClr>
                <a:schemeClr val="dk1"/>
              </a:buClr>
              <a:buSzPts val="2000"/>
              <a:buChar char="–"/>
              <a:defRPr sz="1000"/>
            </a:lvl4pPr>
            <a:lvl5pPr marL="1143057" lvl="4" indent="-177809" algn="l">
              <a:spcBef>
                <a:spcPts val="200"/>
              </a:spcBef>
              <a:spcAft>
                <a:spcPts val="0"/>
              </a:spcAft>
              <a:buClr>
                <a:schemeClr val="dk1"/>
              </a:buClr>
              <a:buSzPts val="2000"/>
              <a:buChar char="»"/>
              <a:defRPr sz="1000"/>
            </a:lvl5pPr>
            <a:lvl6pPr marL="1371668" lvl="5" indent="-177809" algn="l">
              <a:spcBef>
                <a:spcPts val="200"/>
              </a:spcBef>
              <a:spcAft>
                <a:spcPts val="0"/>
              </a:spcAft>
              <a:buClr>
                <a:schemeClr val="dk1"/>
              </a:buClr>
              <a:buSzPts val="2000"/>
              <a:buChar char="•"/>
              <a:defRPr sz="1000"/>
            </a:lvl6pPr>
            <a:lvl7pPr marL="1600280" lvl="6" indent="-177809" algn="l">
              <a:spcBef>
                <a:spcPts val="200"/>
              </a:spcBef>
              <a:spcAft>
                <a:spcPts val="0"/>
              </a:spcAft>
              <a:buClr>
                <a:schemeClr val="dk1"/>
              </a:buClr>
              <a:buSzPts val="2000"/>
              <a:buChar char="•"/>
              <a:defRPr sz="1000"/>
            </a:lvl7pPr>
            <a:lvl8pPr marL="1828892" lvl="7" indent="-177809" algn="l">
              <a:spcBef>
                <a:spcPts val="200"/>
              </a:spcBef>
              <a:spcAft>
                <a:spcPts val="0"/>
              </a:spcAft>
              <a:buClr>
                <a:schemeClr val="dk1"/>
              </a:buClr>
              <a:buSzPts val="2000"/>
              <a:buChar char="•"/>
              <a:defRPr sz="1000"/>
            </a:lvl8pPr>
            <a:lvl9pPr marL="2057503" lvl="8" indent="-177809" algn="l">
              <a:spcBef>
                <a:spcPts val="200"/>
              </a:spcBef>
              <a:spcAft>
                <a:spcPts val="0"/>
              </a:spcAft>
              <a:buClr>
                <a:schemeClr val="dk1"/>
              </a:buClr>
              <a:buSzPts val="2000"/>
              <a:buChar char="•"/>
              <a:defRPr sz="1000"/>
            </a:lvl9pPr>
          </a:lstStyle>
          <a:p>
            <a:endParaRPr/>
          </a:p>
        </p:txBody>
      </p:sp>
      <p:sp>
        <p:nvSpPr>
          <p:cNvPr id="57" name="Google Shape;57;p9"/>
          <p:cNvSpPr txBox="1">
            <a:spLocks noGrp="1"/>
          </p:cNvSpPr>
          <p:nvPr>
            <p:ph type="body" idx="2"/>
          </p:nvPr>
        </p:nvSpPr>
        <p:spPr>
          <a:xfrm>
            <a:off x="228600" y="956735"/>
            <a:ext cx="1504157" cy="31273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58" name="Google Shape;58;p9"/>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12643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96144" y="3200401"/>
            <a:ext cx="27432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896144" y="408517"/>
            <a:ext cx="2743200" cy="2743200"/>
          </a:xfrm>
          <a:prstGeom prst="rect">
            <a:avLst/>
          </a:prstGeom>
          <a:noFill/>
          <a:ln>
            <a:noFill/>
          </a:ln>
        </p:spPr>
      </p:sp>
      <p:sp>
        <p:nvSpPr>
          <p:cNvPr id="64" name="Google Shape;64;p10"/>
          <p:cNvSpPr txBox="1">
            <a:spLocks noGrp="1"/>
          </p:cNvSpPr>
          <p:nvPr>
            <p:ph type="body" idx="1"/>
          </p:nvPr>
        </p:nvSpPr>
        <p:spPr>
          <a:xfrm>
            <a:off x="896144" y="3578226"/>
            <a:ext cx="2743200" cy="5365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65" name="Google Shape;65;p10"/>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515743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777346" y="518055"/>
            <a:ext cx="3017309" cy="41148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3780491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878542" y="1619251"/>
            <a:ext cx="3901017" cy="10287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216958" y="628650"/>
            <a:ext cx="3901017" cy="30099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6293331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85488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187446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6154101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2391536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10579778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37552238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22361862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8511432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5589614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41074127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8024510" y="6457950"/>
            <a:ext cx="1076628" cy="342900"/>
          </a:xfrm>
          <a:prstGeom prst="rect">
            <a:avLst/>
          </a:prstGeom>
        </p:spPr>
      </p:pic>
    </p:spTree>
    <p:extLst>
      <p:ext uri="{BB962C8B-B14F-4D97-AF65-F5344CB8AC3E}">
        <p14:creationId xmlns:p14="http://schemas.microsoft.com/office/powerpoint/2010/main" val="3628952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3FA82C02-2C4D-1F4D-851E-B56DA3E878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830BE5C-47B3-8640-86D1-69594D99527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585972A-A66B-ED47-A758-27225C85438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CE450D7-51B2-DC41-A285-84B90542AA55}" type="datetimeFigureOut">
              <a:rPr lang="it-IT" smtClean="0"/>
              <a:t>14/04/2026</a:t>
            </a:fld>
            <a:endParaRPr lang="it-IT"/>
          </a:p>
        </p:txBody>
      </p:sp>
      <p:sp>
        <p:nvSpPr>
          <p:cNvPr id="5" name="Segnaposto piè di pagina 4">
            <a:extLst>
              <a:ext uri="{FF2B5EF4-FFF2-40B4-BE49-F238E27FC236}">
                <a16:creationId xmlns:a16="http://schemas.microsoft.com/office/drawing/2014/main" id="{87CFA4B0-5065-6C44-81B0-58ACBBDA063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6DE9C76E-E86C-AF43-9FF0-BF8CC7B7DD0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5E9258-7551-F54F-B974-076C20A398B3}" type="slidenum">
              <a:rPr lang="it-IT" smtClean="0"/>
              <a:t>‹N›</a:t>
            </a:fld>
            <a:endParaRPr lang="it-IT"/>
          </a:p>
        </p:txBody>
      </p:sp>
    </p:spTree>
    <p:extLst>
      <p:ext uri="{BB962C8B-B14F-4D97-AF65-F5344CB8AC3E}">
        <p14:creationId xmlns:p14="http://schemas.microsoft.com/office/powerpoint/2010/main" val="310997712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1" r:id="rId12"/>
    <p:sldLayoutId id="2147483684" r:id="rId13"/>
    <p:sldLayoutId id="2147483685" r:id="rId14"/>
    <p:sldLayoutId id="2147483686" r:id="rId15"/>
    <p:sldLayoutId id="2147483687" r:id="rId16"/>
    <p:sldLayoutId id="2147483688" r:id="rId17"/>
    <p:sldLayoutId id="2147483689" r:id="rId18"/>
    <p:sldLayoutId id="2147483690" r:id="rId19"/>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159645698"/>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09485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sldNum="0" hdr="0" ftr="0" dt="0"/>
  <p:txStyles>
    <p:titleStyle>
      <a:lvl1pPr algn="ctr" defTabSz="571500" rtl="0" eaLnBrk="1" latinLnBrk="0" hangingPunct="1">
        <a:spcBef>
          <a:spcPct val="0"/>
        </a:spcBef>
        <a:buNone/>
        <a:defRPr sz="2750" kern="1200">
          <a:solidFill>
            <a:schemeClr val="tx1"/>
          </a:solidFill>
          <a:latin typeface="+mj-lt"/>
          <a:ea typeface="+mj-ea"/>
          <a:cs typeface="+mj-cs"/>
        </a:defRPr>
      </a:lvl1pPr>
    </p:titleStyle>
    <p:bodyStyle>
      <a:lvl1pPr marL="214313" indent="-214313" algn="l" defTabSz="571500" rtl="0" eaLnBrk="1" latinLnBrk="0" hangingPunct="1">
        <a:spcBef>
          <a:spcPct val="20000"/>
        </a:spcBef>
        <a:buFont typeface="Arial" pitchFamily="34" charset="0"/>
        <a:buChar char="•"/>
        <a:defRPr sz="2000" kern="1200">
          <a:solidFill>
            <a:schemeClr val="tx1"/>
          </a:solidFill>
          <a:latin typeface="+mn-lt"/>
          <a:ea typeface="+mn-ea"/>
          <a:cs typeface="+mn-cs"/>
        </a:defRPr>
      </a:lvl1pPr>
      <a:lvl2pPr marL="464344" indent="-178594" algn="l" defTabSz="571500" rtl="0" eaLnBrk="1" latinLnBrk="0" hangingPunct="1">
        <a:spcBef>
          <a:spcPct val="20000"/>
        </a:spcBef>
        <a:buFont typeface="Arial" pitchFamily="34" charset="0"/>
        <a:buChar char="–"/>
        <a:defRPr sz="1750" kern="1200">
          <a:solidFill>
            <a:schemeClr val="tx1"/>
          </a:solidFill>
          <a:latin typeface="+mn-lt"/>
          <a:ea typeface="+mn-ea"/>
          <a:cs typeface="+mn-cs"/>
        </a:defRPr>
      </a:lvl2pPr>
      <a:lvl3pPr marL="714375" indent="-142875" algn="l" defTabSz="571500" rtl="0" eaLnBrk="1" latinLnBrk="0" hangingPunct="1">
        <a:spcBef>
          <a:spcPct val="20000"/>
        </a:spcBef>
        <a:buFont typeface="Arial" pitchFamily="34" charset="0"/>
        <a:buChar char="•"/>
        <a:defRPr sz="1500" kern="1200">
          <a:solidFill>
            <a:schemeClr val="tx1"/>
          </a:solidFill>
          <a:latin typeface="+mn-lt"/>
          <a:ea typeface="+mn-ea"/>
          <a:cs typeface="+mn-cs"/>
        </a:defRPr>
      </a:lvl3pPr>
      <a:lvl4pPr marL="100012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4pPr>
      <a:lvl5pPr marL="128587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5pPr>
      <a:lvl6pPr marL="157162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6pPr>
      <a:lvl7pPr marL="185737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7pPr>
      <a:lvl8pPr marL="214312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8pPr>
      <a:lvl9pPr marL="2428875" indent="-142875" algn="l" defTabSz="571500" rtl="0" eaLnBrk="1" latinLnBrk="0" hangingPunct="1">
        <a:spcBef>
          <a:spcPct val="20000"/>
        </a:spcBef>
        <a:buFont typeface="Arial" pitchFamily="34" charset="0"/>
        <a:buChar char="•"/>
        <a:defRPr sz="1250" kern="1200">
          <a:solidFill>
            <a:schemeClr val="tx1"/>
          </a:solidFill>
          <a:latin typeface="+mn-lt"/>
          <a:ea typeface="+mn-ea"/>
          <a:cs typeface="+mn-cs"/>
        </a:defRPr>
      </a:lvl9pPr>
    </p:bodyStyle>
    <p:otherStyle>
      <a:defPPr>
        <a:defRPr lang="en-US"/>
      </a:defPPr>
      <a:lvl1pPr marL="0" algn="l" defTabSz="571500" rtl="0" eaLnBrk="1" latinLnBrk="0" hangingPunct="1">
        <a:defRPr sz="1125" kern="1200">
          <a:solidFill>
            <a:schemeClr val="tx1"/>
          </a:solidFill>
          <a:latin typeface="+mn-lt"/>
          <a:ea typeface="+mn-ea"/>
          <a:cs typeface="+mn-cs"/>
        </a:defRPr>
      </a:lvl1pPr>
      <a:lvl2pPr marL="285750" algn="l" defTabSz="571500" rtl="0" eaLnBrk="1" latinLnBrk="0" hangingPunct="1">
        <a:defRPr sz="1125" kern="1200">
          <a:solidFill>
            <a:schemeClr val="tx1"/>
          </a:solidFill>
          <a:latin typeface="+mn-lt"/>
          <a:ea typeface="+mn-ea"/>
          <a:cs typeface="+mn-cs"/>
        </a:defRPr>
      </a:lvl2pPr>
      <a:lvl3pPr marL="571500" algn="l" defTabSz="571500" rtl="0" eaLnBrk="1" latinLnBrk="0" hangingPunct="1">
        <a:defRPr sz="1125" kern="1200">
          <a:solidFill>
            <a:schemeClr val="tx1"/>
          </a:solidFill>
          <a:latin typeface="+mn-lt"/>
          <a:ea typeface="+mn-ea"/>
          <a:cs typeface="+mn-cs"/>
        </a:defRPr>
      </a:lvl3pPr>
      <a:lvl4pPr marL="857250" algn="l" defTabSz="571500" rtl="0" eaLnBrk="1" latinLnBrk="0" hangingPunct="1">
        <a:defRPr sz="1125" kern="1200">
          <a:solidFill>
            <a:schemeClr val="tx1"/>
          </a:solidFill>
          <a:latin typeface="+mn-lt"/>
          <a:ea typeface="+mn-ea"/>
          <a:cs typeface="+mn-cs"/>
        </a:defRPr>
      </a:lvl4pPr>
      <a:lvl5pPr marL="1143000" algn="l" defTabSz="571500" rtl="0" eaLnBrk="1" latinLnBrk="0" hangingPunct="1">
        <a:defRPr sz="1125" kern="1200">
          <a:solidFill>
            <a:schemeClr val="tx1"/>
          </a:solidFill>
          <a:latin typeface="+mn-lt"/>
          <a:ea typeface="+mn-ea"/>
          <a:cs typeface="+mn-cs"/>
        </a:defRPr>
      </a:lvl5pPr>
      <a:lvl6pPr marL="1428750" algn="l" defTabSz="571500" rtl="0" eaLnBrk="1" latinLnBrk="0" hangingPunct="1">
        <a:defRPr sz="1125" kern="1200">
          <a:solidFill>
            <a:schemeClr val="tx1"/>
          </a:solidFill>
          <a:latin typeface="+mn-lt"/>
          <a:ea typeface="+mn-ea"/>
          <a:cs typeface="+mn-cs"/>
        </a:defRPr>
      </a:lvl6pPr>
      <a:lvl7pPr marL="1714500" algn="l" defTabSz="571500" rtl="0" eaLnBrk="1" latinLnBrk="0" hangingPunct="1">
        <a:defRPr sz="1125" kern="1200">
          <a:solidFill>
            <a:schemeClr val="tx1"/>
          </a:solidFill>
          <a:latin typeface="+mn-lt"/>
          <a:ea typeface="+mn-ea"/>
          <a:cs typeface="+mn-cs"/>
        </a:defRPr>
      </a:lvl7pPr>
      <a:lvl8pPr marL="2000250" algn="l" defTabSz="571500" rtl="0" eaLnBrk="1" latinLnBrk="0" hangingPunct="1">
        <a:defRPr sz="1125" kern="1200">
          <a:solidFill>
            <a:schemeClr val="tx1"/>
          </a:solidFill>
          <a:latin typeface="+mn-lt"/>
          <a:ea typeface="+mn-ea"/>
          <a:cs typeface="+mn-cs"/>
        </a:defRPr>
      </a:lvl8pPr>
      <a:lvl9pPr marL="2286000" algn="l" defTabSz="571500" rtl="0" eaLnBrk="1" latinLnBrk="0" hangingPunct="1">
        <a:defRPr sz="1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5.gi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7.xml"/><Relationship Id="rId1" Type="http://schemas.openxmlformats.org/officeDocument/2006/relationships/video" Target="https://www.youtube.com/embed/Se_lHaWgJiY"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31.xml"/><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31.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3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3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3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31.xml"/><Relationship Id="rId5" Type="http://schemas.openxmlformats.org/officeDocument/2006/relationships/image" Target="../media/image54.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31.xml"/><Relationship Id="rId5" Type="http://schemas.openxmlformats.org/officeDocument/2006/relationships/image" Target="../media/image57.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image" Target="../media/image81.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0.xml"/><Relationship Id="rId1" Type="http://schemas.openxmlformats.org/officeDocument/2006/relationships/slideLayout" Target="../slideLayouts/slideLayout20.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50.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23.xml"/><Relationship Id="rId1" Type="http://schemas.openxmlformats.org/officeDocument/2006/relationships/slideLayout" Target="../slideLayouts/slideLayout20.xml"/><Relationship Id="rId6" Type="http://schemas.openxmlformats.org/officeDocument/2006/relationships/image" Target="../media/image103.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video" Target="https://www.youtube.com/embed/52D9t0I1AWE" TargetMode="External"/><Relationship Id="rId4" Type="http://schemas.openxmlformats.org/officeDocument/2006/relationships/image" Target="../media/image10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514350" y="1482961"/>
            <a:ext cx="2029975" cy="721763"/>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5825763" y="3143850"/>
            <a:ext cx="2803888" cy="2229091"/>
          </a:xfrm>
          <a:prstGeom prst="rect">
            <a:avLst/>
          </a:prstGeom>
          <a:noFill/>
          <a:ln>
            <a:noFill/>
          </a:ln>
        </p:spPr>
      </p:pic>
      <p:sp>
        <p:nvSpPr>
          <p:cNvPr id="86" name="Google Shape;86;p13"/>
          <p:cNvSpPr txBox="1"/>
          <p:nvPr/>
        </p:nvSpPr>
        <p:spPr>
          <a:xfrm>
            <a:off x="514350" y="3258471"/>
            <a:ext cx="3624493" cy="775597"/>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00"/>
              </a:lnSpc>
              <a:spcBef>
                <a:spcPts val="0"/>
              </a:spcBef>
              <a:spcAft>
                <a:spcPts val="0"/>
              </a:spcAft>
              <a:buClr>
                <a:srgbClr val="000000"/>
              </a:buClr>
              <a:buSzTx/>
              <a:buFontTx/>
              <a:buNone/>
              <a:tabLst/>
              <a:defRPr/>
            </a:pPr>
            <a:r>
              <a:rPr kumimoji="0" lang="en-US" sz="4200" b="1" i="0" u="none" strike="noStrike" kern="0" cap="none" spc="0" normalizeH="0" baseline="0" noProof="0" dirty="0">
                <a:ln>
                  <a:noFill/>
                </a:ln>
                <a:solidFill>
                  <a:srgbClr val="FFFFFF"/>
                </a:solidFill>
                <a:effectLst/>
                <a:uLnTx/>
                <a:uFillTx/>
                <a:latin typeface="Poppins SemiBold"/>
                <a:ea typeface="Poppins SemiBold"/>
                <a:cs typeface="Poppins SemiBold"/>
                <a:sym typeface="Poppins SemiBold"/>
              </a:rPr>
              <a:t>Corso EOA</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7" name="Google Shape;87;p13"/>
          <p:cNvSpPr txBox="1"/>
          <p:nvPr/>
        </p:nvSpPr>
        <p:spPr>
          <a:xfrm>
            <a:off x="2689059" y="1534035"/>
            <a:ext cx="2363986" cy="247760"/>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61030"/>
              </a:lnSpc>
              <a:spcBef>
                <a:spcPts val="0"/>
              </a:spcBef>
              <a:spcAft>
                <a:spcPts val="0"/>
              </a:spcAft>
              <a:buClr>
                <a:srgbClr val="000000"/>
              </a:buClr>
              <a:buSzTx/>
              <a:buFontTx/>
              <a:buNone/>
              <a:tabLst/>
              <a:defRPr/>
            </a:pPr>
            <a:r>
              <a:rPr kumimoji="0" lang="en-US" sz="1000" b="1" i="0" u="none" strike="noStrike" kern="0" cap="none" spc="0" normalizeH="0" baseline="0" noProof="0" dirty="0">
                <a:ln>
                  <a:noFill/>
                </a:ln>
                <a:solidFill>
                  <a:srgbClr val="FFFFFF"/>
                </a:solidFill>
                <a:effectLst/>
                <a:uLnTx/>
                <a:uFillTx/>
                <a:latin typeface="Poppins"/>
                <a:ea typeface="Poppins"/>
                <a:cs typeface="Poppins"/>
                <a:sym typeface="Poppins"/>
              </a:rPr>
              <a:t>LAUREA TRIENNALE IN INFORMATICA </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8" name="Google Shape;88;p13"/>
          <p:cNvSpPr txBox="1"/>
          <p:nvPr/>
        </p:nvSpPr>
        <p:spPr>
          <a:xfrm>
            <a:off x="515759" y="4004430"/>
            <a:ext cx="3355293" cy="443198"/>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400" b="1" i="0" u="none" strike="noStrike" kern="0" cap="none" spc="0" normalizeH="0" baseline="0" noProof="0" dirty="0">
                <a:ln>
                  <a:noFill/>
                </a:ln>
                <a:solidFill>
                  <a:srgbClr val="FFFFFF"/>
                </a:solidFill>
                <a:effectLst/>
                <a:uLnTx/>
                <a:uFillTx/>
                <a:latin typeface="Poppins"/>
                <a:ea typeface="Poppins"/>
                <a:cs typeface="Poppins"/>
                <a:sym typeface="Poppins"/>
              </a:rPr>
              <a:t>Prof. Giuseppe </a:t>
            </a:r>
            <a:r>
              <a:rPr kumimoji="0" lang="en-US" sz="1400" b="1" i="0" u="none" strike="noStrike" kern="0" cap="none" spc="0" normalizeH="0" baseline="0" noProof="0" dirty="0" err="1">
                <a:ln>
                  <a:noFill/>
                </a:ln>
                <a:solidFill>
                  <a:srgbClr val="FFFFFF"/>
                </a:solidFill>
                <a:effectLst/>
                <a:uLnTx/>
                <a:uFillTx/>
                <a:latin typeface="Poppins"/>
                <a:ea typeface="Poppins"/>
                <a:cs typeface="Poppins"/>
                <a:sym typeface="Poppins"/>
              </a:rPr>
              <a:t>Piccirillo</a:t>
            </a:r>
            <a:endParaRPr kumimoji="0" sz="10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457223" rtl="0" eaLnBrk="1" fontAlgn="auto" latinLnBrk="0" hangingPunct="1">
              <a:lnSpc>
                <a:spcPct val="120010"/>
              </a:lnSpc>
              <a:spcBef>
                <a:spcPts val="0"/>
              </a:spcBef>
              <a:spcAft>
                <a:spcPts val="0"/>
              </a:spcAft>
              <a:buClr>
                <a:srgbClr val="000000"/>
              </a:buClr>
              <a:buSzTx/>
              <a:buFontTx/>
              <a:buNone/>
              <a:tabLst/>
              <a:defRPr/>
            </a:pPr>
            <a:endParaRPr kumimoji="0" sz="1000" b="1" i="0" u="none" strike="noStrike" kern="0" cap="none" spc="0" normalizeH="0" baseline="0" noProof="0" dirty="0">
              <a:ln>
                <a:noFill/>
              </a:ln>
              <a:solidFill>
                <a:srgbClr val="FFFFFF"/>
              </a:solidFill>
              <a:effectLst/>
              <a:uLnTx/>
              <a:uFillTx/>
              <a:latin typeface="Poppins"/>
              <a:ea typeface="Poppins"/>
              <a:cs typeface="Poppins"/>
              <a:sym typeface="Poppins"/>
            </a:endParaRPr>
          </a:p>
        </p:txBody>
      </p:sp>
      <p:sp>
        <p:nvSpPr>
          <p:cNvPr id="89" name="Google Shape;89;p13"/>
          <p:cNvSpPr txBox="1"/>
          <p:nvPr/>
        </p:nvSpPr>
        <p:spPr>
          <a:xfrm>
            <a:off x="5225617" y="1576898"/>
            <a:ext cx="2770550" cy="369332"/>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000" b="1" i="0" u="none" strike="noStrike" kern="0" cap="none" spc="0" normalizeH="0" baseline="0" noProof="0" dirty="0">
                <a:ln>
                  <a:noFill/>
                </a:ln>
                <a:solidFill>
                  <a:srgbClr val="FFFFFF"/>
                </a:solidFill>
                <a:effectLst/>
                <a:uLnTx/>
                <a:uFillTx/>
                <a:latin typeface="Poppins"/>
                <a:ea typeface="Poppins"/>
                <a:cs typeface="Poppins"/>
                <a:sym typeface="Poppins"/>
              </a:rPr>
              <a:t>CORSO II SEMESTRE</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000" b="1" i="0" u="none" strike="noStrike" kern="0" cap="none" spc="0" normalizeH="0" baseline="0" noProof="0">
                <a:ln>
                  <a:noFill/>
                </a:ln>
                <a:solidFill>
                  <a:srgbClr val="FFFFFF"/>
                </a:solidFill>
                <a:effectLst/>
                <a:uLnTx/>
                <a:uFillTx/>
                <a:latin typeface="Poppins"/>
                <a:ea typeface="Poppins"/>
                <a:cs typeface="Poppins"/>
                <a:sym typeface="Poppins"/>
              </a:rPr>
              <a:t>2025 - 2026</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1" name="Google Shape;91;p13"/>
          <p:cNvSpPr txBox="1"/>
          <p:nvPr/>
        </p:nvSpPr>
        <p:spPr>
          <a:xfrm>
            <a:off x="514350" y="2697341"/>
            <a:ext cx="7593594" cy="276871"/>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06"/>
              </a:lnSpc>
              <a:spcBef>
                <a:spcPts val="0"/>
              </a:spcBef>
              <a:spcAft>
                <a:spcPts val="0"/>
              </a:spcAft>
              <a:buClr>
                <a:srgbClr val="000000"/>
              </a:buClr>
              <a:buSzTx/>
              <a:buFontTx/>
              <a:buNone/>
              <a:tabLst/>
              <a:defRPr/>
            </a:pPr>
            <a:r>
              <a:rPr kumimoji="0" lang="en-US" sz="1499" b="1" i="0" u="none" strike="noStrike" kern="0" cap="none" spc="0" normalizeH="0" baseline="0" noProof="0" dirty="0">
                <a:ln>
                  <a:noFill/>
                </a:ln>
                <a:solidFill>
                  <a:srgbClr val="FFFFFF"/>
                </a:solidFill>
                <a:effectLst/>
                <a:uLnTx/>
                <a:uFillTx/>
                <a:latin typeface="Poppins"/>
                <a:ea typeface="Poppins"/>
                <a:cs typeface="Poppins"/>
                <a:sym typeface="Poppins"/>
              </a:rPr>
              <a:t>LEZIONE. 5 – PERCORSI DI SVILUPPO AZIENDALE</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1733723" y="442264"/>
            <a:ext cx="5676554" cy="553998"/>
          </a:xfrm>
          <a:prstGeom prst="rect">
            <a:avLst/>
          </a:prstGeom>
        </p:spPr>
        <p:txBody>
          <a:bodyPr wrap="none">
            <a:spAutoFit/>
          </a:bodyPr>
          <a:lstStyle/>
          <a:p>
            <a:r>
              <a:rPr lang="it-IT" sz="3000" b="1" dirty="0"/>
              <a:t>Strategie di crescita aziendale</a:t>
            </a:r>
          </a:p>
        </p:txBody>
      </p:sp>
      <p:sp>
        <p:nvSpPr>
          <p:cNvPr id="5" name="Rettangolo 4">
            <a:extLst>
              <a:ext uri="{FF2B5EF4-FFF2-40B4-BE49-F238E27FC236}">
                <a16:creationId xmlns:a16="http://schemas.microsoft.com/office/drawing/2014/main" id="{79D3D9CC-EB58-4582-807D-C76D90C449FA}"/>
              </a:ext>
            </a:extLst>
          </p:cNvPr>
          <p:cNvSpPr/>
          <p:nvPr/>
        </p:nvSpPr>
        <p:spPr>
          <a:xfrm>
            <a:off x="811303" y="1082150"/>
            <a:ext cx="7521387" cy="1015663"/>
          </a:xfrm>
          <a:prstGeom prst="rect">
            <a:avLst/>
          </a:prstGeom>
        </p:spPr>
        <p:txBody>
          <a:bodyPr wrap="square">
            <a:spAutoFit/>
          </a:bodyPr>
          <a:lstStyle/>
          <a:p>
            <a:pPr algn="just"/>
            <a:r>
              <a:rPr lang="it-IT" sz="2000" dirty="0"/>
              <a:t>Per avviare con successo un processo di crescita, bisogna prima stabilire una strategia. </a:t>
            </a:r>
          </a:p>
          <a:p>
            <a:pPr algn="just"/>
            <a:r>
              <a:rPr lang="it-IT" sz="2000" dirty="0"/>
              <a:t>In questa fase, è importante conoscere alcuni concetti, tra cui: </a:t>
            </a:r>
          </a:p>
        </p:txBody>
      </p:sp>
      <p:sp>
        <p:nvSpPr>
          <p:cNvPr id="6" name="Rettangolo 5">
            <a:extLst>
              <a:ext uri="{FF2B5EF4-FFF2-40B4-BE49-F238E27FC236}">
                <a16:creationId xmlns:a16="http://schemas.microsoft.com/office/drawing/2014/main" id="{4B346AD2-4F44-498A-9510-F2CB5DA5F1FD}"/>
              </a:ext>
            </a:extLst>
          </p:cNvPr>
          <p:cNvSpPr/>
          <p:nvPr/>
        </p:nvSpPr>
        <p:spPr>
          <a:xfrm>
            <a:off x="753031" y="5175483"/>
            <a:ext cx="7637929" cy="830997"/>
          </a:xfrm>
          <a:prstGeom prst="rect">
            <a:avLst/>
          </a:prstGeom>
        </p:spPr>
        <p:txBody>
          <a:bodyPr wrap="square">
            <a:spAutoFit/>
          </a:bodyPr>
          <a:lstStyle/>
          <a:p>
            <a:pPr algn="just"/>
            <a:r>
              <a:rPr lang="it-IT" sz="2400" dirty="0"/>
              <a:t>Bisogna chiedersi «Cosa fare per favorire la crescita?»</a:t>
            </a:r>
          </a:p>
          <a:p>
            <a:pPr algn="just"/>
            <a:r>
              <a:rPr lang="it-IT" sz="2400" b="1" dirty="0"/>
              <a:t>Essenziale è stabilire una strategia.</a:t>
            </a:r>
          </a:p>
        </p:txBody>
      </p:sp>
      <p:pic>
        <p:nvPicPr>
          <p:cNvPr id="7" name="Immagine 6">
            <a:extLst>
              <a:ext uri="{FF2B5EF4-FFF2-40B4-BE49-F238E27FC236}">
                <a16:creationId xmlns:a16="http://schemas.microsoft.com/office/drawing/2014/main" id="{1C2E8B88-50AE-44CC-B00F-C38BE21E5066}"/>
              </a:ext>
            </a:extLst>
          </p:cNvPr>
          <p:cNvPicPr>
            <a:picLocks noChangeAspect="1"/>
          </p:cNvPicPr>
          <p:nvPr/>
        </p:nvPicPr>
        <p:blipFill>
          <a:blip r:embed="rId2"/>
          <a:stretch>
            <a:fillRect/>
          </a:stretch>
        </p:blipFill>
        <p:spPr>
          <a:xfrm>
            <a:off x="811303" y="2662199"/>
            <a:ext cx="2726403" cy="1533602"/>
          </a:xfrm>
          <a:prstGeom prst="rect">
            <a:avLst/>
          </a:prstGeom>
        </p:spPr>
      </p:pic>
      <p:pic>
        <p:nvPicPr>
          <p:cNvPr id="8" name="Immagine 7">
            <a:extLst>
              <a:ext uri="{FF2B5EF4-FFF2-40B4-BE49-F238E27FC236}">
                <a16:creationId xmlns:a16="http://schemas.microsoft.com/office/drawing/2014/main" id="{9ABF87F8-68EF-45B9-BA80-F76EFCADC0F4}"/>
              </a:ext>
            </a:extLst>
          </p:cNvPr>
          <p:cNvPicPr>
            <a:picLocks noChangeAspect="1"/>
          </p:cNvPicPr>
          <p:nvPr/>
        </p:nvPicPr>
        <p:blipFill>
          <a:blip r:embed="rId3"/>
          <a:stretch>
            <a:fillRect/>
          </a:stretch>
        </p:blipFill>
        <p:spPr>
          <a:xfrm>
            <a:off x="3873864" y="2657398"/>
            <a:ext cx="2438255" cy="1533602"/>
          </a:xfrm>
          <a:prstGeom prst="rect">
            <a:avLst/>
          </a:prstGeom>
        </p:spPr>
      </p:pic>
      <p:pic>
        <p:nvPicPr>
          <p:cNvPr id="9" name="Immagine 8">
            <a:extLst>
              <a:ext uri="{FF2B5EF4-FFF2-40B4-BE49-F238E27FC236}">
                <a16:creationId xmlns:a16="http://schemas.microsoft.com/office/drawing/2014/main" id="{CBB53442-4C84-40F0-B6ED-9A236C639F95}"/>
              </a:ext>
            </a:extLst>
          </p:cNvPr>
          <p:cNvPicPr>
            <a:picLocks noChangeAspect="1"/>
          </p:cNvPicPr>
          <p:nvPr/>
        </p:nvPicPr>
        <p:blipFill rotWithShape="1">
          <a:blip r:embed="rId4"/>
          <a:srcRect l="25470"/>
          <a:stretch/>
        </p:blipFill>
        <p:spPr>
          <a:xfrm>
            <a:off x="6648277" y="2662199"/>
            <a:ext cx="1524000" cy="1533602"/>
          </a:xfrm>
          <a:prstGeom prst="rect">
            <a:avLst/>
          </a:prstGeom>
        </p:spPr>
      </p:pic>
      <p:sp>
        <p:nvSpPr>
          <p:cNvPr id="10" name="Rettangolo 9">
            <a:extLst>
              <a:ext uri="{FF2B5EF4-FFF2-40B4-BE49-F238E27FC236}">
                <a16:creationId xmlns:a16="http://schemas.microsoft.com/office/drawing/2014/main" id="{BA64E8BE-1203-476E-8386-4C843F8F2EA8}"/>
              </a:ext>
            </a:extLst>
          </p:cNvPr>
          <p:cNvSpPr/>
          <p:nvPr/>
        </p:nvSpPr>
        <p:spPr>
          <a:xfrm>
            <a:off x="997739" y="4375464"/>
            <a:ext cx="2353529" cy="307777"/>
          </a:xfrm>
          <a:prstGeom prst="rect">
            <a:avLst/>
          </a:prstGeom>
        </p:spPr>
        <p:txBody>
          <a:bodyPr wrap="none">
            <a:spAutoFit/>
          </a:bodyPr>
          <a:lstStyle/>
          <a:p>
            <a:r>
              <a:rPr lang="it-IT" b="1" dirty="0"/>
              <a:t>Penetrazione del mercato</a:t>
            </a:r>
          </a:p>
        </p:txBody>
      </p:sp>
      <p:sp>
        <p:nvSpPr>
          <p:cNvPr id="11" name="Rettangolo 10">
            <a:extLst>
              <a:ext uri="{FF2B5EF4-FFF2-40B4-BE49-F238E27FC236}">
                <a16:creationId xmlns:a16="http://schemas.microsoft.com/office/drawing/2014/main" id="{6979A717-797F-4CD2-AAB1-C96EA7D41ADB}"/>
              </a:ext>
            </a:extLst>
          </p:cNvPr>
          <p:cNvSpPr/>
          <p:nvPr/>
        </p:nvSpPr>
        <p:spPr>
          <a:xfrm>
            <a:off x="4319382" y="4375464"/>
            <a:ext cx="1547218" cy="307777"/>
          </a:xfrm>
          <a:prstGeom prst="rect">
            <a:avLst/>
          </a:prstGeom>
        </p:spPr>
        <p:txBody>
          <a:bodyPr wrap="none">
            <a:spAutoFit/>
          </a:bodyPr>
          <a:lstStyle/>
          <a:p>
            <a:r>
              <a:rPr lang="it-IT" b="1" dirty="0"/>
              <a:t>Diversificazione</a:t>
            </a:r>
          </a:p>
        </p:txBody>
      </p:sp>
      <p:sp>
        <p:nvSpPr>
          <p:cNvPr id="12" name="Rettangolo 11">
            <a:extLst>
              <a:ext uri="{FF2B5EF4-FFF2-40B4-BE49-F238E27FC236}">
                <a16:creationId xmlns:a16="http://schemas.microsoft.com/office/drawing/2014/main" id="{32A6086C-0FC5-4FDA-BD2F-6DDD7C6CDB01}"/>
              </a:ext>
            </a:extLst>
          </p:cNvPr>
          <p:cNvSpPr/>
          <p:nvPr/>
        </p:nvSpPr>
        <p:spPr>
          <a:xfrm>
            <a:off x="6397820" y="4375464"/>
            <a:ext cx="2024913" cy="523220"/>
          </a:xfrm>
          <a:prstGeom prst="rect">
            <a:avLst/>
          </a:prstGeom>
        </p:spPr>
        <p:txBody>
          <a:bodyPr wrap="none">
            <a:spAutoFit/>
          </a:bodyPr>
          <a:lstStyle/>
          <a:p>
            <a:r>
              <a:rPr lang="it-IT" b="1" dirty="0"/>
              <a:t>Crescita orizzontale e</a:t>
            </a:r>
          </a:p>
          <a:p>
            <a:pPr algn="ctr"/>
            <a:r>
              <a:rPr lang="it-IT" b="1" dirty="0"/>
              <a:t> verticale</a:t>
            </a:r>
          </a:p>
        </p:txBody>
      </p:sp>
    </p:spTree>
    <p:extLst>
      <p:ext uri="{BB962C8B-B14F-4D97-AF65-F5344CB8AC3E}">
        <p14:creationId xmlns:p14="http://schemas.microsoft.com/office/powerpoint/2010/main" val="188053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1722501" y="249995"/>
            <a:ext cx="5698996" cy="553998"/>
          </a:xfrm>
          <a:prstGeom prst="rect">
            <a:avLst/>
          </a:prstGeom>
        </p:spPr>
        <p:txBody>
          <a:bodyPr wrap="none">
            <a:spAutoFit/>
          </a:bodyPr>
          <a:lstStyle/>
          <a:p>
            <a:r>
              <a:rPr lang="it-IT" sz="3000" b="1" dirty="0"/>
              <a:t>Cosa è la Strategia aziendale?</a:t>
            </a:r>
          </a:p>
        </p:txBody>
      </p:sp>
      <p:sp>
        <p:nvSpPr>
          <p:cNvPr id="5" name="Rettangolo 4">
            <a:extLst>
              <a:ext uri="{FF2B5EF4-FFF2-40B4-BE49-F238E27FC236}">
                <a16:creationId xmlns:a16="http://schemas.microsoft.com/office/drawing/2014/main" id="{79D3D9CC-EB58-4582-807D-C76D90C449FA}"/>
              </a:ext>
            </a:extLst>
          </p:cNvPr>
          <p:cNvSpPr/>
          <p:nvPr/>
        </p:nvSpPr>
        <p:spPr>
          <a:xfrm>
            <a:off x="811305" y="959534"/>
            <a:ext cx="7521387" cy="1323439"/>
          </a:xfrm>
          <a:prstGeom prst="rect">
            <a:avLst/>
          </a:prstGeom>
        </p:spPr>
        <p:txBody>
          <a:bodyPr wrap="square">
            <a:spAutoFit/>
          </a:bodyPr>
          <a:lstStyle/>
          <a:p>
            <a:pPr algn="just"/>
            <a:r>
              <a:rPr lang="it-IT" sz="2000" dirty="0"/>
              <a:t>Processo attraverso il quale la gestione aziendale pianifica scelte di tipo commerciale, operativo o finanziario, tenendo conto sia dell’ambiente di riferimento sia delle risorse a disposizione, per il raggiungimento degli obiettivi stabiliti.</a:t>
            </a:r>
          </a:p>
        </p:txBody>
      </p:sp>
      <p:pic>
        <p:nvPicPr>
          <p:cNvPr id="2" name="Immagine 1">
            <a:extLst>
              <a:ext uri="{FF2B5EF4-FFF2-40B4-BE49-F238E27FC236}">
                <a16:creationId xmlns:a16="http://schemas.microsoft.com/office/drawing/2014/main" id="{65C1E3BB-7FD6-45A5-964B-6AD65ECAE5B9}"/>
              </a:ext>
            </a:extLst>
          </p:cNvPr>
          <p:cNvPicPr>
            <a:picLocks noChangeAspect="1"/>
          </p:cNvPicPr>
          <p:nvPr/>
        </p:nvPicPr>
        <p:blipFill>
          <a:blip r:embed="rId2"/>
          <a:stretch>
            <a:fillRect/>
          </a:stretch>
        </p:blipFill>
        <p:spPr>
          <a:xfrm>
            <a:off x="1220875" y="2565912"/>
            <a:ext cx="6702246" cy="4018232"/>
          </a:xfrm>
          <a:prstGeom prst="rect">
            <a:avLst/>
          </a:prstGeom>
        </p:spPr>
      </p:pic>
    </p:spTree>
    <p:extLst>
      <p:ext uri="{BB962C8B-B14F-4D97-AF65-F5344CB8AC3E}">
        <p14:creationId xmlns:p14="http://schemas.microsoft.com/office/powerpoint/2010/main" val="3262317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183774" y="1997751"/>
            <a:ext cx="8776447" cy="4510220"/>
          </a:xfrm>
          <a:prstGeom prst="rect">
            <a:avLst/>
          </a:prstGeom>
        </p:spPr>
      </p:pic>
      <p:sp>
        <p:nvSpPr>
          <p:cNvPr id="2" name="Rettangolo 1">
            <a:extLst>
              <a:ext uri="{FF2B5EF4-FFF2-40B4-BE49-F238E27FC236}">
                <a16:creationId xmlns:a16="http://schemas.microsoft.com/office/drawing/2014/main" id="{0B3CFF11-1FFC-417B-891C-97471A723F2D}"/>
              </a:ext>
            </a:extLst>
          </p:cNvPr>
          <p:cNvSpPr/>
          <p:nvPr/>
        </p:nvSpPr>
        <p:spPr>
          <a:xfrm>
            <a:off x="279798" y="1045649"/>
            <a:ext cx="8487684" cy="830997"/>
          </a:xfrm>
          <a:prstGeom prst="rect">
            <a:avLst/>
          </a:prstGeom>
        </p:spPr>
        <p:txBody>
          <a:bodyPr wrap="square">
            <a:spAutoFit/>
          </a:bodyPr>
          <a:lstStyle/>
          <a:p>
            <a:pPr algn="just"/>
            <a:r>
              <a:rPr lang="it-IT" sz="1600" dirty="0"/>
              <a:t>La matrice di </a:t>
            </a:r>
            <a:r>
              <a:rPr lang="it-IT" sz="1600" dirty="0" err="1"/>
              <a:t>Ansoff</a:t>
            </a:r>
            <a:r>
              <a:rPr lang="it-IT" sz="1600" dirty="0"/>
              <a:t> definisce quattro strategie per lo sviluppo aziendale. Le individua combinando tra loro quattro elementi: </a:t>
            </a:r>
            <a:r>
              <a:rPr lang="it-IT" sz="1600" b="1" dirty="0"/>
              <a:t>prodotti esistenti</a:t>
            </a:r>
            <a:r>
              <a:rPr lang="it-IT" sz="1600" dirty="0"/>
              <a:t>, </a:t>
            </a:r>
            <a:r>
              <a:rPr lang="it-IT" sz="1600" b="1" dirty="0"/>
              <a:t>prodotti nuovi</a:t>
            </a:r>
            <a:r>
              <a:rPr lang="it-IT" sz="1600" dirty="0"/>
              <a:t>, </a:t>
            </a:r>
            <a:r>
              <a:rPr lang="it-IT" sz="1600" b="1" dirty="0"/>
              <a:t>mercati esistenti </a:t>
            </a:r>
            <a:r>
              <a:rPr lang="it-IT" sz="1600" dirty="0"/>
              <a:t>e </a:t>
            </a:r>
            <a:r>
              <a:rPr lang="it-IT" sz="1600" b="1" dirty="0"/>
              <a:t>mercati nuovi</a:t>
            </a:r>
            <a:r>
              <a:rPr lang="it-IT" sz="1600" dirty="0"/>
              <a:t>.</a:t>
            </a:r>
          </a:p>
        </p:txBody>
      </p:sp>
    </p:spTree>
    <p:extLst>
      <p:ext uri="{BB962C8B-B14F-4D97-AF65-F5344CB8AC3E}">
        <p14:creationId xmlns:p14="http://schemas.microsoft.com/office/powerpoint/2010/main" val="271400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202652" y="2134867"/>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4925160" y="924544"/>
            <a:ext cx="4005328" cy="5586145"/>
          </a:xfrm>
          <a:prstGeom prst="rect">
            <a:avLst/>
          </a:prstGeom>
        </p:spPr>
        <p:txBody>
          <a:bodyPr wrap="square">
            <a:spAutoFit/>
          </a:bodyPr>
          <a:lstStyle/>
          <a:p>
            <a:pPr algn="just"/>
            <a:r>
              <a:rPr lang="it-IT" sz="1700" b="1" dirty="0"/>
              <a:t>Penetrazione del mercato (prodotto e mercato esistenti):</a:t>
            </a:r>
            <a:r>
              <a:rPr lang="it-IT" sz="1700" dirty="0"/>
              <a:t> si basa sul concetto di penetrazione di mercato, inteso come metrica, che indica quanto un prodotto viene acquistato dal mercato di riferimento; un valore percentuale, ottenuto dal rapporto tra il numero di persone che compra il prodotto e la grandezza della popolazione interessata.</a:t>
            </a:r>
          </a:p>
          <a:p>
            <a:pPr algn="just"/>
            <a:r>
              <a:rPr lang="it-IT" sz="1700" dirty="0"/>
              <a:t>Attuando una strategia di penetrazione di mercato, l’obiettivo sarà di aumentare la quantità di clienti appartenenti al mercato in cui si opera abitualmente, proponendo i prodotti che già si possiede.</a:t>
            </a:r>
          </a:p>
          <a:p>
            <a:pPr algn="just"/>
            <a:r>
              <a:rPr lang="it-IT" sz="1700" dirty="0"/>
              <a:t>Per raggiungerlo, si può:</a:t>
            </a:r>
          </a:p>
          <a:p>
            <a:pPr marL="285750" indent="-285750" algn="just">
              <a:buFont typeface="Arial" panose="020B0604020202020204" pitchFamily="34" charset="0"/>
              <a:buChar char="•"/>
            </a:pPr>
            <a:r>
              <a:rPr lang="it-IT" sz="1700" dirty="0"/>
              <a:t>Incrementare gli investimenti nella promozione</a:t>
            </a:r>
          </a:p>
          <a:p>
            <a:pPr marL="285750" indent="-285750" algn="just">
              <a:buFont typeface="Arial" panose="020B0604020202020204" pitchFamily="34" charset="0"/>
              <a:buChar char="•"/>
            </a:pPr>
            <a:r>
              <a:rPr lang="it-IT" sz="1700" dirty="0"/>
              <a:t>Abbassare i prezzi</a:t>
            </a:r>
          </a:p>
          <a:p>
            <a:pPr marL="285750" indent="-285750" algn="just">
              <a:buFont typeface="Arial" panose="020B0604020202020204" pitchFamily="34" charset="0"/>
              <a:buChar char="•"/>
            </a:pPr>
            <a:r>
              <a:rPr lang="it-IT" sz="1700" dirty="0"/>
              <a:t>Aumentare la domanda</a:t>
            </a:r>
          </a:p>
        </p:txBody>
      </p:sp>
      <p:sp>
        <p:nvSpPr>
          <p:cNvPr id="7" name="Ovale 6">
            <a:extLst>
              <a:ext uri="{FF2B5EF4-FFF2-40B4-BE49-F238E27FC236}">
                <a16:creationId xmlns:a16="http://schemas.microsoft.com/office/drawing/2014/main" id="{FBC9BE17-0A86-4CF8-AFDB-7C253F6CBD09}"/>
              </a:ext>
            </a:extLst>
          </p:cNvPr>
          <p:cNvSpPr/>
          <p:nvPr/>
        </p:nvSpPr>
        <p:spPr>
          <a:xfrm>
            <a:off x="546845" y="3218329"/>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70583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136363" y="857987"/>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4925160" y="924544"/>
            <a:ext cx="4005328" cy="5586145"/>
          </a:xfrm>
          <a:prstGeom prst="rect">
            <a:avLst/>
          </a:prstGeom>
        </p:spPr>
        <p:txBody>
          <a:bodyPr wrap="square">
            <a:spAutoFit/>
          </a:bodyPr>
          <a:lstStyle/>
          <a:p>
            <a:pPr algn="just"/>
            <a:r>
              <a:rPr lang="it-IT" sz="1700" b="1" dirty="0"/>
              <a:t>Penetrazione del mercato (prodotto e mercato esistenti):</a:t>
            </a:r>
            <a:r>
              <a:rPr lang="it-IT" sz="1700" dirty="0"/>
              <a:t> si basa sul concetto di penetrazione di mercato, inteso come metrica, che indica quanto un prodotto viene acquistato dal mercato di riferimento; un valore percentuale, ottenuto dal rapporto tra il numero di persone che compra il prodotto e la grandezza della popolazione interessata.</a:t>
            </a:r>
          </a:p>
          <a:p>
            <a:pPr algn="just"/>
            <a:r>
              <a:rPr lang="it-IT" sz="1700" dirty="0"/>
              <a:t>Attuando una strategia di penetrazione di mercato, l’obiettivo sarà di aumentare la quantità di clienti appartenenti al mercato in cui si opera abitualmente, proponendo i prodotti che già si possiede.</a:t>
            </a:r>
          </a:p>
          <a:p>
            <a:pPr algn="just"/>
            <a:r>
              <a:rPr lang="it-IT" sz="1700" dirty="0"/>
              <a:t>Per raggiungerlo, si può:</a:t>
            </a:r>
          </a:p>
          <a:p>
            <a:pPr marL="285750" indent="-285750" algn="just">
              <a:buFont typeface="Arial" panose="020B0604020202020204" pitchFamily="34" charset="0"/>
              <a:buChar char="•"/>
            </a:pPr>
            <a:r>
              <a:rPr lang="it-IT" sz="1700" dirty="0"/>
              <a:t>Incrementare gli investimenti nella promozione</a:t>
            </a:r>
          </a:p>
          <a:p>
            <a:pPr marL="285750" indent="-285750" algn="just">
              <a:buFont typeface="Arial" panose="020B0604020202020204" pitchFamily="34" charset="0"/>
              <a:buChar char="•"/>
            </a:pPr>
            <a:r>
              <a:rPr lang="it-IT" sz="1700" dirty="0"/>
              <a:t>Abbassare i prezzi</a:t>
            </a:r>
          </a:p>
          <a:p>
            <a:pPr marL="285750" indent="-285750" algn="just">
              <a:buFont typeface="Arial" panose="020B0604020202020204" pitchFamily="34" charset="0"/>
              <a:buChar char="•"/>
            </a:pPr>
            <a:r>
              <a:rPr lang="it-IT" sz="1700" dirty="0"/>
              <a:t>Aumentare la domanda</a:t>
            </a:r>
          </a:p>
        </p:txBody>
      </p:sp>
      <p:sp>
        <p:nvSpPr>
          <p:cNvPr id="7" name="Ovale 6">
            <a:extLst>
              <a:ext uri="{FF2B5EF4-FFF2-40B4-BE49-F238E27FC236}">
                <a16:creationId xmlns:a16="http://schemas.microsoft.com/office/drawing/2014/main" id="{FBC9BE17-0A86-4CF8-AFDB-7C253F6CBD09}"/>
              </a:ext>
            </a:extLst>
          </p:cNvPr>
          <p:cNvSpPr/>
          <p:nvPr/>
        </p:nvSpPr>
        <p:spPr>
          <a:xfrm>
            <a:off x="502021" y="1936374"/>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 name="Immagine 1">
            <a:extLst>
              <a:ext uri="{FF2B5EF4-FFF2-40B4-BE49-F238E27FC236}">
                <a16:creationId xmlns:a16="http://schemas.microsoft.com/office/drawing/2014/main" id="{45B5917F-8CB6-4EE9-9BA6-8FB144D8F4F9}"/>
              </a:ext>
            </a:extLst>
          </p:cNvPr>
          <p:cNvPicPr>
            <a:picLocks noChangeAspect="1"/>
          </p:cNvPicPr>
          <p:nvPr/>
        </p:nvPicPr>
        <p:blipFill>
          <a:blip r:embed="rId3"/>
          <a:stretch>
            <a:fillRect/>
          </a:stretch>
        </p:blipFill>
        <p:spPr>
          <a:xfrm>
            <a:off x="502021" y="3514535"/>
            <a:ext cx="2295259" cy="1147630"/>
          </a:xfrm>
          <a:prstGeom prst="rect">
            <a:avLst/>
          </a:prstGeom>
        </p:spPr>
      </p:pic>
      <p:pic>
        <p:nvPicPr>
          <p:cNvPr id="5" name="Immagine 4">
            <a:extLst>
              <a:ext uri="{FF2B5EF4-FFF2-40B4-BE49-F238E27FC236}">
                <a16:creationId xmlns:a16="http://schemas.microsoft.com/office/drawing/2014/main" id="{6D4B9C35-82B8-4236-8A4B-662A599ECAD1}"/>
              </a:ext>
            </a:extLst>
          </p:cNvPr>
          <p:cNvPicPr>
            <a:picLocks noChangeAspect="1"/>
          </p:cNvPicPr>
          <p:nvPr/>
        </p:nvPicPr>
        <p:blipFill rotWithShape="1">
          <a:blip r:embed="rId4"/>
          <a:srcRect l="26118" t="10994" r="25530" b="10994"/>
          <a:stretch/>
        </p:blipFill>
        <p:spPr>
          <a:xfrm>
            <a:off x="3076561" y="3429000"/>
            <a:ext cx="1569317" cy="1424222"/>
          </a:xfrm>
          <a:prstGeom prst="rect">
            <a:avLst/>
          </a:prstGeom>
        </p:spPr>
      </p:pic>
      <p:pic>
        <p:nvPicPr>
          <p:cNvPr id="8" name="Immagine 7">
            <a:extLst>
              <a:ext uri="{FF2B5EF4-FFF2-40B4-BE49-F238E27FC236}">
                <a16:creationId xmlns:a16="http://schemas.microsoft.com/office/drawing/2014/main" id="{BBFBD208-A2D9-4299-8E25-1FFD9D016C4A}"/>
              </a:ext>
            </a:extLst>
          </p:cNvPr>
          <p:cNvPicPr>
            <a:picLocks noChangeAspect="1"/>
          </p:cNvPicPr>
          <p:nvPr/>
        </p:nvPicPr>
        <p:blipFill rotWithShape="1">
          <a:blip r:embed="rId5"/>
          <a:srcRect l="15195" t="21559" r="16079" b="20131"/>
          <a:stretch/>
        </p:blipFill>
        <p:spPr>
          <a:xfrm>
            <a:off x="1292656" y="4997337"/>
            <a:ext cx="2024503" cy="1288262"/>
          </a:xfrm>
          <a:prstGeom prst="rect">
            <a:avLst/>
          </a:prstGeom>
        </p:spPr>
      </p:pic>
    </p:spTree>
    <p:extLst>
      <p:ext uri="{BB962C8B-B14F-4D97-AF65-F5344CB8AC3E}">
        <p14:creationId xmlns:p14="http://schemas.microsoft.com/office/powerpoint/2010/main" val="984910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202652" y="2134867"/>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4936020" y="1965287"/>
            <a:ext cx="4005328" cy="2446824"/>
          </a:xfrm>
          <a:prstGeom prst="rect">
            <a:avLst/>
          </a:prstGeom>
        </p:spPr>
        <p:txBody>
          <a:bodyPr wrap="square">
            <a:spAutoFit/>
          </a:bodyPr>
          <a:lstStyle/>
          <a:p>
            <a:pPr algn="just"/>
            <a:r>
              <a:rPr lang="it-IT" sz="1700" b="1" dirty="0"/>
              <a:t>Sviluppo del prodotto (prodotto nuovo, mercato esistente): </a:t>
            </a:r>
            <a:r>
              <a:rPr lang="it-IT" sz="1700" dirty="0"/>
              <a:t>si dovrà intervenire sul prodotto, o migliorandolo, oppure sviluppando delle varianti. Con questa strategia, si potrà affermare sul mercato di riferimento con un prodotto nuovo o rinnovato, che possa soddisfare la domanda che ancora non si riesce a conquistare.</a:t>
            </a:r>
          </a:p>
        </p:txBody>
      </p:sp>
      <p:sp>
        <p:nvSpPr>
          <p:cNvPr id="7" name="Ovale 6">
            <a:extLst>
              <a:ext uri="{FF2B5EF4-FFF2-40B4-BE49-F238E27FC236}">
                <a16:creationId xmlns:a16="http://schemas.microsoft.com/office/drawing/2014/main" id="{FBC9BE17-0A86-4CF8-AFDB-7C253F6CBD09}"/>
              </a:ext>
            </a:extLst>
          </p:cNvPr>
          <p:cNvSpPr/>
          <p:nvPr/>
        </p:nvSpPr>
        <p:spPr>
          <a:xfrm>
            <a:off x="2563906" y="3188699"/>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68946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213512" y="1094961"/>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4914554" y="1445334"/>
            <a:ext cx="4005328" cy="2446824"/>
          </a:xfrm>
          <a:prstGeom prst="rect">
            <a:avLst/>
          </a:prstGeom>
        </p:spPr>
        <p:txBody>
          <a:bodyPr wrap="square">
            <a:spAutoFit/>
          </a:bodyPr>
          <a:lstStyle/>
          <a:p>
            <a:pPr algn="just"/>
            <a:r>
              <a:rPr lang="it-IT" sz="1700" b="1" dirty="0"/>
              <a:t>Sviluppo del prodotto (prodotto nuovo, mercato esistente): </a:t>
            </a:r>
            <a:r>
              <a:rPr lang="it-IT" sz="1700" dirty="0"/>
              <a:t>si dovrà intervenire sul prodotto, o migliorandolo, oppure sviluppando delle varianti. Con questa strategia, si potrà affermare sul mercato di riferimento con un prodotto nuovo o rinnovato, che possa soddisfare la domanda che ancora non si riesce a conquistare.</a:t>
            </a:r>
          </a:p>
        </p:txBody>
      </p:sp>
      <p:sp>
        <p:nvSpPr>
          <p:cNvPr id="7" name="Ovale 6">
            <a:extLst>
              <a:ext uri="{FF2B5EF4-FFF2-40B4-BE49-F238E27FC236}">
                <a16:creationId xmlns:a16="http://schemas.microsoft.com/office/drawing/2014/main" id="{FBC9BE17-0A86-4CF8-AFDB-7C253F6CBD09}"/>
              </a:ext>
            </a:extLst>
          </p:cNvPr>
          <p:cNvSpPr/>
          <p:nvPr/>
        </p:nvSpPr>
        <p:spPr>
          <a:xfrm>
            <a:off x="2574766" y="2148793"/>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 name="Immagine 1">
            <a:extLst>
              <a:ext uri="{FF2B5EF4-FFF2-40B4-BE49-F238E27FC236}">
                <a16:creationId xmlns:a16="http://schemas.microsoft.com/office/drawing/2014/main" id="{638B6430-D358-4FA3-ABAF-65B85807301D}"/>
              </a:ext>
            </a:extLst>
          </p:cNvPr>
          <p:cNvPicPr>
            <a:picLocks noChangeAspect="1"/>
          </p:cNvPicPr>
          <p:nvPr/>
        </p:nvPicPr>
        <p:blipFill rotWithShape="1">
          <a:blip r:embed="rId3"/>
          <a:srcRect l="16117" t="11203" r="16118" b="18347"/>
          <a:stretch/>
        </p:blipFill>
        <p:spPr>
          <a:xfrm>
            <a:off x="2211112" y="4524671"/>
            <a:ext cx="2244345" cy="1306622"/>
          </a:xfrm>
          <a:prstGeom prst="rect">
            <a:avLst/>
          </a:prstGeom>
        </p:spPr>
      </p:pic>
      <p:pic>
        <p:nvPicPr>
          <p:cNvPr id="5" name="Immagine 4">
            <a:extLst>
              <a:ext uri="{FF2B5EF4-FFF2-40B4-BE49-F238E27FC236}">
                <a16:creationId xmlns:a16="http://schemas.microsoft.com/office/drawing/2014/main" id="{2821CEA0-6460-4E2D-92A9-D4D127E9D45A}"/>
              </a:ext>
            </a:extLst>
          </p:cNvPr>
          <p:cNvPicPr>
            <a:picLocks noChangeAspect="1"/>
          </p:cNvPicPr>
          <p:nvPr/>
        </p:nvPicPr>
        <p:blipFill>
          <a:blip r:embed="rId4"/>
          <a:stretch>
            <a:fillRect/>
          </a:stretch>
        </p:blipFill>
        <p:spPr>
          <a:xfrm>
            <a:off x="279798" y="4149389"/>
            <a:ext cx="1764557" cy="2057186"/>
          </a:xfrm>
          <a:prstGeom prst="rect">
            <a:avLst/>
          </a:prstGeom>
        </p:spPr>
      </p:pic>
      <p:pic>
        <p:nvPicPr>
          <p:cNvPr id="8" name="Immagine 7">
            <a:extLst>
              <a:ext uri="{FF2B5EF4-FFF2-40B4-BE49-F238E27FC236}">
                <a16:creationId xmlns:a16="http://schemas.microsoft.com/office/drawing/2014/main" id="{CA7F15E7-88D2-4FCD-AC37-C6E2D5CC18DC}"/>
              </a:ext>
            </a:extLst>
          </p:cNvPr>
          <p:cNvPicPr>
            <a:picLocks noChangeAspect="1"/>
          </p:cNvPicPr>
          <p:nvPr/>
        </p:nvPicPr>
        <p:blipFill>
          <a:blip r:embed="rId5"/>
          <a:stretch>
            <a:fillRect/>
          </a:stretch>
        </p:blipFill>
        <p:spPr>
          <a:xfrm>
            <a:off x="5151171" y="4262190"/>
            <a:ext cx="3532094" cy="1831584"/>
          </a:xfrm>
          <a:prstGeom prst="rect">
            <a:avLst/>
          </a:prstGeom>
        </p:spPr>
      </p:pic>
    </p:spTree>
    <p:extLst>
      <p:ext uri="{BB962C8B-B14F-4D97-AF65-F5344CB8AC3E}">
        <p14:creationId xmlns:p14="http://schemas.microsoft.com/office/powerpoint/2010/main" val="1695789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202652" y="2134867"/>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4936020" y="1965287"/>
            <a:ext cx="4005328" cy="2970044"/>
          </a:xfrm>
          <a:prstGeom prst="rect">
            <a:avLst/>
          </a:prstGeom>
        </p:spPr>
        <p:txBody>
          <a:bodyPr wrap="square">
            <a:spAutoFit/>
          </a:bodyPr>
          <a:lstStyle/>
          <a:p>
            <a:pPr algn="just"/>
            <a:r>
              <a:rPr lang="it-IT" sz="1700" b="1" dirty="0"/>
              <a:t>Sviluppo del mercato (prodotto esistente, mercato nuovo)</a:t>
            </a:r>
            <a:r>
              <a:rPr lang="it-IT" sz="1700" dirty="0"/>
              <a:t>: intesa anche come espansione del mercato, consiste nell’introdurre il prodotto già a  disposizione su mercati nuovi, in diversi ambiti di industrializzazione, oppure a livello internazionale. Questa strategia può aiutare nel caso il prodotto non stia funzionando sul mercato in cui lo si sta proponendo, oppure se il mercato attuale risulta saturo.</a:t>
            </a:r>
          </a:p>
        </p:txBody>
      </p:sp>
      <p:sp>
        <p:nvSpPr>
          <p:cNvPr id="7" name="Ovale 6">
            <a:extLst>
              <a:ext uri="{FF2B5EF4-FFF2-40B4-BE49-F238E27FC236}">
                <a16:creationId xmlns:a16="http://schemas.microsoft.com/office/drawing/2014/main" id="{FBC9BE17-0A86-4CF8-AFDB-7C253F6CBD09}"/>
              </a:ext>
            </a:extLst>
          </p:cNvPr>
          <p:cNvSpPr/>
          <p:nvPr/>
        </p:nvSpPr>
        <p:spPr>
          <a:xfrm>
            <a:off x="573742" y="2371165"/>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80873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3"/>
          <a:srcRect l="12843" r="17745"/>
          <a:stretch/>
        </p:blipFill>
        <p:spPr>
          <a:xfrm>
            <a:off x="213512" y="1051407"/>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4936020" y="1051407"/>
            <a:ext cx="4005328" cy="2970044"/>
          </a:xfrm>
          <a:prstGeom prst="rect">
            <a:avLst/>
          </a:prstGeom>
        </p:spPr>
        <p:txBody>
          <a:bodyPr wrap="square">
            <a:spAutoFit/>
          </a:bodyPr>
          <a:lstStyle/>
          <a:p>
            <a:pPr algn="just"/>
            <a:r>
              <a:rPr lang="it-IT" sz="1700" b="1" dirty="0"/>
              <a:t>Sviluppo del mercato (prodotto esistente, mercato nuovo)</a:t>
            </a:r>
            <a:r>
              <a:rPr lang="it-IT" sz="1700" dirty="0"/>
              <a:t>: intesa anche come espansione del mercato, consiste nell’introdurre il prodotto già a  disposizione su mercati nuovi, in diversi ambiti di industrializzazione, oppure a livello internazionale. Questa strategia può aiutare nel caso il prodotto non stia funzionando sul mercato in cui lo si sta proponendo, oppure se il mercato attuale risulta saturo.</a:t>
            </a:r>
          </a:p>
        </p:txBody>
      </p:sp>
      <p:sp>
        <p:nvSpPr>
          <p:cNvPr id="7" name="Ovale 6">
            <a:extLst>
              <a:ext uri="{FF2B5EF4-FFF2-40B4-BE49-F238E27FC236}">
                <a16:creationId xmlns:a16="http://schemas.microsoft.com/office/drawing/2014/main" id="{FBC9BE17-0A86-4CF8-AFDB-7C253F6CBD09}"/>
              </a:ext>
            </a:extLst>
          </p:cNvPr>
          <p:cNvSpPr/>
          <p:nvPr/>
        </p:nvSpPr>
        <p:spPr>
          <a:xfrm>
            <a:off x="584602" y="1287705"/>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 name="Immagine 1">
            <a:extLst>
              <a:ext uri="{FF2B5EF4-FFF2-40B4-BE49-F238E27FC236}">
                <a16:creationId xmlns:a16="http://schemas.microsoft.com/office/drawing/2014/main" id="{54FCDA4C-E989-46AF-8B70-2B4ABAEB2E42}"/>
              </a:ext>
            </a:extLst>
          </p:cNvPr>
          <p:cNvPicPr>
            <a:picLocks noChangeAspect="1"/>
          </p:cNvPicPr>
          <p:nvPr/>
        </p:nvPicPr>
        <p:blipFill rotWithShape="1">
          <a:blip r:embed="rId4"/>
          <a:srcRect l="34466" t="14159" r="32907"/>
          <a:stretch/>
        </p:blipFill>
        <p:spPr>
          <a:xfrm>
            <a:off x="945083" y="3728884"/>
            <a:ext cx="858716" cy="2259237"/>
          </a:xfrm>
          <a:prstGeom prst="rect">
            <a:avLst/>
          </a:prstGeom>
        </p:spPr>
      </p:pic>
      <p:sp>
        <p:nvSpPr>
          <p:cNvPr id="5" name="CasellaDiTesto 4">
            <a:extLst>
              <a:ext uri="{FF2B5EF4-FFF2-40B4-BE49-F238E27FC236}">
                <a16:creationId xmlns:a16="http://schemas.microsoft.com/office/drawing/2014/main" id="{5E4C2D8F-A71E-4020-9A39-9921CA6940D9}"/>
              </a:ext>
            </a:extLst>
          </p:cNvPr>
          <p:cNvSpPr txBox="1"/>
          <p:nvPr/>
        </p:nvSpPr>
        <p:spPr>
          <a:xfrm>
            <a:off x="213512" y="5991269"/>
            <a:ext cx="2321859" cy="523220"/>
          </a:xfrm>
          <a:prstGeom prst="rect">
            <a:avLst/>
          </a:prstGeom>
          <a:noFill/>
        </p:spPr>
        <p:txBody>
          <a:bodyPr wrap="square" rtlCol="0">
            <a:spAutoFit/>
          </a:bodyPr>
          <a:lstStyle/>
          <a:p>
            <a:pPr algn="ctr"/>
            <a:r>
              <a:rPr lang="it-IT" dirty="0"/>
              <a:t>Acqua Uliveto</a:t>
            </a:r>
          </a:p>
          <a:p>
            <a:pPr algn="ctr"/>
            <a:r>
              <a:rPr lang="it-IT" dirty="0"/>
              <a:t>«Acqua della Salute»</a:t>
            </a:r>
          </a:p>
        </p:txBody>
      </p:sp>
      <p:pic>
        <p:nvPicPr>
          <p:cNvPr id="8" name="Immagine 7">
            <a:extLst>
              <a:ext uri="{FF2B5EF4-FFF2-40B4-BE49-F238E27FC236}">
                <a16:creationId xmlns:a16="http://schemas.microsoft.com/office/drawing/2014/main" id="{57A6D406-3829-4B1E-89AB-DFBAF8CD8C59}"/>
              </a:ext>
            </a:extLst>
          </p:cNvPr>
          <p:cNvPicPr>
            <a:picLocks noChangeAspect="1"/>
          </p:cNvPicPr>
          <p:nvPr/>
        </p:nvPicPr>
        <p:blipFill rotWithShape="1">
          <a:blip r:embed="rId5"/>
          <a:srcRect l="14146" t="7182" r="7103" b="8824"/>
          <a:stretch/>
        </p:blipFill>
        <p:spPr>
          <a:xfrm>
            <a:off x="2792536" y="3762325"/>
            <a:ext cx="2205318" cy="2752164"/>
          </a:xfrm>
          <a:prstGeom prst="rect">
            <a:avLst/>
          </a:prstGeom>
        </p:spPr>
      </p:pic>
      <p:pic>
        <p:nvPicPr>
          <p:cNvPr id="9" name="Immagine 8">
            <a:extLst>
              <a:ext uri="{FF2B5EF4-FFF2-40B4-BE49-F238E27FC236}">
                <a16:creationId xmlns:a16="http://schemas.microsoft.com/office/drawing/2014/main" id="{994045D2-3349-40C8-BD0E-18CA2E6E95D7}"/>
              </a:ext>
            </a:extLst>
          </p:cNvPr>
          <p:cNvPicPr>
            <a:picLocks noChangeAspect="1"/>
          </p:cNvPicPr>
          <p:nvPr/>
        </p:nvPicPr>
        <p:blipFill rotWithShape="1">
          <a:blip r:embed="rId6"/>
          <a:srcRect l="27725" r="37261"/>
          <a:stretch/>
        </p:blipFill>
        <p:spPr>
          <a:xfrm>
            <a:off x="5986591" y="4085518"/>
            <a:ext cx="1000514" cy="2381250"/>
          </a:xfrm>
          <a:prstGeom prst="rect">
            <a:avLst/>
          </a:prstGeom>
        </p:spPr>
      </p:pic>
    </p:spTree>
    <p:extLst>
      <p:ext uri="{BB962C8B-B14F-4D97-AF65-F5344CB8AC3E}">
        <p14:creationId xmlns:p14="http://schemas.microsoft.com/office/powerpoint/2010/main" val="3332100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202652" y="2134867"/>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4936020" y="1420758"/>
            <a:ext cx="4005328" cy="4016484"/>
          </a:xfrm>
          <a:prstGeom prst="rect">
            <a:avLst/>
          </a:prstGeom>
        </p:spPr>
        <p:txBody>
          <a:bodyPr wrap="square">
            <a:spAutoFit/>
          </a:bodyPr>
          <a:lstStyle/>
          <a:p>
            <a:pPr algn="just"/>
            <a:r>
              <a:rPr lang="it-IT" sz="1700" b="1" dirty="0"/>
              <a:t>Diversificazione (prodotto nuovo e mercato nuovo):</a:t>
            </a:r>
            <a:r>
              <a:rPr lang="it-IT" sz="1700" dirty="0"/>
              <a:t> prevede di vendere nuovi prodotti a nuovi mercati. È la strategia che si può definire più “rischiosa” di tutte, in quanto sia il prodotto che il mercato sono nuovi.</a:t>
            </a:r>
          </a:p>
          <a:p>
            <a:pPr algn="just"/>
            <a:r>
              <a:rPr lang="it-IT" sz="1700" dirty="0"/>
              <a:t>Si può applicare una diversificazione di tipo concentrico, quando si produce un prodotto nuovo, ma non del tutto diverso da quelli già proposti dall’azienda.</a:t>
            </a:r>
          </a:p>
          <a:p>
            <a:pPr algn="just"/>
            <a:r>
              <a:rPr lang="it-IT" sz="1700" dirty="0"/>
              <a:t>In alternativa, con la diversificazione pura, si realizza un prodotto totalmente diverso da quelli già presenti nel catalogo.</a:t>
            </a:r>
          </a:p>
        </p:txBody>
      </p:sp>
      <p:sp>
        <p:nvSpPr>
          <p:cNvPr id="7" name="Ovale 6">
            <a:extLst>
              <a:ext uri="{FF2B5EF4-FFF2-40B4-BE49-F238E27FC236}">
                <a16:creationId xmlns:a16="http://schemas.microsoft.com/office/drawing/2014/main" id="{FBC9BE17-0A86-4CF8-AFDB-7C253F6CBD09}"/>
              </a:ext>
            </a:extLst>
          </p:cNvPr>
          <p:cNvSpPr/>
          <p:nvPr/>
        </p:nvSpPr>
        <p:spPr>
          <a:xfrm>
            <a:off x="2563906" y="2371165"/>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126918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3" name="Immagine 2">
            <a:extLst>
              <a:ext uri="{FF2B5EF4-FFF2-40B4-BE49-F238E27FC236}">
                <a16:creationId xmlns:a16="http://schemas.microsoft.com/office/drawing/2014/main" id="{3E77CC0B-A540-46F6-8375-54541D89447B}"/>
              </a:ext>
            </a:extLst>
          </p:cNvPr>
          <p:cNvPicPr>
            <a:picLocks noChangeAspect="1"/>
          </p:cNvPicPr>
          <p:nvPr/>
        </p:nvPicPr>
        <p:blipFill rotWithShape="1">
          <a:blip r:embed="rId2"/>
          <a:srcRect l="12843" r="17745"/>
          <a:stretch/>
        </p:blipFill>
        <p:spPr>
          <a:xfrm>
            <a:off x="279798" y="1002101"/>
            <a:ext cx="4722508" cy="2426899"/>
          </a:xfrm>
          <a:prstGeom prst="rect">
            <a:avLst/>
          </a:prstGeom>
        </p:spPr>
      </p:pic>
      <p:sp>
        <p:nvSpPr>
          <p:cNvPr id="6" name="Rettangolo 5">
            <a:extLst>
              <a:ext uri="{FF2B5EF4-FFF2-40B4-BE49-F238E27FC236}">
                <a16:creationId xmlns:a16="http://schemas.microsoft.com/office/drawing/2014/main" id="{A5E9076C-6E4E-47D1-88E8-DA6680243F0A}"/>
              </a:ext>
            </a:extLst>
          </p:cNvPr>
          <p:cNvSpPr/>
          <p:nvPr/>
        </p:nvSpPr>
        <p:spPr>
          <a:xfrm>
            <a:off x="5002306" y="924544"/>
            <a:ext cx="4005328" cy="4016484"/>
          </a:xfrm>
          <a:prstGeom prst="rect">
            <a:avLst/>
          </a:prstGeom>
        </p:spPr>
        <p:txBody>
          <a:bodyPr wrap="square">
            <a:spAutoFit/>
          </a:bodyPr>
          <a:lstStyle/>
          <a:p>
            <a:pPr algn="just"/>
            <a:r>
              <a:rPr lang="it-IT" sz="1700" b="1" dirty="0"/>
              <a:t>Diversificazione (prodotto nuovo e mercato nuovo):</a:t>
            </a:r>
            <a:r>
              <a:rPr lang="it-IT" sz="1700" dirty="0"/>
              <a:t> prevede di vendere nuovi prodotti a nuovi mercati. È la strategia che si può definire più “rischiosa” di tutte, in quanto sia il prodotto che il mercato sono nuovi.</a:t>
            </a:r>
          </a:p>
          <a:p>
            <a:pPr algn="just"/>
            <a:r>
              <a:rPr lang="it-IT" sz="1700" dirty="0"/>
              <a:t>Si può applicare una diversificazione di tipo </a:t>
            </a:r>
            <a:r>
              <a:rPr lang="it-IT" sz="1700" b="1" dirty="0"/>
              <a:t>concentrico</a:t>
            </a:r>
            <a:r>
              <a:rPr lang="it-IT" sz="1700" dirty="0"/>
              <a:t>, quando si produce un prodotto nuovo, ma non del tutto diverso da quelli già proposti dall’azienda.</a:t>
            </a:r>
          </a:p>
          <a:p>
            <a:pPr algn="just"/>
            <a:r>
              <a:rPr lang="it-IT" sz="1700" dirty="0"/>
              <a:t>In alternativa, con la diversificazione </a:t>
            </a:r>
            <a:r>
              <a:rPr lang="it-IT" sz="1700" b="1" dirty="0"/>
              <a:t>pura</a:t>
            </a:r>
            <a:r>
              <a:rPr lang="it-IT" sz="1700" dirty="0"/>
              <a:t>, si realizza un prodotto totalmente diverso da quelli già presenti nel catalogo.</a:t>
            </a:r>
          </a:p>
        </p:txBody>
      </p:sp>
      <p:sp>
        <p:nvSpPr>
          <p:cNvPr id="7" name="Ovale 6">
            <a:extLst>
              <a:ext uri="{FF2B5EF4-FFF2-40B4-BE49-F238E27FC236}">
                <a16:creationId xmlns:a16="http://schemas.microsoft.com/office/drawing/2014/main" id="{FBC9BE17-0A86-4CF8-AFDB-7C253F6CBD09}"/>
              </a:ext>
            </a:extLst>
          </p:cNvPr>
          <p:cNvSpPr/>
          <p:nvPr/>
        </p:nvSpPr>
        <p:spPr>
          <a:xfrm>
            <a:off x="2641052" y="1238399"/>
            <a:ext cx="2339788" cy="105783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 name="Immagine 1">
            <a:extLst>
              <a:ext uri="{FF2B5EF4-FFF2-40B4-BE49-F238E27FC236}">
                <a16:creationId xmlns:a16="http://schemas.microsoft.com/office/drawing/2014/main" id="{30D0D9E0-33E6-4453-ADA6-62E6A6AD7B76}"/>
              </a:ext>
            </a:extLst>
          </p:cNvPr>
          <p:cNvPicPr>
            <a:picLocks noChangeAspect="1"/>
          </p:cNvPicPr>
          <p:nvPr/>
        </p:nvPicPr>
        <p:blipFill rotWithShape="1">
          <a:blip r:embed="rId3"/>
          <a:srcRect b="18007"/>
          <a:stretch/>
        </p:blipFill>
        <p:spPr>
          <a:xfrm>
            <a:off x="5937095" y="4941028"/>
            <a:ext cx="2734235" cy="1405125"/>
          </a:xfrm>
          <a:prstGeom prst="rect">
            <a:avLst/>
          </a:prstGeom>
        </p:spPr>
      </p:pic>
      <p:sp>
        <p:nvSpPr>
          <p:cNvPr id="5" name="CasellaDiTesto 4">
            <a:extLst>
              <a:ext uri="{FF2B5EF4-FFF2-40B4-BE49-F238E27FC236}">
                <a16:creationId xmlns:a16="http://schemas.microsoft.com/office/drawing/2014/main" id="{687D2E02-AC21-49BD-A6E8-C84F9F021561}"/>
              </a:ext>
            </a:extLst>
          </p:cNvPr>
          <p:cNvSpPr txBox="1"/>
          <p:nvPr/>
        </p:nvSpPr>
        <p:spPr>
          <a:xfrm>
            <a:off x="6026742" y="6487454"/>
            <a:ext cx="2734235" cy="307777"/>
          </a:xfrm>
          <a:prstGeom prst="rect">
            <a:avLst/>
          </a:prstGeom>
          <a:noFill/>
        </p:spPr>
        <p:txBody>
          <a:bodyPr wrap="square" rtlCol="0">
            <a:spAutoFit/>
          </a:bodyPr>
          <a:lstStyle/>
          <a:p>
            <a:r>
              <a:rPr lang="it-IT" b="1" dirty="0"/>
              <a:t>Diversificazione Concentrica</a:t>
            </a:r>
          </a:p>
        </p:txBody>
      </p:sp>
      <p:pic>
        <p:nvPicPr>
          <p:cNvPr id="8" name="Immagine 7">
            <a:extLst>
              <a:ext uri="{FF2B5EF4-FFF2-40B4-BE49-F238E27FC236}">
                <a16:creationId xmlns:a16="http://schemas.microsoft.com/office/drawing/2014/main" id="{5E5F02F2-2B51-4492-9503-A1FAAA259E65}"/>
              </a:ext>
            </a:extLst>
          </p:cNvPr>
          <p:cNvPicPr>
            <a:picLocks noChangeAspect="1"/>
          </p:cNvPicPr>
          <p:nvPr/>
        </p:nvPicPr>
        <p:blipFill rotWithShape="1">
          <a:blip r:embed="rId4"/>
          <a:srcRect l="12772" t="3283" r="8588"/>
          <a:stretch/>
        </p:blipFill>
        <p:spPr>
          <a:xfrm>
            <a:off x="383023" y="3506558"/>
            <a:ext cx="2620153" cy="3222424"/>
          </a:xfrm>
          <a:prstGeom prst="rect">
            <a:avLst/>
          </a:prstGeom>
        </p:spPr>
      </p:pic>
      <p:sp>
        <p:nvSpPr>
          <p:cNvPr id="9" name="CasellaDiTesto 8">
            <a:extLst>
              <a:ext uri="{FF2B5EF4-FFF2-40B4-BE49-F238E27FC236}">
                <a16:creationId xmlns:a16="http://schemas.microsoft.com/office/drawing/2014/main" id="{30302782-5232-42E4-A4B5-56543D6E157D}"/>
              </a:ext>
            </a:extLst>
          </p:cNvPr>
          <p:cNvSpPr txBox="1"/>
          <p:nvPr/>
        </p:nvSpPr>
        <p:spPr>
          <a:xfrm rot="20148577">
            <a:off x="322118" y="3660972"/>
            <a:ext cx="910605" cy="307777"/>
          </a:xfrm>
          <a:prstGeom prst="rect">
            <a:avLst/>
          </a:prstGeom>
          <a:noFill/>
        </p:spPr>
        <p:txBody>
          <a:bodyPr wrap="square" rtlCol="0">
            <a:spAutoFit/>
          </a:bodyPr>
          <a:lstStyle/>
          <a:p>
            <a:r>
              <a:rPr lang="it-IT" b="1" dirty="0">
                <a:solidFill>
                  <a:schemeClr val="bg1"/>
                </a:solidFill>
              </a:rPr>
              <a:t>Profumi</a:t>
            </a:r>
          </a:p>
        </p:txBody>
      </p:sp>
      <p:sp>
        <p:nvSpPr>
          <p:cNvPr id="10" name="CasellaDiTesto 9">
            <a:extLst>
              <a:ext uri="{FF2B5EF4-FFF2-40B4-BE49-F238E27FC236}">
                <a16:creationId xmlns:a16="http://schemas.microsoft.com/office/drawing/2014/main" id="{00AB37A1-6905-41B0-9435-D553721D22FF}"/>
              </a:ext>
            </a:extLst>
          </p:cNvPr>
          <p:cNvSpPr txBox="1"/>
          <p:nvPr/>
        </p:nvSpPr>
        <p:spPr>
          <a:xfrm rot="20049554">
            <a:off x="438732" y="3902701"/>
            <a:ext cx="910605" cy="307777"/>
          </a:xfrm>
          <a:prstGeom prst="rect">
            <a:avLst/>
          </a:prstGeom>
          <a:noFill/>
        </p:spPr>
        <p:txBody>
          <a:bodyPr wrap="square" rtlCol="0">
            <a:spAutoFit/>
          </a:bodyPr>
          <a:lstStyle/>
          <a:p>
            <a:r>
              <a:rPr lang="it-IT" b="1" dirty="0">
                <a:solidFill>
                  <a:schemeClr val="bg1"/>
                </a:solidFill>
              </a:rPr>
              <a:t>Occhiali</a:t>
            </a:r>
          </a:p>
        </p:txBody>
      </p:sp>
      <p:sp>
        <p:nvSpPr>
          <p:cNvPr id="11" name="CasellaDiTesto 10">
            <a:extLst>
              <a:ext uri="{FF2B5EF4-FFF2-40B4-BE49-F238E27FC236}">
                <a16:creationId xmlns:a16="http://schemas.microsoft.com/office/drawing/2014/main" id="{2F91EB9F-6290-4929-A037-C7CFDDD67166}"/>
              </a:ext>
            </a:extLst>
          </p:cNvPr>
          <p:cNvSpPr txBox="1"/>
          <p:nvPr/>
        </p:nvSpPr>
        <p:spPr>
          <a:xfrm rot="20078378">
            <a:off x="295771" y="4145751"/>
            <a:ext cx="1435728" cy="307777"/>
          </a:xfrm>
          <a:prstGeom prst="rect">
            <a:avLst/>
          </a:prstGeom>
          <a:noFill/>
        </p:spPr>
        <p:txBody>
          <a:bodyPr wrap="square" rtlCol="0">
            <a:spAutoFit/>
          </a:bodyPr>
          <a:lstStyle/>
          <a:p>
            <a:r>
              <a:rPr lang="it-IT" b="1" dirty="0">
                <a:solidFill>
                  <a:schemeClr val="bg1"/>
                </a:solidFill>
              </a:rPr>
              <a:t>Abbigliamento</a:t>
            </a:r>
          </a:p>
        </p:txBody>
      </p:sp>
      <p:sp>
        <p:nvSpPr>
          <p:cNvPr id="12" name="CasellaDiTesto 11">
            <a:extLst>
              <a:ext uri="{FF2B5EF4-FFF2-40B4-BE49-F238E27FC236}">
                <a16:creationId xmlns:a16="http://schemas.microsoft.com/office/drawing/2014/main" id="{A86D08B7-B0C2-4D34-9ECF-3EE902A618A2}"/>
              </a:ext>
            </a:extLst>
          </p:cNvPr>
          <p:cNvSpPr txBox="1"/>
          <p:nvPr/>
        </p:nvSpPr>
        <p:spPr>
          <a:xfrm rot="19933421">
            <a:off x="915805" y="4923097"/>
            <a:ext cx="786018" cy="307777"/>
          </a:xfrm>
          <a:prstGeom prst="rect">
            <a:avLst/>
          </a:prstGeom>
          <a:noFill/>
        </p:spPr>
        <p:txBody>
          <a:bodyPr wrap="square" rtlCol="0">
            <a:spAutoFit/>
          </a:bodyPr>
          <a:lstStyle/>
          <a:p>
            <a:r>
              <a:rPr lang="it-IT" b="1" dirty="0">
                <a:solidFill>
                  <a:schemeClr val="bg1"/>
                </a:solidFill>
              </a:rPr>
              <a:t>Borse</a:t>
            </a:r>
          </a:p>
        </p:txBody>
      </p:sp>
      <p:sp>
        <p:nvSpPr>
          <p:cNvPr id="13" name="CasellaDiTesto 12">
            <a:extLst>
              <a:ext uri="{FF2B5EF4-FFF2-40B4-BE49-F238E27FC236}">
                <a16:creationId xmlns:a16="http://schemas.microsoft.com/office/drawing/2014/main" id="{83C0B35D-6640-469D-A8D4-CAC1225890B8}"/>
              </a:ext>
            </a:extLst>
          </p:cNvPr>
          <p:cNvSpPr txBox="1"/>
          <p:nvPr/>
        </p:nvSpPr>
        <p:spPr>
          <a:xfrm rot="20031273">
            <a:off x="688856" y="4412029"/>
            <a:ext cx="786018" cy="307777"/>
          </a:xfrm>
          <a:prstGeom prst="rect">
            <a:avLst/>
          </a:prstGeom>
          <a:noFill/>
        </p:spPr>
        <p:txBody>
          <a:bodyPr wrap="square" rtlCol="0">
            <a:spAutoFit/>
          </a:bodyPr>
          <a:lstStyle/>
          <a:p>
            <a:r>
              <a:rPr lang="it-IT" b="1" dirty="0">
                <a:solidFill>
                  <a:schemeClr val="bg1"/>
                </a:solidFill>
              </a:rPr>
              <a:t>Scarpe</a:t>
            </a:r>
          </a:p>
        </p:txBody>
      </p:sp>
      <p:sp>
        <p:nvSpPr>
          <p:cNvPr id="14" name="CasellaDiTesto 13">
            <a:extLst>
              <a:ext uri="{FF2B5EF4-FFF2-40B4-BE49-F238E27FC236}">
                <a16:creationId xmlns:a16="http://schemas.microsoft.com/office/drawing/2014/main" id="{2D63FDFB-08FC-48C7-8292-0CAF59097EC7}"/>
              </a:ext>
            </a:extLst>
          </p:cNvPr>
          <p:cNvSpPr txBox="1"/>
          <p:nvPr/>
        </p:nvSpPr>
        <p:spPr>
          <a:xfrm rot="20000798">
            <a:off x="693964" y="4625732"/>
            <a:ext cx="1040024" cy="307777"/>
          </a:xfrm>
          <a:prstGeom prst="rect">
            <a:avLst/>
          </a:prstGeom>
          <a:noFill/>
        </p:spPr>
        <p:txBody>
          <a:bodyPr wrap="square" rtlCol="0">
            <a:spAutoFit/>
          </a:bodyPr>
          <a:lstStyle/>
          <a:p>
            <a:r>
              <a:rPr lang="it-IT" b="1" dirty="0">
                <a:solidFill>
                  <a:schemeClr val="bg1"/>
                </a:solidFill>
              </a:rPr>
              <a:t>Cosmetici</a:t>
            </a:r>
          </a:p>
        </p:txBody>
      </p:sp>
      <p:sp>
        <p:nvSpPr>
          <p:cNvPr id="15" name="CasellaDiTesto 14">
            <a:extLst>
              <a:ext uri="{FF2B5EF4-FFF2-40B4-BE49-F238E27FC236}">
                <a16:creationId xmlns:a16="http://schemas.microsoft.com/office/drawing/2014/main" id="{C9E980FC-BEDF-4903-A652-6F981609BD58}"/>
              </a:ext>
            </a:extLst>
          </p:cNvPr>
          <p:cNvSpPr txBox="1"/>
          <p:nvPr/>
        </p:nvSpPr>
        <p:spPr>
          <a:xfrm rot="19933421">
            <a:off x="921355" y="5129153"/>
            <a:ext cx="1107824" cy="307777"/>
          </a:xfrm>
          <a:prstGeom prst="rect">
            <a:avLst/>
          </a:prstGeom>
          <a:noFill/>
        </p:spPr>
        <p:txBody>
          <a:bodyPr wrap="square" rtlCol="0">
            <a:spAutoFit/>
          </a:bodyPr>
          <a:lstStyle/>
          <a:p>
            <a:r>
              <a:rPr lang="it-IT" b="1" dirty="0">
                <a:solidFill>
                  <a:schemeClr val="bg1"/>
                </a:solidFill>
              </a:rPr>
              <a:t>Accessori</a:t>
            </a:r>
          </a:p>
        </p:txBody>
      </p:sp>
      <p:sp>
        <p:nvSpPr>
          <p:cNvPr id="16" name="CasellaDiTesto 15">
            <a:extLst>
              <a:ext uri="{FF2B5EF4-FFF2-40B4-BE49-F238E27FC236}">
                <a16:creationId xmlns:a16="http://schemas.microsoft.com/office/drawing/2014/main" id="{2343CFCC-1E83-47D2-B447-8ED944163D22}"/>
              </a:ext>
            </a:extLst>
          </p:cNvPr>
          <p:cNvSpPr txBox="1"/>
          <p:nvPr/>
        </p:nvSpPr>
        <p:spPr>
          <a:xfrm rot="19933421">
            <a:off x="1035023" y="5344165"/>
            <a:ext cx="1339082" cy="307777"/>
          </a:xfrm>
          <a:prstGeom prst="rect">
            <a:avLst/>
          </a:prstGeom>
          <a:noFill/>
        </p:spPr>
        <p:txBody>
          <a:bodyPr wrap="square" rtlCol="0">
            <a:spAutoFit/>
          </a:bodyPr>
          <a:lstStyle/>
          <a:p>
            <a:r>
              <a:rPr lang="it-IT" b="1" dirty="0">
                <a:solidFill>
                  <a:schemeClr val="bg1"/>
                </a:solidFill>
              </a:rPr>
              <a:t>Armani Casa</a:t>
            </a:r>
          </a:p>
        </p:txBody>
      </p:sp>
      <p:sp>
        <p:nvSpPr>
          <p:cNvPr id="17" name="CasellaDiTesto 16">
            <a:extLst>
              <a:ext uri="{FF2B5EF4-FFF2-40B4-BE49-F238E27FC236}">
                <a16:creationId xmlns:a16="http://schemas.microsoft.com/office/drawing/2014/main" id="{40E89362-114B-414E-80D5-D700468D0037}"/>
              </a:ext>
            </a:extLst>
          </p:cNvPr>
          <p:cNvSpPr txBox="1"/>
          <p:nvPr/>
        </p:nvSpPr>
        <p:spPr>
          <a:xfrm rot="19933421">
            <a:off x="1203176" y="5649223"/>
            <a:ext cx="1339082" cy="307777"/>
          </a:xfrm>
          <a:prstGeom prst="rect">
            <a:avLst/>
          </a:prstGeom>
          <a:noFill/>
        </p:spPr>
        <p:txBody>
          <a:bodyPr wrap="square" rtlCol="0">
            <a:spAutoFit/>
          </a:bodyPr>
          <a:lstStyle/>
          <a:p>
            <a:r>
              <a:rPr lang="it-IT" b="1" dirty="0">
                <a:solidFill>
                  <a:schemeClr val="bg1"/>
                </a:solidFill>
              </a:rPr>
              <a:t>Armani Hotel</a:t>
            </a:r>
          </a:p>
        </p:txBody>
      </p:sp>
      <p:sp>
        <p:nvSpPr>
          <p:cNvPr id="18" name="CasellaDiTesto 17">
            <a:extLst>
              <a:ext uri="{FF2B5EF4-FFF2-40B4-BE49-F238E27FC236}">
                <a16:creationId xmlns:a16="http://schemas.microsoft.com/office/drawing/2014/main" id="{C0263062-C260-487B-9A9E-FE62F389EF82}"/>
              </a:ext>
            </a:extLst>
          </p:cNvPr>
          <p:cNvSpPr txBox="1"/>
          <p:nvPr/>
        </p:nvSpPr>
        <p:spPr>
          <a:xfrm rot="19933421">
            <a:off x="1241287" y="5942523"/>
            <a:ext cx="1806170" cy="307777"/>
          </a:xfrm>
          <a:prstGeom prst="rect">
            <a:avLst/>
          </a:prstGeom>
          <a:noFill/>
        </p:spPr>
        <p:txBody>
          <a:bodyPr wrap="square" rtlCol="0">
            <a:spAutoFit/>
          </a:bodyPr>
          <a:lstStyle/>
          <a:p>
            <a:r>
              <a:rPr lang="it-IT" b="1" dirty="0">
                <a:solidFill>
                  <a:schemeClr val="bg1"/>
                </a:solidFill>
              </a:rPr>
              <a:t>Armani Restaurant</a:t>
            </a:r>
          </a:p>
        </p:txBody>
      </p:sp>
      <p:sp>
        <p:nvSpPr>
          <p:cNvPr id="19" name="CasellaDiTesto 18">
            <a:extLst>
              <a:ext uri="{FF2B5EF4-FFF2-40B4-BE49-F238E27FC236}">
                <a16:creationId xmlns:a16="http://schemas.microsoft.com/office/drawing/2014/main" id="{5C0B86A7-36C5-4F14-A8C3-D879F5D199F1}"/>
              </a:ext>
            </a:extLst>
          </p:cNvPr>
          <p:cNvSpPr txBox="1"/>
          <p:nvPr/>
        </p:nvSpPr>
        <p:spPr>
          <a:xfrm>
            <a:off x="2971859" y="5076985"/>
            <a:ext cx="2102165" cy="307777"/>
          </a:xfrm>
          <a:prstGeom prst="rect">
            <a:avLst/>
          </a:prstGeom>
          <a:noFill/>
        </p:spPr>
        <p:txBody>
          <a:bodyPr wrap="square" rtlCol="0">
            <a:spAutoFit/>
          </a:bodyPr>
          <a:lstStyle/>
          <a:p>
            <a:r>
              <a:rPr lang="it-IT" b="1" dirty="0"/>
              <a:t>Diversificazione Pura</a:t>
            </a:r>
          </a:p>
        </p:txBody>
      </p:sp>
    </p:spTree>
    <p:extLst>
      <p:ext uri="{BB962C8B-B14F-4D97-AF65-F5344CB8AC3E}">
        <p14:creationId xmlns:p14="http://schemas.microsoft.com/office/powerpoint/2010/main" val="759713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02DA21E8-B3A4-4152-9D7F-EC3E49DE30C4}"/>
              </a:ext>
            </a:extLst>
          </p:cNvPr>
          <p:cNvSpPr/>
          <p:nvPr/>
        </p:nvSpPr>
        <p:spPr>
          <a:xfrm>
            <a:off x="279798" y="370546"/>
            <a:ext cx="8584401" cy="553998"/>
          </a:xfrm>
          <a:prstGeom prst="rect">
            <a:avLst/>
          </a:prstGeom>
        </p:spPr>
        <p:txBody>
          <a:bodyPr wrap="none">
            <a:spAutoFit/>
          </a:bodyPr>
          <a:lstStyle/>
          <a:p>
            <a:r>
              <a:rPr lang="it-IT" sz="3000" b="1" dirty="0"/>
              <a:t>Matrice di </a:t>
            </a:r>
            <a:r>
              <a:rPr lang="it-IT" sz="3000" b="1" dirty="0" err="1"/>
              <a:t>Ansoff</a:t>
            </a:r>
            <a:r>
              <a:rPr lang="it-IT" sz="3000" b="1" dirty="0"/>
              <a:t>: quattro strategie di crescita</a:t>
            </a:r>
          </a:p>
        </p:txBody>
      </p:sp>
      <p:pic>
        <p:nvPicPr>
          <p:cNvPr id="2" name="Elementi multimediali online 1" title="MATRICE DI ANSOFF: cos&amp;#39;è e COME SI USA (con ESEMPIO di COCA-COLA)">
            <a:hlinkClick r:id="" action="ppaction://media"/>
            <a:extLst>
              <a:ext uri="{FF2B5EF4-FFF2-40B4-BE49-F238E27FC236}">
                <a16:creationId xmlns:a16="http://schemas.microsoft.com/office/drawing/2014/main" id="{18095743-9382-4D0F-BA74-12AFD8DD8A74}"/>
              </a:ext>
            </a:extLst>
          </p:cNvPr>
          <p:cNvPicPr>
            <a:picLocks noRot="1" noChangeAspect="1"/>
          </p:cNvPicPr>
          <p:nvPr>
            <a:videoFile r:link="rId1"/>
          </p:nvPr>
        </p:nvPicPr>
        <p:blipFill>
          <a:blip r:embed="rId3"/>
          <a:stretch>
            <a:fillRect/>
          </a:stretch>
        </p:blipFill>
        <p:spPr>
          <a:xfrm>
            <a:off x="1103655" y="1701053"/>
            <a:ext cx="6936690" cy="3901888"/>
          </a:xfrm>
          <a:prstGeom prst="rect">
            <a:avLst/>
          </a:prstGeom>
        </p:spPr>
      </p:pic>
    </p:spTree>
    <p:extLst>
      <p:ext uri="{BB962C8B-B14F-4D97-AF65-F5344CB8AC3E}">
        <p14:creationId xmlns:p14="http://schemas.microsoft.com/office/powerpoint/2010/main" val="621130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6683240" cy="1015663"/>
          </a:xfrm>
          <a:prstGeom prst="rect">
            <a:avLst/>
          </a:prstGeom>
        </p:spPr>
        <p:txBody>
          <a:bodyPr wrap="none">
            <a:spAutoFit/>
          </a:bodyPr>
          <a:lstStyle/>
          <a:p>
            <a:r>
              <a:rPr lang="it-IT" sz="3000" b="1" dirty="0"/>
              <a:t>Integrazione orizzontale e verticale:</a:t>
            </a:r>
          </a:p>
          <a:p>
            <a:r>
              <a:rPr lang="it-IT" sz="3000" b="1" dirty="0"/>
              <a:t>cosa s’intende?</a:t>
            </a:r>
          </a:p>
        </p:txBody>
      </p:sp>
      <p:sp>
        <p:nvSpPr>
          <p:cNvPr id="2" name="Rettangolo 1">
            <a:extLst>
              <a:ext uri="{FF2B5EF4-FFF2-40B4-BE49-F238E27FC236}">
                <a16:creationId xmlns:a16="http://schemas.microsoft.com/office/drawing/2014/main" id="{1E17B3EF-9032-4D9E-9975-01292FBA96AA}"/>
              </a:ext>
            </a:extLst>
          </p:cNvPr>
          <p:cNvSpPr/>
          <p:nvPr/>
        </p:nvSpPr>
        <p:spPr>
          <a:xfrm>
            <a:off x="551303" y="1571671"/>
            <a:ext cx="7306287" cy="3416320"/>
          </a:xfrm>
          <a:prstGeom prst="rect">
            <a:avLst/>
          </a:prstGeom>
        </p:spPr>
        <p:txBody>
          <a:bodyPr wrap="square">
            <a:spAutoFit/>
          </a:bodyPr>
          <a:lstStyle/>
          <a:p>
            <a:r>
              <a:rPr lang="it-IT" sz="2400" dirty="0"/>
              <a:t>Si può orientare la strategia di crescita aziendale in due “direzioni”: </a:t>
            </a:r>
          </a:p>
          <a:p>
            <a:endParaRPr lang="it-IT" sz="2400" dirty="0"/>
          </a:p>
          <a:p>
            <a:endParaRPr lang="it-IT" sz="2400" dirty="0"/>
          </a:p>
          <a:p>
            <a:endParaRPr lang="it-IT" sz="2400" b="1" dirty="0"/>
          </a:p>
          <a:p>
            <a:r>
              <a:rPr lang="it-IT" sz="2400" b="1" dirty="0"/>
              <a:t>	Orizzontale </a:t>
            </a:r>
          </a:p>
          <a:p>
            <a:endParaRPr lang="it-IT" sz="2400" b="1" dirty="0"/>
          </a:p>
          <a:p>
            <a:endParaRPr lang="it-IT" sz="2400" b="1" dirty="0"/>
          </a:p>
          <a:p>
            <a:r>
              <a:rPr lang="it-IT" sz="2400" b="1" dirty="0"/>
              <a:t>	Verticale</a:t>
            </a:r>
          </a:p>
        </p:txBody>
      </p:sp>
      <p:pic>
        <p:nvPicPr>
          <p:cNvPr id="5" name="Immagine 4">
            <a:extLst>
              <a:ext uri="{FF2B5EF4-FFF2-40B4-BE49-F238E27FC236}">
                <a16:creationId xmlns:a16="http://schemas.microsoft.com/office/drawing/2014/main" id="{5086A8B1-393C-4753-8FE7-2D39356D0883}"/>
              </a:ext>
            </a:extLst>
          </p:cNvPr>
          <p:cNvPicPr>
            <a:picLocks noChangeAspect="1"/>
          </p:cNvPicPr>
          <p:nvPr/>
        </p:nvPicPr>
        <p:blipFill rotWithShape="1">
          <a:blip r:embed="rId2"/>
          <a:srcRect t="9798" b="10379"/>
          <a:stretch/>
        </p:blipFill>
        <p:spPr>
          <a:xfrm>
            <a:off x="4020696" y="2140139"/>
            <a:ext cx="4572001" cy="4236305"/>
          </a:xfrm>
          <a:prstGeom prst="rect">
            <a:avLst/>
          </a:prstGeom>
        </p:spPr>
      </p:pic>
    </p:spTree>
    <p:extLst>
      <p:ext uri="{BB962C8B-B14F-4D97-AF65-F5344CB8AC3E}">
        <p14:creationId xmlns:p14="http://schemas.microsoft.com/office/powerpoint/2010/main" val="3901403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6683240" cy="1015663"/>
          </a:xfrm>
          <a:prstGeom prst="rect">
            <a:avLst/>
          </a:prstGeom>
        </p:spPr>
        <p:txBody>
          <a:bodyPr wrap="none">
            <a:spAutoFit/>
          </a:bodyPr>
          <a:lstStyle/>
          <a:p>
            <a:r>
              <a:rPr lang="it-IT" sz="3000" b="1" dirty="0"/>
              <a:t>Integrazione orizzontale e verticale:</a:t>
            </a:r>
          </a:p>
          <a:p>
            <a:r>
              <a:rPr lang="it-IT" sz="3000" b="1" dirty="0"/>
              <a:t>cosa s’intende?</a:t>
            </a:r>
          </a:p>
        </p:txBody>
      </p:sp>
      <p:sp>
        <p:nvSpPr>
          <p:cNvPr id="3" name="Rettangolo 2">
            <a:extLst>
              <a:ext uri="{FF2B5EF4-FFF2-40B4-BE49-F238E27FC236}">
                <a16:creationId xmlns:a16="http://schemas.microsoft.com/office/drawing/2014/main" id="{1C4C4844-E8A5-4435-92C3-A3B44FE50FD1}"/>
              </a:ext>
            </a:extLst>
          </p:cNvPr>
          <p:cNvSpPr/>
          <p:nvPr/>
        </p:nvSpPr>
        <p:spPr>
          <a:xfrm>
            <a:off x="279798" y="2117026"/>
            <a:ext cx="8442860" cy="4247317"/>
          </a:xfrm>
          <a:prstGeom prst="rect">
            <a:avLst/>
          </a:prstGeom>
        </p:spPr>
        <p:txBody>
          <a:bodyPr wrap="square">
            <a:spAutoFit/>
          </a:bodyPr>
          <a:lstStyle/>
          <a:p>
            <a:pPr algn="just"/>
            <a:r>
              <a:rPr lang="it-IT" sz="1800" dirty="0"/>
              <a:t>Tramite l’integrazione di tipo orizzontale si espande l’attività a:</a:t>
            </a:r>
          </a:p>
          <a:p>
            <a:pPr marL="285750" indent="-285750" algn="just">
              <a:buFont typeface="Arial" panose="020B0604020202020204" pitchFamily="34" charset="0"/>
              <a:buChar char="•"/>
            </a:pPr>
            <a:r>
              <a:rPr lang="it-IT" sz="1800" b="1" dirty="0"/>
              <a:t>prodotti, servizi, processi e know-how</a:t>
            </a:r>
            <a:r>
              <a:rPr lang="it-IT" sz="1800" dirty="0"/>
              <a:t> affini a quelli che già possiedi;</a:t>
            </a:r>
          </a:p>
          <a:p>
            <a:pPr marL="285750" indent="-285750" algn="just">
              <a:buFont typeface="Arial" panose="020B0604020202020204" pitchFamily="34" charset="0"/>
              <a:buChar char="•"/>
            </a:pPr>
            <a:r>
              <a:rPr lang="it-IT" sz="1800" b="1" dirty="0"/>
              <a:t>tipi differenti di produzione</a:t>
            </a:r>
            <a:r>
              <a:rPr lang="it-IT" sz="1800" dirty="0"/>
              <a:t>, ma con tecnologie, cicli produttivi, fasi di lavorazione e politiche di mercato simili a quelle con cui già si opera abitualmente.</a:t>
            </a:r>
          </a:p>
          <a:p>
            <a:pPr algn="just"/>
            <a:r>
              <a:rPr lang="it-IT" sz="1800" dirty="0"/>
              <a:t>In base a cosa si integra, si potrà aumentare la quota sul mercato in cui già si è presente, oppure entrare in nuovi mercati, ma avere la possibilità di crescere rapidamente.</a:t>
            </a:r>
          </a:p>
          <a:p>
            <a:pPr algn="just"/>
            <a:r>
              <a:rPr lang="it-IT" sz="1800" dirty="0"/>
              <a:t>Per perseguire una crescita orizzontale, si può:</a:t>
            </a:r>
          </a:p>
          <a:p>
            <a:pPr marL="285750" indent="-285750" algn="just">
              <a:buFont typeface="Arial" panose="020B0604020202020204" pitchFamily="34" charset="0"/>
              <a:buChar char="•"/>
            </a:pPr>
            <a:r>
              <a:rPr lang="it-IT" sz="1800" dirty="0"/>
              <a:t>costituire o acquisire imprese simili;</a:t>
            </a:r>
          </a:p>
          <a:p>
            <a:pPr marL="285750" indent="-285750" algn="just">
              <a:buFont typeface="Arial" panose="020B0604020202020204" pitchFamily="34" charset="0"/>
              <a:buChar char="•"/>
            </a:pPr>
            <a:r>
              <a:rPr lang="it-IT" sz="1800" dirty="0"/>
              <a:t>potenziare gli impianti esistenti;</a:t>
            </a:r>
          </a:p>
          <a:p>
            <a:pPr marL="285750" indent="-285750" algn="just">
              <a:buFont typeface="Arial" panose="020B0604020202020204" pitchFamily="34" charset="0"/>
              <a:buChar char="•"/>
            </a:pPr>
            <a:r>
              <a:rPr lang="it-IT" sz="1800" dirty="0"/>
              <a:t>costituire nuove unità produttive.</a:t>
            </a:r>
          </a:p>
          <a:p>
            <a:pPr algn="just"/>
            <a:endParaRPr lang="it-IT" sz="1800" dirty="0"/>
          </a:p>
          <a:p>
            <a:pPr algn="just"/>
            <a:r>
              <a:rPr lang="it-IT" sz="1800" dirty="0"/>
              <a:t>Ad esempio, se un’azienda produce frigoriferi, tramite l’integrazione orizzontale si può espandere l’attività anche alla produzione di lavatrici.</a:t>
            </a:r>
          </a:p>
        </p:txBody>
      </p:sp>
      <p:sp>
        <p:nvSpPr>
          <p:cNvPr id="6" name="Rettangolo 5">
            <a:extLst>
              <a:ext uri="{FF2B5EF4-FFF2-40B4-BE49-F238E27FC236}">
                <a16:creationId xmlns:a16="http://schemas.microsoft.com/office/drawing/2014/main" id="{CADAD080-A48D-4D58-9E47-58F3FBF92079}"/>
              </a:ext>
            </a:extLst>
          </p:cNvPr>
          <p:cNvSpPr/>
          <p:nvPr/>
        </p:nvSpPr>
        <p:spPr>
          <a:xfrm>
            <a:off x="279798" y="1520785"/>
            <a:ext cx="3772186" cy="461665"/>
          </a:xfrm>
          <a:prstGeom prst="rect">
            <a:avLst/>
          </a:prstGeom>
        </p:spPr>
        <p:txBody>
          <a:bodyPr wrap="none">
            <a:spAutoFit/>
          </a:bodyPr>
          <a:lstStyle/>
          <a:p>
            <a:r>
              <a:rPr lang="it-IT" sz="2400" b="1" dirty="0"/>
              <a:t>Integrazione orizzontale </a:t>
            </a:r>
            <a:endParaRPr lang="it-IT" sz="2400" dirty="0"/>
          </a:p>
        </p:txBody>
      </p:sp>
    </p:spTree>
    <p:extLst>
      <p:ext uri="{BB962C8B-B14F-4D97-AF65-F5344CB8AC3E}">
        <p14:creationId xmlns:p14="http://schemas.microsoft.com/office/powerpoint/2010/main" val="885451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6683240" cy="1015663"/>
          </a:xfrm>
          <a:prstGeom prst="rect">
            <a:avLst/>
          </a:prstGeom>
        </p:spPr>
        <p:txBody>
          <a:bodyPr wrap="none">
            <a:spAutoFit/>
          </a:bodyPr>
          <a:lstStyle/>
          <a:p>
            <a:r>
              <a:rPr lang="it-IT" sz="3000" b="1" dirty="0"/>
              <a:t>Integrazione orizzontale e verticale:</a:t>
            </a:r>
          </a:p>
          <a:p>
            <a:r>
              <a:rPr lang="it-IT" sz="3000" b="1" dirty="0"/>
              <a:t>cosa s’intende?</a:t>
            </a:r>
          </a:p>
        </p:txBody>
      </p:sp>
      <p:sp>
        <p:nvSpPr>
          <p:cNvPr id="6" name="Rettangolo 5">
            <a:extLst>
              <a:ext uri="{FF2B5EF4-FFF2-40B4-BE49-F238E27FC236}">
                <a16:creationId xmlns:a16="http://schemas.microsoft.com/office/drawing/2014/main" id="{CADAD080-A48D-4D58-9E47-58F3FBF92079}"/>
              </a:ext>
            </a:extLst>
          </p:cNvPr>
          <p:cNvSpPr/>
          <p:nvPr/>
        </p:nvSpPr>
        <p:spPr>
          <a:xfrm>
            <a:off x="279798" y="1520785"/>
            <a:ext cx="3772186" cy="461665"/>
          </a:xfrm>
          <a:prstGeom prst="rect">
            <a:avLst/>
          </a:prstGeom>
        </p:spPr>
        <p:txBody>
          <a:bodyPr wrap="none">
            <a:spAutoFit/>
          </a:bodyPr>
          <a:lstStyle/>
          <a:p>
            <a:r>
              <a:rPr lang="it-IT" sz="2400" b="1" dirty="0"/>
              <a:t>Integrazione orizzontale </a:t>
            </a:r>
            <a:endParaRPr lang="it-IT" sz="2400" dirty="0"/>
          </a:p>
        </p:txBody>
      </p:sp>
      <p:sp>
        <p:nvSpPr>
          <p:cNvPr id="2" name="Rettangolo 1">
            <a:extLst>
              <a:ext uri="{FF2B5EF4-FFF2-40B4-BE49-F238E27FC236}">
                <a16:creationId xmlns:a16="http://schemas.microsoft.com/office/drawing/2014/main" id="{65E69875-8095-4A27-A320-7F91E809F1E8}"/>
              </a:ext>
            </a:extLst>
          </p:cNvPr>
          <p:cNvSpPr/>
          <p:nvPr/>
        </p:nvSpPr>
        <p:spPr>
          <a:xfrm>
            <a:off x="279798" y="2117026"/>
            <a:ext cx="8631120" cy="3785652"/>
          </a:xfrm>
          <a:prstGeom prst="rect">
            <a:avLst/>
          </a:prstGeom>
        </p:spPr>
        <p:txBody>
          <a:bodyPr wrap="square">
            <a:spAutoFit/>
          </a:bodyPr>
          <a:lstStyle/>
          <a:p>
            <a:pPr algn="just"/>
            <a:r>
              <a:rPr lang="it-IT" sz="2000" dirty="0"/>
              <a:t>Quali sono i vantaggi e quali gli svantaggi di una strategia di crescita orizzontale?</a:t>
            </a:r>
          </a:p>
          <a:p>
            <a:pPr algn="just"/>
            <a:endParaRPr lang="it-IT" sz="2000" dirty="0"/>
          </a:p>
          <a:p>
            <a:pPr algn="just"/>
            <a:r>
              <a:rPr lang="it-IT" sz="2000" dirty="0"/>
              <a:t>I </a:t>
            </a:r>
            <a:r>
              <a:rPr lang="it-IT" sz="2000" b="1" dirty="0"/>
              <a:t>vantaggi</a:t>
            </a:r>
            <a:r>
              <a:rPr lang="it-IT" sz="2000" dirty="0"/>
              <a:t> principali consistono nei tempi brevi di attuazione della strategia, nell’opportunità di sfruttare tutte le risorse aziendali a disposizione, nella possibilità di valutare e prevedere i rischi imprenditoriali che la scelta di sviluppo aziendale orizzontale comporta.</a:t>
            </a:r>
          </a:p>
          <a:p>
            <a:pPr algn="just"/>
            <a:endParaRPr lang="it-IT" sz="2000" dirty="0"/>
          </a:p>
          <a:p>
            <a:pPr algn="just"/>
            <a:r>
              <a:rPr lang="it-IT" sz="2000" dirty="0"/>
              <a:t>Gli </a:t>
            </a:r>
            <a:r>
              <a:rPr lang="it-IT" sz="2000" b="1" dirty="0"/>
              <a:t>svantaggi</a:t>
            </a:r>
            <a:r>
              <a:rPr lang="it-IT" sz="2000" dirty="0"/>
              <a:t> principali, invece, sono due e consistono nel fatto che l’aumento delle dimensioni aziendali può comportare maggiori difficoltà nella capacità di controllo del processo di crescita messo in atto e può implicare anche un aumento delle attività burocratiche.</a:t>
            </a:r>
          </a:p>
        </p:txBody>
      </p:sp>
    </p:spTree>
    <p:extLst>
      <p:ext uri="{BB962C8B-B14F-4D97-AF65-F5344CB8AC3E}">
        <p14:creationId xmlns:p14="http://schemas.microsoft.com/office/powerpoint/2010/main" val="3070641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370546"/>
            <a:ext cx="6683240" cy="1015663"/>
          </a:xfrm>
          <a:prstGeom prst="rect">
            <a:avLst/>
          </a:prstGeom>
        </p:spPr>
        <p:txBody>
          <a:bodyPr wrap="none">
            <a:spAutoFit/>
          </a:bodyPr>
          <a:lstStyle/>
          <a:p>
            <a:r>
              <a:rPr lang="it-IT" sz="3000" b="1" dirty="0"/>
              <a:t>Integrazione orizzontale e verticale:</a:t>
            </a:r>
          </a:p>
          <a:p>
            <a:r>
              <a:rPr lang="it-IT" sz="3000" b="1" dirty="0"/>
              <a:t>cosa s’intende?</a:t>
            </a:r>
          </a:p>
        </p:txBody>
      </p:sp>
      <p:sp>
        <p:nvSpPr>
          <p:cNvPr id="3" name="Rettangolo 2">
            <a:extLst>
              <a:ext uri="{FF2B5EF4-FFF2-40B4-BE49-F238E27FC236}">
                <a16:creationId xmlns:a16="http://schemas.microsoft.com/office/drawing/2014/main" id="{1C4C4844-E8A5-4435-92C3-A3B44FE50FD1}"/>
              </a:ext>
            </a:extLst>
          </p:cNvPr>
          <p:cNvSpPr/>
          <p:nvPr/>
        </p:nvSpPr>
        <p:spPr>
          <a:xfrm>
            <a:off x="350570" y="2188744"/>
            <a:ext cx="8442860" cy="3970318"/>
          </a:xfrm>
          <a:prstGeom prst="rect">
            <a:avLst/>
          </a:prstGeom>
        </p:spPr>
        <p:txBody>
          <a:bodyPr wrap="square">
            <a:spAutoFit/>
          </a:bodyPr>
          <a:lstStyle/>
          <a:p>
            <a:pPr algn="just"/>
            <a:r>
              <a:rPr lang="it-IT" sz="1800" dirty="0"/>
              <a:t>La crescita verticale consiste nell’integrare nell’azienda i passaggi intermedi che servono alla realizzazione del prodotto finito.</a:t>
            </a:r>
          </a:p>
          <a:p>
            <a:pPr algn="just"/>
            <a:r>
              <a:rPr lang="it-IT" sz="1800" dirty="0"/>
              <a:t>L’integrazione verticale può essere:</a:t>
            </a:r>
          </a:p>
          <a:p>
            <a:pPr marL="285750" indent="-285750" algn="just">
              <a:buFont typeface="Arial" panose="020B0604020202020204" pitchFamily="34" charset="0"/>
              <a:buChar char="•"/>
            </a:pPr>
            <a:r>
              <a:rPr lang="it-IT" sz="1800" b="1" dirty="0"/>
              <a:t>a monte</a:t>
            </a:r>
            <a:r>
              <a:rPr lang="it-IT" sz="1800" dirty="0"/>
              <a:t>: le fasi produttive internalizzate sono precedenti a quelle già presidiate dall’azienda;</a:t>
            </a:r>
          </a:p>
          <a:p>
            <a:pPr marL="285750" indent="-285750" algn="just">
              <a:buFont typeface="Arial" panose="020B0604020202020204" pitchFamily="34" charset="0"/>
              <a:buChar char="•"/>
            </a:pPr>
            <a:r>
              <a:rPr lang="it-IT" sz="1800" b="1" dirty="0"/>
              <a:t>a valle</a:t>
            </a:r>
            <a:r>
              <a:rPr lang="it-IT" sz="1800" dirty="0"/>
              <a:t>: le fasi integrate sono successive a quelle di cui già si occupa l’azienda.</a:t>
            </a:r>
          </a:p>
          <a:p>
            <a:pPr algn="just"/>
            <a:r>
              <a:rPr lang="it-IT" sz="1800" dirty="0"/>
              <a:t>Questa strategia risulterà utile se tramite la crescita aziendale si vuole diminuire i costi del processo produttivo, oppure contrastare il potere dei fornitori sul mercato.</a:t>
            </a:r>
          </a:p>
          <a:p>
            <a:pPr algn="just"/>
            <a:endParaRPr lang="it-IT" sz="1800" dirty="0"/>
          </a:p>
          <a:p>
            <a:pPr algn="just"/>
            <a:r>
              <a:rPr lang="it-IT" sz="1800" dirty="0"/>
              <a:t>Pensiamo a un’azienda produttrice di abbigliamento; per crescere verticalmente può includere nelle sue attività le fasi che attualmente affida a soggetti esterni, ad esempio la progettazione, oppure il taglio o, ancora, l’assemblaggio o la finitura.</a:t>
            </a:r>
          </a:p>
        </p:txBody>
      </p:sp>
      <p:sp>
        <p:nvSpPr>
          <p:cNvPr id="6" name="Rettangolo 5">
            <a:extLst>
              <a:ext uri="{FF2B5EF4-FFF2-40B4-BE49-F238E27FC236}">
                <a16:creationId xmlns:a16="http://schemas.microsoft.com/office/drawing/2014/main" id="{CADAD080-A48D-4D58-9E47-58F3FBF92079}"/>
              </a:ext>
            </a:extLst>
          </p:cNvPr>
          <p:cNvSpPr/>
          <p:nvPr/>
        </p:nvSpPr>
        <p:spPr>
          <a:xfrm>
            <a:off x="350570" y="1520785"/>
            <a:ext cx="3416320" cy="461665"/>
          </a:xfrm>
          <a:prstGeom prst="rect">
            <a:avLst/>
          </a:prstGeom>
        </p:spPr>
        <p:txBody>
          <a:bodyPr wrap="none">
            <a:spAutoFit/>
          </a:bodyPr>
          <a:lstStyle/>
          <a:p>
            <a:r>
              <a:rPr lang="it-IT" sz="2400" b="1" dirty="0"/>
              <a:t>Integrazione verticale </a:t>
            </a:r>
            <a:endParaRPr lang="it-IT" sz="2400" dirty="0"/>
          </a:p>
        </p:txBody>
      </p:sp>
    </p:spTree>
    <p:extLst>
      <p:ext uri="{BB962C8B-B14F-4D97-AF65-F5344CB8AC3E}">
        <p14:creationId xmlns:p14="http://schemas.microsoft.com/office/powerpoint/2010/main" val="272927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83675"/>
            <a:ext cx="6683240" cy="1015663"/>
          </a:xfrm>
          <a:prstGeom prst="rect">
            <a:avLst/>
          </a:prstGeom>
        </p:spPr>
        <p:txBody>
          <a:bodyPr wrap="none">
            <a:spAutoFit/>
          </a:bodyPr>
          <a:lstStyle/>
          <a:p>
            <a:r>
              <a:rPr lang="it-IT" sz="3000" b="1" dirty="0"/>
              <a:t>Integrazione orizzontale e verticale:</a:t>
            </a:r>
          </a:p>
          <a:p>
            <a:r>
              <a:rPr lang="it-IT" sz="3000" b="1" dirty="0"/>
              <a:t>cosa s’intende?</a:t>
            </a:r>
          </a:p>
        </p:txBody>
      </p:sp>
      <p:sp>
        <p:nvSpPr>
          <p:cNvPr id="6" name="Rettangolo 5">
            <a:extLst>
              <a:ext uri="{FF2B5EF4-FFF2-40B4-BE49-F238E27FC236}">
                <a16:creationId xmlns:a16="http://schemas.microsoft.com/office/drawing/2014/main" id="{CADAD080-A48D-4D58-9E47-58F3FBF92079}"/>
              </a:ext>
            </a:extLst>
          </p:cNvPr>
          <p:cNvSpPr/>
          <p:nvPr/>
        </p:nvSpPr>
        <p:spPr>
          <a:xfrm>
            <a:off x="279798" y="1099338"/>
            <a:ext cx="3416320" cy="461665"/>
          </a:xfrm>
          <a:prstGeom prst="rect">
            <a:avLst/>
          </a:prstGeom>
        </p:spPr>
        <p:txBody>
          <a:bodyPr wrap="none">
            <a:spAutoFit/>
          </a:bodyPr>
          <a:lstStyle/>
          <a:p>
            <a:r>
              <a:rPr lang="it-IT" sz="2400" b="1" dirty="0"/>
              <a:t>Integrazione verticale </a:t>
            </a:r>
            <a:endParaRPr lang="it-IT" sz="2400" dirty="0"/>
          </a:p>
        </p:txBody>
      </p:sp>
      <p:sp>
        <p:nvSpPr>
          <p:cNvPr id="2" name="Rettangolo 1">
            <a:extLst>
              <a:ext uri="{FF2B5EF4-FFF2-40B4-BE49-F238E27FC236}">
                <a16:creationId xmlns:a16="http://schemas.microsoft.com/office/drawing/2014/main" id="{AD9CA0B8-9786-441E-A432-9EC48422610E}"/>
              </a:ext>
            </a:extLst>
          </p:cNvPr>
          <p:cNvSpPr/>
          <p:nvPr/>
        </p:nvSpPr>
        <p:spPr>
          <a:xfrm>
            <a:off x="180240" y="1471356"/>
            <a:ext cx="8783520" cy="5509200"/>
          </a:xfrm>
          <a:prstGeom prst="rect">
            <a:avLst/>
          </a:prstGeom>
        </p:spPr>
        <p:txBody>
          <a:bodyPr wrap="square">
            <a:spAutoFit/>
          </a:bodyPr>
          <a:lstStyle/>
          <a:p>
            <a:pPr algn="just"/>
            <a:r>
              <a:rPr lang="it-IT" sz="1600" dirty="0"/>
              <a:t>I </a:t>
            </a:r>
            <a:r>
              <a:rPr lang="it-IT" sz="1600" b="1" dirty="0"/>
              <a:t>vantaggi</a:t>
            </a:r>
            <a:r>
              <a:rPr lang="it-IT" sz="1600" dirty="0"/>
              <a:t> principali di una strategia di crescita verticale dell’azienda consistono:</a:t>
            </a:r>
          </a:p>
          <a:p>
            <a:pPr algn="just"/>
            <a:endParaRPr lang="it-IT" sz="1600" dirty="0"/>
          </a:p>
          <a:p>
            <a:pPr marL="285750" indent="-285750" algn="just">
              <a:buFont typeface="Arial" panose="020B0604020202020204" pitchFamily="34" charset="0"/>
              <a:buChar char="•"/>
            </a:pPr>
            <a:r>
              <a:rPr lang="it-IT" sz="1600" dirty="0"/>
              <a:t>nell’aumento del valore aggiunto del prodotto, che si misura confrontando il valore del prodotto finito e il costo della sua produzione;</a:t>
            </a:r>
          </a:p>
          <a:p>
            <a:pPr marL="285750" indent="-285750" algn="just">
              <a:buFont typeface="Arial" panose="020B0604020202020204" pitchFamily="34" charset="0"/>
              <a:buChar char="•"/>
            </a:pPr>
            <a:r>
              <a:rPr lang="it-IT" sz="1600" dirty="0"/>
              <a:t>nell’aumento del potere di mercato, in seguito all’aumento della dimensione aziendale;</a:t>
            </a:r>
          </a:p>
          <a:p>
            <a:pPr marL="285750" indent="-285750" algn="just">
              <a:buFont typeface="Arial" panose="020B0604020202020204" pitchFamily="34" charset="0"/>
              <a:buChar char="•"/>
            </a:pPr>
            <a:r>
              <a:rPr lang="it-IT" sz="1600" dirty="0"/>
              <a:t>nel maggior controllo sul ciclo produttivo aziendale, con conseguente riduzione della dipendenza da fornitori o situazioni esterne;</a:t>
            </a:r>
          </a:p>
          <a:p>
            <a:pPr marL="285750" indent="-285750" algn="just">
              <a:buFont typeface="Arial" panose="020B0604020202020204" pitchFamily="34" charset="0"/>
              <a:buChar char="•"/>
            </a:pPr>
            <a:r>
              <a:rPr lang="it-IT" sz="1600" dirty="0"/>
              <a:t>nel miglioramento dell’efficienza aziendale;</a:t>
            </a:r>
          </a:p>
          <a:p>
            <a:pPr marL="285750" indent="-285750" algn="just">
              <a:buFont typeface="Arial" panose="020B0604020202020204" pitchFamily="34" charset="0"/>
              <a:buChar char="•"/>
            </a:pPr>
            <a:r>
              <a:rPr lang="it-IT" sz="1600" dirty="0"/>
              <a:t>nell’incremento della forza contrattuale dell’impresa nei confronti di fornitori e di concorrenti, costruendo così barriere all’entrata del mercato.</a:t>
            </a:r>
          </a:p>
          <a:p>
            <a:pPr algn="just"/>
            <a:r>
              <a:rPr lang="it-IT" sz="1600" dirty="0"/>
              <a:t>Ma lo sviluppo verticale dell’azienda ha anche i suoi </a:t>
            </a:r>
            <a:r>
              <a:rPr lang="it-IT" sz="1600" b="1" dirty="0"/>
              <a:t>limiti</a:t>
            </a:r>
            <a:r>
              <a:rPr lang="it-IT" sz="1600" dirty="0"/>
              <a:t>. I più importanti sono l’incremento dei costi fissi per l’impresa, l’aumento della rigidità aziendale, l’incremento delle barriere all’uscita del mercato, il rischio per l’azienda di non specializzarsi in una specifica fase produttiva, continuando a sperimentare, a innovare, finendo per non essere competitiva in nessuna.</a:t>
            </a:r>
          </a:p>
          <a:p>
            <a:pPr algn="just"/>
            <a:endParaRPr lang="it-IT" sz="900" dirty="0"/>
          </a:p>
          <a:p>
            <a:pPr algn="just"/>
            <a:r>
              <a:rPr lang="it-IT" sz="1600" dirty="0"/>
              <a:t>Come abbiamo analizzato, uno dei preziosi vantaggi dell’attivare meccanismi di crescita dell’azienda è l’opportunità di aumentare il valore aggiunto del prodotto. Obiettivo questo raggiungibile anche grazie all’offerta di adeguati e soddisfacenti servizi legati alla vendita, accortezze che manifestano al cliente l’attenzione per loro. Un esempio concreto? Il numero verde, uno strumento utile per comunicare interesse e fiducia e per rendere più solida la brand </a:t>
            </a:r>
            <a:r>
              <a:rPr lang="it-IT" sz="1600" dirty="0" err="1"/>
              <a:t>reputation</a:t>
            </a:r>
            <a:r>
              <a:rPr lang="it-IT" sz="1600" dirty="0"/>
              <a:t>.</a:t>
            </a:r>
          </a:p>
        </p:txBody>
      </p:sp>
    </p:spTree>
    <p:extLst>
      <p:ext uri="{BB962C8B-B14F-4D97-AF65-F5344CB8AC3E}">
        <p14:creationId xmlns:p14="http://schemas.microsoft.com/office/powerpoint/2010/main" val="652980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279798" y="83675"/>
            <a:ext cx="6683240" cy="1015663"/>
          </a:xfrm>
          <a:prstGeom prst="rect">
            <a:avLst/>
          </a:prstGeom>
        </p:spPr>
        <p:txBody>
          <a:bodyPr wrap="none">
            <a:spAutoFit/>
          </a:bodyPr>
          <a:lstStyle/>
          <a:p>
            <a:r>
              <a:rPr lang="it-IT" sz="3000" b="1" dirty="0"/>
              <a:t>Integrazione orizzontale e verticale:</a:t>
            </a:r>
          </a:p>
          <a:p>
            <a:r>
              <a:rPr lang="it-IT" sz="3000" b="1" dirty="0"/>
              <a:t>cosa s’intende?</a:t>
            </a:r>
          </a:p>
        </p:txBody>
      </p:sp>
      <p:sp>
        <p:nvSpPr>
          <p:cNvPr id="6" name="Rettangolo 5">
            <a:extLst>
              <a:ext uri="{FF2B5EF4-FFF2-40B4-BE49-F238E27FC236}">
                <a16:creationId xmlns:a16="http://schemas.microsoft.com/office/drawing/2014/main" id="{CADAD080-A48D-4D58-9E47-58F3FBF92079}"/>
              </a:ext>
            </a:extLst>
          </p:cNvPr>
          <p:cNvSpPr/>
          <p:nvPr/>
        </p:nvSpPr>
        <p:spPr>
          <a:xfrm>
            <a:off x="279798" y="1099338"/>
            <a:ext cx="1279517" cy="461665"/>
          </a:xfrm>
          <a:prstGeom prst="rect">
            <a:avLst/>
          </a:prstGeom>
        </p:spPr>
        <p:txBody>
          <a:bodyPr wrap="none">
            <a:spAutoFit/>
          </a:bodyPr>
          <a:lstStyle/>
          <a:p>
            <a:r>
              <a:rPr lang="it-IT" sz="2400" b="1" dirty="0"/>
              <a:t>Esempi</a:t>
            </a:r>
            <a:endParaRPr lang="it-IT" sz="2400" dirty="0"/>
          </a:p>
        </p:txBody>
      </p:sp>
      <p:pic>
        <p:nvPicPr>
          <p:cNvPr id="3" name="Immagine 2">
            <a:extLst>
              <a:ext uri="{FF2B5EF4-FFF2-40B4-BE49-F238E27FC236}">
                <a16:creationId xmlns:a16="http://schemas.microsoft.com/office/drawing/2014/main" id="{C6A3CCEF-4D58-4DA7-AD0E-2B6215BF6E83}"/>
              </a:ext>
            </a:extLst>
          </p:cNvPr>
          <p:cNvPicPr>
            <a:picLocks noChangeAspect="1"/>
          </p:cNvPicPr>
          <p:nvPr/>
        </p:nvPicPr>
        <p:blipFill rotWithShape="1">
          <a:blip r:embed="rId2"/>
          <a:srcRect l="16372" t="56015" r="44412" b="31029"/>
          <a:stretch/>
        </p:blipFill>
        <p:spPr>
          <a:xfrm>
            <a:off x="279798" y="1810201"/>
            <a:ext cx="5394861" cy="1002605"/>
          </a:xfrm>
          <a:prstGeom prst="rect">
            <a:avLst/>
          </a:prstGeom>
        </p:spPr>
      </p:pic>
      <p:pic>
        <p:nvPicPr>
          <p:cNvPr id="5" name="Immagine 4">
            <a:extLst>
              <a:ext uri="{FF2B5EF4-FFF2-40B4-BE49-F238E27FC236}">
                <a16:creationId xmlns:a16="http://schemas.microsoft.com/office/drawing/2014/main" id="{D7446C32-D96B-4A1D-9B0B-961E864B35D2}"/>
              </a:ext>
            </a:extLst>
          </p:cNvPr>
          <p:cNvPicPr>
            <a:picLocks noChangeAspect="1"/>
          </p:cNvPicPr>
          <p:nvPr/>
        </p:nvPicPr>
        <p:blipFill rotWithShape="1">
          <a:blip r:embed="rId3"/>
          <a:srcRect l="17451" t="48693" r="18726" b="16274"/>
          <a:stretch/>
        </p:blipFill>
        <p:spPr>
          <a:xfrm>
            <a:off x="279798" y="3118063"/>
            <a:ext cx="5394861" cy="1665694"/>
          </a:xfrm>
          <a:prstGeom prst="rect">
            <a:avLst/>
          </a:prstGeom>
        </p:spPr>
      </p:pic>
      <p:sp>
        <p:nvSpPr>
          <p:cNvPr id="7" name="CasellaDiTesto 6">
            <a:extLst>
              <a:ext uri="{FF2B5EF4-FFF2-40B4-BE49-F238E27FC236}">
                <a16:creationId xmlns:a16="http://schemas.microsoft.com/office/drawing/2014/main" id="{FF33E342-E1E0-4726-979A-19FCD00F581E}"/>
              </a:ext>
            </a:extLst>
          </p:cNvPr>
          <p:cNvSpPr txBox="1"/>
          <p:nvPr/>
        </p:nvSpPr>
        <p:spPr>
          <a:xfrm>
            <a:off x="5725909" y="2132389"/>
            <a:ext cx="2474258" cy="307777"/>
          </a:xfrm>
          <a:prstGeom prst="rect">
            <a:avLst/>
          </a:prstGeom>
          <a:noFill/>
        </p:spPr>
        <p:txBody>
          <a:bodyPr wrap="square" rtlCol="0">
            <a:spAutoFit/>
          </a:bodyPr>
          <a:lstStyle/>
          <a:p>
            <a:r>
              <a:rPr lang="it-IT" b="1" dirty="0"/>
              <a:t>Integrazione Orizzontale</a:t>
            </a:r>
          </a:p>
        </p:txBody>
      </p:sp>
      <p:sp>
        <p:nvSpPr>
          <p:cNvPr id="8" name="CasellaDiTesto 7">
            <a:extLst>
              <a:ext uri="{FF2B5EF4-FFF2-40B4-BE49-F238E27FC236}">
                <a16:creationId xmlns:a16="http://schemas.microsoft.com/office/drawing/2014/main" id="{4F9F7980-9BC0-4A6B-81C6-5082455BF81C}"/>
              </a:ext>
            </a:extLst>
          </p:cNvPr>
          <p:cNvSpPr txBox="1"/>
          <p:nvPr/>
        </p:nvSpPr>
        <p:spPr>
          <a:xfrm>
            <a:off x="5674659" y="3797021"/>
            <a:ext cx="2841812" cy="307777"/>
          </a:xfrm>
          <a:prstGeom prst="rect">
            <a:avLst/>
          </a:prstGeom>
          <a:noFill/>
        </p:spPr>
        <p:txBody>
          <a:bodyPr wrap="square" rtlCol="0">
            <a:spAutoFit/>
          </a:bodyPr>
          <a:lstStyle/>
          <a:p>
            <a:r>
              <a:rPr lang="it-IT" b="1" dirty="0"/>
              <a:t>Integrazione Verticale a monte</a:t>
            </a:r>
          </a:p>
        </p:txBody>
      </p:sp>
      <p:pic>
        <p:nvPicPr>
          <p:cNvPr id="9" name="Immagine 8">
            <a:extLst>
              <a:ext uri="{FF2B5EF4-FFF2-40B4-BE49-F238E27FC236}">
                <a16:creationId xmlns:a16="http://schemas.microsoft.com/office/drawing/2014/main" id="{5C1A51F4-B21B-4B91-B9DC-0CC081DD0E95}"/>
              </a:ext>
            </a:extLst>
          </p:cNvPr>
          <p:cNvPicPr>
            <a:picLocks noChangeAspect="1"/>
          </p:cNvPicPr>
          <p:nvPr/>
        </p:nvPicPr>
        <p:blipFill rotWithShape="1">
          <a:blip r:embed="rId4"/>
          <a:srcRect l="7333" t="27944" r="5451" b="28358"/>
          <a:stretch/>
        </p:blipFill>
        <p:spPr>
          <a:xfrm>
            <a:off x="421341" y="5405718"/>
            <a:ext cx="2492188" cy="699247"/>
          </a:xfrm>
          <a:prstGeom prst="rect">
            <a:avLst/>
          </a:prstGeom>
        </p:spPr>
      </p:pic>
      <p:pic>
        <p:nvPicPr>
          <p:cNvPr id="10" name="Immagine 9">
            <a:extLst>
              <a:ext uri="{FF2B5EF4-FFF2-40B4-BE49-F238E27FC236}">
                <a16:creationId xmlns:a16="http://schemas.microsoft.com/office/drawing/2014/main" id="{1861CB2B-A398-47EE-AE4C-33634196027E}"/>
              </a:ext>
            </a:extLst>
          </p:cNvPr>
          <p:cNvPicPr>
            <a:picLocks noChangeAspect="1"/>
          </p:cNvPicPr>
          <p:nvPr/>
        </p:nvPicPr>
        <p:blipFill rotWithShape="1">
          <a:blip r:embed="rId5"/>
          <a:srcRect t="33686" b="33686"/>
          <a:stretch/>
        </p:blipFill>
        <p:spPr>
          <a:xfrm>
            <a:off x="3141848" y="5405717"/>
            <a:ext cx="2143125" cy="699247"/>
          </a:xfrm>
          <a:prstGeom prst="rect">
            <a:avLst/>
          </a:prstGeom>
        </p:spPr>
      </p:pic>
      <p:sp>
        <p:nvSpPr>
          <p:cNvPr id="11" name="CasellaDiTesto 10">
            <a:extLst>
              <a:ext uri="{FF2B5EF4-FFF2-40B4-BE49-F238E27FC236}">
                <a16:creationId xmlns:a16="http://schemas.microsoft.com/office/drawing/2014/main" id="{BAC931E7-7101-48D2-A277-620FE7AD7773}"/>
              </a:ext>
            </a:extLst>
          </p:cNvPr>
          <p:cNvSpPr txBox="1"/>
          <p:nvPr/>
        </p:nvSpPr>
        <p:spPr>
          <a:xfrm>
            <a:off x="5674659" y="5510489"/>
            <a:ext cx="2841812" cy="307777"/>
          </a:xfrm>
          <a:prstGeom prst="rect">
            <a:avLst/>
          </a:prstGeom>
          <a:noFill/>
        </p:spPr>
        <p:txBody>
          <a:bodyPr wrap="square" rtlCol="0">
            <a:spAutoFit/>
          </a:bodyPr>
          <a:lstStyle/>
          <a:p>
            <a:r>
              <a:rPr lang="it-IT" b="1" dirty="0"/>
              <a:t>Integrazione Verticale a valle</a:t>
            </a:r>
          </a:p>
        </p:txBody>
      </p:sp>
    </p:spTree>
    <p:extLst>
      <p:ext uri="{BB962C8B-B14F-4D97-AF65-F5344CB8AC3E}">
        <p14:creationId xmlns:p14="http://schemas.microsoft.com/office/powerpoint/2010/main" val="3957750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6667210" cy="553998"/>
          </a:xfrm>
          <a:prstGeom prst="rect">
            <a:avLst/>
          </a:prstGeom>
        </p:spPr>
        <p:txBody>
          <a:bodyPr wrap="none">
            <a:spAutoFit/>
          </a:bodyPr>
          <a:lstStyle/>
          <a:p>
            <a:r>
              <a:rPr lang="it-IT" sz="3000" b="1" dirty="0"/>
              <a:t>Piano di sviluppo aziendale: cos’è?</a:t>
            </a:r>
          </a:p>
        </p:txBody>
      </p:sp>
      <p:sp>
        <p:nvSpPr>
          <p:cNvPr id="3" name="Rettangolo 2">
            <a:extLst>
              <a:ext uri="{FF2B5EF4-FFF2-40B4-BE49-F238E27FC236}">
                <a16:creationId xmlns:a16="http://schemas.microsoft.com/office/drawing/2014/main" id="{1C4C4844-E8A5-4435-92C3-A3B44FE50FD1}"/>
              </a:ext>
            </a:extLst>
          </p:cNvPr>
          <p:cNvSpPr/>
          <p:nvPr/>
        </p:nvSpPr>
        <p:spPr>
          <a:xfrm>
            <a:off x="350570" y="1015600"/>
            <a:ext cx="8442860" cy="5355312"/>
          </a:xfrm>
          <a:prstGeom prst="rect">
            <a:avLst/>
          </a:prstGeom>
        </p:spPr>
        <p:txBody>
          <a:bodyPr wrap="square">
            <a:spAutoFit/>
          </a:bodyPr>
          <a:lstStyle/>
          <a:p>
            <a:pPr algn="just"/>
            <a:r>
              <a:rPr lang="it-IT" sz="1800" dirty="0"/>
              <a:t>Una volta analizzate le possibili direzioni di crescita, si dovrà scegliere quali seguire per raggiungere gli obiettivi. Per prendere una decisione, ci si può rivolgere a consulenti ed esperti del settore, che aiuteranno a vagliare tutte le alternative con uno sguardo oggettivo.</a:t>
            </a:r>
          </a:p>
          <a:p>
            <a:pPr algn="just"/>
            <a:endParaRPr lang="it-IT" sz="1800" dirty="0"/>
          </a:p>
          <a:p>
            <a:pPr algn="just"/>
            <a:r>
              <a:rPr lang="it-IT" sz="1800" dirty="0"/>
              <a:t>Attenzione, non è finita qui: stabilire una strategia non vuol dire semplicemente decidere quale direzione intraprendere. Bisogna anche stabilire un </a:t>
            </a:r>
            <a:r>
              <a:rPr lang="it-IT" sz="1800" b="1" dirty="0"/>
              <a:t>piano d’azione</a:t>
            </a:r>
            <a:r>
              <a:rPr lang="it-IT" sz="1800" dirty="0"/>
              <a:t>, con tutte le attività che servono e fissarle nel breve, medio e lungo periodo.</a:t>
            </a:r>
          </a:p>
          <a:p>
            <a:pPr algn="just"/>
            <a:endParaRPr lang="it-IT" sz="1800" dirty="0"/>
          </a:p>
          <a:p>
            <a:pPr algn="just"/>
            <a:r>
              <a:rPr lang="it-IT" sz="1800" dirty="0"/>
              <a:t>A questo scopo, possono tornare utili due documenti: il </a:t>
            </a:r>
            <a:r>
              <a:rPr lang="it-IT" sz="1800" b="1" dirty="0"/>
              <a:t>piano di sviluppo aziendale </a:t>
            </a:r>
            <a:r>
              <a:rPr lang="it-IT" sz="1800" dirty="0"/>
              <a:t>e il </a:t>
            </a:r>
            <a:r>
              <a:rPr lang="it-IT" sz="1800" b="1" dirty="0"/>
              <a:t>Business Plan</a:t>
            </a:r>
            <a:r>
              <a:rPr lang="it-IT" sz="1800" dirty="0"/>
              <a:t>. </a:t>
            </a:r>
          </a:p>
          <a:p>
            <a:pPr algn="just"/>
            <a:endParaRPr lang="it-IT" sz="1800" dirty="0"/>
          </a:p>
          <a:p>
            <a:pPr algn="just"/>
            <a:r>
              <a:rPr lang="it-IT" sz="1800" dirty="0"/>
              <a:t>Un piano di sviluppo aziendale ben fatto contiene:</a:t>
            </a:r>
          </a:p>
          <a:p>
            <a:pPr marL="285750" indent="-285750" algn="just">
              <a:buFont typeface="Arial" panose="020B0604020202020204" pitchFamily="34" charset="0"/>
              <a:buChar char="•"/>
            </a:pPr>
            <a:r>
              <a:rPr lang="it-IT" sz="1800" b="1" dirty="0"/>
              <a:t>Vision:</a:t>
            </a:r>
            <a:r>
              <a:rPr lang="it-IT" sz="1800" dirty="0"/>
              <a:t> un’idea di come dovrebbe essere l’azienda nel lungo periodo, quando il processo di crescita avrà dato i suoi frutti;</a:t>
            </a:r>
          </a:p>
          <a:p>
            <a:pPr marL="285750" indent="-285750" algn="just">
              <a:buFont typeface="Arial" panose="020B0604020202020204" pitchFamily="34" charset="0"/>
              <a:buChar char="•"/>
            </a:pPr>
            <a:r>
              <a:rPr lang="it-IT" sz="1800" b="1" dirty="0"/>
              <a:t>Mission:</a:t>
            </a:r>
            <a:r>
              <a:rPr lang="it-IT" sz="1800" dirty="0"/>
              <a:t> come deve essere l’azienda oggi e ogni giorno attraverso i piccoli traguardi da raggiungere, per avvicinarsi sempre più all’ideale della </a:t>
            </a:r>
            <a:r>
              <a:rPr lang="it-IT" sz="1800" dirty="0" err="1"/>
              <a:t>vision</a:t>
            </a:r>
            <a:r>
              <a:rPr lang="it-IT" sz="1800" dirty="0"/>
              <a:t>;</a:t>
            </a:r>
          </a:p>
          <a:p>
            <a:pPr marL="285750" indent="-285750" algn="just">
              <a:buFont typeface="Arial" panose="020B0604020202020204" pitchFamily="34" charset="0"/>
              <a:buChar char="•"/>
            </a:pPr>
            <a:r>
              <a:rPr lang="it-IT" sz="1800" b="1" dirty="0"/>
              <a:t>Obiettivi.</a:t>
            </a:r>
          </a:p>
        </p:txBody>
      </p:sp>
    </p:spTree>
    <p:extLst>
      <p:ext uri="{BB962C8B-B14F-4D97-AF65-F5344CB8AC3E}">
        <p14:creationId xmlns:p14="http://schemas.microsoft.com/office/powerpoint/2010/main" val="3214745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6667210" cy="553998"/>
          </a:xfrm>
          <a:prstGeom prst="rect">
            <a:avLst/>
          </a:prstGeom>
        </p:spPr>
        <p:txBody>
          <a:bodyPr wrap="none">
            <a:spAutoFit/>
          </a:bodyPr>
          <a:lstStyle/>
          <a:p>
            <a:r>
              <a:rPr lang="it-IT" sz="3000" b="1" dirty="0"/>
              <a:t>Piano di sviluppo aziendale: cos’è?</a:t>
            </a:r>
          </a:p>
        </p:txBody>
      </p:sp>
      <p:sp>
        <p:nvSpPr>
          <p:cNvPr id="3" name="Rettangolo 2">
            <a:extLst>
              <a:ext uri="{FF2B5EF4-FFF2-40B4-BE49-F238E27FC236}">
                <a16:creationId xmlns:a16="http://schemas.microsoft.com/office/drawing/2014/main" id="{1C4C4844-E8A5-4435-92C3-A3B44FE50FD1}"/>
              </a:ext>
            </a:extLst>
          </p:cNvPr>
          <p:cNvSpPr/>
          <p:nvPr/>
        </p:nvSpPr>
        <p:spPr>
          <a:xfrm>
            <a:off x="350570" y="843861"/>
            <a:ext cx="8442860" cy="5909310"/>
          </a:xfrm>
          <a:prstGeom prst="rect">
            <a:avLst/>
          </a:prstGeom>
        </p:spPr>
        <p:txBody>
          <a:bodyPr wrap="square">
            <a:spAutoFit/>
          </a:bodyPr>
          <a:lstStyle/>
          <a:p>
            <a:pPr algn="just"/>
            <a:r>
              <a:rPr lang="it-IT" sz="1800" dirty="0"/>
              <a:t>Il Piano di Sviluppo Aziendale è un documento strategico in cui si definiscono la </a:t>
            </a:r>
            <a:r>
              <a:rPr lang="it-IT" sz="1800" dirty="0" err="1"/>
              <a:t>vision</a:t>
            </a:r>
            <a:r>
              <a:rPr lang="it-IT" sz="1800" dirty="0"/>
              <a:t> e la mission aziendali, gli obiettivi, le strategie e le azioni necessarie a raggiungerli. Questo documento è fondamentale per la </a:t>
            </a:r>
            <a:r>
              <a:rPr lang="it-IT" sz="1800" b="1" dirty="0"/>
              <a:t>programmazione delle attività strategiche</a:t>
            </a:r>
            <a:r>
              <a:rPr lang="it-IT" sz="1800" dirty="0"/>
              <a:t> di ogni impresa, a prescindere dal settore e dalla dimensione. Definire le proprie azioni sulla base di un piano di sviluppo e programmazione offre infatti all’azienda diversi vantaggi significativi.</a:t>
            </a:r>
          </a:p>
          <a:p>
            <a:pPr algn="just"/>
            <a:endParaRPr lang="it-IT" sz="1800" dirty="0"/>
          </a:p>
          <a:p>
            <a:pPr algn="just"/>
            <a:r>
              <a:rPr lang="it-IT" sz="1800" dirty="0"/>
              <a:t>In qualsiasi tipo di business, che si tratti di una grande multinazionale o di una piccola impresa a conduzione familiare, periodicamente bisognerebbe sempre trovare il tempo di </a:t>
            </a:r>
            <a:r>
              <a:rPr lang="it-IT" sz="1800" b="1" dirty="0"/>
              <a:t>ragionare sull’identità, sugli obiettivi e sul patrimonio aziendali</a:t>
            </a:r>
            <a:r>
              <a:rPr lang="it-IT" sz="1800" dirty="0"/>
              <a:t>. Mettere a fuoco a che punto si trova nel suo sviluppo e in che direzione intende andare l’azienda, quali obiettivi si prefigge, quali azioni intende intraprendere e di quali risorse dispone, significa aumentare le chance di pianificare e ottimizzare strategie operative di successo.</a:t>
            </a:r>
          </a:p>
          <a:p>
            <a:pPr algn="just"/>
            <a:endParaRPr lang="it-IT" sz="1800" dirty="0"/>
          </a:p>
          <a:p>
            <a:pPr algn="just"/>
            <a:r>
              <a:rPr lang="it-IT" sz="1800" dirty="0"/>
              <a:t>In questo senso, il piano di sviluppo aziendale diventa uno </a:t>
            </a:r>
            <a:r>
              <a:rPr lang="it-IT" sz="1800" b="1" dirty="0"/>
              <a:t>strumento di programmazione e monitoraggio </a:t>
            </a:r>
            <a:r>
              <a:rPr lang="it-IT" sz="1800" dirty="0"/>
              <a:t>da tenere sempre presente nella vita aziendale. Ciò non significa che, una volta definito, sia scolpito nella pietra: il business plan </a:t>
            </a:r>
            <a:r>
              <a:rPr lang="it-IT" sz="1800" b="1" dirty="0"/>
              <a:t>può e anzi deve essere sottoposto a periodiche revisioni </a:t>
            </a:r>
            <a:r>
              <a:rPr lang="it-IT" sz="1800" dirty="0"/>
              <a:t>e aggiustamenti. Così come cambiano le condizioni interne ed esterne all’azienda, può essere necessario anche aggiornare obiettivi e strategie per raggiungerli.</a:t>
            </a:r>
            <a:endParaRPr lang="it-IT" sz="1800" b="1" dirty="0"/>
          </a:p>
        </p:txBody>
      </p:sp>
    </p:spTree>
    <p:extLst>
      <p:ext uri="{BB962C8B-B14F-4D97-AF65-F5344CB8AC3E}">
        <p14:creationId xmlns:p14="http://schemas.microsoft.com/office/powerpoint/2010/main" val="1249083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5900974" cy="1015663"/>
          </a:xfrm>
          <a:prstGeom prst="rect">
            <a:avLst/>
          </a:prstGeom>
        </p:spPr>
        <p:txBody>
          <a:bodyPr wrap="none">
            <a:spAutoFit/>
          </a:bodyPr>
          <a:lstStyle/>
          <a:p>
            <a:r>
              <a:rPr lang="it-IT" sz="3000" b="1" dirty="0"/>
              <a:t>L’importanza di un buon piano </a:t>
            </a:r>
          </a:p>
          <a:p>
            <a:r>
              <a:rPr lang="it-IT" sz="3000" b="1" dirty="0"/>
              <a:t>di sviluppo o di fattibilità</a:t>
            </a:r>
          </a:p>
        </p:txBody>
      </p:sp>
      <p:sp>
        <p:nvSpPr>
          <p:cNvPr id="3" name="Rettangolo 2">
            <a:extLst>
              <a:ext uri="{FF2B5EF4-FFF2-40B4-BE49-F238E27FC236}">
                <a16:creationId xmlns:a16="http://schemas.microsoft.com/office/drawing/2014/main" id="{1C4C4844-E8A5-4435-92C3-A3B44FE50FD1}"/>
              </a:ext>
            </a:extLst>
          </p:cNvPr>
          <p:cNvSpPr/>
          <p:nvPr/>
        </p:nvSpPr>
        <p:spPr>
          <a:xfrm>
            <a:off x="350570" y="1713438"/>
            <a:ext cx="8442860" cy="3416320"/>
          </a:xfrm>
          <a:prstGeom prst="rect">
            <a:avLst/>
          </a:prstGeom>
        </p:spPr>
        <p:txBody>
          <a:bodyPr wrap="square">
            <a:spAutoFit/>
          </a:bodyPr>
          <a:lstStyle/>
          <a:p>
            <a:pPr algn="just"/>
            <a:r>
              <a:rPr lang="it-IT" sz="1800" dirty="0"/>
              <a:t>Nessuna azienda può fare a meno della pianificazione: sfruttare al massimo gli strumenti di analisi, monitoraggio e programmazione consente di </a:t>
            </a:r>
            <a:r>
              <a:rPr lang="it-IT" sz="1800" b="1" dirty="0"/>
              <a:t>massimizzare l’efficacia, ma anche la creatività e la capacità di innovazione</a:t>
            </a:r>
            <a:r>
              <a:rPr lang="it-IT" sz="1800" dirty="0"/>
              <a:t>. Pianificare è infatti il metodo migliore per creare un solido </a:t>
            </a:r>
            <a:r>
              <a:rPr lang="it-IT" sz="1800" i="1" dirty="0"/>
              <a:t>framework</a:t>
            </a:r>
            <a:r>
              <a:rPr lang="it-IT" sz="1800" dirty="0"/>
              <a:t> all’interno del quale spaziare con sicurezza, prevenendo errori, distrazioni, trascuratezze.</a:t>
            </a:r>
          </a:p>
          <a:p>
            <a:pPr algn="just"/>
            <a:endParaRPr lang="it-IT" sz="1800" dirty="0"/>
          </a:p>
          <a:p>
            <a:pPr algn="just"/>
            <a:r>
              <a:rPr lang="it-IT" sz="1800" dirty="0"/>
              <a:t>Il piano di sviluppo aziendale si compone di diverse parti che consentono all’imprenditore o al gruppo manageriale di pianificare, monitorare ed eventualmente riaggiustare il tiro nella progressione dello sviluppo aziendale. </a:t>
            </a:r>
            <a:r>
              <a:rPr lang="it-IT" sz="1800" b="1" dirty="0"/>
              <a:t>L’obiettivo primario </a:t>
            </a:r>
            <a:r>
              <a:rPr lang="it-IT" sz="1800" dirty="0"/>
              <a:t>del piano di sviluppo o di fattibilità e per l’appunto una </a:t>
            </a:r>
            <a:r>
              <a:rPr lang="it-IT" sz="1800" b="1" dirty="0"/>
              <a:t>valutazione del potenziale di successo e sostenibilità</a:t>
            </a:r>
            <a:r>
              <a:rPr lang="it-IT" sz="1800" dirty="0"/>
              <a:t> commerciale di una determinata idea e di un progetto imprenditoriale.</a:t>
            </a:r>
            <a:endParaRPr lang="it-IT" sz="1800" b="1" dirty="0"/>
          </a:p>
        </p:txBody>
      </p:sp>
    </p:spTree>
    <p:extLst>
      <p:ext uri="{BB962C8B-B14F-4D97-AF65-F5344CB8AC3E}">
        <p14:creationId xmlns:p14="http://schemas.microsoft.com/office/powerpoint/2010/main" val="2396571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991290" cy="553998"/>
          </a:xfrm>
          <a:prstGeom prst="rect">
            <a:avLst/>
          </a:prstGeom>
        </p:spPr>
        <p:txBody>
          <a:bodyPr wrap="none">
            <a:spAutoFit/>
          </a:bodyPr>
          <a:lstStyle/>
          <a:p>
            <a:r>
              <a:rPr lang="it-IT" sz="3000" b="1" dirty="0"/>
              <a:t>A cosa serve il piano di sviluppo aziendale</a:t>
            </a:r>
          </a:p>
        </p:txBody>
      </p:sp>
      <p:sp>
        <p:nvSpPr>
          <p:cNvPr id="3" name="Rettangolo 2">
            <a:extLst>
              <a:ext uri="{FF2B5EF4-FFF2-40B4-BE49-F238E27FC236}">
                <a16:creationId xmlns:a16="http://schemas.microsoft.com/office/drawing/2014/main" id="{1C4C4844-E8A5-4435-92C3-A3B44FE50FD1}"/>
              </a:ext>
            </a:extLst>
          </p:cNvPr>
          <p:cNvSpPr/>
          <p:nvPr/>
        </p:nvSpPr>
        <p:spPr>
          <a:xfrm>
            <a:off x="350570" y="1103838"/>
            <a:ext cx="8442860" cy="5262979"/>
          </a:xfrm>
          <a:prstGeom prst="rect">
            <a:avLst/>
          </a:prstGeom>
        </p:spPr>
        <p:txBody>
          <a:bodyPr wrap="square">
            <a:spAutoFit/>
          </a:bodyPr>
          <a:lstStyle/>
          <a:p>
            <a:pPr algn="just"/>
            <a:r>
              <a:rPr lang="it-IT" sz="1600" dirty="0"/>
              <a:t>Se le grandi aziende sono generalmente più strutturate e abituate a pensare in termini di </a:t>
            </a:r>
            <a:r>
              <a:rPr lang="it-IT" sz="1600" b="1" dirty="0"/>
              <a:t>pianificazione e programmazione, verifica e monitoraggio </a:t>
            </a:r>
            <a:r>
              <a:rPr lang="it-IT" sz="1600" dirty="0"/>
              <a:t>dei risultati, nelle imprese più piccole e soprattutto nei business a conduzione familiare, spesso si tende a privilegiare le attività operative quotidiane. Tuttavia, sottovalutare l’importanza di una strategia a medio-lungo termine rappresenta una grande ingenuità. Disporre di un piano di sviluppo aziendale in cui vengono definiti obiettivi chiari e strategie valide della durata di almeno un biennio offre un notevole supporto ai decisori aziendali e a chi è incaricato di controllare le performance, i budget e gli obiettivi finanziari.</a:t>
            </a:r>
          </a:p>
          <a:p>
            <a:pPr algn="just"/>
            <a:endParaRPr lang="it-IT" sz="1600" dirty="0"/>
          </a:p>
          <a:p>
            <a:pPr algn="just"/>
            <a:r>
              <a:rPr lang="it-IT" sz="1600" dirty="0"/>
              <a:t>Il piano strategico aziendale offre l’occasione di:</a:t>
            </a:r>
          </a:p>
          <a:p>
            <a:pPr algn="just"/>
            <a:endParaRPr lang="it-IT" sz="1600" dirty="0"/>
          </a:p>
          <a:p>
            <a:pPr marL="285750" indent="-285750" algn="just">
              <a:buFont typeface="Arial" panose="020B0604020202020204" pitchFamily="34" charset="0"/>
              <a:buChar char="•"/>
            </a:pPr>
            <a:r>
              <a:rPr lang="it-IT" sz="1600" b="1" dirty="0"/>
              <a:t>valutare le risorse </a:t>
            </a:r>
            <a:r>
              <a:rPr lang="it-IT" sz="1600" dirty="0"/>
              <a:t>economico-finanziarie, umane, tecnologiche e immateriali che occorrono per realizzare la mission aziendale;</a:t>
            </a:r>
          </a:p>
          <a:p>
            <a:pPr marL="285750" indent="-285750" algn="just">
              <a:buFont typeface="Arial" panose="020B0604020202020204" pitchFamily="34" charset="0"/>
              <a:buChar char="•"/>
            </a:pPr>
            <a:r>
              <a:rPr lang="it-IT" sz="1600" b="1" dirty="0"/>
              <a:t>prevedere l’impatto sul mercato </a:t>
            </a:r>
            <a:r>
              <a:rPr lang="it-IT" sz="1600" dirty="0"/>
              <a:t>e i risultati di ordine economico, competitivo e sociale;</a:t>
            </a:r>
          </a:p>
          <a:p>
            <a:pPr marL="285750" indent="-285750" algn="just">
              <a:buFont typeface="Arial" panose="020B0604020202020204" pitchFamily="34" charset="0"/>
              <a:buChar char="•"/>
            </a:pPr>
            <a:r>
              <a:rPr lang="it-IT" sz="1600" dirty="0"/>
              <a:t>stabilire l’effettiva fattibilità di un progetto imprenditoriale (sia esso nell’ambito di un’azienda esistente oppure riferito a un progetto di start up);</a:t>
            </a:r>
          </a:p>
          <a:p>
            <a:pPr marL="285750" indent="-285750" algn="just">
              <a:buFont typeface="Arial" panose="020B0604020202020204" pitchFamily="34" charset="0"/>
              <a:buChar char="•"/>
            </a:pPr>
            <a:r>
              <a:rPr lang="it-IT" sz="1600" b="1" dirty="0"/>
              <a:t>valorizzare le scelte operative e strategiche </a:t>
            </a:r>
            <a:r>
              <a:rPr lang="it-IT" sz="1600" dirty="0"/>
              <a:t>ai vari settori (produzione/erogazione del prodotto/servizio, personale e risorse, investimenti e finanziamenti, marketing e vendite);</a:t>
            </a:r>
          </a:p>
          <a:p>
            <a:pPr marL="285750" indent="-285750" algn="just">
              <a:buFont typeface="Arial" panose="020B0604020202020204" pitchFamily="34" charset="0"/>
              <a:buChar char="•"/>
            </a:pPr>
            <a:r>
              <a:rPr lang="it-IT" sz="1600" b="1" dirty="0"/>
              <a:t>valutare e confrontare i risultati raggiunti </a:t>
            </a:r>
            <a:r>
              <a:rPr lang="it-IT" sz="1600" dirty="0"/>
              <a:t>dall’azienda nel tempo e rispetto ai competitor, aiutando a fare il punto sull’andamento e sulle prospettive aziendali.</a:t>
            </a:r>
            <a:endParaRPr lang="it-IT" sz="1600" b="1" dirty="0"/>
          </a:p>
        </p:txBody>
      </p:sp>
    </p:spTree>
    <p:extLst>
      <p:ext uri="{BB962C8B-B14F-4D97-AF65-F5344CB8AC3E}">
        <p14:creationId xmlns:p14="http://schemas.microsoft.com/office/powerpoint/2010/main" val="1310280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8121134" cy="553998"/>
          </a:xfrm>
          <a:prstGeom prst="rect">
            <a:avLst/>
          </a:prstGeom>
        </p:spPr>
        <p:txBody>
          <a:bodyPr wrap="none">
            <a:spAutoFit/>
          </a:bodyPr>
          <a:lstStyle/>
          <a:p>
            <a:r>
              <a:rPr lang="it-IT" sz="3000" b="1" dirty="0"/>
              <a:t>Implementare il piano di sviluppo aziendale</a:t>
            </a:r>
          </a:p>
        </p:txBody>
      </p:sp>
      <p:sp>
        <p:nvSpPr>
          <p:cNvPr id="2" name="Rettangolo 1">
            <a:extLst>
              <a:ext uri="{FF2B5EF4-FFF2-40B4-BE49-F238E27FC236}">
                <a16:creationId xmlns:a16="http://schemas.microsoft.com/office/drawing/2014/main" id="{9926EAA2-332B-4D73-AFFF-B2E1D221DC4A}"/>
              </a:ext>
            </a:extLst>
          </p:cNvPr>
          <p:cNvSpPr/>
          <p:nvPr/>
        </p:nvSpPr>
        <p:spPr>
          <a:xfrm>
            <a:off x="350570" y="1305341"/>
            <a:ext cx="8434842" cy="4524315"/>
          </a:xfrm>
          <a:prstGeom prst="rect">
            <a:avLst/>
          </a:prstGeom>
        </p:spPr>
        <p:txBody>
          <a:bodyPr wrap="square">
            <a:spAutoFit/>
          </a:bodyPr>
          <a:lstStyle/>
          <a:p>
            <a:pPr algn="just"/>
            <a:r>
              <a:rPr lang="it-IT" sz="1800" b="1" dirty="0"/>
              <a:t>Il successo in qualsiasi campo non è mai frutto del caso!!!</a:t>
            </a:r>
          </a:p>
          <a:p>
            <a:pPr algn="just"/>
            <a:endParaRPr lang="it-IT" sz="1800" dirty="0"/>
          </a:p>
          <a:p>
            <a:pPr algn="just"/>
            <a:r>
              <a:rPr lang="it-IT" sz="1800" dirty="0"/>
              <a:t>Se si desidera implementare il cambiamento, è fondamentale avere una strategia che consenta di prendere decisioni nella consapevolezza degli obiettivi stabiliti e delle priorità individuate. </a:t>
            </a:r>
          </a:p>
          <a:p>
            <a:pPr algn="just"/>
            <a:r>
              <a:rPr lang="it-IT" sz="1800" dirty="0"/>
              <a:t>È importante anche condividere tali obiettivi con i collaboratori e i dipendenti, così che si sentano coinvolti: anche questo tipo di condivisione favorisce il team building, ovvero il consolidamento del gruppo di lavoro. </a:t>
            </a:r>
          </a:p>
          <a:p>
            <a:pPr algn="just"/>
            <a:endParaRPr lang="it-IT" sz="1800" dirty="0"/>
          </a:p>
          <a:p>
            <a:pPr algn="just"/>
            <a:r>
              <a:rPr lang="it-IT" sz="1800" dirty="0"/>
              <a:t>Tra gli aspetti che stanno conoscendo un’importanza crescente nella pianificazione dello sviluppo aziendale vi sono quelli relativi alla digitalizzazione e all’innovazione tecnologica, anche sostenuti da incentivi di Stato.</a:t>
            </a:r>
          </a:p>
          <a:p>
            <a:pPr algn="just"/>
            <a:endParaRPr lang="it-IT" sz="1800" dirty="0"/>
          </a:p>
          <a:p>
            <a:pPr algn="just"/>
            <a:r>
              <a:rPr lang="it-IT" sz="1800" dirty="0"/>
              <a:t>Trascurare questi aspetti, così come quelli legati a comunicazione e marketing, rappresenterebbe un’ingenuità che non ci si può permettere nell’approccio al piano di sviluppo aziendale.</a:t>
            </a:r>
          </a:p>
        </p:txBody>
      </p:sp>
    </p:spTree>
    <p:extLst>
      <p:ext uri="{BB962C8B-B14F-4D97-AF65-F5344CB8AC3E}">
        <p14:creationId xmlns:p14="http://schemas.microsoft.com/office/powerpoint/2010/main" val="3218955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6858000"/>
          </a:xfrm>
          <a:prstGeom prst="rect">
            <a:avLst/>
          </a:prstGeom>
        </p:spPr>
      </p:pic>
      <p:sp>
        <p:nvSpPr>
          <p:cNvPr id="3" name="Text 0"/>
          <p:cNvSpPr/>
          <p:nvPr/>
        </p:nvSpPr>
        <p:spPr>
          <a:xfrm>
            <a:off x="643236" y="420175"/>
            <a:ext cx="4667846" cy="880021"/>
          </a:xfrm>
          <a:prstGeom prst="rect">
            <a:avLst/>
          </a:prstGeom>
          <a:noFill/>
          <a:ln/>
        </p:spPr>
        <p:txBody>
          <a:bodyPr wrap="square" lIns="0" tIns="0" rIns="0" bIns="0" rtlCol="0" anchor="t"/>
          <a:lstStyle/>
          <a:p>
            <a:pPr defTabSz="571500">
              <a:lnSpc>
                <a:spcPts val="3438"/>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Barriere di Mercato: Ingresso e Uscita</a:t>
            </a:r>
            <a:endParaRPr lang="en-US" sz="3600" b="1" kern="1200" dirty="0">
              <a:solidFill>
                <a:prstClr val="black"/>
              </a:solidFill>
              <a:latin typeface="Arial" panose="020B0604020202020204" pitchFamily="34" charset="0"/>
              <a:ea typeface="+mn-ea"/>
              <a:cs typeface="Arial" panose="020B0604020202020204" pitchFamily="34" charset="0"/>
            </a:endParaRPr>
          </a:p>
        </p:txBody>
      </p:sp>
      <p:sp>
        <p:nvSpPr>
          <p:cNvPr id="4" name="Text 1"/>
          <p:cNvSpPr/>
          <p:nvPr/>
        </p:nvSpPr>
        <p:spPr>
          <a:xfrm>
            <a:off x="523578" y="2299764"/>
            <a:ext cx="4667846" cy="880021"/>
          </a:xfrm>
          <a:prstGeom prst="rect">
            <a:avLst/>
          </a:prstGeom>
          <a:noFill/>
          <a:ln/>
        </p:spPr>
        <p:txBody>
          <a:bodyPr wrap="square" lIns="0" tIns="0" rIns="0" bIns="0" rtlCol="0" anchor="t"/>
          <a:lstStyle/>
          <a:p>
            <a:pPr defTabSz="571500">
              <a:lnSpc>
                <a:spcPts val="1875"/>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Le barriere di mercato rappresentano ostacoli che le aziende affrontano quando tentano di entrare in nuovi settori o uscire da quelli esistenti.</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5" name="Text 2"/>
          <p:cNvSpPr/>
          <p:nvPr/>
        </p:nvSpPr>
        <p:spPr>
          <a:xfrm>
            <a:off x="523578" y="3766718"/>
            <a:ext cx="4667846" cy="658193"/>
          </a:xfrm>
          <a:prstGeom prst="rect">
            <a:avLst/>
          </a:prstGeom>
          <a:noFill/>
          <a:ln/>
        </p:spPr>
        <p:txBody>
          <a:bodyPr wrap="square" lIns="0" tIns="0" rIns="0" bIns="0" rtlCol="0" anchor="t"/>
          <a:lstStyle/>
          <a:p>
            <a:pPr defTabSz="571500">
              <a:lnSpc>
                <a:spcPts val="1875"/>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Questi impedimenti influenzano significativamente le decisioni strategiche e la competitività del mercato.</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6" name="Shape 3"/>
          <p:cNvSpPr/>
          <p:nvPr/>
        </p:nvSpPr>
        <p:spPr>
          <a:xfrm>
            <a:off x="523578" y="4508451"/>
            <a:ext cx="239316" cy="239316"/>
          </a:xfrm>
          <a:prstGeom prst="roundRect">
            <a:avLst>
              <a:gd name="adj" fmla="val 23878209"/>
            </a:avLst>
          </a:prstGeom>
          <a:noFill/>
          <a:ln w="7620">
            <a:solidFill>
              <a:srgbClr val="FFFFFF"/>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56368" y="482595"/>
            <a:ext cx="8031263" cy="880021"/>
          </a:xfrm>
          <a:prstGeom prst="rect">
            <a:avLst/>
          </a:prstGeom>
          <a:noFill/>
          <a:ln/>
        </p:spPr>
        <p:txBody>
          <a:bodyPr wrap="square" lIns="0" tIns="0" rIns="0" bIns="0" rtlCol="0" anchor="t"/>
          <a:lstStyle/>
          <a:p>
            <a:pPr defTabSz="571500">
              <a:lnSpc>
                <a:spcPts val="3438"/>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Definizione delle Barriere di Mercato</a:t>
            </a:r>
            <a:endParaRPr lang="en-US" sz="3600" b="1" kern="1200" dirty="0">
              <a:solidFill>
                <a:prstClr val="black"/>
              </a:solidFill>
              <a:latin typeface="Arial" panose="020B0604020202020204" pitchFamily="34" charset="0"/>
              <a:ea typeface="+mn-ea"/>
              <a:cs typeface="Arial" panose="020B0604020202020204" pitchFamily="34" charset="0"/>
            </a:endParaRPr>
          </a:p>
        </p:txBody>
      </p:sp>
      <p:sp>
        <p:nvSpPr>
          <p:cNvPr id="4" name="Shape 1"/>
          <p:cNvSpPr/>
          <p:nvPr/>
        </p:nvSpPr>
        <p:spPr>
          <a:xfrm>
            <a:off x="1142898" y="2056197"/>
            <a:ext cx="336575" cy="336575"/>
          </a:xfrm>
          <a:prstGeom prst="roundRect">
            <a:avLst>
              <a:gd name="adj" fmla="val 66677"/>
            </a:avLst>
          </a:prstGeom>
          <a:solidFill>
            <a:srgbClr val="F3F3FF"/>
          </a:solidFill>
          <a:ln w="22860">
            <a:solidFill>
              <a:srgbClr val="2D4DF2"/>
            </a:solidFill>
            <a:prstDash val="solid"/>
          </a:ln>
        </p:spPr>
      </p:sp>
      <p:pic>
        <p:nvPicPr>
          <p:cNvPr id="5" name="Image 1" descr="preencoded.png"/>
          <p:cNvPicPr>
            <a:picLocks noChangeAspect="1"/>
          </p:cNvPicPr>
          <p:nvPr/>
        </p:nvPicPr>
        <p:blipFill>
          <a:blip r:embed="rId3"/>
          <a:stretch>
            <a:fillRect/>
          </a:stretch>
        </p:blipFill>
        <p:spPr>
          <a:xfrm>
            <a:off x="1205554" y="2092437"/>
            <a:ext cx="211187" cy="264021"/>
          </a:xfrm>
          <a:prstGeom prst="rect">
            <a:avLst/>
          </a:prstGeom>
        </p:spPr>
      </p:pic>
      <p:sp>
        <p:nvSpPr>
          <p:cNvPr id="6" name="Text 2"/>
          <p:cNvSpPr/>
          <p:nvPr/>
        </p:nvSpPr>
        <p:spPr>
          <a:xfrm>
            <a:off x="1629045" y="2056197"/>
            <a:ext cx="1760116" cy="219968"/>
          </a:xfrm>
          <a:prstGeom prst="rect">
            <a:avLst/>
          </a:prstGeom>
          <a:noFill/>
          <a:ln/>
        </p:spPr>
        <p:txBody>
          <a:bodyPr wrap="none" lIns="0" tIns="0" rIns="0" bIns="0" rtlCol="0" anchor="t"/>
          <a:lstStyle/>
          <a:p>
            <a:pPr defTabSz="571500">
              <a:lnSpc>
                <a:spcPts val="1719"/>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Ostacoli Strutturali</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7" name="Text 3"/>
          <p:cNvSpPr/>
          <p:nvPr/>
        </p:nvSpPr>
        <p:spPr>
          <a:xfrm>
            <a:off x="1629045" y="2365908"/>
            <a:ext cx="1772989" cy="71817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Limitano la libertà di movimento delle imprese nel mercato.</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8" name="Shape 4"/>
          <p:cNvSpPr/>
          <p:nvPr/>
        </p:nvSpPr>
        <p:spPr>
          <a:xfrm>
            <a:off x="5255818" y="2050186"/>
            <a:ext cx="336575" cy="336575"/>
          </a:xfrm>
          <a:prstGeom prst="roundRect">
            <a:avLst>
              <a:gd name="adj" fmla="val 66677"/>
            </a:avLst>
          </a:prstGeom>
          <a:solidFill>
            <a:srgbClr val="F3F3FF"/>
          </a:solidFill>
          <a:ln w="22860">
            <a:solidFill>
              <a:srgbClr val="018CE1"/>
            </a:solidFill>
            <a:prstDash val="solid"/>
          </a:ln>
        </p:spPr>
      </p:sp>
      <p:pic>
        <p:nvPicPr>
          <p:cNvPr id="9" name="Image 2" descr="preencoded.png"/>
          <p:cNvPicPr>
            <a:picLocks noChangeAspect="1"/>
          </p:cNvPicPr>
          <p:nvPr/>
        </p:nvPicPr>
        <p:blipFill>
          <a:blip r:embed="rId4"/>
          <a:stretch>
            <a:fillRect/>
          </a:stretch>
        </p:blipFill>
        <p:spPr>
          <a:xfrm>
            <a:off x="5318475" y="2086426"/>
            <a:ext cx="211187" cy="264021"/>
          </a:xfrm>
          <a:prstGeom prst="rect">
            <a:avLst/>
          </a:prstGeom>
        </p:spPr>
      </p:pic>
      <p:sp>
        <p:nvSpPr>
          <p:cNvPr id="10" name="Text 5"/>
          <p:cNvSpPr/>
          <p:nvPr/>
        </p:nvSpPr>
        <p:spPr>
          <a:xfrm>
            <a:off x="5741965" y="2050186"/>
            <a:ext cx="1760116" cy="219968"/>
          </a:xfrm>
          <a:prstGeom prst="rect">
            <a:avLst/>
          </a:prstGeom>
          <a:noFill/>
          <a:ln/>
        </p:spPr>
        <p:txBody>
          <a:bodyPr wrap="none" lIns="0" tIns="0" rIns="0" bIns="0" rtlCol="0" anchor="t"/>
          <a:lstStyle/>
          <a:p>
            <a:pPr defTabSz="571500">
              <a:lnSpc>
                <a:spcPts val="1719"/>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Classificazione</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11" name="Text 6"/>
          <p:cNvSpPr/>
          <p:nvPr/>
        </p:nvSpPr>
        <p:spPr>
          <a:xfrm>
            <a:off x="5741966" y="2359896"/>
            <a:ext cx="1772989" cy="1338647"/>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Si </a:t>
            </a:r>
            <a:r>
              <a:rPr lang="en-US" sz="1800" kern="1200" dirty="0" err="1">
                <a:solidFill>
                  <a:srgbClr val="00002E"/>
                </a:solidFill>
                <a:latin typeface="Arial" panose="020B0604020202020204" pitchFamily="34" charset="0"/>
                <a:ea typeface="PT Sans" pitchFamily="34" charset="-122"/>
                <a:cs typeface="Arial" panose="020B0604020202020204" pitchFamily="34" charset="0"/>
              </a:rPr>
              <a:t>dividono</a:t>
            </a:r>
            <a:r>
              <a:rPr lang="en-US" sz="1800" kern="1200" dirty="0">
                <a:solidFill>
                  <a:srgbClr val="00002E"/>
                </a:solidFill>
                <a:latin typeface="Arial" panose="020B0604020202020204" pitchFamily="34" charset="0"/>
                <a:ea typeface="PT Sans" pitchFamily="34" charset="-122"/>
                <a:cs typeface="Arial" panose="020B0604020202020204" pitchFamily="34" charset="0"/>
              </a:rPr>
              <a:t> in:</a:t>
            </a:r>
          </a:p>
          <a:p>
            <a:pPr marL="285750" indent="-285750" defTabSz="571500">
              <a:lnSpc>
                <a:spcPts val="1875"/>
              </a:lnSpc>
              <a:buClrTx/>
              <a:buFont typeface="Arial" panose="020B0604020202020204" pitchFamily="34" charset="0"/>
              <a:buChar char="•"/>
            </a:pPr>
            <a:r>
              <a:rPr lang="en-US" sz="1800" kern="1200" dirty="0" err="1">
                <a:solidFill>
                  <a:srgbClr val="00002E"/>
                </a:solidFill>
                <a:latin typeface="Arial" panose="020B0604020202020204" pitchFamily="34" charset="0"/>
                <a:ea typeface="PT Sans" pitchFamily="34" charset="-122"/>
                <a:cs typeface="Arial" panose="020B0604020202020204" pitchFamily="34" charset="0"/>
              </a:rPr>
              <a:t>Economiche</a:t>
            </a:r>
            <a:endParaRPr lang="en-US" sz="1800" kern="1200" dirty="0">
              <a:solidFill>
                <a:srgbClr val="00002E"/>
              </a:solidFill>
              <a:latin typeface="Arial" panose="020B0604020202020204" pitchFamily="34" charset="0"/>
              <a:ea typeface="PT Sans" pitchFamily="34" charset="-122"/>
              <a:cs typeface="Arial" panose="020B0604020202020204" pitchFamily="34" charset="0"/>
            </a:endParaRPr>
          </a:p>
          <a:p>
            <a:pPr marL="285750" indent="-285750" defTabSz="571500">
              <a:lnSpc>
                <a:spcPts val="1875"/>
              </a:lnSpc>
              <a:buClrTx/>
              <a:buFont typeface="Arial" panose="020B0604020202020204" pitchFamily="34" charset="0"/>
              <a:buChar char="•"/>
            </a:pPr>
            <a:r>
              <a:rPr lang="en-US" sz="1800" kern="1200" dirty="0" err="1">
                <a:solidFill>
                  <a:srgbClr val="00002E"/>
                </a:solidFill>
                <a:latin typeface="Arial" panose="020B0604020202020204" pitchFamily="34" charset="0"/>
                <a:ea typeface="PT Sans" pitchFamily="34" charset="-122"/>
                <a:cs typeface="Arial" panose="020B0604020202020204" pitchFamily="34" charset="0"/>
              </a:rPr>
              <a:t>Strategiche</a:t>
            </a:r>
            <a:endParaRPr lang="en-US" sz="1800" kern="1200" dirty="0">
              <a:solidFill>
                <a:srgbClr val="00002E"/>
              </a:solidFill>
              <a:latin typeface="Arial" panose="020B0604020202020204" pitchFamily="34" charset="0"/>
              <a:ea typeface="PT Sans" pitchFamily="34" charset="-122"/>
              <a:cs typeface="Arial" panose="020B0604020202020204" pitchFamily="34" charset="0"/>
            </a:endParaRPr>
          </a:p>
          <a:p>
            <a:pPr marL="285750" indent="-285750" defTabSz="571500">
              <a:lnSpc>
                <a:spcPts val="1875"/>
              </a:lnSpc>
              <a:buClrTx/>
              <a:buFont typeface="Arial" panose="020B0604020202020204" pitchFamily="34" charset="0"/>
              <a:buChar char="•"/>
            </a:pPr>
            <a:r>
              <a:rPr lang="en-US" sz="1800" kern="1200" dirty="0">
                <a:solidFill>
                  <a:srgbClr val="00002E"/>
                </a:solidFill>
                <a:latin typeface="Arial" panose="020B0604020202020204" pitchFamily="34" charset="0"/>
                <a:ea typeface="PT Sans" pitchFamily="34" charset="-122"/>
                <a:cs typeface="Arial" panose="020B0604020202020204" pitchFamily="34" charset="0"/>
              </a:rPr>
              <a:t>Normative.</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12" name="Shape 7"/>
          <p:cNvSpPr/>
          <p:nvPr/>
        </p:nvSpPr>
        <p:spPr>
          <a:xfrm>
            <a:off x="1657770" y="4471240"/>
            <a:ext cx="336575" cy="336575"/>
          </a:xfrm>
          <a:prstGeom prst="roundRect">
            <a:avLst>
              <a:gd name="adj" fmla="val 66677"/>
            </a:avLst>
          </a:prstGeom>
          <a:solidFill>
            <a:srgbClr val="F3F3FF"/>
          </a:solidFill>
          <a:ln w="22860">
            <a:solidFill>
              <a:srgbClr val="DA33BF"/>
            </a:solidFill>
            <a:prstDash val="solid"/>
          </a:ln>
        </p:spPr>
      </p:sp>
      <p:pic>
        <p:nvPicPr>
          <p:cNvPr id="13" name="Image 3" descr="preencoded.png"/>
          <p:cNvPicPr>
            <a:picLocks noChangeAspect="1"/>
          </p:cNvPicPr>
          <p:nvPr/>
        </p:nvPicPr>
        <p:blipFill>
          <a:blip r:embed="rId5"/>
          <a:stretch>
            <a:fillRect/>
          </a:stretch>
        </p:blipFill>
        <p:spPr>
          <a:xfrm>
            <a:off x="1720426" y="4507479"/>
            <a:ext cx="211187" cy="264021"/>
          </a:xfrm>
          <a:prstGeom prst="rect">
            <a:avLst/>
          </a:prstGeom>
        </p:spPr>
      </p:pic>
      <p:sp>
        <p:nvSpPr>
          <p:cNvPr id="14" name="Text 8"/>
          <p:cNvSpPr/>
          <p:nvPr/>
        </p:nvSpPr>
        <p:spPr>
          <a:xfrm>
            <a:off x="2194572" y="4551532"/>
            <a:ext cx="1760116" cy="219968"/>
          </a:xfrm>
          <a:prstGeom prst="rect">
            <a:avLst/>
          </a:prstGeom>
          <a:noFill/>
          <a:ln/>
        </p:spPr>
        <p:txBody>
          <a:bodyPr wrap="none" lIns="0" tIns="0" rIns="0" bIns="0" rtlCol="0" anchor="t"/>
          <a:lstStyle/>
          <a:p>
            <a:pPr defTabSz="571500">
              <a:lnSpc>
                <a:spcPts val="1719"/>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Impatto Competitivo</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15" name="Text 9"/>
          <p:cNvSpPr/>
          <p:nvPr/>
        </p:nvSpPr>
        <p:spPr>
          <a:xfrm>
            <a:off x="2194572" y="4888107"/>
            <a:ext cx="4181698" cy="239390"/>
          </a:xfrm>
          <a:prstGeom prst="rect">
            <a:avLst/>
          </a:prstGeom>
          <a:noFill/>
          <a:ln/>
        </p:spPr>
        <p:txBody>
          <a:bodyPr wrap="non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Alterano l'equilibrio e riducono la capacità di nuovi entranti.</a:t>
            </a:r>
            <a:endParaRPr lang="en-US" sz="1800"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31453" y="474346"/>
            <a:ext cx="6440463" cy="440011"/>
          </a:xfrm>
          <a:prstGeom prst="rect">
            <a:avLst/>
          </a:prstGeom>
          <a:noFill/>
          <a:ln/>
        </p:spPr>
        <p:txBody>
          <a:bodyPr wrap="none" lIns="0" tIns="0" rIns="0" bIns="0" rtlCol="0" anchor="t"/>
          <a:lstStyle/>
          <a:p>
            <a:pPr defTabSz="571500">
              <a:lnSpc>
                <a:spcPts val="3438"/>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Barriere all'Ingresso: Tipologie</a:t>
            </a:r>
            <a:endParaRPr lang="en-US" sz="3600" b="1" kern="1200" dirty="0">
              <a:solidFill>
                <a:prstClr val="black"/>
              </a:solidFill>
              <a:latin typeface="Arial" panose="020B0604020202020204" pitchFamily="34" charset="0"/>
              <a:ea typeface="+mn-ea"/>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2046759" y="2046090"/>
            <a:ext cx="1001911" cy="848246"/>
          </a:xfrm>
          <a:prstGeom prst="rect">
            <a:avLst/>
          </a:prstGeom>
        </p:spPr>
      </p:pic>
      <p:pic>
        <p:nvPicPr>
          <p:cNvPr id="4" name="Image 1" descr="preencoded.png"/>
          <p:cNvPicPr>
            <a:picLocks noChangeAspect="1"/>
          </p:cNvPicPr>
          <p:nvPr/>
        </p:nvPicPr>
        <p:blipFill>
          <a:blip r:embed="rId4"/>
          <a:stretch>
            <a:fillRect/>
          </a:stretch>
        </p:blipFill>
        <p:spPr>
          <a:xfrm>
            <a:off x="2442492" y="2443461"/>
            <a:ext cx="210369" cy="262979"/>
          </a:xfrm>
          <a:prstGeom prst="rect">
            <a:avLst/>
          </a:prstGeom>
        </p:spPr>
      </p:pic>
      <p:sp>
        <p:nvSpPr>
          <p:cNvPr id="5" name="Text 1"/>
          <p:cNvSpPr/>
          <p:nvPr/>
        </p:nvSpPr>
        <p:spPr>
          <a:xfrm>
            <a:off x="3198242" y="2195662"/>
            <a:ext cx="1760116" cy="219968"/>
          </a:xfrm>
          <a:prstGeom prst="rect">
            <a:avLst/>
          </a:prstGeom>
          <a:noFill/>
          <a:ln/>
        </p:spPr>
        <p:txBody>
          <a:bodyPr wrap="none" lIns="0" tIns="0" rIns="0" bIns="0" rtlCol="0" anchor="t"/>
          <a:lstStyle/>
          <a:p>
            <a:pPr defTabSz="571500">
              <a:lnSpc>
                <a:spcPts val="1719"/>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Economie di Scala</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6" name="Text 2"/>
          <p:cNvSpPr/>
          <p:nvPr/>
        </p:nvSpPr>
        <p:spPr>
          <a:xfrm>
            <a:off x="3198242" y="2505373"/>
            <a:ext cx="2634109" cy="239390"/>
          </a:xfrm>
          <a:prstGeom prst="rect">
            <a:avLst/>
          </a:prstGeom>
          <a:noFill/>
          <a:ln/>
        </p:spPr>
        <p:txBody>
          <a:bodyPr wrap="none" lIns="0" tIns="0" rIns="0" bIns="0" rtlCol="0" anchor="t"/>
          <a:lstStyle/>
          <a:p>
            <a:pPr defTabSz="571500">
              <a:lnSpc>
                <a:spcPts val="1875"/>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Vantaggi dai grandi volumi di produzione</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7" name="Shape 3"/>
          <p:cNvSpPr/>
          <p:nvPr/>
        </p:nvSpPr>
        <p:spPr>
          <a:xfrm>
            <a:off x="3086026" y="2903488"/>
            <a:ext cx="5497041" cy="9525"/>
          </a:xfrm>
          <a:prstGeom prst="roundRect">
            <a:avLst>
              <a:gd name="adj" fmla="val 2356110"/>
            </a:avLst>
          </a:prstGeom>
          <a:solidFill>
            <a:srgbClr val="2D4DF2"/>
          </a:solidFill>
          <a:ln/>
        </p:spPr>
      </p:sp>
      <p:pic>
        <p:nvPicPr>
          <p:cNvPr id="8" name="Image 2" descr="preencoded.png"/>
          <p:cNvPicPr>
            <a:picLocks noChangeAspect="1"/>
          </p:cNvPicPr>
          <p:nvPr/>
        </p:nvPicPr>
        <p:blipFill>
          <a:blip r:embed="rId5"/>
          <a:stretch>
            <a:fillRect/>
          </a:stretch>
        </p:blipFill>
        <p:spPr>
          <a:xfrm>
            <a:off x="1545803" y="2931691"/>
            <a:ext cx="2003896" cy="848246"/>
          </a:xfrm>
          <a:prstGeom prst="rect">
            <a:avLst/>
          </a:prstGeom>
        </p:spPr>
      </p:pic>
      <p:pic>
        <p:nvPicPr>
          <p:cNvPr id="9" name="Image 3" descr="preencoded.png"/>
          <p:cNvPicPr>
            <a:picLocks noChangeAspect="1"/>
          </p:cNvPicPr>
          <p:nvPr/>
        </p:nvPicPr>
        <p:blipFill>
          <a:blip r:embed="rId6"/>
          <a:stretch>
            <a:fillRect/>
          </a:stretch>
        </p:blipFill>
        <p:spPr>
          <a:xfrm>
            <a:off x="2442492" y="3224287"/>
            <a:ext cx="210369" cy="262979"/>
          </a:xfrm>
          <a:prstGeom prst="rect">
            <a:avLst/>
          </a:prstGeom>
        </p:spPr>
      </p:pic>
      <p:sp>
        <p:nvSpPr>
          <p:cNvPr id="10" name="Text 4"/>
          <p:cNvSpPr/>
          <p:nvPr/>
        </p:nvSpPr>
        <p:spPr>
          <a:xfrm>
            <a:off x="3699272" y="3081264"/>
            <a:ext cx="1831628" cy="219968"/>
          </a:xfrm>
          <a:prstGeom prst="rect">
            <a:avLst/>
          </a:prstGeom>
          <a:noFill/>
          <a:ln/>
        </p:spPr>
        <p:txBody>
          <a:bodyPr wrap="none" lIns="0" tIns="0" rIns="0" bIns="0" rtlCol="0" anchor="t"/>
          <a:lstStyle/>
          <a:p>
            <a:pPr defTabSz="571500">
              <a:lnSpc>
                <a:spcPts val="1719"/>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Fabbisogno di Capitale</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11" name="Text 5"/>
          <p:cNvSpPr/>
          <p:nvPr/>
        </p:nvSpPr>
        <p:spPr>
          <a:xfrm>
            <a:off x="3699272" y="3390974"/>
            <a:ext cx="1831628" cy="239390"/>
          </a:xfrm>
          <a:prstGeom prst="rect">
            <a:avLst/>
          </a:prstGeom>
          <a:noFill/>
          <a:ln/>
        </p:spPr>
        <p:txBody>
          <a:bodyPr wrap="none" lIns="0" tIns="0" rIns="0" bIns="0" rtlCol="0" anchor="t"/>
          <a:lstStyle/>
          <a:p>
            <a:pPr defTabSz="571500">
              <a:lnSpc>
                <a:spcPts val="1875"/>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Investimenti iniziali elevati</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12" name="Shape 6"/>
          <p:cNvSpPr/>
          <p:nvPr/>
        </p:nvSpPr>
        <p:spPr>
          <a:xfrm>
            <a:off x="3587056" y="3789089"/>
            <a:ext cx="4996011" cy="9525"/>
          </a:xfrm>
          <a:prstGeom prst="roundRect">
            <a:avLst>
              <a:gd name="adj" fmla="val 2356110"/>
            </a:avLst>
          </a:prstGeom>
          <a:solidFill>
            <a:srgbClr val="018CE1"/>
          </a:solidFill>
          <a:ln/>
        </p:spPr>
      </p:sp>
      <p:pic>
        <p:nvPicPr>
          <p:cNvPr id="13" name="Image 4" descr="preencoded.png"/>
          <p:cNvPicPr>
            <a:picLocks noChangeAspect="1"/>
          </p:cNvPicPr>
          <p:nvPr/>
        </p:nvPicPr>
        <p:blipFill>
          <a:blip r:embed="rId7"/>
          <a:stretch>
            <a:fillRect/>
          </a:stretch>
        </p:blipFill>
        <p:spPr>
          <a:xfrm>
            <a:off x="1044774" y="3817293"/>
            <a:ext cx="3005882" cy="848246"/>
          </a:xfrm>
          <a:prstGeom prst="rect">
            <a:avLst/>
          </a:prstGeom>
        </p:spPr>
      </p:pic>
      <p:pic>
        <p:nvPicPr>
          <p:cNvPr id="14" name="Image 5" descr="preencoded.png"/>
          <p:cNvPicPr>
            <a:picLocks noChangeAspect="1"/>
          </p:cNvPicPr>
          <p:nvPr/>
        </p:nvPicPr>
        <p:blipFill>
          <a:blip r:embed="rId8"/>
          <a:stretch>
            <a:fillRect/>
          </a:stretch>
        </p:blipFill>
        <p:spPr>
          <a:xfrm>
            <a:off x="2442492" y="4109889"/>
            <a:ext cx="210369" cy="262979"/>
          </a:xfrm>
          <a:prstGeom prst="rect">
            <a:avLst/>
          </a:prstGeom>
        </p:spPr>
      </p:pic>
      <p:sp>
        <p:nvSpPr>
          <p:cNvPr id="15" name="Text 7"/>
          <p:cNvSpPr/>
          <p:nvPr/>
        </p:nvSpPr>
        <p:spPr>
          <a:xfrm>
            <a:off x="4200227" y="3966865"/>
            <a:ext cx="2032918" cy="219968"/>
          </a:xfrm>
          <a:prstGeom prst="rect">
            <a:avLst/>
          </a:prstGeom>
          <a:noFill/>
          <a:ln/>
        </p:spPr>
        <p:txBody>
          <a:bodyPr wrap="none" lIns="0" tIns="0" rIns="0" bIns="0" rtlCol="0" anchor="t"/>
          <a:lstStyle/>
          <a:p>
            <a:pPr defTabSz="571500">
              <a:lnSpc>
                <a:spcPts val="1719"/>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Differenziazione Prodotto</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16" name="Text 8"/>
          <p:cNvSpPr/>
          <p:nvPr/>
        </p:nvSpPr>
        <p:spPr>
          <a:xfrm>
            <a:off x="4200227" y="4276576"/>
            <a:ext cx="2032918" cy="239390"/>
          </a:xfrm>
          <a:prstGeom prst="rect">
            <a:avLst/>
          </a:prstGeom>
          <a:noFill/>
          <a:ln/>
        </p:spPr>
        <p:txBody>
          <a:bodyPr wrap="none" lIns="0" tIns="0" rIns="0" bIns="0" rtlCol="0" anchor="t"/>
          <a:lstStyle/>
          <a:p>
            <a:pPr defTabSz="571500">
              <a:lnSpc>
                <a:spcPts val="1875"/>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Unicità dell'offerta esistente</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17" name="Shape 9"/>
          <p:cNvSpPr/>
          <p:nvPr/>
        </p:nvSpPr>
        <p:spPr>
          <a:xfrm>
            <a:off x="4088011" y="4674691"/>
            <a:ext cx="4495056" cy="9525"/>
          </a:xfrm>
          <a:prstGeom prst="roundRect">
            <a:avLst>
              <a:gd name="adj" fmla="val 2356110"/>
            </a:avLst>
          </a:prstGeom>
          <a:solidFill>
            <a:srgbClr val="DA33BF"/>
          </a:solidFill>
          <a:ln/>
        </p:spPr>
      </p:sp>
      <p:pic>
        <p:nvPicPr>
          <p:cNvPr id="18" name="Image 6" descr="preencoded.png"/>
          <p:cNvPicPr>
            <a:picLocks noChangeAspect="1"/>
          </p:cNvPicPr>
          <p:nvPr/>
        </p:nvPicPr>
        <p:blipFill>
          <a:blip r:embed="rId9"/>
          <a:stretch>
            <a:fillRect/>
          </a:stretch>
        </p:blipFill>
        <p:spPr>
          <a:xfrm>
            <a:off x="543818" y="4702895"/>
            <a:ext cx="4007867" cy="848246"/>
          </a:xfrm>
          <a:prstGeom prst="rect">
            <a:avLst/>
          </a:prstGeom>
        </p:spPr>
      </p:pic>
      <p:pic>
        <p:nvPicPr>
          <p:cNvPr id="19" name="Image 7" descr="preencoded.png"/>
          <p:cNvPicPr>
            <a:picLocks noChangeAspect="1"/>
          </p:cNvPicPr>
          <p:nvPr/>
        </p:nvPicPr>
        <p:blipFill>
          <a:blip r:embed="rId10"/>
          <a:stretch>
            <a:fillRect/>
          </a:stretch>
        </p:blipFill>
        <p:spPr>
          <a:xfrm>
            <a:off x="2442492" y="4995491"/>
            <a:ext cx="210369" cy="262979"/>
          </a:xfrm>
          <a:prstGeom prst="rect">
            <a:avLst/>
          </a:prstGeom>
        </p:spPr>
      </p:pic>
      <p:sp>
        <p:nvSpPr>
          <p:cNvPr id="20" name="Text 10"/>
          <p:cNvSpPr/>
          <p:nvPr/>
        </p:nvSpPr>
        <p:spPr>
          <a:xfrm>
            <a:off x="4701258" y="4852467"/>
            <a:ext cx="1760116" cy="219968"/>
          </a:xfrm>
          <a:prstGeom prst="rect">
            <a:avLst/>
          </a:prstGeom>
          <a:noFill/>
          <a:ln/>
        </p:spPr>
        <p:txBody>
          <a:bodyPr wrap="none" lIns="0" tIns="0" rIns="0" bIns="0" rtlCol="0" anchor="t"/>
          <a:lstStyle/>
          <a:p>
            <a:pPr defTabSz="571500">
              <a:lnSpc>
                <a:spcPts val="1719"/>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Vantaggi Competitivi</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21" name="Text 11"/>
          <p:cNvSpPr/>
          <p:nvPr/>
        </p:nvSpPr>
        <p:spPr>
          <a:xfrm>
            <a:off x="4701258" y="5162178"/>
            <a:ext cx="2262783" cy="239390"/>
          </a:xfrm>
          <a:prstGeom prst="rect">
            <a:avLst/>
          </a:prstGeom>
          <a:noFill/>
          <a:ln/>
        </p:spPr>
        <p:txBody>
          <a:bodyPr wrap="none" lIns="0" tIns="0" rIns="0" bIns="0" rtlCol="0" anchor="t"/>
          <a:lstStyle/>
          <a:p>
            <a:pPr defTabSz="571500">
              <a:lnSpc>
                <a:spcPts val="1875"/>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Posizionamento dei player esistenti</a:t>
            </a:r>
            <a:endParaRPr lang="en-US" sz="1600"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38725" y="573902"/>
            <a:ext cx="7066547" cy="434727"/>
          </a:xfrm>
          <a:prstGeom prst="rect">
            <a:avLst/>
          </a:prstGeom>
          <a:noFill/>
          <a:ln/>
        </p:spPr>
        <p:txBody>
          <a:bodyPr wrap="none" lIns="0" tIns="0" rIns="0" bIns="0" rtlCol="0" anchor="t"/>
          <a:lstStyle/>
          <a:p>
            <a:pPr defTabSz="571500">
              <a:lnSpc>
                <a:spcPts val="3406"/>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Esempi di Barriere Economiche</a:t>
            </a:r>
            <a:endParaRPr lang="en-US" sz="3600" b="1" kern="1200" dirty="0">
              <a:solidFill>
                <a:prstClr val="black"/>
              </a:solidFill>
              <a:latin typeface="Arial" panose="020B0604020202020204" pitchFamily="34" charset="0"/>
              <a:ea typeface="+mn-ea"/>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2139255" y="2813373"/>
            <a:ext cx="4865489" cy="4865489"/>
          </a:xfrm>
          <a:prstGeom prst="rect">
            <a:avLst/>
          </a:prstGeom>
        </p:spPr>
      </p:pic>
      <p:sp>
        <p:nvSpPr>
          <p:cNvPr id="4" name="Text 1"/>
          <p:cNvSpPr/>
          <p:nvPr/>
        </p:nvSpPr>
        <p:spPr>
          <a:xfrm>
            <a:off x="2761579" y="4391918"/>
            <a:ext cx="249436" cy="311795"/>
          </a:xfrm>
          <a:prstGeom prst="rect">
            <a:avLst/>
          </a:prstGeom>
          <a:noFill/>
          <a:ln/>
        </p:spPr>
        <p:txBody>
          <a:bodyPr wrap="none" lIns="0" tIns="0" rIns="0" bIns="0" rtlCol="0" anchor="t"/>
          <a:lstStyle/>
          <a:p>
            <a:pPr defTabSz="571500">
              <a:lnSpc>
                <a:spcPts val="3125"/>
              </a:lnSpc>
              <a:buClrTx/>
            </a:pPr>
            <a:r>
              <a:rPr lang="en-US" sz="2800" kern="1200" dirty="0">
                <a:solidFill>
                  <a:srgbClr val="00002E"/>
                </a:solidFill>
                <a:latin typeface="Arial" panose="020B0604020202020204" pitchFamily="34" charset="0"/>
                <a:ea typeface="Nunito Semi Bold" pitchFamily="34" charset="-122"/>
                <a:cs typeface="Arial" panose="020B0604020202020204" pitchFamily="34" charset="0"/>
              </a:rPr>
              <a:t>1</a:t>
            </a:r>
            <a:endParaRPr lang="en-US" sz="2800" kern="1200" dirty="0">
              <a:solidFill>
                <a:prstClr val="black"/>
              </a:solidFill>
              <a:latin typeface="Arial" panose="020B0604020202020204" pitchFamily="34" charset="0"/>
              <a:ea typeface="+mn-ea"/>
              <a:cs typeface="Arial" panose="020B0604020202020204" pitchFamily="34" charset="0"/>
            </a:endParaRPr>
          </a:p>
        </p:txBody>
      </p:sp>
      <p:pic>
        <p:nvPicPr>
          <p:cNvPr id="5" name="Image 1" descr="preencoded.png"/>
          <p:cNvPicPr>
            <a:picLocks noChangeAspect="1"/>
          </p:cNvPicPr>
          <p:nvPr/>
        </p:nvPicPr>
        <p:blipFill>
          <a:blip r:embed="rId4"/>
          <a:stretch>
            <a:fillRect/>
          </a:stretch>
        </p:blipFill>
        <p:spPr>
          <a:xfrm>
            <a:off x="2139255" y="2813373"/>
            <a:ext cx="4865489" cy="4865489"/>
          </a:xfrm>
          <a:prstGeom prst="rect">
            <a:avLst/>
          </a:prstGeom>
        </p:spPr>
      </p:pic>
      <p:sp>
        <p:nvSpPr>
          <p:cNvPr id="6" name="Text 2"/>
          <p:cNvSpPr/>
          <p:nvPr/>
        </p:nvSpPr>
        <p:spPr>
          <a:xfrm>
            <a:off x="3748980" y="3404518"/>
            <a:ext cx="249436" cy="311795"/>
          </a:xfrm>
          <a:prstGeom prst="rect">
            <a:avLst/>
          </a:prstGeom>
          <a:noFill/>
          <a:ln/>
        </p:spPr>
        <p:txBody>
          <a:bodyPr wrap="none" lIns="0" tIns="0" rIns="0" bIns="0" rtlCol="0" anchor="t"/>
          <a:lstStyle/>
          <a:p>
            <a:pPr defTabSz="571500">
              <a:lnSpc>
                <a:spcPts val="3125"/>
              </a:lnSpc>
              <a:buClrTx/>
            </a:pPr>
            <a:r>
              <a:rPr lang="en-US" sz="2800" kern="1200" dirty="0">
                <a:solidFill>
                  <a:srgbClr val="00002E"/>
                </a:solidFill>
                <a:latin typeface="Arial" panose="020B0604020202020204" pitchFamily="34" charset="0"/>
                <a:ea typeface="Nunito Semi Bold" pitchFamily="34" charset="-122"/>
                <a:cs typeface="Arial" panose="020B0604020202020204" pitchFamily="34" charset="0"/>
              </a:rPr>
              <a:t>2</a:t>
            </a:r>
            <a:endParaRPr lang="en-US" sz="2800" kern="1200" dirty="0">
              <a:solidFill>
                <a:prstClr val="black"/>
              </a:solidFill>
              <a:latin typeface="Arial" panose="020B0604020202020204" pitchFamily="34" charset="0"/>
              <a:ea typeface="+mn-ea"/>
              <a:cs typeface="Arial" panose="020B0604020202020204" pitchFamily="34" charset="0"/>
            </a:endParaRPr>
          </a:p>
        </p:txBody>
      </p:sp>
      <p:pic>
        <p:nvPicPr>
          <p:cNvPr id="7" name="Image 2" descr="preencoded.png"/>
          <p:cNvPicPr>
            <a:picLocks noChangeAspect="1"/>
          </p:cNvPicPr>
          <p:nvPr/>
        </p:nvPicPr>
        <p:blipFill>
          <a:blip r:embed="rId5"/>
          <a:stretch>
            <a:fillRect/>
          </a:stretch>
        </p:blipFill>
        <p:spPr>
          <a:xfrm>
            <a:off x="2139255" y="2813373"/>
            <a:ext cx="4865489" cy="4865489"/>
          </a:xfrm>
          <a:prstGeom prst="rect">
            <a:avLst/>
          </a:prstGeom>
        </p:spPr>
      </p:pic>
      <p:sp>
        <p:nvSpPr>
          <p:cNvPr id="8" name="Text 3"/>
          <p:cNvSpPr/>
          <p:nvPr/>
        </p:nvSpPr>
        <p:spPr>
          <a:xfrm>
            <a:off x="5145509" y="3404518"/>
            <a:ext cx="249436" cy="311795"/>
          </a:xfrm>
          <a:prstGeom prst="rect">
            <a:avLst/>
          </a:prstGeom>
          <a:noFill/>
          <a:ln/>
        </p:spPr>
        <p:txBody>
          <a:bodyPr wrap="none" lIns="0" tIns="0" rIns="0" bIns="0" rtlCol="0" anchor="t"/>
          <a:lstStyle/>
          <a:p>
            <a:pPr defTabSz="571500">
              <a:lnSpc>
                <a:spcPts val="3125"/>
              </a:lnSpc>
              <a:buClrTx/>
            </a:pPr>
            <a:r>
              <a:rPr lang="en-US" sz="2800" kern="1200" dirty="0">
                <a:solidFill>
                  <a:srgbClr val="00002E"/>
                </a:solidFill>
                <a:latin typeface="Arial" panose="020B0604020202020204" pitchFamily="34" charset="0"/>
                <a:ea typeface="Nunito Semi Bold" pitchFamily="34" charset="-122"/>
                <a:cs typeface="Arial" panose="020B0604020202020204" pitchFamily="34" charset="0"/>
              </a:rPr>
              <a:t>3</a:t>
            </a:r>
            <a:endParaRPr lang="en-US" sz="2800" kern="1200" dirty="0">
              <a:solidFill>
                <a:prstClr val="black"/>
              </a:solidFill>
              <a:latin typeface="Arial" panose="020B0604020202020204" pitchFamily="34" charset="0"/>
              <a:ea typeface="+mn-ea"/>
              <a:cs typeface="Arial" panose="020B0604020202020204" pitchFamily="34" charset="0"/>
            </a:endParaRPr>
          </a:p>
        </p:txBody>
      </p:sp>
      <p:pic>
        <p:nvPicPr>
          <p:cNvPr id="9" name="Image 3" descr="preencoded.png"/>
          <p:cNvPicPr>
            <a:picLocks noChangeAspect="1"/>
          </p:cNvPicPr>
          <p:nvPr/>
        </p:nvPicPr>
        <p:blipFill>
          <a:blip r:embed="rId6"/>
          <a:stretch>
            <a:fillRect/>
          </a:stretch>
        </p:blipFill>
        <p:spPr>
          <a:xfrm>
            <a:off x="2139255" y="2813373"/>
            <a:ext cx="4865489" cy="4865489"/>
          </a:xfrm>
          <a:prstGeom prst="rect">
            <a:avLst/>
          </a:prstGeom>
        </p:spPr>
      </p:pic>
      <p:sp>
        <p:nvSpPr>
          <p:cNvPr id="10" name="Text 4"/>
          <p:cNvSpPr/>
          <p:nvPr/>
        </p:nvSpPr>
        <p:spPr>
          <a:xfrm>
            <a:off x="6132909" y="4391918"/>
            <a:ext cx="249436" cy="311795"/>
          </a:xfrm>
          <a:prstGeom prst="rect">
            <a:avLst/>
          </a:prstGeom>
          <a:noFill/>
          <a:ln/>
        </p:spPr>
        <p:txBody>
          <a:bodyPr wrap="none" lIns="0" tIns="0" rIns="0" bIns="0" rtlCol="0" anchor="t"/>
          <a:lstStyle/>
          <a:p>
            <a:pPr defTabSz="571500">
              <a:lnSpc>
                <a:spcPts val="3125"/>
              </a:lnSpc>
              <a:buClrTx/>
            </a:pPr>
            <a:r>
              <a:rPr lang="en-US" sz="2800" kern="1200" dirty="0">
                <a:solidFill>
                  <a:srgbClr val="00002E"/>
                </a:solidFill>
                <a:latin typeface="Arial" panose="020B0604020202020204" pitchFamily="34" charset="0"/>
                <a:ea typeface="Nunito Semi Bold" pitchFamily="34" charset="-122"/>
                <a:cs typeface="Arial" panose="020B0604020202020204" pitchFamily="34" charset="0"/>
              </a:rPr>
              <a:t>4</a:t>
            </a:r>
            <a:endParaRPr lang="en-US" sz="2800" kern="1200" dirty="0">
              <a:solidFill>
                <a:prstClr val="black"/>
              </a:solidFill>
              <a:latin typeface="Arial" panose="020B0604020202020204" pitchFamily="34" charset="0"/>
              <a:ea typeface="+mn-ea"/>
              <a:cs typeface="Arial" panose="020B0604020202020204" pitchFamily="34" charset="0"/>
            </a:endParaRPr>
          </a:p>
        </p:txBody>
      </p:sp>
      <p:sp>
        <p:nvSpPr>
          <p:cNvPr id="11" name="Text 5"/>
          <p:cNvSpPr/>
          <p:nvPr/>
        </p:nvSpPr>
        <p:spPr>
          <a:xfrm>
            <a:off x="372143" y="3423254"/>
            <a:ext cx="1739206" cy="217364"/>
          </a:xfrm>
          <a:prstGeom prst="rect">
            <a:avLst/>
          </a:prstGeom>
          <a:noFill/>
          <a:ln/>
        </p:spPr>
        <p:txBody>
          <a:bodyPr wrap="none" lIns="0" tIns="0" rIns="0" bIns="0" rtlCol="0" anchor="t"/>
          <a:lstStyle/>
          <a:p>
            <a:pPr algn="ctr" defTabSz="571500">
              <a:lnSpc>
                <a:spcPts val="1688"/>
              </a:lnSpc>
              <a:buClrTx/>
            </a:pPr>
            <a:r>
              <a:rPr lang="en-US" sz="1800" b="1" kern="1200" dirty="0">
                <a:solidFill>
                  <a:srgbClr val="00002E"/>
                </a:solidFill>
                <a:latin typeface="Arial" panose="020B0604020202020204" pitchFamily="34" charset="0"/>
                <a:ea typeface="Nunito Semi Bold" pitchFamily="34" charset="-122"/>
                <a:cs typeface="Arial" panose="020B0604020202020204" pitchFamily="34" charset="0"/>
              </a:rPr>
              <a:t>Investimenti Iniziali</a:t>
            </a:r>
            <a:endParaRPr lang="en-US" sz="1800" b="1" kern="1200" dirty="0">
              <a:solidFill>
                <a:prstClr val="black"/>
              </a:solidFill>
              <a:latin typeface="Arial" panose="020B0604020202020204" pitchFamily="34" charset="0"/>
              <a:ea typeface="+mn-ea"/>
              <a:cs typeface="Arial" panose="020B0604020202020204" pitchFamily="34" charset="0"/>
            </a:endParaRPr>
          </a:p>
        </p:txBody>
      </p:sp>
      <p:sp>
        <p:nvSpPr>
          <p:cNvPr id="12" name="Text 6"/>
          <p:cNvSpPr/>
          <p:nvPr/>
        </p:nvSpPr>
        <p:spPr>
          <a:xfrm>
            <a:off x="311272" y="3729245"/>
            <a:ext cx="1861021" cy="709687"/>
          </a:xfrm>
          <a:prstGeom prst="rect">
            <a:avLst/>
          </a:prstGeom>
          <a:noFill/>
          <a:ln/>
        </p:spPr>
        <p:txBody>
          <a:bodyPr wrap="square" lIns="0" tIns="0" rIns="0" bIns="0" rtlCol="0" anchor="t"/>
          <a:lstStyle/>
          <a:p>
            <a:pPr algn="ctr" defTabSz="571500">
              <a:lnSpc>
                <a:spcPts val="1844"/>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Nel settore energetico possono superare i miliardi di euro.</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13" name="Text 7"/>
          <p:cNvSpPr/>
          <p:nvPr/>
        </p:nvSpPr>
        <p:spPr>
          <a:xfrm>
            <a:off x="2282616" y="1801416"/>
            <a:ext cx="1739206" cy="217364"/>
          </a:xfrm>
          <a:prstGeom prst="rect">
            <a:avLst/>
          </a:prstGeom>
          <a:noFill/>
          <a:ln/>
        </p:spPr>
        <p:txBody>
          <a:bodyPr wrap="none" lIns="0" tIns="0" rIns="0" bIns="0" rtlCol="0" anchor="t"/>
          <a:lstStyle/>
          <a:p>
            <a:pPr algn="ctr" defTabSz="571500">
              <a:lnSpc>
                <a:spcPts val="1688"/>
              </a:lnSpc>
              <a:buClrTx/>
            </a:pPr>
            <a:r>
              <a:rPr lang="en-US" sz="1800" b="1" kern="1200" dirty="0">
                <a:solidFill>
                  <a:srgbClr val="00002E"/>
                </a:solidFill>
                <a:latin typeface="Arial" panose="020B0604020202020204" pitchFamily="34" charset="0"/>
                <a:ea typeface="Nunito Semi Bold" pitchFamily="34" charset="-122"/>
                <a:cs typeface="Arial" panose="020B0604020202020204" pitchFamily="34" charset="0"/>
              </a:rPr>
              <a:t>Capitale Minimo</a:t>
            </a:r>
            <a:endParaRPr lang="en-US" sz="1800" b="1" kern="1200" dirty="0">
              <a:solidFill>
                <a:prstClr val="black"/>
              </a:solidFill>
              <a:latin typeface="Arial" panose="020B0604020202020204" pitchFamily="34" charset="0"/>
              <a:ea typeface="+mn-ea"/>
              <a:cs typeface="Arial" panose="020B0604020202020204" pitchFamily="34" charset="0"/>
            </a:endParaRPr>
          </a:p>
        </p:txBody>
      </p:sp>
      <p:sp>
        <p:nvSpPr>
          <p:cNvPr id="14" name="Text 8"/>
          <p:cNvSpPr/>
          <p:nvPr/>
        </p:nvSpPr>
        <p:spPr>
          <a:xfrm>
            <a:off x="2221745" y="2107407"/>
            <a:ext cx="1861021" cy="709687"/>
          </a:xfrm>
          <a:prstGeom prst="rect">
            <a:avLst/>
          </a:prstGeom>
          <a:noFill/>
          <a:ln/>
        </p:spPr>
        <p:txBody>
          <a:bodyPr wrap="square" lIns="0" tIns="0" rIns="0" bIns="0" rtlCol="0" anchor="t"/>
          <a:lstStyle/>
          <a:p>
            <a:pPr algn="ctr" defTabSz="571500">
              <a:lnSpc>
                <a:spcPts val="1844"/>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Necessario per creare infrastrutture competitive sul mercato.</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15" name="Text 9"/>
          <p:cNvSpPr/>
          <p:nvPr/>
        </p:nvSpPr>
        <p:spPr>
          <a:xfrm>
            <a:off x="5232424" y="1928489"/>
            <a:ext cx="1739206" cy="217364"/>
          </a:xfrm>
          <a:prstGeom prst="rect">
            <a:avLst/>
          </a:prstGeom>
          <a:noFill/>
          <a:ln/>
        </p:spPr>
        <p:txBody>
          <a:bodyPr wrap="none" lIns="0" tIns="0" rIns="0" bIns="0" rtlCol="0" anchor="t"/>
          <a:lstStyle/>
          <a:p>
            <a:pPr algn="ctr" defTabSz="571500">
              <a:lnSpc>
                <a:spcPts val="1688"/>
              </a:lnSpc>
              <a:buClrTx/>
            </a:pPr>
            <a:r>
              <a:rPr lang="en-US" sz="1800" b="1" kern="1200" dirty="0">
                <a:solidFill>
                  <a:srgbClr val="00002E"/>
                </a:solidFill>
                <a:latin typeface="Arial" panose="020B0604020202020204" pitchFamily="34" charset="0"/>
                <a:ea typeface="Nunito Semi Bold" pitchFamily="34" charset="-122"/>
                <a:cs typeface="Arial" panose="020B0604020202020204" pitchFamily="34" charset="0"/>
              </a:rPr>
              <a:t>Tecnologie Specifiche</a:t>
            </a:r>
            <a:endParaRPr lang="en-US" sz="1800" b="1" kern="1200" dirty="0">
              <a:solidFill>
                <a:prstClr val="black"/>
              </a:solidFill>
              <a:latin typeface="Arial" panose="020B0604020202020204" pitchFamily="34" charset="0"/>
              <a:ea typeface="+mn-ea"/>
              <a:cs typeface="Arial" panose="020B0604020202020204" pitchFamily="34" charset="0"/>
            </a:endParaRPr>
          </a:p>
        </p:txBody>
      </p:sp>
      <p:sp>
        <p:nvSpPr>
          <p:cNvPr id="16" name="Text 10"/>
          <p:cNvSpPr/>
          <p:nvPr/>
        </p:nvSpPr>
        <p:spPr>
          <a:xfrm>
            <a:off x="4886171" y="2166660"/>
            <a:ext cx="2259635" cy="473124"/>
          </a:xfrm>
          <a:prstGeom prst="rect">
            <a:avLst/>
          </a:prstGeom>
          <a:noFill/>
          <a:ln/>
        </p:spPr>
        <p:txBody>
          <a:bodyPr wrap="square" lIns="0" tIns="0" rIns="0" bIns="0" rtlCol="0" anchor="t"/>
          <a:lstStyle/>
          <a:p>
            <a:pPr algn="ctr" defTabSz="571500">
              <a:lnSpc>
                <a:spcPts val="1844"/>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Macchinari e impianti ad alto costo di acquisizione.</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17" name="Text 11"/>
          <p:cNvSpPr/>
          <p:nvPr/>
        </p:nvSpPr>
        <p:spPr>
          <a:xfrm>
            <a:off x="7032576" y="3731083"/>
            <a:ext cx="1739206" cy="217364"/>
          </a:xfrm>
          <a:prstGeom prst="rect">
            <a:avLst/>
          </a:prstGeom>
          <a:noFill/>
          <a:ln/>
        </p:spPr>
        <p:txBody>
          <a:bodyPr wrap="none" lIns="0" tIns="0" rIns="0" bIns="0" rtlCol="0" anchor="t"/>
          <a:lstStyle/>
          <a:p>
            <a:pPr algn="ctr" defTabSz="571500">
              <a:lnSpc>
                <a:spcPts val="1688"/>
              </a:lnSpc>
              <a:buClrTx/>
            </a:pPr>
            <a:r>
              <a:rPr lang="en-US" sz="1800" b="1" kern="1200" dirty="0">
                <a:solidFill>
                  <a:srgbClr val="00002E"/>
                </a:solidFill>
                <a:latin typeface="Arial" panose="020B0604020202020204" pitchFamily="34" charset="0"/>
                <a:ea typeface="Nunito Semi Bold" pitchFamily="34" charset="-122"/>
                <a:cs typeface="Arial" panose="020B0604020202020204" pitchFamily="34" charset="0"/>
              </a:rPr>
              <a:t>Ricerca e Sviluppo</a:t>
            </a:r>
            <a:endParaRPr lang="en-US" sz="1800" b="1" kern="1200" dirty="0">
              <a:solidFill>
                <a:prstClr val="black"/>
              </a:solidFill>
              <a:latin typeface="Arial" panose="020B0604020202020204" pitchFamily="34" charset="0"/>
              <a:ea typeface="+mn-ea"/>
              <a:cs typeface="Arial" panose="020B0604020202020204" pitchFamily="34" charset="0"/>
            </a:endParaRPr>
          </a:p>
        </p:txBody>
      </p:sp>
      <p:sp>
        <p:nvSpPr>
          <p:cNvPr id="18" name="Text 12"/>
          <p:cNvSpPr/>
          <p:nvPr/>
        </p:nvSpPr>
        <p:spPr>
          <a:xfrm>
            <a:off x="6971630" y="4037074"/>
            <a:ext cx="1861096" cy="709687"/>
          </a:xfrm>
          <a:prstGeom prst="rect">
            <a:avLst/>
          </a:prstGeom>
          <a:noFill/>
          <a:ln/>
        </p:spPr>
        <p:txBody>
          <a:bodyPr wrap="square" lIns="0" tIns="0" rIns="0" bIns="0" rtlCol="0" anchor="t"/>
          <a:lstStyle/>
          <a:p>
            <a:pPr algn="ctr" defTabSz="571500">
              <a:lnSpc>
                <a:spcPts val="1844"/>
              </a:lnSpc>
              <a:buClrTx/>
            </a:pPr>
            <a:r>
              <a:rPr lang="en-US" sz="1600" kern="1200" dirty="0">
                <a:solidFill>
                  <a:srgbClr val="00002E"/>
                </a:solidFill>
                <a:latin typeface="Arial" panose="020B0604020202020204" pitchFamily="34" charset="0"/>
                <a:ea typeface="PT Sans" pitchFamily="34" charset="-122"/>
                <a:cs typeface="Arial" panose="020B0604020202020204" pitchFamily="34" charset="0"/>
              </a:rPr>
              <a:t>Investimenti continui per mantenere competitività tecnologica.</a:t>
            </a:r>
            <a:endParaRPr lang="en-US" sz="1600"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99975" y="615198"/>
            <a:ext cx="6744050" cy="392236"/>
          </a:xfrm>
          <a:prstGeom prst="rect">
            <a:avLst/>
          </a:prstGeom>
          <a:noFill/>
          <a:ln/>
        </p:spPr>
        <p:txBody>
          <a:bodyPr wrap="none" lIns="0" tIns="0" rIns="0" bIns="0" rtlCol="0" anchor="t"/>
          <a:lstStyle/>
          <a:p>
            <a:pPr defTabSz="571500">
              <a:lnSpc>
                <a:spcPts val="3063"/>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Barriere Normative e Regolatorie</a:t>
            </a:r>
            <a:endParaRPr lang="en-US" sz="3600" b="1" kern="1200" dirty="0">
              <a:solidFill>
                <a:prstClr val="black"/>
              </a:solidFill>
              <a:latin typeface="Arial" panose="020B0604020202020204" pitchFamily="34" charset="0"/>
              <a:ea typeface="+mn-ea"/>
              <a:cs typeface="Arial" panose="020B0604020202020204" pitchFamily="34" charset="0"/>
            </a:endParaRPr>
          </a:p>
        </p:txBody>
      </p:sp>
      <p:sp>
        <p:nvSpPr>
          <p:cNvPr id="4" name="Shape 1"/>
          <p:cNvSpPr/>
          <p:nvPr/>
        </p:nvSpPr>
        <p:spPr>
          <a:xfrm>
            <a:off x="1922859" y="1969645"/>
            <a:ext cx="19050" cy="3424833"/>
          </a:xfrm>
          <a:prstGeom prst="roundRect">
            <a:avLst>
              <a:gd name="adj" fmla="val 1050207"/>
            </a:avLst>
          </a:prstGeom>
          <a:solidFill>
            <a:srgbClr val="000000">
              <a:alpha val="8000"/>
            </a:srgbClr>
          </a:solidFill>
          <a:ln/>
        </p:spPr>
      </p:sp>
      <p:sp>
        <p:nvSpPr>
          <p:cNvPr id="5" name="Shape 2"/>
          <p:cNvSpPr/>
          <p:nvPr/>
        </p:nvSpPr>
        <p:spPr>
          <a:xfrm>
            <a:off x="2053828" y="2260157"/>
            <a:ext cx="400124" cy="19050"/>
          </a:xfrm>
          <a:prstGeom prst="roundRect">
            <a:avLst>
              <a:gd name="adj" fmla="val 1050207"/>
            </a:avLst>
          </a:prstGeom>
          <a:solidFill>
            <a:srgbClr val="2D4DF2"/>
          </a:solidFill>
          <a:ln/>
        </p:spPr>
      </p:sp>
      <p:sp>
        <p:nvSpPr>
          <p:cNvPr id="6" name="Shape 3"/>
          <p:cNvSpPr/>
          <p:nvPr/>
        </p:nvSpPr>
        <p:spPr>
          <a:xfrm>
            <a:off x="1772840" y="2119663"/>
            <a:ext cx="300038" cy="300038"/>
          </a:xfrm>
          <a:prstGeom prst="roundRect">
            <a:avLst>
              <a:gd name="adj" fmla="val 66680"/>
            </a:avLst>
          </a:prstGeom>
          <a:solidFill>
            <a:srgbClr val="F3F3FF"/>
          </a:solidFill>
          <a:ln w="22860">
            <a:solidFill>
              <a:srgbClr val="2D4DF2"/>
            </a:solidFill>
            <a:prstDash val="solid"/>
          </a:ln>
        </p:spPr>
      </p:sp>
      <p:pic>
        <p:nvPicPr>
          <p:cNvPr id="7" name="Image 1" descr="preencoded.png"/>
          <p:cNvPicPr>
            <a:picLocks noChangeAspect="1"/>
          </p:cNvPicPr>
          <p:nvPr/>
        </p:nvPicPr>
        <p:blipFill>
          <a:blip r:embed="rId3"/>
          <a:stretch>
            <a:fillRect/>
          </a:stretch>
        </p:blipFill>
        <p:spPr>
          <a:xfrm>
            <a:off x="1828725" y="2152034"/>
            <a:ext cx="188268" cy="235298"/>
          </a:xfrm>
          <a:prstGeom prst="rect">
            <a:avLst/>
          </a:prstGeom>
        </p:spPr>
      </p:pic>
      <p:sp>
        <p:nvSpPr>
          <p:cNvPr id="8" name="Text 4"/>
          <p:cNvSpPr/>
          <p:nvPr/>
        </p:nvSpPr>
        <p:spPr>
          <a:xfrm>
            <a:off x="2589758" y="2102995"/>
            <a:ext cx="1569095" cy="196156"/>
          </a:xfrm>
          <a:prstGeom prst="rect">
            <a:avLst/>
          </a:prstGeom>
          <a:noFill/>
          <a:ln/>
        </p:spPr>
        <p:txBody>
          <a:bodyPr wrap="none" lIns="0" tIns="0" rIns="0" bIns="0" rtlCol="0" anchor="t"/>
          <a:lstStyle/>
          <a:p>
            <a:pPr defTabSz="571500">
              <a:lnSpc>
                <a:spcPts val="1531"/>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Licenze e Permessi</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9" name="Text 5"/>
          <p:cNvSpPr/>
          <p:nvPr/>
        </p:nvSpPr>
        <p:spPr>
          <a:xfrm>
            <a:off x="2589758" y="2379146"/>
            <a:ext cx="3964484" cy="213345"/>
          </a:xfrm>
          <a:prstGeom prst="rect">
            <a:avLst/>
          </a:prstGeom>
          <a:noFill/>
          <a:ln/>
        </p:spPr>
        <p:txBody>
          <a:bodyPr wrap="none" lIns="0" tIns="0" rIns="0" bIns="0" rtlCol="0" anchor="t"/>
          <a:lstStyle/>
          <a:p>
            <a:pPr defTabSz="571500">
              <a:lnSpc>
                <a:spcPts val="1656"/>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Autorizzazioni governative necessarie per operare legalmente.</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10" name="Shape 6"/>
          <p:cNvSpPr/>
          <p:nvPr/>
        </p:nvSpPr>
        <p:spPr>
          <a:xfrm>
            <a:off x="2053828" y="3149704"/>
            <a:ext cx="400124" cy="19050"/>
          </a:xfrm>
          <a:prstGeom prst="roundRect">
            <a:avLst>
              <a:gd name="adj" fmla="val 1050207"/>
            </a:avLst>
          </a:prstGeom>
          <a:solidFill>
            <a:srgbClr val="018CE1"/>
          </a:solidFill>
          <a:ln/>
        </p:spPr>
      </p:sp>
      <p:sp>
        <p:nvSpPr>
          <p:cNvPr id="11" name="Shape 7"/>
          <p:cNvSpPr/>
          <p:nvPr/>
        </p:nvSpPr>
        <p:spPr>
          <a:xfrm>
            <a:off x="1772840" y="3009210"/>
            <a:ext cx="300038" cy="300038"/>
          </a:xfrm>
          <a:prstGeom prst="roundRect">
            <a:avLst>
              <a:gd name="adj" fmla="val 66680"/>
            </a:avLst>
          </a:prstGeom>
          <a:solidFill>
            <a:srgbClr val="F3F3FF"/>
          </a:solidFill>
          <a:ln w="22860">
            <a:solidFill>
              <a:srgbClr val="018CE1"/>
            </a:solidFill>
            <a:prstDash val="solid"/>
          </a:ln>
        </p:spPr>
      </p:sp>
      <p:pic>
        <p:nvPicPr>
          <p:cNvPr id="12" name="Image 2" descr="preencoded.png"/>
          <p:cNvPicPr>
            <a:picLocks noChangeAspect="1"/>
          </p:cNvPicPr>
          <p:nvPr/>
        </p:nvPicPr>
        <p:blipFill>
          <a:blip r:embed="rId4"/>
          <a:stretch>
            <a:fillRect/>
          </a:stretch>
        </p:blipFill>
        <p:spPr>
          <a:xfrm>
            <a:off x="1828725" y="3041580"/>
            <a:ext cx="188268" cy="235298"/>
          </a:xfrm>
          <a:prstGeom prst="rect">
            <a:avLst/>
          </a:prstGeom>
        </p:spPr>
      </p:pic>
      <p:sp>
        <p:nvSpPr>
          <p:cNvPr id="13" name="Text 8"/>
          <p:cNvSpPr/>
          <p:nvPr/>
        </p:nvSpPr>
        <p:spPr>
          <a:xfrm>
            <a:off x="2589758" y="2992541"/>
            <a:ext cx="1569095" cy="196156"/>
          </a:xfrm>
          <a:prstGeom prst="rect">
            <a:avLst/>
          </a:prstGeom>
          <a:noFill/>
          <a:ln/>
        </p:spPr>
        <p:txBody>
          <a:bodyPr wrap="none" lIns="0" tIns="0" rIns="0" bIns="0" rtlCol="0" anchor="t"/>
          <a:lstStyle/>
          <a:p>
            <a:pPr defTabSz="571500">
              <a:lnSpc>
                <a:spcPts val="1531"/>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Certificazioni</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14" name="Text 9"/>
          <p:cNvSpPr/>
          <p:nvPr/>
        </p:nvSpPr>
        <p:spPr>
          <a:xfrm>
            <a:off x="2589758" y="3268691"/>
            <a:ext cx="3964484" cy="213345"/>
          </a:xfrm>
          <a:prstGeom prst="rect">
            <a:avLst/>
          </a:prstGeom>
          <a:noFill/>
          <a:ln/>
        </p:spPr>
        <p:txBody>
          <a:bodyPr wrap="none" lIns="0" tIns="0" rIns="0" bIns="0" rtlCol="0" anchor="t"/>
          <a:lstStyle/>
          <a:p>
            <a:pPr defTabSz="571500">
              <a:lnSpc>
                <a:spcPts val="1656"/>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Requisiti di qualità e conformità obbligatori.</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15" name="Shape 10"/>
          <p:cNvSpPr/>
          <p:nvPr/>
        </p:nvSpPr>
        <p:spPr>
          <a:xfrm>
            <a:off x="2053828" y="4039249"/>
            <a:ext cx="400124" cy="19050"/>
          </a:xfrm>
          <a:prstGeom prst="roundRect">
            <a:avLst>
              <a:gd name="adj" fmla="val 1050207"/>
            </a:avLst>
          </a:prstGeom>
          <a:solidFill>
            <a:srgbClr val="DA33BF"/>
          </a:solidFill>
          <a:ln/>
        </p:spPr>
      </p:sp>
      <p:sp>
        <p:nvSpPr>
          <p:cNvPr id="16" name="Shape 11"/>
          <p:cNvSpPr/>
          <p:nvPr/>
        </p:nvSpPr>
        <p:spPr>
          <a:xfrm>
            <a:off x="1772840" y="3898755"/>
            <a:ext cx="300038" cy="300038"/>
          </a:xfrm>
          <a:prstGeom prst="roundRect">
            <a:avLst>
              <a:gd name="adj" fmla="val 66680"/>
            </a:avLst>
          </a:prstGeom>
          <a:solidFill>
            <a:srgbClr val="F3F3FF"/>
          </a:solidFill>
          <a:ln w="22860">
            <a:solidFill>
              <a:srgbClr val="DA33BF"/>
            </a:solidFill>
            <a:prstDash val="solid"/>
          </a:ln>
        </p:spPr>
      </p:sp>
      <p:pic>
        <p:nvPicPr>
          <p:cNvPr id="17" name="Image 3" descr="preencoded.png"/>
          <p:cNvPicPr>
            <a:picLocks noChangeAspect="1"/>
          </p:cNvPicPr>
          <p:nvPr/>
        </p:nvPicPr>
        <p:blipFill>
          <a:blip r:embed="rId5"/>
          <a:stretch>
            <a:fillRect/>
          </a:stretch>
        </p:blipFill>
        <p:spPr>
          <a:xfrm>
            <a:off x="1828725" y="3931125"/>
            <a:ext cx="188268" cy="235298"/>
          </a:xfrm>
          <a:prstGeom prst="rect">
            <a:avLst/>
          </a:prstGeom>
        </p:spPr>
      </p:pic>
      <p:sp>
        <p:nvSpPr>
          <p:cNvPr id="18" name="Text 12"/>
          <p:cNvSpPr/>
          <p:nvPr/>
        </p:nvSpPr>
        <p:spPr>
          <a:xfrm>
            <a:off x="2589758" y="3882087"/>
            <a:ext cx="1570732" cy="196156"/>
          </a:xfrm>
          <a:prstGeom prst="rect">
            <a:avLst/>
          </a:prstGeom>
          <a:noFill/>
          <a:ln/>
        </p:spPr>
        <p:txBody>
          <a:bodyPr wrap="none" lIns="0" tIns="0" rIns="0" bIns="0" rtlCol="0" anchor="t"/>
          <a:lstStyle/>
          <a:p>
            <a:pPr defTabSz="571500">
              <a:lnSpc>
                <a:spcPts val="1531"/>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Normative Ambientali</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19" name="Text 13"/>
          <p:cNvSpPr/>
          <p:nvPr/>
        </p:nvSpPr>
        <p:spPr>
          <a:xfrm>
            <a:off x="2589758" y="4158237"/>
            <a:ext cx="3964484" cy="213345"/>
          </a:xfrm>
          <a:prstGeom prst="rect">
            <a:avLst/>
          </a:prstGeom>
          <a:noFill/>
          <a:ln/>
        </p:spPr>
        <p:txBody>
          <a:bodyPr wrap="none" lIns="0" tIns="0" rIns="0" bIns="0" rtlCol="0" anchor="t"/>
          <a:lstStyle/>
          <a:p>
            <a:pPr defTabSz="571500">
              <a:lnSpc>
                <a:spcPts val="1656"/>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Standard sempre più rigidi e costosi da implementare.</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20" name="Shape 14"/>
          <p:cNvSpPr/>
          <p:nvPr/>
        </p:nvSpPr>
        <p:spPr>
          <a:xfrm>
            <a:off x="2053828" y="4928795"/>
            <a:ext cx="400124" cy="19050"/>
          </a:xfrm>
          <a:prstGeom prst="roundRect">
            <a:avLst>
              <a:gd name="adj" fmla="val 1050207"/>
            </a:avLst>
          </a:prstGeom>
          <a:solidFill>
            <a:srgbClr val="2D4DF2"/>
          </a:solidFill>
          <a:ln/>
        </p:spPr>
      </p:sp>
      <p:sp>
        <p:nvSpPr>
          <p:cNvPr id="21" name="Shape 15"/>
          <p:cNvSpPr/>
          <p:nvPr/>
        </p:nvSpPr>
        <p:spPr>
          <a:xfrm>
            <a:off x="1772840" y="4788301"/>
            <a:ext cx="300038" cy="300038"/>
          </a:xfrm>
          <a:prstGeom prst="roundRect">
            <a:avLst>
              <a:gd name="adj" fmla="val 66680"/>
            </a:avLst>
          </a:prstGeom>
          <a:solidFill>
            <a:srgbClr val="F3F3FF"/>
          </a:solidFill>
          <a:ln w="22860">
            <a:solidFill>
              <a:srgbClr val="2D4DF2"/>
            </a:solidFill>
            <a:prstDash val="solid"/>
          </a:ln>
        </p:spPr>
      </p:sp>
      <p:pic>
        <p:nvPicPr>
          <p:cNvPr id="22" name="Image 4" descr="preencoded.png"/>
          <p:cNvPicPr>
            <a:picLocks noChangeAspect="1"/>
          </p:cNvPicPr>
          <p:nvPr/>
        </p:nvPicPr>
        <p:blipFill>
          <a:blip r:embed="rId6"/>
          <a:stretch>
            <a:fillRect/>
          </a:stretch>
        </p:blipFill>
        <p:spPr>
          <a:xfrm>
            <a:off x="1828725" y="4820671"/>
            <a:ext cx="188268" cy="235298"/>
          </a:xfrm>
          <a:prstGeom prst="rect">
            <a:avLst/>
          </a:prstGeom>
        </p:spPr>
      </p:pic>
      <p:sp>
        <p:nvSpPr>
          <p:cNvPr id="23" name="Text 16"/>
          <p:cNvSpPr/>
          <p:nvPr/>
        </p:nvSpPr>
        <p:spPr>
          <a:xfrm>
            <a:off x="2589758" y="4771633"/>
            <a:ext cx="1797993" cy="196156"/>
          </a:xfrm>
          <a:prstGeom prst="rect">
            <a:avLst/>
          </a:prstGeom>
          <a:noFill/>
          <a:ln/>
        </p:spPr>
        <p:txBody>
          <a:bodyPr wrap="none" lIns="0" tIns="0" rIns="0" bIns="0" rtlCol="0" anchor="t"/>
          <a:lstStyle/>
          <a:p>
            <a:pPr defTabSz="571500">
              <a:lnSpc>
                <a:spcPts val="1531"/>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Tempistiche Burocratiche</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24" name="Text 17"/>
          <p:cNvSpPr/>
          <p:nvPr/>
        </p:nvSpPr>
        <p:spPr>
          <a:xfrm>
            <a:off x="2589758" y="5047783"/>
            <a:ext cx="3964484" cy="213345"/>
          </a:xfrm>
          <a:prstGeom prst="rect">
            <a:avLst/>
          </a:prstGeom>
          <a:noFill/>
          <a:ln/>
        </p:spPr>
        <p:txBody>
          <a:bodyPr wrap="none" lIns="0" tIns="0" rIns="0" bIns="0" rtlCol="0" anchor="t"/>
          <a:lstStyle/>
          <a:p>
            <a:pPr defTabSz="571500">
              <a:lnSpc>
                <a:spcPts val="1656"/>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Lunghe attese per ottenere autorizzazioni operative.</a:t>
            </a:r>
            <a:endParaRPr lang="en-US"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678744" y="543457"/>
            <a:ext cx="4178841" cy="440011"/>
          </a:xfrm>
          <a:prstGeom prst="rect">
            <a:avLst/>
          </a:prstGeom>
          <a:noFill/>
          <a:ln/>
        </p:spPr>
        <p:txBody>
          <a:bodyPr wrap="none" lIns="0" tIns="0" rIns="0" bIns="0" rtlCol="0" anchor="t"/>
          <a:lstStyle/>
          <a:p>
            <a:pPr defTabSz="571500">
              <a:lnSpc>
                <a:spcPts val="3438"/>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Barriere Strategiche</a:t>
            </a:r>
            <a:endParaRPr lang="en-US" sz="3600" b="1" kern="1200" dirty="0">
              <a:solidFill>
                <a:prstClr val="black"/>
              </a:solidFill>
              <a:latin typeface="Arial" panose="020B0604020202020204" pitchFamily="34" charset="0"/>
              <a:ea typeface="+mn-ea"/>
              <a:cs typeface="Arial" panose="020B0604020202020204" pitchFamily="34" charset="0"/>
            </a:endParaRPr>
          </a:p>
        </p:txBody>
      </p:sp>
      <p:pic>
        <p:nvPicPr>
          <p:cNvPr id="4" name="Image 1" descr="preencoded.png"/>
          <p:cNvPicPr>
            <a:picLocks noChangeAspect="1"/>
          </p:cNvPicPr>
          <p:nvPr/>
        </p:nvPicPr>
        <p:blipFill>
          <a:blip r:embed="rId3"/>
          <a:stretch>
            <a:fillRect/>
          </a:stretch>
        </p:blipFill>
        <p:spPr>
          <a:xfrm>
            <a:off x="635794" y="1876942"/>
            <a:ext cx="374005" cy="374005"/>
          </a:xfrm>
          <a:prstGeom prst="rect">
            <a:avLst/>
          </a:prstGeom>
        </p:spPr>
      </p:pic>
      <p:sp>
        <p:nvSpPr>
          <p:cNvPr id="5" name="Text 1"/>
          <p:cNvSpPr/>
          <p:nvPr/>
        </p:nvSpPr>
        <p:spPr>
          <a:xfrm>
            <a:off x="1159372" y="1850822"/>
            <a:ext cx="2334455" cy="718169"/>
          </a:xfrm>
          <a:prstGeom prst="rect">
            <a:avLst/>
          </a:prstGeom>
          <a:noFill/>
          <a:ln/>
        </p:spPr>
        <p:txBody>
          <a:bodyPr wrap="square" lIns="0" tIns="0" rIns="0" bIns="0" rtlCol="0" anchor="t"/>
          <a:lstStyle/>
          <a:p>
            <a:pPr defTabSz="571500">
              <a:lnSpc>
                <a:spcPts val="1719"/>
              </a:lnSpc>
              <a:buClrTx/>
            </a:pPr>
            <a:r>
              <a:rPr lang="en-US" sz="2000" b="1" kern="1200" dirty="0">
                <a:solidFill>
                  <a:srgbClr val="00002E"/>
                </a:solidFill>
                <a:latin typeface="Arial" panose="020B0604020202020204" pitchFamily="34" charset="0"/>
                <a:ea typeface="Nunito Semi Bold" pitchFamily="34" charset="-122"/>
                <a:cs typeface="Arial" panose="020B0604020202020204" pitchFamily="34" charset="0"/>
              </a:rPr>
              <a:t>Brand Recognition</a:t>
            </a:r>
            <a:endParaRPr lang="en-US" sz="2000" b="1" kern="1200" dirty="0">
              <a:solidFill>
                <a:prstClr val="black"/>
              </a:solidFill>
              <a:latin typeface="Arial" panose="020B0604020202020204" pitchFamily="34" charset="0"/>
              <a:ea typeface="+mn-ea"/>
              <a:cs typeface="Arial" panose="020B0604020202020204" pitchFamily="34" charset="0"/>
            </a:endParaRPr>
          </a:p>
        </p:txBody>
      </p:sp>
      <p:sp>
        <p:nvSpPr>
          <p:cNvPr id="6" name="Text 2"/>
          <p:cNvSpPr/>
          <p:nvPr/>
        </p:nvSpPr>
        <p:spPr>
          <a:xfrm>
            <a:off x="1159371" y="2103502"/>
            <a:ext cx="1332309" cy="163194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Forza del marchio acquisita nel tempo e difficile da eguagliare.</a:t>
            </a:r>
            <a:endParaRPr lang="en-US" sz="1800" kern="1200" dirty="0">
              <a:solidFill>
                <a:prstClr val="black"/>
              </a:solidFill>
              <a:latin typeface="Arial" panose="020B0604020202020204" pitchFamily="34" charset="0"/>
              <a:ea typeface="+mn-ea"/>
              <a:cs typeface="Arial" panose="020B0604020202020204" pitchFamily="34" charset="0"/>
            </a:endParaRPr>
          </a:p>
        </p:txBody>
      </p:sp>
      <p:pic>
        <p:nvPicPr>
          <p:cNvPr id="7" name="Image 2" descr="preencoded.png"/>
          <p:cNvPicPr>
            <a:picLocks noChangeAspect="1"/>
          </p:cNvPicPr>
          <p:nvPr/>
        </p:nvPicPr>
        <p:blipFill>
          <a:blip r:embed="rId4"/>
          <a:stretch>
            <a:fillRect/>
          </a:stretch>
        </p:blipFill>
        <p:spPr>
          <a:xfrm>
            <a:off x="4244588" y="1729497"/>
            <a:ext cx="374005" cy="374005"/>
          </a:xfrm>
          <a:prstGeom prst="rect">
            <a:avLst/>
          </a:prstGeom>
        </p:spPr>
      </p:pic>
      <p:sp>
        <p:nvSpPr>
          <p:cNvPr id="8" name="Text 3"/>
          <p:cNvSpPr/>
          <p:nvPr/>
        </p:nvSpPr>
        <p:spPr>
          <a:xfrm>
            <a:off x="4768165" y="1703378"/>
            <a:ext cx="1332384" cy="219968"/>
          </a:xfrm>
          <a:prstGeom prst="rect">
            <a:avLst/>
          </a:prstGeom>
          <a:noFill/>
          <a:ln/>
        </p:spPr>
        <p:txBody>
          <a:bodyPr wrap="none" lIns="0" tIns="0" rIns="0" bIns="0" rtlCol="0" anchor="t"/>
          <a:lstStyle/>
          <a:p>
            <a:pPr defTabSz="571500">
              <a:lnSpc>
                <a:spcPts val="1719"/>
              </a:lnSpc>
              <a:buClrTx/>
            </a:pPr>
            <a:r>
              <a:rPr lang="en-US" sz="2000" b="1" kern="1200" dirty="0">
                <a:solidFill>
                  <a:srgbClr val="00002E"/>
                </a:solidFill>
                <a:latin typeface="Arial" panose="020B0604020202020204" pitchFamily="34" charset="0"/>
                <a:ea typeface="Nunito Semi Bold" pitchFamily="34" charset="-122"/>
                <a:cs typeface="Arial" panose="020B0604020202020204" pitchFamily="34" charset="0"/>
              </a:rPr>
              <a:t>Reti Distributive</a:t>
            </a:r>
            <a:endParaRPr lang="en-US" sz="2000" b="1" kern="1200" dirty="0">
              <a:solidFill>
                <a:prstClr val="black"/>
              </a:solidFill>
              <a:latin typeface="Arial" panose="020B0604020202020204" pitchFamily="34" charset="0"/>
              <a:ea typeface="+mn-ea"/>
              <a:cs typeface="Arial" panose="020B0604020202020204" pitchFamily="34" charset="0"/>
            </a:endParaRPr>
          </a:p>
        </p:txBody>
      </p:sp>
      <p:sp>
        <p:nvSpPr>
          <p:cNvPr id="9" name="Text 4"/>
          <p:cNvSpPr/>
          <p:nvPr/>
        </p:nvSpPr>
        <p:spPr>
          <a:xfrm>
            <a:off x="4768165" y="2013089"/>
            <a:ext cx="1332384" cy="71817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Canali consolidati che escludono i nuovi entranti.</a:t>
            </a:r>
            <a:endParaRPr lang="en-US" sz="1800" kern="1200" dirty="0">
              <a:solidFill>
                <a:prstClr val="black"/>
              </a:solidFill>
              <a:latin typeface="Arial" panose="020B0604020202020204" pitchFamily="34" charset="0"/>
              <a:ea typeface="+mn-ea"/>
              <a:cs typeface="Arial" panose="020B0604020202020204" pitchFamily="34" charset="0"/>
            </a:endParaRPr>
          </a:p>
        </p:txBody>
      </p:sp>
      <p:pic>
        <p:nvPicPr>
          <p:cNvPr id="10" name="Image 3" descr="preencoded.png"/>
          <p:cNvPicPr>
            <a:picLocks noChangeAspect="1"/>
          </p:cNvPicPr>
          <p:nvPr/>
        </p:nvPicPr>
        <p:blipFill>
          <a:blip r:embed="rId5"/>
          <a:stretch>
            <a:fillRect/>
          </a:stretch>
        </p:blipFill>
        <p:spPr>
          <a:xfrm>
            <a:off x="2096514" y="4309769"/>
            <a:ext cx="374005" cy="374005"/>
          </a:xfrm>
          <a:prstGeom prst="rect">
            <a:avLst/>
          </a:prstGeom>
        </p:spPr>
      </p:pic>
      <p:sp>
        <p:nvSpPr>
          <p:cNvPr id="11" name="Text 5"/>
          <p:cNvSpPr/>
          <p:nvPr/>
        </p:nvSpPr>
        <p:spPr>
          <a:xfrm>
            <a:off x="2620090" y="4283650"/>
            <a:ext cx="1624497" cy="439936"/>
          </a:xfrm>
          <a:prstGeom prst="rect">
            <a:avLst/>
          </a:prstGeom>
          <a:noFill/>
          <a:ln/>
        </p:spPr>
        <p:txBody>
          <a:bodyPr wrap="square" lIns="0" tIns="0" rIns="0" bIns="0" rtlCol="0" anchor="t"/>
          <a:lstStyle/>
          <a:p>
            <a:pPr defTabSz="571500">
              <a:lnSpc>
                <a:spcPts val="1719"/>
              </a:lnSpc>
              <a:buClrTx/>
            </a:pPr>
            <a:r>
              <a:rPr lang="en-US" sz="2000" b="1" kern="1200" dirty="0">
                <a:solidFill>
                  <a:srgbClr val="00002E"/>
                </a:solidFill>
                <a:latin typeface="Arial" panose="020B0604020202020204" pitchFamily="34" charset="0"/>
                <a:ea typeface="Nunito Semi Bold" pitchFamily="34" charset="-122"/>
                <a:cs typeface="Arial" panose="020B0604020202020204" pitchFamily="34" charset="0"/>
              </a:rPr>
              <a:t>Proprietà Intellettuale</a:t>
            </a:r>
            <a:endParaRPr lang="en-US" sz="2000" b="1" kern="1200" dirty="0">
              <a:solidFill>
                <a:prstClr val="black"/>
              </a:solidFill>
              <a:latin typeface="Arial" panose="020B0604020202020204" pitchFamily="34" charset="0"/>
              <a:ea typeface="+mn-ea"/>
              <a:cs typeface="Arial" panose="020B0604020202020204" pitchFamily="34" charset="0"/>
            </a:endParaRPr>
          </a:p>
        </p:txBody>
      </p:sp>
      <p:sp>
        <p:nvSpPr>
          <p:cNvPr id="12" name="Text 6"/>
          <p:cNvSpPr/>
          <p:nvPr/>
        </p:nvSpPr>
        <p:spPr>
          <a:xfrm>
            <a:off x="2620091" y="4813329"/>
            <a:ext cx="1332384" cy="47878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Brevetti e tecnologie protette legalmente.</a:t>
            </a:r>
            <a:endParaRPr lang="en-US" sz="1800" kern="1200" dirty="0">
              <a:solidFill>
                <a:prstClr val="black"/>
              </a:solidFill>
              <a:latin typeface="Arial" panose="020B0604020202020204" pitchFamily="34" charset="0"/>
              <a:ea typeface="+mn-ea"/>
              <a:cs typeface="Arial" panose="020B0604020202020204" pitchFamily="34" charset="0"/>
            </a:endParaRPr>
          </a:p>
        </p:txBody>
      </p:sp>
      <p:pic>
        <p:nvPicPr>
          <p:cNvPr id="13" name="Image 4" descr="preencoded.png"/>
          <p:cNvPicPr>
            <a:picLocks noChangeAspect="1"/>
          </p:cNvPicPr>
          <p:nvPr/>
        </p:nvPicPr>
        <p:blipFill>
          <a:blip r:embed="rId6"/>
          <a:stretch>
            <a:fillRect/>
          </a:stretch>
        </p:blipFill>
        <p:spPr>
          <a:xfrm>
            <a:off x="6100549" y="4152861"/>
            <a:ext cx="374005" cy="374005"/>
          </a:xfrm>
          <a:prstGeom prst="rect">
            <a:avLst/>
          </a:prstGeom>
        </p:spPr>
      </p:pic>
      <p:sp>
        <p:nvSpPr>
          <p:cNvPr id="14" name="Text 7"/>
          <p:cNvSpPr/>
          <p:nvPr/>
        </p:nvSpPr>
        <p:spPr>
          <a:xfrm>
            <a:off x="6624127" y="4126742"/>
            <a:ext cx="1332384" cy="439936"/>
          </a:xfrm>
          <a:prstGeom prst="rect">
            <a:avLst/>
          </a:prstGeom>
          <a:noFill/>
          <a:ln/>
        </p:spPr>
        <p:txBody>
          <a:bodyPr wrap="square" lIns="0" tIns="0" rIns="0" bIns="0" rtlCol="0" anchor="t"/>
          <a:lstStyle/>
          <a:p>
            <a:pPr defTabSz="571500">
              <a:lnSpc>
                <a:spcPts val="1719"/>
              </a:lnSpc>
              <a:buClrTx/>
            </a:pPr>
            <a:r>
              <a:rPr lang="en-US" sz="2000" b="1" kern="1200" dirty="0">
                <a:solidFill>
                  <a:srgbClr val="00002E"/>
                </a:solidFill>
                <a:latin typeface="Arial" panose="020B0604020202020204" pitchFamily="34" charset="0"/>
                <a:ea typeface="Nunito Semi Bold" pitchFamily="34" charset="-122"/>
                <a:cs typeface="Arial" panose="020B0604020202020204" pitchFamily="34" charset="0"/>
              </a:rPr>
              <a:t>Contratti Esclusivi</a:t>
            </a:r>
            <a:endParaRPr lang="en-US" sz="2000" b="1" kern="1200" dirty="0">
              <a:solidFill>
                <a:prstClr val="black"/>
              </a:solidFill>
              <a:latin typeface="Arial" panose="020B0604020202020204" pitchFamily="34" charset="0"/>
              <a:ea typeface="+mn-ea"/>
              <a:cs typeface="Arial" panose="020B0604020202020204" pitchFamily="34" charset="0"/>
            </a:endParaRPr>
          </a:p>
        </p:txBody>
      </p:sp>
      <p:sp>
        <p:nvSpPr>
          <p:cNvPr id="15" name="Text 8"/>
          <p:cNvSpPr/>
          <p:nvPr/>
        </p:nvSpPr>
        <p:spPr>
          <a:xfrm>
            <a:off x="6624127" y="4656421"/>
            <a:ext cx="1332384" cy="71817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Accordi che bloccano l'accesso a risorse chiave.</a:t>
            </a:r>
            <a:endParaRPr lang="en-US" sz="1800"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838639" y="614038"/>
            <a:ext cx="7466721" cy="383977"/>
          </a:xfrm>
          <a:prstGeom prst="rect">
            <a:avLst/>
          </a:prstGeom>
          <a:noFill/>
          <a:ln/>
        </p:spPr>
        <p:txBody>
          <a:bodyPr wrap="none" lIns="0" tIns="0" rIns="0" bIns="0" rtlCol="0" anchor="t"/>
          <a:lstStyle/>
          <a:p>
            <a:pPr defTabSz="571500">
              <a:lnSpc>
                <a:spcPts val="3000"/>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Barriere all'Uscita: Caratteristiche</a:t>
            </a:r>
            <a:endParaRPr lang="en-US" sz="3600" b="1" kern="1200" dirty="0">
              <a:solidFill>
                <a:prstClr val="black"/>
              </a:solidFill>
              <a:latin typeface="Arial" panose="020B0604020202020204" pitchFamily="34" charset="0"/>
              <a:ea typeface="+mn-ea"/>
              <a:cs typeface="Arial" panose="020B0604020202020204" pitchFamily="34" charset="0"/>
            </a:endParaRPr>
          </a:p>
        </p:txBody>
      </p:sp>
      <p:sp>
        <p:nvSpPr>
          <p:cNvPr id="4" name="Shape 1"/>
          <p:cNvSpPr/>
          <p:nvPr/>
        </p:nvSpPr>
        <p:spPr>
          <a:xfrm>
            <a:off x="2171476" y="1848890"/>
            <a:ext cx="4801046" cy="768846"/>
          </a:xfrm>
          <a:prstGeom prst="roundRect">
            <a:avLst>
              <a:gd name="adj" fmla="val 25473"/>
            </a:avLst>
          </a:prstGeom>
          <a:solidFill>
            <a:srgbClr val="F3F3FF"/>
          </a:solidFill>
          <a:ln w="22860">
            <a:solidFill>
              <a:srgbClr val="2D4DF2"/>
            </a:solidFill>
            <a:prstDash val="solid"/>
          </a:ln>
        </p:spPr>
      </p:sp>
      <p:sp>
        <p:nvSpPr>
          <p:cNvPr id="5" name="Text 2"/>
          <p:cNvSpPr/>
          <p:nvPr/>
        </p:nvSpPr>
        <p:spPr>
          <a:xfrm>
            <a:off x="2316285" y="1993699"/>
            <a:ext cx="1536055" cy="191988"/>
          </a:xfrm>
          <a:prstGeom prst="rect">
            <a:avLst/>
          </a:prstGeom>
          <a:noFill/>
          <a:ln/>
        </p:spPr>
        <p:txBody>
          <a:bodyPr wrap="none" lIns="0" tIns="0" rIns="0" bIns="0" rtlCol="0" anchor="t"/>
          <a:lstStyle/>
          <a:p>
            <a:pPr defTabSz="571500">
              <a:lnSpc>
                <a:spcPts val="1500"/>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Costi Sommersi</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6" name="Text 3"/>
          <p:cNvSpPr/>
          <p:nvPr/>
        </p:nvSpPr>
        <p:spPr>
          <a:xfrm>
            <a:off x="2316286" y="2263971"/>
            <a:ext cx="4511427" cy="208955"/>
          </a:xfrm>
          <a:prstGeom prst="rect">
            <a:avLst/>
          </a:prstGeom>
          <a:noFill/>
          <a:ln/>
        </p:spPr>
        <p:txBody>
          <a:bodyPr wrap="none" lIns="0" tIns="0" rIns="0" bIns="0" rtlCol="0" anchor="t"/>
          <a:lstStyle/>
          <a:p>
            <a:pPr defTabSz="571500">
              <a:lnSpc>
                <a:spcPts val="1625"/>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Investimenti non recuperabili in caso di uscita dal mercato.</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7" name="Shape 4"/>
          <p:cNvSpPr/>
          <p:nvPr/>
        </p:nvSpPr>
        <p:spPr>
          <a:xfrm>
            <a:off x="2171476" y="2748258"/>
            <a:ext cx="4801046" cy="768846"/>
          </a:xfrm>
          <a:prstGeom prst="roundRect">
            <a:avLst>
              <a:gd name="adj" fmla="val 25473"/>
            </a:avLst>
          </a:prstGeom>
          <a:solidFill>
            <a:srgbClr val="F3F3FF"/>
          </a:solidFill>
          <a:ln w="22860">
            <a:solidFill>
              <a:srgbClr val="018CE1"/>
            </a:solidFill>
            <a:prstDash val="solid"/>
          </a:ln>
        </p:spPr>
      </p:sp>
      <p:sp>
        <p:nvSpPr>
          <p:cNvPr id="8" name="Text 5"/>
          <p:cNvSpPr/>
          <p:nvPr/>
        </p:nvSpPr>
        <p:spPr>
          <a:xfrm>
            <a:off x="2316285" y="2893068"/>
            <a:ext cx="1536055" cy="191988"/>
          </a:xfrm>
          <a:prstGeom prst="rect">
            <a:avLst/>
          </a:prstGeom>
          <a:noFill/>
          <a:ln/>
        </p:spPr>
        <p:txBody>
          <a:bodyPr wrap="none" lIns="0" tIns="0" rIns="0" bIns="0" rtlCol="0" anchor="t"/>
          <a:lstStyle/>
          <a:p>
            <a:pPr defTabSz="571500">
              <a:lnSpc>
                <a:spcPts val="1500"/>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Vincoli Contrattuali</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9" name="Text 6"/>
          <p:cNvSpPr/>
          <p:nvPr/>
        </p:nvSpPr>
        <p:spPr>
          <a:xfrm>
            <a:off x="2316286" y="3163340"/>
            <a:ext cx="4511427" cy="208955"/>
          </a:xfrm>
          <a:prstGeom prst="rect">
            <a:avLst/>
          </a:prstGeom>
          <a:noFill/>
          <a:ln/>
        </p:spPr>
        <p:txBody>
          <a:bodyPr wrap="none" lIns="0" tIns="0" rIns="0" bIns="0" rtlCol="0" anchor="t"/>
          <a:lstStyle/>
          <a:p>
            <a:pPr defTabSz="571500">
              <a:lnSpc>
                <a:spcPts val="1625"/>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Obblighi a lungo termine con clienti, fornitori e dipendenti.</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10" name="Shape 7"/>
          <p:cNvSpPr/>
          <p:nvPr/>
        </p:nvSpPr>
        <p:spPr>
          <a:xfrm>
            <a:off x="2171476" y="3647626"/>
            <a:ext cx="4801046" cy="768846"/>
          </a:xfrm>
          <a:prstGeom prst="roundRect">
            <a:avLst>
              <a:gd name="adj" fmla="val 25473"/>
            </a:avLst>
          </a:prstGeom>
          <a:solidFill>
            <a:srgbClr val="F3F3FF"/>
          </a:solidFill>
          <a:ln w="22860">
            <a:solidFill>
              <a:srgbClr val="DA33BF"/>
            </a:solidFill>
            <a:prstDash val="solid"/>
          </a:ln>
        </p:spPr>
      </p:sp>
      <p:sp>
        <p:nvSpPr>
          <p:cNvPr id="11" name="Text 8"/>
          <p:cNvSpPr/>
          <p:nvPr/>
        </p:nvSpPr>
        <p:spPr>
          <a:xfrm>
            <a:off x="2316285" y="3792436"/>
            <a:ext cx="1536055" cy="191988"/>
          </a:xfrm>
          <a:prstGeom prst="rect">
            <a:avLst/>
          </a:prstGeom>
          <a:noFill/>
          <a:ln/>
        </p:spPr>
        <p:txBody>
          <a:bodyPr wrap="none" lIns="0" tIns="0" rIns="0" bIns="0" rtlCol="0" anchor="t"/>
          <a:lstStyle/>
          <a:p>
            <a:pPr defTabSz="571500">
              <a:lnSpc>
                <a:spcPts val="1500"/>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Impatti Occupazionali</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12" name="Text 9"/>
          <p:cNvSpPr/>
          <p:nvPr/>
        </p:nvSpPr>
        <p:spPr>
          <a:xfrm>
            <a:off x="2316286" y="4062708"/>
            <a:ext cx="4511427" cy="208955"/>
          </a:xfrm>
          <a:prstGeom prst="rect">
            <a:avLst/>
          </a:prstGeom>
          <a:noFill/>
          <a:ln/>
        </p:spPr>
        <p:txBody>
          <a:bodyPr wrap="none" lIns="0" tIns="0" rIns="0" bIns="0" rtlCol="0" anchor="t"/>
          <a:lstStyle/>
          <a:p>
            <a:pPr defTabSz="571500">
              <a:lnSpc>
                <a:spcPts val="1625"/>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Conseguenze sociali del licenziamento della forza lavoro.</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13" name="Shape 10"/>
          <p:cNvSpPr/>
          <p:nvPr/>
        </p:nvSpPr>
        <p:spPr>
          <a:xfrm>
            <a:off x="2171476" y="4546995"/>
            <a:ext cx="4801046" cy="768846"/>
          </a:xfrm>
          <a:prstGeom prst="roundRect">
            <a:avLst>
              <a:gd name="adj" fmla="val 25473"/>
            </a:avLst>
          </a:prstGeom>
          <a:solidFill>
            <a:srgbClr val="F3F3FF"/>
          </a:solidFill>
          <a:ln w="22860">
            <a:solidFill>
              <a:srgbClr val="2D4DF2"/>
            </a:solidFill>
            <a:prstDash val="solid"/>
          </a:ln>
        </p:spPr>
      </p:sp>
      <p:sp>
        <p:nvSpPr>
          <p:cNvPr id="14" name="Text 11"/>
          <p:cNvSpPr/>
          <p:nvPr/>
        </p:nvSpPr>
        <p:spPr>
          <a:xfrm>
            <a:off x="2316285" y="4691804"/>
            <a:ext cx="1772618" cy="191988"/>
          </a:xfrm>
          <a:prstGeom prst="rect">
            <a:avLst/>
          </a:prstGeom>
          <a:noFill/>
          <a:ln/>
        </p:spPr>
        <p:txBody>
          <a:bodyPr wrap="none" lIns="0" tIns="0" rIns="0" bIns="0" rtlCol="0" anchor="t"/>
          <a:lstStyle/>
          <a:p>
            <a:pPr defTabSz="571500">
              <a:lnSpc>
                <a:spcPts val="1500"/>
              </a:lnSpc>
              <a:buClrTx/>
            </a:pPr>
            <a:r>
              <a:rPr lang="en-US" sz="1800" kern="1200" dirty="0">
                <a:solidFill>
                  <a:srgbClr val="00002E"/>
                </a:solidFill>
                <a:latin typeface="Arial" panose="020B0604020202020204" pitchFamily="34" charset="0"/>
                <a:ea typeface="Nunito Semi Bold" pitchFamily="34" charset="-122"/>
                <a:cs typeface="Arial" panose="020B0604020202020204" pitchFamily="34" charset="0"/>
              </a:rPr>
              <a:t>Conseguenze Strategiche</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15" name="Text 12"/>
          <p:cNvSpPr/>
          <p:nvPr/>
        </p:nvSpPr>
        <p:spPr>
          <a:xfrm>
            <a:off x="2316286" y="4962076"/>
            <a:ext cx="4511427" cy="208955"/>
          </a:xfrm>
          <a:prstGeom prst="rect">
            <a:avLst/>
          </a:prstGeom>
          <a:noFill/>
          <a:ln/>
        </p:spPr>
        <p:txBody>
          <a:bodyPr wrap="none" lIns="0" tIns="0" rIns="0" bIns="0" rtlCol="0" anchor="t"/>
          <a:lstStyle/>
          <a:p>
            <a:pPr defTabSz="571500">
              <a:lnSpc>
                <a:spcPts val="1625"/>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Perdita di posizionamento e sinergie con altri business.</a:t>
            </a:r>
            <a:endParaRPr lang="en-US"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14064" y="556649"/>
            <a:ext cx="6915871" cy="519188"/>
          </a:xfrm>
          <a:prstGeom prst="rect">
            <a:avLst/>
          </a:prstGeom>
          <a:noFill/>
          <a:ln/>
        </p:spPr>
        <p:txBody>
          <a:bodyPr wrap="square" lIns="0" tIns="0" rIns="0" bIns="0" rtlCol="0" anchor="t"/>
          <a:lstStyle/>
          <a:p>
            <a:pPr defTabSz="571500">
              <a:lnSpc>
                <a:spcPts val="3250"/>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Analisi Strategica delle Barriere</a:t>
            </a:r>
            <a:endParaRPr lang="en-US" sz="3600" b="1" kern="1200" dirty="0">
              <a:solidFill>
                <a:prstClr val="black"/>
              </a:solidFill>
              <a:latin typeface="Arial" panose="020B0604020202020204" pitchFamily="34" charset="0"/>
              <a:ea typeface="+mn-ea"/>
              <a:cs typeface="Arial" panose="020B0604020202020204" pitchFamily="34" charset="0"/>
            </a:endParaRPr>
          </a:p>
        </p:txBody>
      </p:sp>
      <p:sp>
        <p:nvSpPr>
          <p:cNvPr id="4" name="Shape 1"/>
          <p:cNvSpPr/>
          <p:nvPr/>
        </p:nvSpPr>
        <p:spPr>
          <a:xfrm>
            <a:off x="1303782" y="1724653"/>
            <a:ext cx="106114" cy="519187"/>
          </a:xfrm>
          <a:prstGeom prst="roundRect">
            <a:avLst>
              <a:gd name="adj" fmla="val 200007"/>
            </a:avLst>
          </a:prstGeom>
          <a:solidFill>
            <a:srgbClr val="F3F3FF"/>
          </a:solidFill>
          <a:ln w="22860">
            <a:solidFill>
              <a:srgbClr val="2D4DF2"/>
            </a:solidFill>
            <a:prstDash val="solid"/>
          </a:ln>
        </p:spPr>
      </p:sp>
      <p:sp>
        <p:nvSpPr>
          <p:cNvPr id="5" name="Text 2"/>
          <p:cNvSpPr/>
          <p:nvPr/>
        </p:nvSpPr>
        <p:spPr>
          <a:xfrm>
            <a:off x="1622125" y="1724653"/>
            <a:ext cx="2003822" cy="208062"/>
          </a:xfrm>
          <a:prstGeom prst="rect">
            <a:avLst/>
          </a:prstGeom>
          <a:noFill/>
          <a:ln/>
        </p:spPr>
        <p:txBody>
          <a:bodyPr wrap="none" lIns="0" tIns="0" rIns="0" bIns="0" rtlCol="0" anchor="t"/>
          <a:lstStyle/>
          <a:p>
            <a:pPr defTabSz="571500">
              <a:lnSpc>
                <a:spcPts val="1625"/>
              </a:lnSpc>
              <a:buClrTx/>
            </a:pPr>
            <a:r>
              <a:rPr lang="en-US" sz="2400" kern="1200" dirty="0">
                <a:solidFill>
                  <a:srgbClr val="00002E"/>
                </a:solidFill>
                <a:latin typeface="Arial" panose="020B0604020202020204" pitchFamily="34" charset="0"/>
                <a:ea typeface="Nunito Semi Bold" pitchFamily="34" charset="-122"/>
                <a:cs typeface="Arial" panose="020B0604020202020204" pitchFamily="34" charset="0"/>
              </a:rPr>
              <a:t>Valutazione del Potenziale</a:t>
            </a:r>
            <a:endParaRPr lang="en-US" sz="2400" kern="1200" dirty="0">
              <a:solidFill>
                <a:prstClr val="black"/>
              </a:solidFill>
              <a:latin typeface="Arial" panose="020B0604020202020204" pitchFamily="34" charset="0"/>
              <a:ea typeface="+mn-ea"/>
              <a:cs typeface="Arial" panose="020B0604020202020204" pitchFamily="34" charset="0"/>
            </a:endParaRPr>
          </a:p>
        </p:txBody>
      </p:sp>
      <p:sp>
        <p:nvSpPr>
          <p:cNvPr id="6" name="Text 3"/>
          <p:cNvSpPr/>
          <p:nvPr/>
        </p:nvSpPr>
        <p:spPr>
          <a:xfrm>
            <a:off x="1622125" y="2017547"/>
            <a:ext cx="4406354" cy="226293"/>
          </a:xfrm>
          <a:prstGeom prst="rect">
            <a:avLst/>
          </a:prstGeom>
          <a:noFill/>
          <a:ln/>
        </p:spPr>
        <p:txBody>
          <a:bodyPr wrap="none" lIns="0" tIns="0" rIns="0" bIns="0" rtlCol="0" anchor="t"/>
          <a:lstStyle/>
          <a:p>
            <a:pPr defTabSz="571500">
              <a:lnSpc>
                <a:spcPts val="1781"/>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Analisi della permeabilità del mercato target e delle difese esistenti.</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7" name="Shape 4"/>
          <p:cNvSpPr/>
          <p:nvPr/>
        </p:nvSpPr>
        <p:spPr>
          <a:xfrm>
            <a:off x="1622125" y="2698133"/>
            <a:ext cx="106114" cy="519187"/>
          </a:xfrm>
          <a:prstGeom prst="roundRect">
            <a:avLst>
              <a:gd name="adj" fmla="val 200007"/>
            </a:avLst>
          </a:prstGeom>
          <a:solidFill>
            <a:srgbClr val="F3F3FF"/>
          </a:solidFill>
          <a:ln w="22860">
            <a:solidFill>
              <a:srgbClr val="018CE1"/>
            </a:solidFill>
            <a:prstDash val="solid"/>
          </a:ln>
        </p:spPr>
      </p:sp>
      <p:sp>
        <p:nvSpPr>
          <p:cNvPr id="8" name="Text 5"/>
          <p:cNvSpPr/>
          <p:nvPr/>
        </p:nvSpPr>
        <p:spPr>
          <a:xfrm>
            <a:off x="1940467" y="2698133"/>
            <a:ext cx="1862956" cy="208062"/>
          </a:xfrm>
          <a:prstGeom prst="rect">
            <a:avLst/>
          </a:prstGeom>
          <a:noFill/>
          <a:ln/>
        </p:spPr>
        <p:txBody>
          <a:bodyPr wrap="none" lIns="0" tIns="0" rIns="0" bIns="0" rtlCol="0" anchor="t"/>
          <a:lstStyle/>
          <a:p>
            <a:pPr defTabSz="571500">
              <a:lnSpc>
                <a:spcPts val="1625"/>
              </a:lnSpc>
              <a:buClrTx/>
            </a:pPr>
            <a:r>
              <a:rPr lang="en-US" sz="2400" kern="1200" dirty="0">
                <a:solidFill>
                  <a:srgbClr val="00002E"/>
                </a:solidFill>
                <a:latin typeface="Arial" panose="020B0604020202020204" pitchFamily="34" charset="0"/>
                <a:ea typeface="Nunito Semi Bold" pitchFamily="34" charset="-122"/>
                <a:cs typeface="Arial" panose="020B0604020202020204" pitchFamily="34" charset="0"/>
              </a:rPr>
              <a:t>Identificazione di Nicchie</a:t>
            </a:r>
            <a:endParaRPr lang="en-US" sz="2400" kern="1200" dirty="0">
              <a:solidFill>
                <a:prstClr val="black"/>
              </a:solidFill>
              <a:latin typeface="Arial" panose="020B0604020202020204" pitchFamily="34" charset="0"/>
              <a:ea typeface="+mn-ea"/>
              <a:cs typeface="Arial" panose="020B0604020202020204" pitchFamily="34" charset="0"/>
            </a:endParaRPr>
          </a:p>
        </p:txBody>
      </p:sp>
      <p:sp>
        <p:nvSpPr>
          <p:cNvPr id="9" name="Text 6"/>
          <p:cNvSpPr/>
          <p:nvPr/>
        </p:nvSpPr>
        <p:spPr>
          <a:xfrm>
            <a:off x="1940467" y="2991027"/>
            <a:ext cx="4194126" cy="226293"/>
          </a:xfrm>
          <a:prstGeom prst="rect">
            <a:avLst/>
          </a:prstGeom>
          <a:noFill/>
          <a:ln/>
        </p:spPr>
        <p:txBody>
          <a:bodyPr wrap="none" lIns="0" tIns="0" rIns="0" bIns="0" rtlCol="0" anchor="t"/>
          <a:lstStyle/>
          <a:p>
            <a:pPr defTabSz="571500">
              <a:lnSpc>
                <a:spcPts val="1781"/>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Ricerca di segmenti meno protetti da barriere significative.</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10" name="Shape 7"/>
          <p:cNvSpPr/>
          <p:nvPr/>
        </p:nvSpPr>
        <p:spPr>
          <a:xfrm>
            <a:off x="1940467" y="3687841"/>
            <a:ext cx="106114" cy="745480"/>
          </a:xfrm>
          <a:prstGeom prst="roundRect">
            <a:avLst>
              <a:gd name="adj" fmla="val 200007"/>
            </a:avLst>
          </a:prstGeom>
          <a:solidFill>
            <a:srgbClr val="F3F3FF"/>
          </a:solidFill>
          <a:ln w="22860">
            <a:solidFill>
              <a:srgbClr val="DA33BF"/>
            </a:solidFill>
            <a:prstDash val="solid"/>
          </a:ln>
        </p:spPr>
      </p:sp>
      <p:sp>
        <p:nvSpPr>
          <p:cNvPr id="11" name="Text 8"/>
          <p:cNvSpPr/>
          <p:nvPr/>
        </p:nvSpPr>
        <p:spPr>
          <a:xfrm>
            <a:off x="2258811" y="3687841"/>
            <a:ext cx="1938486" cy="208062"/>
          </a:xfrm>
          <a:prstGeom prst="rect">
            <a:avLst/>
          </a:prstGeom>
          <a:noFill/>
          <a:ln/>
        </p:spPr>
        <p:txBody>
          <a:bodyPr wrap="none" lIns="0" tIns="0" rIns="0" bIns="0" rtlCol="0" anchor="t"/>
          <a:lstStyle/>
          <a:p>
            <a:pPr defTabSz="571500">
              <a:lnSpc>
                <a:spcPts val="1625"/>
              </a:lnSpc>
              <a:buClrTx/>
            </a:pPr>
            <a:r>
              <a:rPr lang="en-US" sz="2400" kern="1200" dirty="0">
                <a:solidFill>
                  <a:srgbClr val="00002E"/>
                </a:solidFill>
                <a:latin typeface="Arial" panose="020B0604020202020204" pitchFamily="34" charset="0"/>
                <a:ea typeface="Nunito Semi Bold" pitchFamily="34" charset="-122"/>
                <a:cs typeface="Arial" panose="020B0604020202020204" pitchFamily="34" charset="0"/>
              </a:rPr>
              <a:t>Strategie di Superamento</a:t>
            </a:r>
            <a:endParaRPr lang="en-US" sz="2400" kern="1200" dirty="0">
              <a:solidFill>
                <a:prstClr val="black"/>
              </a:solidFill>
              <a:latin typeface="Arial" panose="020B0604020202020204" pitchFamily="34" charset="0"/>
              <a:ea typeface="+mn-ea"/>
              <a:cs typeface="Arial" panose="020B0604020202020204" pitchFamily="34" charset="0"/>
            </a:endParaRPr>
          </a:p>
        </p:txBody>
      </p:sp>
      <p:sp>
        <p:nvSpPr>
          <p:cNvPr id="12" name="Text 9"/>
          <p:cNvSpPr/>
          <p:nvPr/>
        </p:nvSpPr>
        <p:spPr>
          <a:xfrm>
            <a:off x="2258811" y="3980735"/>
            <a:ext cx="3981896" cy="452586"/>
          </a:xfrm>
          <a:prstGeom prst="rect">
            <a:avLst/>
          </a:prstGeom>
          <a:noFill/>
          <a:ln/>
        </p:spPr>
        <p:txBody>
          <a:bodyPr wrap="square" lIns="0" tIns="0" rIns="0" bIns="0" rtlCol="0" anchor="t"/>
          <a:lstStyle/>
          <a:p>
            <a:pPr defTabSz="571500">
              <a:lnSpc>
                <a:spcPts val="1781"/>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Sviluppo di approcci innovativi per aggirare gli ostacoli identificati.</a:t>
            </a:r>
            <a:endParaRPr lang="en-US" sz="1800" kern="1200" dirty="0">
              <a:solidFill>
                <a:prstClr val="black"/>
              </a:solidFill>
              <a:latin typeface="Arial" panose="020B0604020202020204" pitchFamily="34" charset="0"/>
              <a:ea typeface="+mn-ea"/>
              <a:cs typeface="Arial" panose="020B0604020202020204" pitchFamily="34" charset="0"/>
            </a:endParaRPr>
          </a:p>
        </p:txBody>
      </p:sp>
      <p:sp>
        <p:nvSpPr>
          <p:cNvPr id="13" name="Shape 10"/>
          <p:cNvSpPr/>
          <p:nvPr/>
        </p:nvSpPr>
        <p:spPr>
          <a:xfrm>
            <a:off x="2258811" y="4903842"/>
            <a:ext cx="106114" cy="745480"/>
          </a:xfrm>
          <a:prstGeom prst="roundRect">
            <a:avLst>
              <a:gd name="adj" fmla="val 200007"/>
            </a:avLst>
          </a:prstGeom>
          <a:solidFill>
            <a:srgbClr val="F3F3FF"/>
          </a:solidFill>
          <a:ln w="22860">
            <a:solidFill>
              <a:srgbClr val="2D4DF2"/>
            </a:solidFill>
            <a:prstDash val="solid"/>
          </a:ln>
        </p:spPr>
      </p:sp>
      <p:sp>
        <p:nvSpPr>
          <p:cNvPr id="14" name="Text 11"/>
          <p:cNvSpPr/>
          <p:nvPr/>
        </p:nvSpPr>
        <p:spPr>
          <a:xfrm>
            <a:off x="2577154" y="4903843"/>
            <a:ext cx="1841599" cy="208062"/>
          </a:xfrm>
          <a:prstGeom prst="rect">
            <a:avLst/>
          </a:prstGeom>
          <a:noFill/>
          <a:ln/>
        </p:spPr>
        <p:txBody>
          <a:bodyPr wrap="none" lIns="0" tIns="0" rIns="0" bIns="0" rtlCol="0" anchor="t"/>
          <a:lstStyle/>
          <a:p>
            <a:pPr defTabSz="571500">
              <a:lnSpc>
                <a:spcPts val="1625"/>
              </a:lnSpc>
              <a:buClrTx/>
            </a:pPr>
            <a:r>
              <a:rPr lang="en-US" sz="2400" kern="1200" dirty="0">
                <a:solidFill>
                  <a:srgbClr val="00002E"/>
                </a:solidFill>
                <a:latin typeface="Arial" panose="020B0604020202020204" pitchFamily="34" charset="0"/>
                <a:ea typeface="Nunito Semi Bold" pitchFamily="34" charset="-122"/>
                <a:cs typeface="Arial" panose="020B0604020202020204" pitchFamily="34" charset="0"/>
              </a:rPr>
              <a:t>Innovazione Dirompente</a:t>
            </a:r>
            <a:endParaRPr lang="en-US" sz="2400" kern="1200" dirty="0">
              <a:solidFill>
                <a:prstClr val="black"/>
              </a:solidFill>
              <a:latin typeface="Arial" panose="020B0604020202020204" pitchFamily="34" charset="0"/>
              <a:ea typeface="+mn-ea"/>
              <a:cs typeface="Arial" panose="020B0604020202020204" pitchFamily="34" charset="0"/>
            </a:endParaRPr>
          </a:p>
        </p:txBody>
      </p:sp>
      <p:sp>
        <p:nvSpPr>
          <p:cNvPr id="15" name="Text 12"/>
          <p:cNvSpPr/>
          <p:nvPr/>
        </p:nvSpPr>
        <p:spPr>
          <a:xfrm>
            <a:off x="2577153" y="5196736"/>
            <a:ext cx="3769668" cy="452586"/>
          </a:xfrm>
          <a:prstGeom prst="rect">
            <a:avLst/>
          </a:prstGeom>
          <a:noFill/>
          <a:ln/>
        </p:spPr>
        <p:txBody>
          <a:bodyPr wrap="square" lIns="0" tIns="0" rIns="0" bIns="0" rtlCol="0" anchor="t"/>
          <a:lstStyle/>
          <a:p>
            <a:pPr defTabSz="571500">
              <a:lnSpc>
                <a:spcPts val="1781"/>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Creazione di nuovi modelli di business che rendano obsolete le barriere.</a:t>
            </a:r>
            <a:endParaRPr lang="en-US" sz="1800"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3578" y="504062"/>
            <a:ext cx="3520306" cy="440011"/>
          </a:xfrm>
          <a:prstGeom prst="rect">
            <a:avLst/>
          </a:prstGeom>
          <a:noFill/>
          <a:ln/>
        </p:spPr>
        <p:txBody>
          <a:bodyPr wrap="none" lIns="0" tIns="0" rIns="0" bIns="0" rtlCol="0" anchor="t"/>
          <a:lstStyle/>
          <a:p>
            <a:pPr defTabSz="571500">
              <a:lnSpc>
                <a:spcPts val="3438"/>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ESEMPI</a:t>
            </a:r>
            <a:endParaRPr lang="en-US" sz="3600" b="1" kern="1200" dirty="0">
              <a:solidFill>
                <a:prstClr val="black"/>
              </a:solidFill>
              <a:latin typeface="Arial" panose="020B0604020202020204" pitchFamily="34" charset="0"/>
              <a:ea typeface="+mn-ea"/>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523578" y="2403351"/>
            <a:ext cx="2549351" cy="1575569"/>
          </a:xfrm>
          <a:prstGeom prst="rect">
            <a:avLst/>
          </a:prstGeom>
        </p:spPr>
      </p:pic>
      <p:sp>
        <p:nvSpPr>
          <p:cNvPr id="4" name="Text 1"/>
          <p:cNvSpPr/>
          <p:nvPr/>
        </p:nvSpPr>
        <p:spPr>
          <a:xfrm>
            <a:off x="523578" y="4165923"/>
            <a:ext cx="2332806" cy="219968"/>
          </a:xfrm>
          <a:prstGeom prst="rect">
            <a:avLst/>
          </a:prstGeom>
          <a:noFill/>
          <a:ln/>
        </p:spPr>
        <p:txBody>
          <a:bodyPr wrap="none" lIns="0" tIns="0" rIns="0" bIns="0" rtlCol="0" anchor="t"/>
          <a:lstStyle/>
          <a:p>
            <a:pPr defTabSz="571500">
              <a:lnSpc>
                <a:spcPts val="1719"/>
              </a:lnSpc>
              <a:buClrTx/>
            </a:pPr>
            <a:r>
              <a:rPr lang="en-US" sz="1600" kern="1200" dirty="0">
                <a:solidFill>
                  <a:srgbClr val="00002E"/>
                </a:solidFill>
                <a:latin typeface="Arial" panose="020B0604020202020204" pitchFamily="34" charset="0"/>
                <a:ea typeface="Nunito Semi Bold" pitchFamily="34" charset="-122"/>
                <a:cs typeface="Arial" panose="020B0604020202020204" pitchFamily="34" charset="0"/>
              </a:rPr>
              <a:t>Tesla nel Settore Automotive</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5" name="Text 2"/>
          <p:cNvSpPr/>
          <p:nvPr/>
        </p:nvSpPr>
        <p:spPr>
          <a:xfrm>
            <a:off x="523578" y="4475634"/>
            <a:ext cx="2549351" cy="718170"/>
          </a:xfrm>
          <a:prstGeom prst="rect">
            <a:avLst/>
          </a:prstGeom>
          <a:noFill/>
          <a:ln/>
        </p:spPr>
        <p:txBody>
          <a:bodyPr wrap="square" lIns="0" tIns="0" rIns="0" bIns="0" rtlCol="0" anchor="t"/>
          <a:lstStyle/>
          <a:p>
            <a:pPr defTabSz="571500">
              <a:lnSpc>
                <a:spcPts val="1875"/>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Ha superato le barriere all'ingresso con innovazione radicale e forte capitalizzazione.</a:t>
            </a:r>
            <a:endParaRPr lang="en-US" kern="1200" dirty="0">
              <a:solidFill>
                <a:prstClr val="black"/>
              </a:solidFill>
              <a:latin typeface="Arial" panose="020B0604020202020204" pitchFamily="34" charset="0"/>
              <a:ea typeface="+mn-ea"/>
              <a:cs typeface="Arial" panose="020B0604020202020204" pitchFamily="34" charset="0"/>
            </a:endParaRPr>
          </a:p>
        </p:txBody>
      </p:sp>
      <p:pic>
        <p:nvPicPr>
          <p:cNvPr id="6" name="Image 1" descr="preencoded.png"/>
          <p:cNvPicPr>
            <a:picLocks noChangeAspect="1"/>
          </p:cNvPicPr>
          <p:nvPr/>
        </p:nvPicPr>
        <p:blipFill>
          <a:blip r:embed="rId4"/>
          <a:stretch>
            <a:fillRect/>
          </a:stretch>
        </p:blipFill>
        <p:spPr>
          <a:xfrm>
            <a:off x="3297287" y="2403351"/>
            <a:ext cx="2549351" cy="1575569"/>
          </a:xfrm>
          <a:prstGeom prst="rect">
            <a:avLst/>
          </a:prstGeom>
        </p:spPr>
      </p:pic>
      <p:sp>
        <p:nvSpPr>
          <p:cNvPr id="7" name="Text 3"/>
          <p:cNvSpPr/>
          <p:nvPr/>
        </p:nvSpPr>
        <p:spPr>
          <a:xfrm>
            <a:off x="3297287" y="4165923"/>
            <a:ext cx="2549351" cy="439936"/>
          </a:xfrm>
          <a:prstGeom prst="rect">
            <a:avLst/>
          </a:prstGeom>
          <a:noFill/>
          <a:ln/>
        </p:spPr>
        <p:txBody>
          <a:bodyPr wrap="square" lIns="0" tIns="0" rIns="0" bIns="0" rtlCol="0" anchor="t"/>
          <a:lstStyle/>
          <a:p>
            <a:pPr defTabSz="571500">
              <a:lnSpc>
                <a:spcPts val="1719"/>
              </a:lnSpc>
              <a:buClrTx/>
            </a:pPr>
            <a:r>
              <a:rPr lang="en-US" sz="1600" kern="1200" dirty="0">
                <a:solidFill>
                  <a:srgbClr val="00002E"/>
                </a:solidFill>
                <a:latin typeface="Arial" panose="020B0604020202020204" pitchFamily="34" charset="0"/>
                <a:ea typeface="Nunito Semi Bold" pitchFamily="34" charset="-122"/>
                <a:cs typeface="Arial" panose="020B0604020202020204" pitchFamily="34" charset="0"/>
              </a:rPr>
              <a:t>Netflix nella Distribuzione Video</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8" name="Text 4"/>
          <p:cNvSpPr/>
          <p:nvPr/>
        </p:nvSpPr>
        <p:spPr>
          <a:xfrm>
            <a:off x="3297287" y="4695602"/>
            <a:ext cx="2549351" cy="478780"/>
          </a:xfrm>
          <a:prstGeom prst="rect">
            <a:avLst/>
          </a:prstGeom>
          <a:noFill/>
          <a:ln/>
        </p:spPr>
        <p:txBody>
          <a:bodyPr wrap="square" lIns="0" tIns="0" rIns="0" bIns="0" rtlCol="0" anchor="t"/>
          <a:lstStyle/>
          <a:p>
            <a:pPr defTabSz="571500">
              <a:lnSpc>
                <a:spcPts val="1875"/>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Ha aggirato le barriere tradizionali con un modello di business digitale.</a:t>
            </a:r>
            <a:endParaRPr lang="en-US" kern="1200" dirty="0">
              <a:solidFill>
                <a:prstClr val="black"/>
              </a:solidFill>
              <a:latin typeface="Arial" panose="020B0604020202020204" pitchFamily="34" charset="0"/>
              <a:ea typeface="+mn-ea"/>
              <a:cs typeface="Arial" panose="020B0604020202020204" pitchFamily="34" charset="0"/>
            </a:endParaRPr>
          </a:p>
        </p:txBody>
      </p:sp>
      <p:pic>
        <p:nvPicPr>
          <p:cNvPr id="9" name="Image 2" descr="preencoded.png"/>
          <p:cNvPicPr>
            <a:picLocks noChangeAspect="1"/>
          </p:cNvPicPr>
          <p:nvPr/>
        </p:nvPicPr>
        <p:blipFill>
          <a:blip r:embed="rId5"/>
          <a:stretch>
            <a:fillRect/>
          </a:stretch>
        </p:blipFill>
        <p:spPr>
          <a:xfrm>
            <a:off x="6070997" y="2403352"/>
            <a:ext cx="2549426" cy="1575643"/>
          </a:xfrm>
          <a:prstGeom prst="rect">
            <a:avLst/>
          </a:prstGeom>
        </p:spPr>
      </p:pic>
      <p:sp>
        <p:nvSpPr>
          <p:cNvPr id="10" name="Text 5"/>
          <p:cNvSpPr/>
          <p:nvPr/>
        </p:nvSpPr>
        <p:spPr>
          <a:xfrm>
            <a:off x="6070997" y="4165997"/>
            <a:ext cx="1998985" cy="219968"/>
          </a:xfrm>
          <a:prstGeom prst="rect">
            <a:avLst/>
          </a:prstGeom>
          <a:noFill/>
          <a:ln/>
        </p:spPr>
        <p:txBody>
          <a:bodyPr wrap="none" lIns="0" tIns="0" rIns="0" bIns="0" rtlCol="0" anchor="t"/>
          <a:lstStyle/>
          <a:p>
            <a:pPr defTabSz="571500">
              <a:lnSpc>
                <a:spcPts val="1719"/>
              </a:lnSpc>
              <a:buClrTx/>
            </a:pPr>
            <a:r>
              <a:rPr lang="en-US" sz="1600" kern="1200" dirty="0">
                <a:solidFill>
                  <a:srgbClr val="00002E"/>
                </a:solidFill>
                <a:latin typeface="Arial" panose="020B0604020202020204" pitchFamily="34" charset="0"/>
                <a:ea typeface="Nunito Semi Bold" pitchFamily="34" charset="-122"/>
                <a:cs typeface="Arial" panose="020B0604020202020204" pitchFamily="34" charset="0"/>
              </a:rPr>
              <a:t>IBM Esce dal Mercato PC</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11" name="Text 6"/>
          <p:cNvSpPr/>
          <p:nvPr/>
        </p:nvSpPr>
        <p:spPr>
          <a:xfrm>
            <a:off x="6070997" y="4475708"/>
            <a:ext cx="2549426" cy="718170"/>
          </a:xfrm>
          <a:prstGeom prst="rect">
            <a:avLst/>
          </a:prstGeom>
          <a:noFill/>
          <a:ln/>
        </p:spPr>
        <p:txBody>
          <a:bodyPr wrap="square" lIns="0" tIns="0" rIns="0" bIns="0" rtlCol="0" anchor="t"/>
          <a:lstStyle/>
          <a:p>
            <a:pPr defTabSz="571500">
              <a:lnSpc>
                <a:spcPts val="1875"/>
              </a:lnSpc>
              <a:buClrTx/>
            </a:pPr>
            <a:r>
              <a:rPr lang="en-US" kern="1200" dirty="0">
                <a:solidFill>
                  <a:srgbClr val="00002E"/>
                </a:solidFill>
                <a:latin typeface="Arial" panose="020B0604020202020204" pitchFamily="34" charset="0"/>
                <a:ea typeface="PT Sans" pitchFamily="34" charset="-122"/>
                <a:cs typeface="Arial" panose="020B0604020202020204" pitchFamily="34" charset="0"/>
              </a:rPr>
              <a:t>Esempio di uscita strategica per concentrarsi su servizi a maggior valore.</a:t>
            </a:r>
            <a:endParaRPr lang="en-US"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23579" y="602085"/>
            <a:ext cx="3520306" cy="440011"/>
          </a:xfrm>
          <a:prstGeom prst="rect">
            <a:avLst/>
          </a:prstGeom>
          <a:noFill/>
          <a:ln/>
        </p:spPr>
        <p:txBody>
          <a:bodyPr wrap="none" lIns="0" tIns="0" rIns="0" bIns="0" rtlCol="0" anchor="t"/>
          <a:lstStyle/>
          <a:p>
            <a:pPr defTabSz="571500">
              <a:lnSpc>
                <a:spcPts val="3438"/>
              </a:lnSpc>
              <a:buClrTx/>
            </a:pP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In </a:t>
            </a:r>
            <a:r>
              <a:rPr lang="en-US" sz="3600" b="1" kern="1200" dirty="0" err="1">
                <a:solidFill>
                  <a:srgbClr val="00002E"/>
                </a:solidFill>
                <a:latin typeface="Arial" panose="020B0604020202020204" pitchFamily="34" charset="0"/>
                <a:ea typeface="Nunito Semi Bold" pitchFamily="34" charset="-122"/>
                <a:cs typeface="Arial" panose="020B0604020202020204" pitchFamily="34" charset="0"/>
              </a:rPr>
              <a:t>sintesi</a:t>
            </a:r>
            <a:r>
              <a:rPr lang="en-US" sz="3600" b="1" kern="1200" dirty="0">
                <a:solidFill>
                  <a:srgbClr val="00002E"/>
                </a:solidFill>
                <a:latin typeface="Arial" panose="020B0604020202020204" pitchFamily="34" charset="0"/>
                <a:ea typeface="Nunito Semi Bold" pitchFamily="34" charset="-122"/>
                <a:cs typeface="Arial" panose="020B0604020202020204" pitchFamily="34" charset="0"/>
              </a:rPr>
              <a:t> </a:t>
            </a:r>
            <a:endParaRPr lang="en-US" sz="3600" b="1" kern="1200" dirty="0">
              <a:solidFill>
                <a:prstClr val="black"/>
              </a:solidFill>
              <a:latin typeface="Arial" panose="020B0604020202020204" pitchFamily="34" charset="0"/>
              <a:ea typeface="+mn-ea"/>
              <a:cs typeface="Arial" panose="020B0604020202020204" pitchFamily="34" charset="0"/>
            </a:endParaRPr>
          </a:p>
        </p:txBody>
      </p:sp>
      <p:pic>
        <p:nvPicPr>
          <p:cNvPr id="4" name="Image 1" descr="preencoded.png"/>
          <p:cNvPicPr>
            <a:picLocks noChangeAspect="1"/>
          </p:cNvPicPr>
          <p:nvPr/>
        </p:nvPicPr>
        <p:blipFill>
          <a:blip r:embed="rId3"/>
          <a:stretch>
            <a:fillRect/>
          </a:stretch>
        </p:blipFill>
        <p:spPr>
          <a:xfrm>
            <a:off x="2447913" y="1884071"/>
            <a:ext cx="748010" cy="1087636"/>
          </a:xfrm>
          <a:prstGeom prst="rect">
            <a:avLst/>
          </a:prstGeom>
        </p:spPr>
      </p:pic>
      <p:sp>
        <p:nvSpPr>
          <p:cNvPr id="5" name="Text 1"/>
          <p:cNvSpPr/>
          <p:nvPr/>
        </p:nvSpPr>
        <p:spPr>
          <a:xfrm>
            <a:off x="3420281" y="2033643"/>
            <a:ext cx="2263155" cy="219968"/>
          </a:xfrm>
          <a:prstGeom prst="rect">
            <a:avLst/>
          </a:prstGeom>
          <a:noFill/>
          <a:ln/>
        </p:spPr>
        <p:txBody>
          <a:bodyPr wrap="none" lIns="0" tIns="0" rIns="0" bIns="0" rtlCol="0" anchor="t"/>
          <a:lstStyle/>
          <a:p>
            <a:pPr defTabSz="571500">
              <a:lnSpc>
                <a:spcPts val="1719"/>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Comprensione Approfondita</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6" name="Text 2"/>
          <p:cNvSpPr/>
          <p:nvPr/>
        </p:nvSpPr>
        <p:spPr>
          <a:xfrm>
            <a:off x="3420281" y="2343354"/>
            <a:ext cx="3695477" cy="47878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Analizzare dettagliatamente le barriere prima di decisioni strategiche.</a:t>
            </a:r>
            <a:endParaRPr lang="en-US" sz="1800" kern="1200" dirty="0">
              <a:solidFill>
                <a:prstClr val="black"/>
              </a:solidFill>
              <a:latin typeface="Arial" panose="020B0604020202020204" pitchFamily="34" charset="0"/>
              <a:ea typeface="+mn-ea"/>
              <a:cs typeface="Arial" panose="020B0604020202020204" pitchFamily="34" charset="0"/>
            </a:endParaRPr>
          </a:p>
        </p:txBody>
      </p:sp>
      <p:pic>
        <p:nvPicPr>
          <p:cNvPr id="7" name="Image 2" descr="preencoded.png"/>
          <p:cNvPicPr>
            <a:picLocks noChangeAspect="1"/>
          </p:cNvPicPr>
          <p:nvPr/>
        </p:nvPicPr>
        <p:blipFill>
          <a:blip r:embed="rId4"/>
          <a:stretch>
            <a:fillRect/>
          </a:stretch>
        </p:blipFill>
        <p:spPr>
          <a:xfrm>
            <a:off x="2447913" y="3092999"/>
            <a:ext cx="748010" cy="1087636"/>
          </a:xfrm>
          <a:prstGeom prst="rect">
            <a:avLst/>
          </a:prstGeom>
        </p:spPr>
      </p:pic>
      <p:sp>
        <p:nvSpPr>
          <p:cNvPr id="8" name="Text 3"/>
          <p:cNvSpPr/>
          <p:nvPr/>
        </p:nvSpPr>
        <p:spPr>
          <a:xfrm>
            <a:off x="3420281" y="3242572"/>
            <a:ext cx="1760116" cy="219968"/>
          </a:xfrm>
          <a:prstGeom prst="rect">
            <a:avLst/>
          </a:prstGeom>
          <a:noFill/>
          <a:ln/>
        </p:spPr>
        <p:txBody>
          <a:bodyPr wrap="none" lIns="0" tIns="0" rIns="0" bIns="0" rtlCol="0" anchor="t"/>
          <a:lstStyle/>
          <a:p>
            <a:pPr defTabSz="571500">
              <a:lnSpc>
                <a:spcPts val="1719"/>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Approccio Strategico</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9" name="Text 4"/>
          <p:cNvSpPr/>
          <p:nvPr/>
        </p:nvSpPr>
        <p:spPr>
          <a:xfrm>
            <a:off x="3420281" y="3552283"/>
            <a:ext cx="3695477" cy="47878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Pianificare attentamente ingresso o uscita considerando tutti gli ostacoli.</a:t>
            </a:r>
            <a:endParaRPr lang="en-US" sz="1800" kern="1200" dirty="0">
              <a:solidFill>
                <a:prstClr val="black"/>
              </a:solidFill>
              <a:latin typeface="Arial" panose="020B0604020202020204" pitchFamily="34" charset="0"/>
              <a:ea typeface="+mn-ea"/>
              <a:cs typeface="Arial" panose="020B0604020202020204" pitchFamily="34" charset="0"/>
            </a:endParaRPr>
          </a:p>
        </p:txBody>
      </p:sp>
      <p:pic>
        <p:nvPicPr>
          <p:cNvPr id="10" name="Image 3" descr="preencoded.png"/>
          <p:cNvPicPr>
            <a:picLocks noChangeAspect="1"/>
          </p:cNvPicPr>
          <p:nvPr/>
        </p:nvPicPr>
        <p:blipFill>
          <a:blip r:embed="rId5"/>
          <a:stretch>
            <a:fillRect/>
          </a:stretch>
        </p:blipFill>
        <p:spPr>
          <a:xfrm>
            <a:off x="2447913" y="4252434"/>
            <a:ext cx="748010" cy="1087636"/>
          </a:xfrm>
          <a:prstGeom prst="rect">
            <a:avLst/>
          </a:prstGeom>
        </p:spPr>
      </p:pic>
      <p:sp>
        <p:nvSpPr>
          <p:cNvPr id="11" name="Text 5"/>
          <p:cNvSpPr/>
          <p:nvPr/>
        </p:nvSpPr>
        <p:spPr>
          <a:xfrm>
            <a:off x="3420281" y="4372688"/>
            <a:ext cx="1760116" cy="219968"/>
          </a:xfrm>
          <a:prstGeom prst="rect">
            <a:avLst/>
          </a:prstGeom>
          <a:noFill/>
          <a:ln/>
        </p:spPr>
        <p:txBody>
          <a:bodyPr wrap="none" lIns="0" tIns="0" rIns="0" bIns="0" rtlCol="0" anchor="t"/>
          <a:lstStyle/>
          <a:p>
            <a:pPr defTabSz="571500">
              <a:lnSpc>
                <a:spcPts val="1719"/>
              </a:lnSpc>
              <a:buClrTx/>
            </a:pPr>
            <a:r>
              <a:rPr lang="en-US" sz="2000" kern="1200" dirty="0">
                <a:solidFill>
                  <a:srgbClr val="00002E"/>
                </a:solidFill>
                <a:latin typeface="Arial" panose="020B0604020202020204" pitchFamily="34" charset="0"/>
                <a:ea typeface="Nunito Semi Bold" pitchFamily="34" charset="-122"/>
                <a:cs typeface="Arial" panose="020B0604020202020204" pitchFamily="34" charset="0"/>
              </a:rPr>
              <a:t>Fattori Critici</a:t>
            </a:r>
            <a:endParaRPr lang="en-US" sz="2000" kern="1200" dirty="0">
              <a:solidFill>
                <a:prstClr val="black"/>
              </a:solidFill>
              <a:latin typeface="Arial" panose="020B0604020202020204" pitchFamily="34" charset="0"/>
              <a:ea typeface="+mn-ea"/>
              <a:cs typeface="Arial" panose="020B0604020202020204" pitchFamily="34" charset="0"/>
            </a:endParaRPr>
          </a:p>
        </p:txBody>
      </p:sp>
      <p:sp>
        <p:nvSpPr>
          <p:cNvPr id="12" name="Text 6"/>
          <p:cNvSpPr/>
          <p:nvPr/>
        </p:nvSpPr>
        <p:spPr>
          <a:xfrm>
            <a:off x="3420281" y="4682399"/>
            <a:ext cx="3695477" cy="478780"/>
          </a:xfrm>
          <a:prstGeom prst="rect">
            <a:avLst/>
          </a:prstGeom>
          <a:noFill/>
          <a:ln/>
        </p:spPr>
        <p:txBody>
          <a:bodyPr wrap="square" lIns="0" tIns="0" rIns="0" bIns="0" rtlCol="0" anchor="t"/>
          <a:lstStyle/>
          <a:p>
            <a:pPr defTabSz="571500">
              <a:lnSpc>
                <a:spcPts val="1875"/>
              </a:lnSpc>
              <a:buClrTx/>
            </a:pPr>
            <a:r>
              <a:rPr lang="en-US" sz="1800" kern="1200" dirty="0">
                <a:solidFill>
                  <a:srgbClr val="00002E"/>
                </a:solidFill>
                <a:latin typeface="Arial" panose="020B0604020202020204" pitchFamily="34" charset="0"/>
                <a:ea typeface="PT Sans" pitchFamily="34" charset="-122"/>
                <a:cs typeface="Arial" panose="020B0604020202020204" pitchFamily="34" charset="0"/>
              </a:rPr>
              <a:t>Identificare e gestire gli elementi determinanti per il successo competitivo.</a:t>
            </a:r>
            <a:endParaRPr lang="en-US" sz="1800"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477328"/>
          </a:xfrm>
          <a:prstGeom prst="rect">
            <a:avLst/>
          </a:prstGeom>
        </p:spPr>
        <p:txBody>
          <a:bodyPr wrap="square">
            <a:spAutoFit/>
          </a:bodyPr>
          <a:lstStyle/>
          <a:p>
            <a:r>
              <a:rPr lang="it-IT" sz="3000" b="1" dirty="0"/>
              <a:t>5 FORZE DI PORTER: IL MODELLO DI PORTER CHE DETERMINA IL VANTAGGIO COMPETITIVO</a:t>
            </a:r>
          </a:p>
        </p:txBody>
      </p:sp>
      <p:sp>
        <p:nvSpPr>
          <p:cNvPr id="3" name="Rettangolo 2">
            <a:extLst>
              <a:ext uri="{FF2B5EF4-FFF2-40B4-BE49-F238E27FC236}">
                <a16:creationId xmlns:a16="http://schemas.microsoft.com/office/drawing/2014/main" id="{380DA46E-B69B-4461-BBD8-E433A9631B61}"/>
              </a:ext>
            </a:extLst>
          </p:cNvPr>
          <p:cNvSpPr/>
          <p:nvPr/>
        </p:nvSpPr>
        <p:spPr>
          <a:xfrm>
            <a:off x="350570" y="2043822"/>
            <a:ext cx="8416912" cy="3785652"/>
          </a:xfrm>
          <a:prstGeom prst="rect">
            <a:avLst/>
          </a:prstGeom>
        </p:spPr>
        <p:txBody>
          <a:bodyPr wrap="square">
            <a:spAutoFit/>
          </a:bodyPr>
          <a:lstStyle/>
          <a:p>
            <a:pPr algn="just"/>
            <a:r>
              <a:rPr lang="it-IT" sz="2400" dirty="0"/>
              <a:t>Il Modello delle 5 Forze di Porter, sviluppato nel 1979, rappresenta uno strumento fondamentale per l’analisi competitiva di qualsiasi impresa. Esso, infatti, spiega che la competitività all'interno di un settore non è data, come si potrebbe pensare, dalla semplice rivalità tra concorrenti esistenti. Ma esistono 5 Forze.</a:t>
            </a:r>
          </a:p>
          <a:p>
            <a:pPr algn="just"/>
            <a:r>
              <a:rPr lang="it-IT" sz="2400" dirty="0"/>
              <a:t> </a:t>
            </a:r>
          </a:p>
          <a:p>
            <a:pPr algn="just"/>
            <a:r>
              <a:rPr lang="it-IT" sz="2400" dirty="0"/>
              <a:t>Questa metodologia consente di valutare l'attrattività e la redditività potenziale di diversi settori industriali.</a:t>
            </a:r>
          </a:p>
          <a:p>
            <a:pPr algn="just"/>
            <a:endParaRPr lang="it-IT" sz="2400" dirty="0"/>
          </a:p>
        </p:txBody>
      </p:sp>
    </p:spTree>
    <p:extLst>
      <p:ext uri="{BB962C8B-B14F-4D97-AF65-F5344CB8AC3E}">
        <p14:creationId xmlns:p14="http://schemas.microsoft.com/office/powerpoint/2010/main" val="1667852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46410" y="473673"/>
            <a:ext cx="4846026" cy="362396"/>
          </a:xfrm>
          <a:prstGeom prst="rect">
            <a:avLst/>
          </a:prstGeom>
          <a:noFill/>
          <a:ln/>
        </p:spPr>
        <p:txBody>
          <a:bodyPr wrap="none" lIns="0" tIns="0" rIns="0" bIns="0" rtlCol="0" anchor="t"/>
          <a:lstStyle/>
          <a:p>
            <a:pPr>
              <a:lnSpc>
                <a:spcPts val="2844"/>
              </a:lnSpc>
            </a:pPr>
            <a:r>
              <a:rPr lang="en-US" sz="3000" b="1" spc="-23" dirty="0">
                <a:latin typeface="+mj-lt"/>
                <a:ea typeface="Montserrat Bold" pitchFamily="34" charset="-122"/>
                <a:cs typeface="Montserrat Bold" pitchFamily="34" charset="-120"/>
              </a:rPr>
              <a:t>Introduzione alle 5 Forze</a:t>
            </a:r>
            <a:endParaRPr lang="en-US" sz="3000" dirty="0">
              <a:latin typeface="+mj-lt"/>
            </a:endParaRPr>
          </a:p>
        </p:txBody>
      </p:sp>
      <p:pic>
        <p:nvPicPr>
          <p:cNvPr id="3" name="Image 0" descr="preencoded.png"/>
          <p:cNvPicPr>
            <a:picLocks noChangeAspect="1"/>
          </p:cNvPicPr>
          <p:nvPr/>
        </p:nvPicPr>
        <p:blipFill>
          <a:blip r:embed="rId3"/>
          <a:stretch>
            <a:fillRect/>
          </a:stretch>
        </p:blipFill>
        <p:spPr>
          <a:xfrm>
            <a:off x="581457" y="1318490"/>
            <a:ext cx="637729" cy="765273"/>
          </a:xfrm>
          <a:prstGeom prst="rect">
            <a:avLst/>
          </a:prstGeom>
        </p:spPr>
      </p:pic>
      <p:sp>
        <p:nvSpPr>
          <p:cNvPr id="4" name="Text 1"/>
          <p:cNvSpPr/>
          <p:nvPr/>
        </p:nvSpPr>
        <p:spPr>
          <a:xfrm>
            <a:off x="1410504" y="1446035"/>
            <a:ext cx="1934096" cy="181198"/>
          </a:xfrm>
          <a:prstGeom prst="rect">
            <a:avLst/>
          </a:prstGeom>
          <a:noFill/>
          <a:ln/>
        </p:spPr>
        <p:txBody>
          <a:bodyPr wrap="none" lIns="0" tIns="0" rIns="0" bIns="0" rtlCol="0" anchor="t"/>
          <a:lstStyle/>
          <a:p>
            <a:pPr>
              <a:lnSpc>
                <a:spcPts val="1406"/>
              </a:lnSpc>
            </a:pPr>
            <a:r>
              <a:rPr lang="en-US" sz="1800" b="1" spc="-11" dirty="0">
                <a:solidFill>
                  <a:srgbClr val="3D3838"/>
                </a:solidFill>
                <a:latin typeface="+mj-lt"/>
                <a:ea typeface="Montserrat Bold" pitchFamily="34" charset="-122"/>
                <a:cs typeface="Montserrat Bold" pitchFamily="34" charset="-120"/>
              </a:rPr>
              <a:t>Minaccia di nuovi entranti</a:t>
            </a:r>
            <a:endParaRPr lang="en-US" sz="1800" dirty="0">
              <a:latin typeface="+mj-lt"/>
            </a:endParaRPr>
          </a:p>
        </p:txBody>
      </p:sp>
      <p:sp>
        <p:nvSpPr>
          <p:cNvPr id="5" name="Text 2"/>
          <p:cNvSpPr/>
          <p:nvPr/>
        </p:nvSpPr>
        <p:spPr>
          <a:xfrm>
            <a:off x="1451229" y="1703731"/>
            <a:ext cx="7381408" cy="239762"/>
          </a:xfrm>
          <a:prstGeom prst="rect">
            <a:avLst/>
          </a:prstGeom>
          <a:noFill/>
          <a:ln/>
        </p:spPr>
        <p:txBody>
          <a:bodyPr wrap="none" lIns="0" tIns="0" rIns="0" bIns="0" rtlCol="0" anchor="t"/>
          <a:lstStyle/>
          <a:p>
            <a:pPr>
              <a:lnSpc>
                <a:spcPts val="1500"/>
              </a:lnSpc>
            </a:pPr>
            <a:r>
              <a:rPr lang="en-US" sz="1600" dirty="0">
                <a:solidFill>
                  <a:srgbClr val="3D3838"/>
                </a:solidFill>
                <a:latin typeface="+mj-lt"/>
                <a:ea typeface="Source Sans Pro" pitchFamily="34" charset="-122"/>
                <a:cs typeface="Source Sans Pro" pitchFamily="34" charset="-120"/>
              </a:rPr>
              <a:t>Nuovi competitor che possono entrare nel mercato.</a:t>
            </a:r>
            <a:endParaRPr lang="en-US" sz="1600" dirty="0">
              <a:latin typeface="+mj-lt"/>
            </a:endParaRPr>
          </a:p>
        </p:txBody>
      </p:sp>
      <p:pic>
        <p:nvPicPr>
          <p:cNvPr id="6" name="Image 1" descr="preencoded.png"/>
          <p:cNvPicPr>
            <a:picLocks noChangeAspect="1"/>
          </p:cNvPicPr>
          <p:nvPr/>
        </p:nvPicPr>
        <p:blipFill>
          <a:blip r:embed="rId4"/>
          <a:stretch>
            <a:fillRect/>
          </a:stretch>
        </p:blipFill>
        <p:spPr>
          <a:xfrm>
            <a:off x="584955" y="2372333"/>
            <a:ext cx="637729" cy="746331"/>
          </a:xfrm>
          <a:prstGeom prst="rect">
            <a:avLst/>
          </a:prstGeom>
        </p:spPr>
      </p:pic>
      <p:sp>
        <p:nvSpPr>
          <p:cNvPr id="7" name="Text 3"/>
          <p:cNvSpPr/>
          <p:nvPr/>
        </p:nvSpPr>
        <p:spPr>
          <a:xfrm>
            <a:off x="1414002" y="2499879"/>
            <a:ext cx="2368004" cy="181198"/>
          </a:xfrm>
          <a:prstGeom prst="rect">
            <a:avLst/>
          </a:prstGeom>
          <a:noFill/>
          <a:ln/>
        </p:spPr>
        <p:txBody>
          <a:bodyPr wrap="none" lIns="0" tIns="0" rIns="0" bIns="0" rtlCol="0" anchor="t"/>
          <a:lstStyle/>
          <a:p>
            <a:pPr>
              <a:lnSpc>
                <a:spcPts val="1406"/>
              </a:lnSpc>
            </a:pPr>
            <a:r>
              <a:rPr lang="en-US" sz="1800" b="1" spc="-11" dirty="0">
                <a:solidFill>
                  <a:srgbClr val="3D3838"/>
                </a:solidFill>
                <a:latin typeface="+mj-lt"/>
                <a:ea typeface="Montserrat Bold" pitchFamily="34" charset="-122"/>
                <a:cs typeface="Montserrat Bold" pitchFamily="34" charset="-120"/>
              </a:rPr>
              <a:t>Potere contrattuale dei fornitori</a:t>
            </a:r>
            <a:endParaRPr lang="en-US" sz="1800" dirty="0">
              <a:latin typeface="+mj-lt"/>
            </a:endParaRPr>
          </a:p>
        </p:txBody>
      </p:sp>
      <p:sp>
        <p:nvSpPr>
          <p:cNvPr id="8" name="Text 4"/>
          <p:cNvSpPr/>
          <p:nvPr/>
        </p:nvSpPr>
        <p:spPr>
          <a:xfrm>
            <a:off x="1454727" y="2757574"/>
            <a:ext cx="7381408" cy="116871"/>
          </a:xfrm>
          <a:prstGeom prst="rect">
            <a:avLst/>
          </a:prstGeom>
          <a:noFill/>
          <a:ln/>
        </p:spPr>
        <p:txBody>
          <a:bodyPr wrap="none" lIns="0" tIns="0" rIns="0" bIns="0" rtlCol="0" anchor="t"/>
          <a:lstStyle/>
          <a:p>
            <a:pPr>
              <a:lnSpc>
                <a:spcPts val="1500"/>
              </a:lnSpc>
            </a:pPr>
            <a:r>
              <a:rPr lang="en-US" sz="1600" dirty="0">
                <a:solidFill>
                  <a:srgbClr val="3D3838"/>
                </a:solidFill>
                <a:latin typeface="+mj-lt"/>
                <a:ea typeface="Source Sans Pro" pitchFamily="34" charset="-122"/>
                <a:cs typeface="Source Sans Pro" pitchFamily="34" charset="-120"/>
              </a:rPr>
              <a:t>Capacità dei fornitori di influenzare prezzi e condizioni.</a:t>
            </a:r>
            <a:endParaRPr lang="en-US" sz="1600" dirty="0">
              <a:latin typeface="+mj-lt"/>
            </a:endParaRPr>
          </a:p>
        </p:txBody>
      </p:sp>
      <p:pic>
        <p:nvPicPr>
          <p:cNvPr id="9" name="Image 2" descr="preencoded.png"/>
          <p:cNvPicPr>
            <a:picLocks noChangeAspect="1"/>
          </p:cNvPicPr>
          <p:nvPr/>
        </p:nvPicPr>
        <p:blipFill>
          <a:blip r:embed="rId5"/>
          <a:stretch>
            <a:fillRect/>
          </a:stretch>
        </p:blipFill>
        <p:spPr>
          <a:xfrm>
            <a:off x="584955" y="3294328"/>
            <a:ext cx="637729" cy="765273"/>
          </a:xfrm>
          <a:prstGeom prst="rect">
            <a:avLst/>
          </a:prstGeom>
        </p:spPr>
      </p:pic>
      <p:sp>
        <p:nvSpPr>
          <p:cNvPr id="10" name="Text 5"/>
          <p:cNvSpPr/>
          <p:nvPr/>
        </p:nvSpPr>
        <p:spPr>
          <a:xfrm>
            <a:off x="1454727" y="3419270"/>
            <a:ext cx="2224832" cy="181198"/>
          </a:xfrm>
          <a:prstGeom prst="rect">
            <a:avLst/>
          </a:prstGeom>
          <a:noFill/>
          <a:ln/>
        </p:spPr>
        <p:txBody>
          <a:bodyPr wrap="none" lIns="0" tIns="0" rIns="0" bIns="0" rtlCol="0" anchor="t"/>
          <a:lstStyle/>
          <a:p>
            <a:pPr>
              <a:lnSpc>
                <a:spcPts val="1406"/>
              </a:lnSpc>
            </a:pPr>
            <a:r>
              <a:rPr lang="en-US" sz="1800" b="1" spc="-11" dirty="0">
                <a:solidFill>
                  <a:srgbClr val="3D3838"/>
                </a:solidFill>
                <a:latin typeface="+mj-lt"/>
                <a:ea typeface="Montserrat Bold" pitchFamily="34" charset="-122"/>
                <a:cs typeface="Montserrat Bold" pitchFamily="34" charset="-120"/>
              </a:rPr>
              <a:t>Potere contrattuale dei clienti</a:t>
            </a:r>
            <a:endParaRPr lang="en-US" sz="1800" dirty="0">
              <a:latin typeface="+mj-lt"/>
            </a:endParaRPr>
          </a:p>
        </p:txBody>
      </p:sp>
      <p:sp>
        <p:nvSpPr>
          <p:cNvPr id="11" name="Text 6"/>
          <p:cNvSpPr/>
          <p:nvPr/>
        </p:nvSpPr>
        <p:spPr>
          <a:xfrm>
            <a:off x="1454727" y="3676965"/>
            <a:ext cx="7422133" cy="191319"/>
          </a:xfrm>
          <a:prstGeom prst="rect">
            <a:avLst/>
          </a:prstGeom>
          <a:noFill/>
          <a:ln/>
        </p:spPr>
        <p:txBody>
          <a:bodyPr wrap="none" lIns="0" tIns="0" rIns="0" bIns="0" rtlCol="0" anchor="t"/>
          <a:lstStyle/>
          <a:p>
            <a:pPr>
              <a:lnSpc>
                <a:spcPts val="1500"/>
              </a:lnSpc>
            </a:pPr>
            <a:r>
              <a:rPr lang="en-US" sz="1600" dirty="0">
                <a:solidFill>
                  <a:srgbClr val="3D3838"/>
                </a:solidFill>
                <a:latin typeface="+mj-lt"/>
                <a:ea typeface="Source Sans Pro" pitchFamily="34" charset="-122"/>
                <a:cs typeface="Source Sans Pro" pitchFamily="34" charset="-120"/>
              </a:rPr>
              <a:t>Capacità dei clienti di influenzare prezzi e condizioni.</a:t>
            </a:r>
            <a:endParaRPr lang="en-US" sz="1600" dirty="0">
              <a:latin typeface="+mj-lt"/>
            </a:endParaRPr>
          </a:p>
        </p:txBody>
      </p:sp>
      <p:pic>
        <p:nvPicPr>
          <p:cNvPr id="12" name="Image 3" descr="preencoded.png"/>
          <p:cNvPicPr>
            <a:picLocks noChangeAspect="1"/>
          </p:cNvPicPr>
          <p:nvPr/>
        </p:nvPicPr>
        <p:blipFill>
          <a:blip r:embed="rId6"/>
          <a:stretch>
            <a:fillRect/>
          </a:stretch>
        </p:blipFill>
        <p:spPr>
          <a:xfrm>
            <a:off x="584955" y="4279190"/>
            <a:ext cx="637729" cy="765274"/>
          </a:xfrm>
          <a:prstGeom prst="rect">
            <a:avLst/>
          </a:prstGeom>
        </p:spPr>
      </p:pic>
      <p:sp>
        <p:nvSpPr>
          <p:cNvPr id="13" name="Text 7"/>
          <p:cNvSpPr/>
          <p:nvPr/>
        </p:nvSpPr>
        <p:spPr>
          <a:xfrm>
            <a:off x="1414002" y="4406736"/>
            <a:ext cx="2269183" cy="181198"/>
          </a:xfrm>
          <a:prstGeom prst="rect">
            <a:avLst/>
          </a:prstGeom>
          <a:noFill/>
          <a:ln/>
        </p:spPr>
        <p:txBody>
          <a:bodyPr wrap="none" lIns="0" tIns="0" rIns="0" bIns="0" rtlCol="0" anchor="t"/>
          <a:lstStyle/>
          <a:p>
            <a:pPr>
              <a:lnSpc>
                <a:spcPts val="1406"/>
              </a:lnSpc>
            </a:pPr>
            <a:r>
              <a:rPr lang="en-US" sz="1800" b="1" spc="-11" dirty="0">
                <a:solidFill>
                  <a:srgbClr val="3D3838"/>
                </a:solidFill>
                <a:latin typeface="+mj-lt"/>
                <a:ea typeface="Montserrat Bold" pitchFamily="34" charset="-122"/>
                <a:cs typeface="Montserrat Bold" pitchFamily="34" charset="-120"/>
              </a:rPr>
              <a:t>Minaccia di prodotti sostitutivi</a:t>
            </a:r>
            <a:endParaRPr lang="en-US" sz="1800" dirty="0">
              <a:latin typeface="+mj-lt"/>
            </a:endParaRPr>
          </a:p>
        </p:txBody>
      </p:sp>
      <p:sp>
        <p:nvSpPr>
          <p:cNvPr id="14" name="Text 8"/>
          <p:cNvSpPr/>
          <p:nvPr/>
        </p:nvSpPr>
        <p:spPr>
          <a:xfrm>
            <a:off x="1414002" y="4664432"/>
            <a:ext cx="7422133" cy="191319"/>
          </a:xfrm>
          <a:prstGeom prst="rect">
            <a:avLst/>
          </a:prstGeom>
          <a:noFill/>
          <a:ln/>
        </p:spPr>
        <p:txBody>
          <a:bodyPr wrap="none" lIns="0" tIns="0" rIns="0" bIns="0" rtlCol="0" anchor="t"/>
          <a:lstStyle/>
          <a:p>
            <a:pPr>
              <a:lnSpc>
                <a:spcPts val="1500"/>
              </a:lnSpc>
            </a:pPr>
            <a:r>
              <a:rPr lang="en-US" sz="1600" dirty="0">
                <a:solidFill>
                  <a:srgbClr val="3D3838"/>
                </a:solidFill>
                <a:latin typeface="+mj-lt"/>
                <a:ea typeface="Source Sans Pro" pitchFamily="34" charset="-122"/>
                <a:cs typeface="Source Sans Pro" pitchFamily="34" charset="-120"/>
              </a:rPr>
              <a:t>Alternative che soddisfano gli stessi bisogni.</a:t>
            </a:r>
            <a:endParaRPr lang="en-US" sz="1600" dirty="0">
              <a:latin typeface="+mj-lt"/>
            </a:endParaRPr>
          </a:p>
        </p:txBody>
      </p:sp>
      <p:pic>
        <p:nvPicPr>
          <p:cNvPr id="15" name="Image 4" descr="preencoded.png"/>
          <p:cNvPicPr>
            <a:picLocks noChangeAspect="1"/>
          </p:cNvPicPr>
          <p:nvPr/>
        </p:nvPicPr>
        <p:blipFill>
          <a:blip r:embed="rId7"/>
          <a:stretch>
            <a:fillRect/>
          </a:stretch>
        </p:blipFill>
        <p:spPr>
          <a:xfrm>
            <a:off x="581457" y="5329937"/>
            <a:ext cx="637729" cy="765274"/>
          </a:xfrm>
          <a:prstGeom prst="rect">
            <a:avLst/>
          </a:prstGeom>
        </p:spPr>
      </p:pic>
      <p:sp>
        <p:nvSpPr>
          <p:cNvPr id="16" name="Text 9"/>
          <p:cNvSpPr/>
          <p:nvPr/>
        </p:nvSpPr>
        <p:spPr>
          <a:xfrm>
            <a:off x="1410504" y="5457482"/>
            <a:ext cx="2371502" cy="181198"/>
          </a:xfrm>
          <a:prstGeom prst="rect">
            <a:avLst/>
          </a:prstGeom>
          <a:noFill/>
          <a:ln/>
        </p:spPr>
        <p:txBody>
          <a:bodyPr wrap="none" lIns="0" tIns="0" rIns="0" bIns="0" rtlCol="0" anchor="t"/>
          <a:lstStyle/>
          <a:p>
            <a:pPr>
              <a:lnSpc>
                <a:spcPts val="1406"/>
              </a:lnSpc>
            </a:pPr>
            <a:r>
              <a:rPr lang="en-US" sz="1800" b="1" spc="-11" dirty="0">
                <a:solidFill>
                  <a:srgbClr val="3D3838"/>
                </a:solidFill>
                <a:latin typeface="+mj-lt"/>
                <a:ea typeface="Montserrat Bold" pitchFamily="34" charset="-122"/>
                <a:cs typeface="Montserrat Bold" pitchFamily="34" charset="-120"/>
              </a:rPr>
              <a:t>Rivalità tra concorrenti esistenti</a:t>
            </a:r>
            <a:endParaRPr lang="en-US" sz="1800" dirty="0">
              <a:latin typeface="+mj-lt"/>
            </a:endParaRPr>
          </a:p>
        </p:txBody>
      </p:sp>
      <p:sp>
        <p:nvSpPr>
          <p:cNvPr id="17" name="Text 10"/>
          <p:cNvSpPr/>
          <p:nvPr/>
        </p:nvSpPr>
        <p:spPr>
          <a:xfrm>
            <a:off x="1410505" y="5715178"/>
            <a:ext cx="2224832" cy="380033"/>
          </a:xfrm>
          <a:prstGeom prst="rect">
            <a:avLst/>
          </a:prstGeom>
          <a:noFill/>
          <a:ln/>
        </p:spPr>
        <p:txBody>
          <a:bodyPr wrap="none" lIns="0" tIns="0" rIns="0" bIns="0" rtlCol="0" anchor="t"/>
          <a:lstStyle/>
          <a:p>
            <a:pPr>
              <a:lnSpc>
                <a:spcPts val="1500"/>
              </a:lnSpc>
            </a:pPr>
            <a:r>
              <a:rPr lang="en-US" sz="1600" dirty="0">
                <a:solidFill>
                  <a:srgbClr val="3D3838"/>
                </a:solidFill>
                <a:latin typeface="+mj-lt"/>
                <a:ea typeface="Source Sans Pro" pitchFamily="34" charset="-122"/>
                <a:cs typeface="Source Sans Pro" pitchFamily="34" charset="-120"/>
              </a:rPr>
              <a:t>Intensità della competizione nel settore</a:t>
            </a:r>
            <a:r>
              <a:rPr lang="en-US" sz="1000" dirty="0">
                <a:solidFill>
                  <a:srgbClr val="3D3838"/>
                </a:solidFill>
                <a:latin typeface="Source Sans Pro" pitchFamily="34" charset="0"/>
                <a:ea typeface="Source Sans Pro" pitchFamily="34" charset="-122"/>
                <a:cs typeface="Source Sans Pro" pitchFamily="34" charset="-120"/>
              </a:rPr>
              <a:t>.</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015663"/>
          </a:xfrm>
          <a:prstGeom prst="rect">
            <a:avLst/>
          </a:prstGeom>
        </p:spPr>
        <p:txBody>
          <a:bodyPr wrap="square">
            <a:spAutoFit/>
          </a:bodyPr>
          <a:lstStyle/>
          <a:p>
            <a:r>
              <a:rPr lang="it-IT" sz="3000" b="1" dirty="0"/>
              <a:t>Gli elementi che compongono il modello delle 5 Forze di Porter. </a:t>
            </a:r>
          </a:p>
        </p:txBody>
      </p:sp>
      <p:pic>
        <p:nvPicPr>
          <p:cNvPr id="1026" name="Picture 2" descr="Modello delle cinque Forze Competitive di Porter | Marco Vezzoli">
            <a:extLst>
              <a:ext uri="{FF2B5EF4-FFF2-40B4-BE49-F238E27FC236}">
                <a16:creationId xmlns:a16="http://schemas.microsoft.com/office/drawing/2014/main" id="{7218D6B5-55DE-4F17-B5B6-E1F55B1D0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307" y="1598749"/>
            <a:ext cx="8625385" cy="5085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606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015663"/>
          </a:xfrm>
          <a:prstGeom prst="rect">
            <a:avLst/>
          </a:prstGeom>
        </p:spPr>
        <p:txBody>
          <a:bodyPr wrap="square">
            <a:spAutoFit/>
          </a:bodyPr>
          <a:lstStyle/>
          <a:p>
            <a:r>
              <a:rPr lang="it-IT" sz="3000" b="1" dirty="0"/>
              <a:t>Gli elementi che compongono il modello delle 5 Forze di Porter. </a:t>
            </a:r>
          </a:p>
        </p:txBody>
      </p:sp>
      <p:sp>
        <p:nvSpPr>
          <p:cNvPr id="2" name="Rettangolo 1">
            <a:extLst>
              <a:ext uri="{FF2B5EF4-FFF2-40B4-BE49-F238E27FC236}">
                <a16:creationId xmlns:a16="http://schemas.microsoft.com/office/drawing/2014/main" id="{90911335-9FD2-45E4-B2C7-531CAF4B880B}"/>
              </a:ext>
            </a:extLst>
          </p:cNvPr>
          <p:cNvSpPr/>
          <p:nvPr/>
        </p:nvSpPr>
        <p:spPr>
          <a:xfrm>
            <a:off x="610073" y="1668249"/>
            <a:ext cx="7923854" cy="4278094"/>
          </a:xfrm>
          <a:prstGeom prst="rect">
            <a:avLst/>
          </a:prstGeom>
        </p:spPr>
        <p:txBody>
          <a:bodyPr wrap="square">
            <a:spAutoFit/>
          </a:bodyPr>
          <a:lstStyle/>
          <a:p>
            <a:pPr algn="just"/>
            <a:r>
              <a:rPr lang="it-IT" sz="1600" b="1" dirty="0">
                <a:solidFill>
                  <a:srgbClr val="FF0000"/>
                </a:solidFill>
                <a:latin typeface="Arial" panose="020B0604020202020204" pitchFamily="34" charset="0"/>
                <a:cs typeface="Arial" panose="020B0604020202020204" pitchFamily="34" charset="0"/>
              </a:rPr>
              <a:t>1) La prima delle 5 forze di Porter: Minaccia di nuovi concorrenti </a:t>
            </a:r>
          </a:p>
          <a:p>
            <a:pPr algn="just"/>
            <a:endParaRPr lang="it-IT" sz="1600" b="1" dirty="0">
              <a:solidFill>
                <a:srgbClr val="FF0000"/>
              </a:solidFill>
              <a:latin typeface="Arial" panose="020B0604020202020204" pitchFamily="34" charset="0"/>
              <a:cs typeface="Arial" panose="020B0604020202020204" pitchFamily="34" charset="0"/>
            </a:endParaRPr>
          </a:p>
          <a:p>
            <a:pPr algn="just"/>
            <a:r>
              <a:rPr lang="it-IT" sz="1600" dirty="0">
                <a:solidFill>
                  <a:schemeClr val="tx1"/>
                </a:solidFill>
                <a:latin typeface="Arial" panose="020B0604020202020204" pitchFamily="34" charset="0"/>
                <a:cs typeface="Arial" panose="020B0604020202020204" pitchFamily="34" charset="0"/>
              </a:rPr>
              <a:t>La prima delle</a:t>
            </a:r>
            <a:r>
              <a:rPr lang="it-IT" sz="1600" b="1" dirty="0">
                <a:solidFill>
                  <a:schemeClr val="tx1"/>
                </a:solidFill>
                <a:latin typeface="Arial" panose="020B0604020202020204" pitchFamily="34" charset="0"/>
                <a:cs typeface="Arial" panose="020B0604020202020204" pitchFamily="34" charset="0"/>
              </a:rPr>
              <a:t> 5 forze </a:t>
            </a:r>
            <a:r>
              <a:rPr lang="it-IT" sz="1600" dirty="0">
                <a:solidFill>
                  <a:schemeClr val="tx1"/>
                </a:solidFill>
                <a:latin typeface="Arial" panose="020B0604020202020204" pitchFamily="34" charset="0"/>
                <a:cs typeface="Arial" panose="020B0604020202020204" pitchFamily="34" charset="0"/>
              </a:rPr>
              <a:t>del</a:t>
            </a:r>
            <a:r>
              <a:rPr lang="it-IT" sz="1600" b="1" dirty="0">
                <a:solidFill>
                  <a:schemeClr val="tx1"/>
                </a:solidFill>
                <a:latin typeface="Arial" panose="020B0604020202020204" pitchFamily="34" charset="0"/>
                <a:cs typeface="Arial" panose="020B0604020202020204" pitchFamily="34" charset="0"/>
              </a:rPr>
              <a:t> Modello di Porter</a:t>
            </a:r>
            <a:r>
              <a:rPr lang="it-IT" sz="1600" dirty="0">
                <a:solidFill>
                  <a:schemeClr val="tx1"/>
                </a:solidFill>
                <a:latin typeface="Arial" panose="020B0604020202020204" pitchFamily="34" charset="0"/>
                <a:cs typeface="Arial" panose="020B0604020202020204" pitchFamily="34" charset="0"/>
              </a:rPr>
              <a:t> chiarisce La</a:t>
            </a:r>
            <a:r>
              <a:rPr lang="it-IT" sz="1600" b="1" dirty="0">
                <a:solidFill>
                  <a:schemeClr val="tx1"/>
                </a:solidFill>
                <a:latin typeface="Arial" panose="020B0604020202020204" pitchFamily="34" charset="0"/>
                <a:cs typeface="Arial" panose="020B0604020202020204" pitchFamily="34" charset="0"/>
              </a:rPr>
              <a:t> minaccia di nuovi concorrenti.</a:t>
            </a:r>
            <a:r>
              <a:rPr lang="it-IT" sz="1600" dirty="0">
                <a:solidFill>
                  <a:schemeClr val="tx1"/>
                </a:solidFill>
                <a:latin typeface="Arial" panose="020B0604020202020204" pitchFamily="34" charset="0"/>
                <a:cs typeface="Arial" panose="020B0604020202020204" pitchFamily="34" charset="0"/>
              </a:rPr>
              <a:t> L’arrivo di concorrenti diretti in un determinato settore può porre un limite al potenziale di profitto. Vi sono diversi fattori che vanno a determinare le </a:t>
            </a:r>
            <a:r>
              <a:rPr lang="it-IT" sz="1600" b="1" dirty="0">
                <a:solidFill>
                  <a:schemeClr val="tx1"/>
                </a:solidFill>
                <a:latin typeface="Arial" panose="020B0604020202020204" pitchFamily="34" charset="0"/>
                <a:cs typeface="Arial" panose="020B0604020202020204" pitchFamily="34" charset="0"/>
              </a:rPr>
              <a:t>strategie competitive</a:t>
            </a:r>
            <a:r>
              <a:rPr lang="it-IT" sz="1600" dirty="0">
                <a:solidFill>
                  <a:schemeClr val="tx1"/>
                </a:solidFill>
                <a:latin typeface="Arial" panose="020B0604020202020204" pitchFamily="34" charset="0"/>
                <a:cs typeface="Arial" panose="020B0604020202020204" pitchFamily="34" charset="0"/>
              </a:rPr>
              <a:t> di ogni concorrente:</a:t>
            </a:r>
          </a:p>
          <a:p>
            <a:pPr marL="285750" indent="-285750" algn="just">
              <a:buFont typeface="Arial" panose="020B0604020202020204" pitchFamily="34" charset="0"/>
              <a:buChar char="•"/>
            </a:pPr>
            <a:r>
              <a:rPr lang="it-IT" sz="1600" b="1" dirty="0">
                <a:solidFill>
                  <a:schemeClr val="tx1"/>
                </a:solidFill>
                <a:latin typeface="Arial" panose="020B0604020202020204" pitchFamily="34" charset="0"/>
                <a:cs typeface="Arial" panose="020B0604020202020204" pitchFamily="34" charset="0"/>
              </a:rPr>
              <a:t>La concentrazione</a:t>
            </a:r>
            <a:r>
              <a:rPr lang="it-IT" sz="1600" dirty="0">
                <a:solidFill>
                  <a:schemeClr val="tx1"/>
                </a:solidFill>
                <a:latin typeface="Arial" panose="020B0604020202020204" pitchFamily="34" charset="0"/>
                <a:cs typeface="Arial" panose="020B0604020202020204" pitchFamily="34" charset="0"/>
              </a:rPr>
              <a:t>: fa riferimento al numero delle imprese che operano in un certo settore. </a:t>
            </a:r>
          </a:p>
          <a:p>
            <a:pPr marL="285750" indent="-285750" algn="just">
              <a:buFont typeface="Arial" panose="020B0604020202020204" pitchFamily="34" charset="0"/>
              <a:buChar char="•"/>
            </a:pPr>
            <a:r>
              <a:rPr lang="it-IT" sz="1600" b="1" dirty="0">
                <a:solidFill>
                  <a:schemeClr val="tx1"/>
                </a:solidFill>
                <a:latin typeface="Arial" panose="020B0604020202020204" pitchFamily="34" charset="0"/>
                <a:cs typeface="Arial" panose="020B0604020202020204" pitchFamily="34" charset="0"/>
              </a:rPr>
              <a:t>La diversità della struttura</a:t>
            </a:r>
            <a:r>
              <a:rPr lang="it-IT" sz="1600" dirty="0">
                <a:solidFill>
                  <a:schemeClr val="tx1"/>
                </a:solidFill>
                <a:latin typeface="Arial" panose="020B0604020202020204" pitchFamily="34" charset="0"/>
                <a:cs typeface="Arial" panose="020B0604020202020204" pitchFamily="34" charset="0"/>
              </a:rPr>
              <a:t>: più le imprese assomigliano tra loro (obiettivi, strategie...) più la concorrenza sarà basata sul prezzo.</a:t>
            </a:r>
          </a:p>
          <a:p>
            <a:pPr marL="285750" indent="-285750" algn="just">
              <a:buFont typeface="Arial" panose="020B0604020202020204" pitchFamily="34" charset="0"/>
              <a:buChar char="•"/>
            </a:pPr>
            <a:r>
              <a:rPr lang="it-IT" sz="1600" b="1" dirty="0">
                <a:solidFill>
                  <a:schemeClr val="tx1"/>
                </a:solidFill>
                <a:latin typeface="Arial" panose="020B0604020202020204" pitchFamily="34" charset="0"/>
                <a:cs typeface="Arial" panose="020B0604020202020204" pitchFamily="34" charset="0"/>
              </a:rPr>
              <a:t>La capacità produttiva</a:t>
            </a:r>
            <a:r>
              <a:rPr lang="it-IT" sz="1600" dirty="0">
                <a:solidFill>
                  <a:schemeClr val="tx1"/>
                </a:solidFill>
                <a:latin typeface="Arial" panose="020B0604020202020204" pitchFamily="34" charset="0"/>
                <a:cs typeface="Arial" panose="020B0604020202020204" pitchFamily="34" charset="0"/>
              </a:rPr>
              <a:t>: se la capacità produttiva è in eccesso le aziende tenderanno ad abbassare i prezzi per sovrastare la concorrenza. </a:t>
            </a:r>
          </a:p>
          <a:p>
            <a:pPr marL="285750" indent="-285750" algn="just">
              <a:buFont typeface="Arial" panose="020B0604020202020204" pitchFamily="34" charset="0"/>
              <a:buChar char="•"/>
            </a:pPr>
            <a:r>
              <a:rPr lang="it-IT" sz="1600" b="1" dirty="0">
                <a:solidFill>
                  <a:schemeClr val="tx1"/>
                </a:solidFill>
                <a:latin typeface="Arial" panose="020B0604020202020204" pitchFamily="34" charset="0"/>
                <a:cs typeface="Arial" panose="020B0604020202020204" pitchFamily="34" charset="0"/>
              </a:rPr>
              <a:t>La differenziazione dell’offerta</a:t>
            </a:r>
            <a:r>
              <a:rPr lang="it-IT" sz="1600" dirty="0">
                <a:solidFill>
                  <a:schemeClr val="tx1"/>
                </a:solidFill>
                <a:latin typeface="Arial" panose="020B0604020202020204" pitchFamily="34" charset="0"/>
                <a:cs typeface="Arial" panose="020B0604020202020204" pitchFamily="34" charset="0"/>
              </a:rPr>
              <a:t>: se i prodotti offerti dalle imprese sono simili, il cliente tenderà a scegliere unicamente in base al prezzo; ciò ovviamente fa sì che le imprese abbassino ulteriormente il prezzo nella speranza di aumentare le vendite. </a:t>
            </a:r>
          </a:p>
          <a:p>
            <a:pPr marL="285750" indent="-285750" algn="just">
              <a:buFont typeface="Arial" panose="020B0604020202020204" pitchFamily="34" charset="0"/>
              <a:buChar char="•"/>
            </a:pPr>
            <a:r>
              <a:rPr lang="it-IT" sz="1600" b="1" dirty="0">
                <a:solidFill>
                  <a:schemeClr val="tx1"/>
                </a:solidFill>
                <a:latin typeface="Arial" panose="020B0604020202020204" pitchFamily="34" charset="0"/>
                <a:cs typeface="Arial" panose="020B0604020202020204" pitchFamily="34" charset="0"/>
              </a:rPr>
              <a:t>Struttura di costo</a:t>
            </a:r>
            <a:r>
              <a:rPr lang="it-IT" sz="1600" dirty="0">
                <a:solidFill>
                  <a:schemeClr val="tx1"/>
                </a:solidFill>
                <a:latin typeface="Arial" panose="020B0604020202020204" pitchFamily="34" charset="0"/>
                <a:cs typeface="Arial" panose="020B0604020202020204" pitchFamily="34" charset="0"/>
              </a:rPr>
              <a:t>: in relazione al rapporto tra costi variabili e costi fissi.</a:t>
            </a:r>
          </a:p>
        </p:txBody>
      </p:sp>
    </p:spTree>
    <p:extLst>
      <p:ext uri="{BB962C8B-B14F-4D97-AF65-F5344CB8AC3E}">
        <p14:creationId xmlns:p14="http://schemas.microsoft.com/office/powerpoint/2010/main" val="4225745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90433" y="758457"/>
            <a:ext cx="6963155" cy="442987"/>
          </a:xfrm>
          <a:prstGeom prst="rect">
            <a:avLst/>
          </a:prstGeom>
          <a:noFill/>
          <a:ln/>
        </p:spPr>
        <p:txBody>
          <a:bodyPr wrap="none" lIns="0" tIns="0" rIns="0" bIns="0" rtlCol="0" anchor="t"/>
          <a:lstStyle/>
          <a:p>
            <a:pPr>
              <a:lnSpc>
                <a:spcPts val="3469"/>
              </a:lnSpc>
            </a:pPr>
            <a:r>
              <a:rPr lang="en-US" sz="4000" b="1" dirty="0">
                <a:solidFill>
                  <a:srgbClr val="312F2B"/>
                </a:solidFill>
                <a:latin typeface="Arial" panose="020B0604020202020204" pitchFamily="34" charset="0"/>
                <a:ea typeface="Gelasio" pitchFamily="34" charset="-122"/>
                <a:cs typeface="Arial" panose="020B0604020202020204" pitchFamily="34" charset="0"/>
              </a:rPr>
              <a:t>Minaccia di </a:t>
            </a:r>
            <a:r>
              <a:rPr lang="en-US" sz="3600" b="1" dirty="0">
                <a:solidFill>
                  <a:srgbClr val="312F2B"/>
                </a:solidFill>
                <a:latin typeface="Arial" panose="020B0604020202020204" pitchFamily="34" charset="0"/>
                <a:ea typeface="Gelasio" pitchFamily="34" charset="-122"/>
                <a:cs typeface="Arial" panose="020B0604020202020204" pitchFamily="34" charset="0"/>
              </a:rPr>
              <a:t>Nuovi</a:t>
            </a:r>
            <a:r>
              <a:rPr lang="en-US" sz="4000" b="1" dirty="0">
                <a:solidFill>
                  <a:srgbClr val="312F2B"/>
                </a:solidFill>
                <a:latin typeface="Arial" panose="020B0604020202020204" pitchFamily="34" charset="0"/>
                <a:ea typeface="Gelasio" pitchFamily="34" charset="-122"/>
                <a:cs typeface="Arial" panose="020B0604020202020204" pitchFamily="34" charset="0"/>
              </a:rPr>
              <a:t> Entranti</a:t>
            </a:r>
            <a:endParaRPr lang="en-US" sz="4000" b="1" dirty="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2050107" y="2005189"/>
            <a:ext cx="1008757" cy="816843"/>
          </a:xfrm>
          <a:prstGeom prst="rect">
            <a:avLst/>
          </a:prstGeom>
        </p:spPr>
      </p:pic>
      <p:pic>
        <p:nvPicPr>
          <p:cNvPr id="4" name="Image 1" descr="preencoded.png"/>
          <p:cNvPicPr>
            <a:picLocks noChangeAspect="1"/>
          </p:cNvPicPr>
          <p:nvPr/>
        </p:nvPicPr>
        <p:blipFill>
          <a:blip r:embed="rId4"/>
          <a:stretch>
            <a:fillRect/>
          </a:stretch>
        </p:blipFill>
        <p:spPr>
          <a:xfrm>
            <a:off x="2454771" y="2390208"/>
            <a:ext cx="199355" cy="249138"/>
          </a:xfrm>
          <a:prstGeom prst="rect">
            <a:avLst/>
          </a:prstGeom>
        </p:spPr>
      </p:pic>
      <p:sp>
        <p:nvSpPr>
          <p:cNvPr id="5" name="Text 1"/>
          <p:cNvSpPr/>
          <p:nvPr/>
        </p:nvSpPr>
        <p:spPr>
          <a:xfrm>
            <a:off x="3200623" y="2146948"/>
            <a:ext cx="1772022" cy="221456"/>
          </a:xfrm>
          <a:prstGeom prst="rect">
            <a:avLst/>
          </a:prstGeom>
          <a:noFill/>
          <a:ln/>
        </p:spPr>
        <p:txBody>
          <a:bodyPr wrap="none" lIns="0" tIns="0" rIns="0" bIns="0" rtlCol="0" anchor="t"/>
          <a:lstStyle/>
          <a:p>
            <a:pPr>
              <a:lnSpc>
                <a:spcPts val="1719"/>
              </a:lnSpc>
            </a:pPr>
            <a:r>
              <a:rPr lang="en-US" sz="2000" dirty="0">
                <a:solidFill>
                  <a:srgbClr val="272525"/>
                </a:solidFill>
                <a:latin typeface="Arial" panose="020B0604020202020204" pitchFamily="34" charset="0"/>
                <a:ea typeface="Gelasio" pitchFamily="34" charset="-122"/>
                <a:cs typeface="Arial" panose="020B0604020202020204" pitchFamily="34" charset="0"/>
              </a:rPr>
              <a:t>Barriere all'ingresso</a:t>
            </a:r>
            <a:endParaRPr lang="en-US" sz="2000" dirty="0">
              <a:latin typeface="Arial" panose="020B0604020202020204" pitchFamily="34" charset="0"/>
              <a:cs typeface="Arial" panose="020B0604020202020204" pitchFamily="34" charset="0"/>
            </a:endParaRPr>
          </a:p>
        </p:txBody>
      </p:sp>
      <p:sp>
        <p:nvSpPr>
          <p:cNvPr id="6" name="Text 2"/>
          <p:cNvSpPr/>
          <p:nvPr/>
        </p:nvSpPr>
        <p:spPr>
          <a:xfrm>
            <a:off x="3200623" y="2453460"/>
            <a:ext cx="1906786" cy="226814"/>
          </a:xfrm>
          <a:prstGeom prst="rect">
            <a:avLst/>
          </a:prstGeom>
          <a:noFill/>
          <a:ln/>
        </p:spPr>
        <p:txBody>
          <a:bodyPr wrap="none" lIns="0" tIns="0" rIns="0" bIns="0" rtlCol="0" anchor="t"/>
          <a:lstStyle/>
          <a:p>
            <a:pPr>
              <a:lnSpc>
                <a:spcPts val="1781"/>
              </a:lnSpc>
            </a:pPr>
            <a:r>
              <a:rPr lang="en-US" sz="1600" dirty="0">
                <a:solidFill>
                  <a:srgbClr val="272525"/>
                </a:solidFill>
                <a:latin typeface="Arial" panose="020B0604020202020204" pitchFamily="34" charset="0"/>
                <a:ea typeface="Lato" pitchFamily="34" charset="-122"/>
                <a:cs typeface="Arial" panose="020B0604020202020204" pitchFamily="34" charset="0"/>
              </a:rPr>
              <a:t>Ostacoli per i nuovi competitor</a:t>
            </a:r>
            <a:endParaRPr lang="en-US" sz="1600" dirty="0">
              <a:latin typeface="Arial" panose="020B0604020202020204" pitchFamily="34" charset="0"/>
              <a:cs typeface="Arial" panose="020B0604020202020204" pitchFamily="34" charset="0"/>
            </a:endParaRPr>
          </a:p>
        </p:txBody>
      </p:sp>
      <p:sp>
        <p:nvSpPr>
          <p:cNvPr id="7" name="Shape 3"/>
          <p:cNvSpPr/>
          <p:nvPr/>
        </p:nvSpPr>
        <p:spPr>
          <a:xfrm>
            <a:off x="3094285" y="2830218"/>
            <a:ext cx="5538639" cy="9525"/>
          </a:xfrm>
          <a:prstGeom prst="roundRect">
            <a:avLst>
              <a:gd name="adj" fmla="val 625116"/>
            </a:avLst>
          </a:prstGeom>
          <a:solidFill>
            <a:srgbClr val="CECEC9"/>
          </a:solidFill>
          <a:ln/>
        </p:spPr>
      </p:sp>
      <p:pic>
        <p:nvPicPr>
          <p:cNvPr id="8" name="Image 2" descr="preencoded.png"/>
          <p:cNvPicPr>
            <a:picLocks noChangeAspect="1"/>
          </p:cNvPicPr>
          <p:nvPr/>
        </p:nvPicPr>
        <p:blipFill>
          <a:blip r:embed="rId5"/>
          <a:stretch>
            <a:fillRect/>
          </a:stretch>
        </p:blipFill>
        <p:spPr>
          <a:xfrm>
            <a:off x="1545728" y="2857454"/>
            <a:ext cx="2017514" cy="816843"/>
          </a:xfrm>
          <a:prstGeom prst="rect">
            <a:avLst/>
          </a:prstGeom>
        </p:spPr>
      </p:pic>
      <p:pic>
        <p:nvPicPr>
          <p:cNvPr id="9" name="Image 3" descr="preencoded.png"/>
          <p:cNvPicPr>
            <a:picLocks noChangeAspect="1"/>
          </p:cNvPicPr>
          <p:nvPr/>
        </p:nvPicPr>
        <p:blipFill>
          <a:blip r:embed="rId6"/>
          <a:stretch>
            <a:fillRect/>
          </a:stretch>
        </p:blipFill>
        <p:spPr>
          <a:xfrm>
            <a:off x="2454771" y="3141269"/>
            <a:ext cx="199355" cy="249138"/>
          </a:xfrm>
          <a:prstGeom prst="rect">
            <a:avLst/>
          </a:prstGeom>
        </p:spPr>
      </p:pic>
      <p:sp>
        <p:nvSpPr>
          <p:cNvPr id="10" name="Text 4"/>
          <p:cNvSpPr/>
          <p:nvPr/>
        </p:nvSpPr>
        <p:spPr>
          <a:xfrm>
            <a:off x="3705001" y="2999212"/>
            <a:ext cx="1772022" cy="221456"/>
          </a:xfrm>
          <a:prstGeom prst="rect">
            <a:avLst/>
          </a:prstGeom>
          <a:noFill/>
          <a:ln/>
        </p:spPr>
        <p:txBody>
          <a:bodyPr wrap="none" lIns="0" tIns="0" rIns="0" bIns="0" rtlCol="0" anchor="t"/>
          <a:lstStyle/>
          <a:p>
            <a:pPr>
              <a:lnSpc>
                <a:spcPts val="1719"/>
              </a:lnSpc>
            </a:pPr>
            <a:r>
              <a:rPr lang="en-US" sz="2000" dirty="0">
                <a:solidFill>
                  <a:srgbClr val="272525"/>
                </a:solidFill>
                <a:latin typeface="Arial" panose="020B0604020202020204" pitchFamily="34" charset="0"/>
                <a:ea typeface="Gelasio" pitchFamily="34" charset="-122"/>
                <a:cs typeface="Arial" panose="020B0604020202020204" pitchFamily="34" charset="0"/>
              </a:rPr>
              <a:t>Investimenti iniziali</a:t>
            </a:r>
            <a:endParaRPr lang="en-US" sz="2000" dirty="0">
              <a:latin typeface="Arial" panose="020B0604020202020204" pitchFamily="34" charset="0"/>
              <a:cs typeface="Arial" panose="020B0604020202020204" pitchFamily="34" charset="0"/>
            </a:endParaRPr>
          </a:p>
        </p:txBody>
      </p:sp>
      <p:sp>
        <p:nvSpPr>
          <p:cNvPr id="11" name="Text 5"/>
          <p:cNvSpPr/>
          <p:nvPr/>
        </p:nvSpPr>
        <p:spPr>
          <a:xfrm>
            <a:off x="3705001" y="3305724"/>
            <a:ext cx="1934021" cy="226814"/>
          </a:xfrm>
          <a:prstGeom prst="rect">
            <a:avLst/>
          </a:prstGeom>
          <a:noFill/>
          <a:ln/>
        </p:spPr>
        <p:txBody>
          <a:bodyPr wrap="none" lIns="0" tIns="0" rIns="0" bIns="0" rtlCol="0" anchor="t"/>
          <a:lstStyle/>
          <a:p>
            <a:pPr>
              <a:lnSpc>
                <a:spcPts val="1781"/>
              </a:lnSpc>
            </a:pPr>
            <a:r>
              <a:rPr lang="en-US" sz="1600" dirty="0">
                <a:solidFill>
                  <a:srgbClr val="272525"/>
                </a:solidFill>
                <a:latin typeface="Arial" panose="020B0604020202020204" pitchFamily="34" charset="0"/>
                <a:ea typeface="Lato" pitchFamily="34" charset="-122"/>
                <a:cs typeface="Arial" panose="020B0604020202020204" pitchFamily="34" charset="0"/>
              </a:rPr>
              <a:t>Capitale necessario per entrare</a:t>
            </a:r>
            <a:endParaRPr lang="en-US" sz="1600" dirty="0">
              <a:latin typeface="Arial" panose="020B0604020202020204" pitchFamily="34" charset="0"/>
              <a:cs typeface="Arial" panose="020B0604020202020204" pitchFamily="34" charset="0"/>
            </a:endParaRPr>
          </a:p>
        </p:txBody>
      </p:sp>
      <p:sp>
        <p:nvSpPr>
          <p:cNvPr id="12" name="Shape 6"/>
          <p:cNvSpPr/>
          <p:nvPr/>
        </p:nvSpPr>
        <p:spPr>
          <a:xfrm>
            <a:off x="3598663" y="3682482"/>
            <a:ext cx="5034260" cy="9525"/>
          </a:xfrm>
          <a:prstGeom prst="roundRect">
            <a:avLst>
              <a:gd name="adj" fmla="val 625116"/>
            </a:avLst>
          </a:prstGeom>
          <a:solidFill>
            <a:srgbClr val="CECEC9"/>
          </a:solidFill>
          <a:ln/>
        </p:spPr>
      </p:sp>
      <p:pic>
        <p:nvPicPr>
          <p:cNvPr id="13" name="Image 4" descr="preencoded.png"/>
          <p:cNvPicPr>
            <a:picLocks noChangeAspect="1"/>
          </p:cNvPicPr>
          <p:nvPr/>
        </p:nvPicPr>
        <p:blipFill>
          <a:blip r:embed="rId7"/>
          <a:stretch>
            <a:fillRect/>
          </a:stretch>
        </p:blipFill>
        <p:spPr>
          <a:xfrm>
            <a:off x="1041349" y="3709718"/>
            <a:ext cx="3026271" cy="816843"/>
          </a:xfrm>
          <a:prstGeom prst="rect">
            <a:avLst/>
          </a:prstGeom>
        </p:spPr>
      </p:pic>
      <p:pic>
        <p:nvPicPr>
          <p:cNvPr id="14" name="Image 5" descr="preencoded.png"/>
          <p:cNvPicPr>
            <a:picLocks noChangeAspect="1"/>
          </p:cNvPicPr>
          <p:nvPr/>
        </p:nvPicPr>
        <p:blipFill>
          <a:blip r:embed="rId8"/>
          <a:stretch>
            <a:fillRect/>
          </a:stretch>
        </p:blipFill>
        <p:spPr>
          <a:xfrm>
            <a:off x="2454771" y="3993533"/>
            <a:ext cx="199355" cy="249138"/>
          </a:xfrm>
          <a:prstGeom prst="rect">
            <a:avLst/>
          </a:prstGeom>
        </p:spPr>
      </p:pic>
      <p:sp>
        <p:nvSpPr>
          <p:cNvPr id="15" name="Text 7"/>
          <p:cNvSpPr/>
          <p:nvPr/>
        </p:nvSpPr>
        <p:spPr>
          <a:xfrm>
            <a:off x="4209379" y="3851477"/>
            <a:ext cx="1626245" cy="221456"/>
          </a:xfrm>
          <a:prstGeom prst="rect">
            <a:avLst/>
          </a:prstGeom>
          <a:noFill/>
          <a:ln/>
        </p:spPr>
        <p:txBody>
          <a:bodyPr wrap="none" lIns="0" tIns="0" rIns="0" bIns="0" rtlCol="0" anchor="t"/>
          <a:lstStyle/>
          <a:p>
            <a:pPr>
              <a:lnSpc>
                <a:spcPts val="1719"/>
              </a:lnSpc>
            </a:pPr>
            <a:r>
              <a:rPr lang="en-US" sz="2000" dirty="0">
                <a:solidFill>
                  <a:srgbClr val="272525"/>
                </a:solidFill>
                <a:latin typeface="Arial" panose="020B0604020202020204" pitchFamily="34" charset="0"/>
                <a:ea typeface="Gelasio" pitchFamily="34" charset="-122"/>
                <a:cs typeface="Arial" panose="020B0604020202020204" pitchFamily="34" charset="0"/>
              </a:rPr>
              <a:t>Economie di scala</a:t>
            </a:r>
            <a:endParaRPr lang="en-US" sz="2000" dirty="0">
              <a:latin typeface="Arial" panose="020B0604020202020204" pitchFamily="34" charset="0"/>
              <a:cs typeface="Arial" panose="020B0604020202020204" pitchFamily="34" charset="0"/>
            </a:endParaRPr>
          </a:p>
        </p:txBody>
      </p:sp>
      <p:sp>
        <p:nvSpPr>
          <p:cNvPr id="16" name="Text 8"/>
          <p:cNvSpPr/>
          <p:nvPr/>
        </p:nvSpPr>
        <p:spPr>
          <a:xfrm>
            <a:off x="4209379" y="4157988"/>
            <a:ext cx="1626245" cy="226814"/>
          </a:xfrm>
          <a:prstGeom prst="rect">
            <a:avLst/>
          </a:prstGeom>
          <a:noFill/>
          <a:ln/>
        </p:spPr>
        <p:txBody>
          <a:bodyPr wrap="none" lIns="0" tIns="0" rIns="0" bIns="0" rtlCol="0" anchor="t"/>
          <a:lstStyle/>
          <a:p>
            <a:pPr>
              <a:lnSpc>
                <a:spcPts val="1781"/>
              </a:lnSpc>
            </a:pPr>
            <a:r>
              <a:rPr lang="en-US" sz="1600" dirty="0">
                <a:solidFill>
                  <a:srgbClr val="272525"/>
                </a:solidFill>
                <a:latin typeface="Arial" panose="020B0604020202020204" pitchFamily="34" charset="0"/>
                <a:ea typeface="Lato" pitchFamily="34" charset="-122"/>
                <a:cs typeface="Arial" panose="020B0604020202020204" pitchFamily="34" charset="0"/>
              </a:rPr>
              <a:t>Vantaggi dei grandi volumi</a:t>
            </a:r>
            <a:endParaRPr lang="en-US" sz="1600" dirty="0">
              <a:latin typeface="Arial" panose="020B0604020202020204" pitchFamily="34" charset="0"/>
              <a:cs typeface="Arial" panose="020B0604020202020204" pitchFamily="34" charset="0"/>
            </a:endParaRPr>
          </a:p>
        </p:txBody>
      </p:sp>
      <p:sp>
        <p:nvSpPr>
          <p:cNvPr id="17" name="Shape 9"/>
          <p:cNvSpPr/>
          <p:nvPr/>
        </p:nvSpPr>
        <p:spPr>
          <a:xfrm>
            <a:off x="4103042" y="4534746"/>
            <a:ext cx="4529882" cy="9525"/>
          </a:xfrm>
          <a:prstGeom prst="roundRect">
            <a:avLst>
              <a:gd name="adj" fmla="val 625116"/>
            </a:avLst>
          </a:prstGeom>
          <a:solidFill>
            <a:srgbClr val="CECEC9"/>
          </a:solidFill>
          <a:ln/>
        </p:spPr>
      </p:sp>
      <p:pic>
        <p:nvPicPr>
          <p:cNvPr id="18" name="Image 6" descr="preencoded.png"/>
          <p:cNvPicPr>
            <a:picLocks noChangeAspect="1"/>
          </p:cNvPicPr>
          <p:nvPr/>
        </p:nvPicPr>
        <p:blipFill>
          <a:blip r:embed="rId9"/>
          <a:stretch>
            <a:fillRect/>
          </a:stretch>
        </p:blipFill>
        <p:spPr>
          <a:xfrm>
            <a:off x="536897" y="4561982"/>
            <a:ext cx="4035103" cy="816843"/>
          </a:xfrm>
          <a:prstGeom prst="rect">
            <a:avLst/>
          </a:prstGeom>
        </p:spPr>
      </p:pic>
      <p:pic>
        <p:nvPicPr>
          <p:cNvPr id="19" name="Image 7" descr="preencoded.png"/>
          <p:cNvPicPr>
            <a:picLocks noChangeAspect="1"/>
          </p:cNvPicPr>
          <p:nvPr/>
        </p:nvPicPr>
        <p:blipFill>
          <a:blip r:embed="rId10"/>
          <a:stretch>
            <a:fillRect/>
          </a:stretch>
        </p:blipFill>
        <p:spPr>
          <a:xfrm>
            <a:off x="2454696" y="4845797"/>
            <a:ext cx="199355" cy="249138"/>
          </a:xfrm>
          <a:prstGeom prst="rect">
            <a:avLst/>
          </a:prstGeom>
        </p:spPr>
      </p:pic>
      <p:sp>
        <p:nvSpPr>
          <p:cNvPr id="20" name="Text 10"/>
          <p:cNvSpPr/>
          <p:nvPr/>
        </p:nvSpPr>
        <p:spPr>
          <a:xfrm>
            <a:off x="4713758" y="4703741"/>
            <a:ext cx="1772022" cy="221456"/>
          </a:xfrm>
          <a:prstGeom prst="rect">
            <a:avLst/>
          </a:prstGeom>
          <a:noFill/>
          <a:ln/>
        </p:spPr>
        <p:txBody>
          <a:bodyPr wrap="none" lIns="0" tIns="0" rIns="0" bIns="0" rtlCol="0" anchor="t"/>
          <a:lstStyle/>
          <a:p>
            <a:pPr>
              <a:lnSpc>
                <a:spcPts val="1719"/>
              </a:lnSpc>
            </a:pPr>
            <a:r>
              <a:rPr lang="en-US" sz="2000" dirty="0">
                <a:solidFill>
                  <a:srgbClr val="272525"/>
                </a:solidFill>
                <a:latin typeface="Arial" panose="020B0604020202020204" pitchFamily="34" charset="0"/>
                <a:ea typeface="Gelasio" pitchFamily="34" charset="-122"/>
                <a:cs typeface="Arial" panose="020B0604020202020204" pitchFamily="34" charset="0"/>
              </a:rPr>
              <a:t>Vantaggi esistenti</a:t>
            </a:r>
            <a:endParaRPr lang="en-US" sz="2000" dirty="0">
              <a:latin typeface="Arial" panose="020B0604020202020204" pitchFamily="34" charset="0"/>
              <a:cs typeface="Arial" panose="020B0604020202020204" pitchFamily="34" charset="0"/>
            </a:endParaRPr>
          </a:p>
        </p:txBody>
      </p:sp>
      <p:sp>
        <p:nvSpPr>
          <p:cNvPr id="21" name="Text 11"/>
          <p:cNvSpPr/>
          <p:nvPr/>
        </p:nvSpPr>
        <p:spPr>
          <a:xfrm>
            <a:off x="4713758" y="5010253"/>
            <a:ext cx="2357066" cy="226814"/>
          </a:xfrm>
          <a:prstGeom prst="rect">
            <a:avLst/>
          </a:prstGeom>
          <a:noFill/>
          <a:ln/>
        </p:spPr>
        <p:txBody>
          <a:bodyPr wrap="none" lIns="0" tIns="0" rIns="0" bIns="0" rtlCol="0" anchor="t"/>
          <a:lstStyle/>
          <a:p>
            <a:pPr>
              <a:lnSpc>
                <a:spcPts val="1781"/>
              </a:lnSpc>
            </a:pPr>
            <a:r>
              <a:rPr lang="en-US" sz="1600" dirty="0">
                <a:solidFill>
                  <a:srgbClr val="272525"/>
                </a:solidFill>
                <a:latin typeface="Arial" panose="020B0604020202020204" pitchFamily="34" charset="0"/>
                <a:ea typeface="Lato" pitchFamily="34" charset="-122"/>
                <a:cs typeface="Arial" panose="020B0604020202020204" pitchFamily="34" charset="0"/>
              </a:rPr>
              <a:t>Posizionamento dei competitor attuali</a:t>
            </a: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557673" y="892646"/>
            <a:ext cx="4734744" cy="438299"/>
          </a:xfrm>
          <a:prstGeom prst="rect">
            <a:avLst/>
          </a:prstGeom>
          <a:noFill/>
          <a:ln/>
        </p:spPr>
        <p:txBody>
          <a:bodyPr wrap="none" lIns="0" tIns="0" rIns="0" bIns="0" rtlCol="0" anchor="t"/>
          <a:lstStyle/>
          <a:p>
            <a:pPr>
              <a:lnSpc>
                <a:spcPts val="3438"/>
              </a:lnSpc>
            </a:pPr>
            <a:r>
              <a:rPr lang="en-US" sz="3600" b="1" spc="-28" dirty="0">
                <a:latin typeface="Arial" panose="020B0604020202020204" pitchFamily="34" charset="0"/>
                <a:ea typeface="Montserrat Bold" pitchFamily="34" charset="-122"/>
                <a:cs typeface="Arial" panose="020B0604020202020204" pitchFamily="34" charset="0"/>
              </a:rPr>
              <a:t>Minaccia di Nuovi Entranti</a:t>
            </a:r>
            <a:endParaRPr lang="en-US" sz="3600" dirty="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1890564" y="2168426"/>
            <a:ext cx="1330598" cy="851520"/>
          </a:xfrm>
          <a:prstGeom prst="rect">
            <a:avLst/>
          </a:prstGeom>
        </p:spPr>
      </p:pic>
      <p:pic>
        <p:nvPicPr>
          <p:cNvPr id="4" name="Image 1" descr="preencoded.png"/>
          <p:cNvPicPr>
            <a:picLocks noChangeAspect="1"/>
          </p:cNvPicPr>
          <p:nvPr/>
        </p:nvPicPr>
        <p:blipFill>
          <a:blip r:embed="rId4"/>
          <a:stretch>
            <a:fillRect/>
          </a:stretch>
        </p:blipFill>
        <p:spPr>
          <a:xfrm>
            <a:off x="2447330" y="2563118"/>
            <a:ext cx="216917" cy="271165"/>
          </a:xfrm>
          <a:prstGeom prst="rect">
            <a:avLst/>
          </a:prstGeom>
        </p:spPr>
      </p:pic>
      <p:sp>
        <p:nvSpPr>
          <p:cNvPr id="5" name="Text 1"/>
          <p:cNvSpPr/>
          <p:nvPr/>
        </p:nvSpPr>
        <p:spPr>
          <a:xfrm>
            <a:off x="3375422" y="2322687"/>
            <a:ext cx="1753046" cy="219149"/>
          </a:xfrm>
          <a:prstGeom prst="rect">
            <a:avLst/>
          </a:prstGeom>
          <a:noFill/>
          <a:ln/>
        </p:spPr>
        <p:txBody>
          <a:bodyPr wrap="none" lIns="0" tIns="0" rIns="0" bIns="0" rtlCol="0" anchor="t"/>
          <a:lstStyle/>
          <a:p>
            <a:pPr>
              <a:lnSpc>
                <a:spcPts val="1719"/>
              </a:lnSpc>
            </a:pPr>
            <a:r>
              <a:rPr lang="en-US" sz="1800" b="1" spc="-14" dirty="0">
                <a:solidFill>
                  <a:srgbClr val="3D3838"/>
                </a:solidFill>
                <a:latin typeface="Arial" panose="020B0604020202020204" pitchFamily="34" charset="0"/>
                <a:ea typeface="Montserrat Bold" pitchFamily="34" charset="-122"/>
                <a:cs typeface="Arial" panose="020B0604020202020204" pitchFamily="34" charset="0"/>
              </a:rPr>
              <a:t>Economie di scala</a:t>
            </a:r>
            <a:endParaRPr lang="en-US" sz="1800" dirty="0">
              <a:latin typeface="Arial" panose="020B0604020202020204" pitchFamily="34" charset="0"/>
              <a:cs typeface="Arial" panose="020B0604020202020204" pitchFamily="34" charset="0"/>
            </a:endParaRPr>
          </a:p>
        </p:txBody>
      </p:sp>
      <p:sp>
        <p:nvSpPr>
          <p:cNvPr id="6" name="Text 2"/>
          <p:cNvSpPr/>
          <p:nvPr/>
        </p:nvSpPr>
        <p:spPr>
          <a:xfrm>
            <a:off x="3375422" y="2634333"/>
            <a:ext cx="3889251" cy="231353"/>
          </a:xfrm>
          <a:prstGeom prst="rect">
            <a:avLst/>
          </a:prstGeom>
          <a:noFill/>
          <a:ln/>
        </p:spPr>
        <p:txBody>
          <a:bodyPr wrap="none" lIns="0" tIns="0" rIns="0" bIns="0" rtlCol="0" anchor="t"/>
          <a:lstStyle/>
          <a:p>
            <a:pPr>
              <a:lnSpc>
                <a:spcPts val="1813"/>
              </a:lnSpc>
            </a:pPr>
            <a:r>
              <a:rPr lang="en-US" sz="1600" dirty="0">
                <a:solidFill>
                  <a:srgbClr val="3D3838"/>
                </a:solidFill>
                <a:latin typeface="Arial" panose="020B0604020202020204" pitchFamily="34" charset="0"/>
                <a:ea typeface="Source Sans Pro" pitchFamily="34" charset="-122"/>
                <a:cs typeface="Arial" panose="020B0604020202020204" pitchFamily="34" charset="0"/>
              </a:rPr>
              <a:t>Apple e Samsung dominano grazie alla produzione di massa.</a:t>
            </a:r>
            <a:endParaRPr lang="en-US" sz="1600" dirty="0">
              <a:latin typeface="Arial" panose="020B0604020202020204" pitchFamily="34" charset="0"/>
              <a:cs typeface="Arial" panose="020B0604020202020204" pitchFamily="34" charset="0"/>
            </a:endParaRPr>
          </a:p>
        </p:txBody>
      </p:sp>
      <p:sp>
        <p:nvSpPr>
          <p:cNvPr id="7" name="Shape 3"/>
          <p:cNvSpPr/>
          <p:nvPr/>
        </p:nvSpPr>
        <p:spPr>
          <a:xfrm>
            <a:off x="3259708" y="3029694"/>
            <a:ext cx="5305871" cy="9525"/>
          </a:xfrm>
          <a:prstGeom prst="roundRect">
            <a:avLst>
              <a:gd name="adj" fmla="val 242945"/>
            </a:avLst>
          </a:prstGeom>
          <a:solidFill>
            <a:srgbClr val="D8D4D4"/>
          </a:solidFill>
          <a:ln/>
        </p:spPr>
      </p:sp>
      <p:pic>
        <p:nvPicPr>
          <p:cNvPr id="8" name="Image 2" descr="preencoded.png"/>
          <p:cNvPicPr>
            <a:picLocks noChangeAspect="1"/>
          </p:cNvPicPr>
          <p:nvPr/>
        </p:nvPicPr>
        <p:blipFill>
          <a:blip r:embed="rId5"/>
          <a:stretch>
            <a:fillRect/>
          </a:stretch>
        </p:blipFill>
        <p:spPr>
          <a:xfrm>
            <a:off x="1225302" y="3058493"/>
            <a:ext cx="2661196" cy="851520"/>
          </a:xfrm>
          <a:prstGeom prst="rect">
            <a:avLst/>
          </a:prstGeom>
        </p:spPr>
      </p:pic>
      <p:pic>
        <p:nvPicPr>
          <p:cNvPr id="9" name="Image 3" descr="preencoded.png"/>
          <p:cNvPicPr>
            <a:picLocks noChangeAspect="1"/>
          </p:cNvPicPr>
          <p:nvPr/>
        </p:nvPicPr>
        <p:blipFill>
          <a:blip r:embed="rId6"/>
          <a:stretch>
            <a:fillRect/>
          </a:stretch>
        </p:blipFill>
        <p:spPr>
          <a:xfrm>
            <a:off x="2447405" y="3348633"/>
            <a:ext cx="216917" cy="271165"/>
          </a:xfrm>
          <a:prstGeom prst="rect">
            <a:avLst/>
          </a:prstGeom>
        </p:spPr>
      </p:pic>
      <p:sp>
        <p:nvSpPr>
          <p:cNvPr id="10" name="Text 4"/>
          <p:cNvSpPr/>
          <p:nvPr/>
        </p:nvSpPr>
        <p:spPr>
          <a:xfrm>
            <a:off x="4040759" y="3212753"/>
            <a:ext cx="1980828" cy="219149"/>
          </a:xfrm>
          <a:prstGeom prst="rect">
            <a:avLst/>
          </a:prstGeom>
          <a:noFill/>
          <a:ln/>
        </p:spPr>
        <p:txBody>
          <a:bodyPr wrap="none" lIns="0" tIns="0" rIns="0" bIns="0" rtlCol="0" anchor="t"/>
          <a:lstStyle/>
          <a:p>
            <a:pPr>
              <a:lnSpc>
                <a:spcPts val="1719"/>
              </a:lnSpc>
            </a:pPr>
            <a:r>
              <a:rPr lang="en-US" sz="1800" b="1" spc="-14" dirty="0">
                <a:solidFill>
                  <a:srgbClr val="3D3838"/>
                </a:solidFill>
                <a:latin typeface="Arial" panose="020B0604020202020204" pitchFamily="34" charset="0"/>
                <a:ea typeface="Montserrat Bold" pitchFamily="34" charset="-122"/>
                <a:cs typeface="Arial" panose="020B0604020202020204" pitchFamily="34" charset="0"/>
              </a:rPr>
              <a:t>Proprietà intellettuale</a:t>
            </a:r>
            <a:endParaRPr lang="en-US" sz="1800" dirty="0">
              <a:latin typeface="Arial" panose="020B0604020202020204" pitchFamily="34" charset="0"/>
              <a:cs typeface="Arial" panose="020B0604020202020204" pitchFamily="34" charset="0"/>
            </a:endParaRPr>
          </a:p>
        </p:txBody>
      </p:sp>
      <p:sp>
        <p:nvSpPr>
          <p:cNvPr id="11" name="Text 5"/>
          <p:cNvSpPr/>
          <p:nvPr/>
        </p:nvSpPr>
        <p:spPr>
          <a:xfrm>
            <a:off x="4040758" y="3524399"/>
            <a:ext cx="3427735" cy="231353"/>
          </a:xfrm>
          <a:prstGeom prst="rect">
            <a:avLst/>
          </a:prstGeom>
          <a:noFill/>
          <a:ln/>
        </p:spPr>
        <p:txBody>
          <a:bodyPr wrap="none" lIns="0" tIns="0" rIns="0" bIns="0" rtlCol="0" anchor="t"/>
          <a:lstStyle/>
          <a:p>
            <a:pPr>
              <a:lnSpc>
                <a:spcPts val="1813"/>
              </a:lnSpc>
            </a:pPr>
            <a:r>
              <a:rPr lang="en-US" sz="1600" dirty="0">
                <a:solidFill>
                  <a:srgbClr val="3D3838"/>
                </a:solidFill>
                <a:latin typeface="Arial" panose="020B0604020202020204" pitchFamily="34" charset="0"/>
                <a:ea typeface="Source Sans Pro" pitchFamily="34" charset="-122"/>
                <a:cs typeface="Arial" panose="020B0604020202020204" pitchFamily="34" charset="0"/>
              </a:rPr>
              <a:t>Brevetti e tecnologie esclusive proteggono il mercato.</a:t>
            </a:r>
            <a:endParaRPr lang="en-US" sz="1600" dirty="0">
              <a:latin typeface="Arial" panose="020B0604020202020204" pitchFamily="34" charset="0"/>
              <a:cs typeface="Arial" panose="020B0604020202020204" pitchFamily="34" charset="0"/>
            </a:endParaRPr>
          </a:p>
        </p:txBody>
      </p:sp>
      <p:sp>
        <p:nvSpPr>
          <p:cNvPr id="12" name="Shape 6"/>
          <p:cNvSpPr/>
          <p:nvPr/>
        </p:nvSpPr>
        <p:spPr>
          <a:xfrm>
            <a:off x="3925045" y="3919761"/>
            <a:ext cx="4640536" cy="9525"/>
          </a:xfrm>
          <a:prstGeom prst="roundRect">
            <a:avLst>
              <a:gd name="adj" fmla="val 242945"/>
            </a:avLst>
          </a:prstGeom>
          <a:solidFill>
            <a:srgbClr val="D8D4D4"/>
          </a:solidFill>
          <a:ln/>
        </p:spPr>
      </p:sp>
      <p:pic>
        <p:nvPicPr>
          <p:cNvPr id="13" name="Image 4" descr="preencoded.png"/>
          <p:cNvPicPr>
            <a:picLocks noChangeAspect="1"/>
          </p:cNvPicPr>
          <p:nvPr/>
        </p:nvPicPr>
        <p:blipFill>
          <a:blip r:embed="rId7"/>
          <a:stretch>
            <a:fillRect/>
          </a:stretch>
        </p:blipFill>
        <p:spPr>
          <a:xfrm>
            <a:off x="559966" y="3948559"/>
            <a:ext cx="3991794" cy="851520"/>
          </a:xfrm>
          <a:prstGeom prst="rect">
            <a:avLst/>
          </a:prstGeom>
        </p:spPr>
      </p:pic>
      <p:pic>
        <p:nvPicPr>
          <p:cNvPr id="14" name="Image 5" descr="preencoded.png"/>
          <p:cNvPicPr>
            <a:picLocks noChangeAspect="1"/>
          </p:cNvPicPr>
          <p:nvPr/>
        </p:nvPicPr>
        <p:blipFill>
          <a:blip r:embed="rId8"/>
          <a:stretch>
            <a:fillRect/>
          </a:stretch>
        </p:blipFill>
        <p:spPr>
          <a:xfrm>
            <a:off x="2447405" y="4238699"/>
            <a:ext cx="216917" cy="271165"/>
          </a:xfrm>
          <a:prstGeom prst="rect">
            <a:avLst/>
          </a:prstGeom>
        </p:spPr>
      </p:pic>
      <p:sp>
        <p:nvSpPr>
          <p:cNvPr id="15" name="Text 7"/>
          <p:cNvSpPr/>
          <p:nvPr/>
        </p:nvSpPr>
        <p:spPr>
          <a:xfrm>
            <a:off x="4551232" y="4128877"/>
            <a:ext cx="1757734" cy="219149"/>
          </a:xfrm>
          <a:prstGeom prst="rect">
            <a:avLst/>
          </a:prstGeom>
          <a:noFill/>
          <a:ln/>
        </p:spPr>
        <p:txBody>
          <a:bodyPr wrap="none" lIns="0" tIns="0" rIns="0" bIns="0" rtlCol="0" anchor="t"/>
          <a:lstStyle/>
          <a:p>
            <a:pPr>
              <a:lnSpc>
                <a:spcPts val="1719"/>
              </a:lnSpc>
            </a:pPr>
            <a:r>
              <a:rPr lang="en-US" sz="1800" b="1" spc="-14" dirty="0">
                <a:solidFill>
                  <a:srgbClr val="3D3838"/>
                </a:solidFill>
                <a:latin typeface="Arial" panose="020B0604020202020204" pitchFamily="34" charset="0"/>
                <a:ea typeface="Montserrat Bold" pitchFamily="34" charset="-122"/>
                <a:cs typeface="Arial" panose="020B0604020202020204" pitchFamily="34" charset="0"/>
              </a:rPr>
              <a:t>Investimenti iniziali</a:t>
            </a:r>
            <a:endParaRPr lang="en-US" sz="1800" dirty="0">
              <a:latin typeface="Arial" panose="020B0604020202020204" pitchFamily="34" charset="0"/>
              <a:cs typeface="Arial" panose="020B0604020202020204" pitchFamily="34" charset="0"/>
            </a:endParaRPr>
          </a:p>
        </p:txBody>
      </p:sp>
      <p:sp>
        <p:nvSpPr>
          <p:cNvPr id="16" name="Text 8"/>
          <p:cNvSpPr/>
          <p:nvPr/>
        </p:nvSpPr>
        <p:spPr>
          <a:xfrm>
            <a:off x="4527892" y="4420180"/>
            <a:ext cx="3761576" cy="453181"/>
          </a:xfrm>
          <a:prstGeom prst="rect">
            <a:avLst/>
          </a:prstGeom>
          <a:noFill/>
          <a:ln/>
        </p:spPr>
        <p:txBody>
          <a:bodyPr wrap="none" lIns="0" tIns="0" rIns="0" bIns="0" rtlCol="0" anchor="t"/>
          <a:lstStyle/>
          <a:p>
            <a:pPr>
              <a:lnSpc>
                <a:spcPts val="1813"/>
              </a:lnSpc>
            </a:pPr>
            <a:r>
              <a:rPr lang="en-US" sz="1600" dirty="0">
                <a:solidFill>
                  <a:srgbClr val="3D3838"/>
                </a:solidFill>
                <a:latin typeface="Arial" panose="020B0604020202020204" pitchFamily="34" charset="0"/>
                <a:ea typeface="Source Sans Pro" pitchFamily="34" charset="-122"/>
                <a:cs typeface="Arial" panose="020B0604020202020204" pitchFamily="34" charset="0"/>
              </a:rPr>
              <a:t>R&amp;S e produzione </a:t>
            </a:r>
            <a:r>
              <a:rPr lang="en-US" sz="1600" dirty="0" err="1">
                <a:solidFill>
                  <a:srgbClr val="3D3838"/>
                </a:solidFill>
                <a:latin typeface="Arial" panose="020B0604020202020204" pitchFamily="34" charset="0"/>
                <a:ea typeface="Source Sans Pro" pitchFamily="34" charset="-122"/>
                <a:cs typeface="Arial" panose="020B0604020202020204" pitchFamily="34" charset="0"/>
              </a:rPr>
              <a:t>richiedono</a:t>
            </a:r>
            <a:r>
              <a:rPr lang="en-US" sz="1600" dirty="0">
                <a:solidFill>
                  <a:srgbClr val="3D3838"/>
                </a:solidFill>
                <a:latin typeface="Arial" panose="020B0604020202020204" pitchFamily="34" charset="0"/>
                <a:ea typeface="Source Sans Pro" pitchFamily="34" charset="-122"/>
                <a:cs typeface="Arial" panose="020B0604020202020204" pitchFamily="34" charset="0"/>
              </a:rPr>
              <a:t> </a:t>
            </a:r>
            <a:r>
              <a:rPr lang="en-US" sz="1600" dirty="0" err="1">
                <a:solidFill>
                  <a:srgbClr val="3D3838"/>
                </a:solidFill>
                <a:latin typeface="Arial" panose="020B0604020202020204" pitchFamily="34" charset="0"/>
                <a:ea typeface="Source Sans Pro" pitchFamily="34" charset="-122"/>
                <a:cs typeface="Arial" panose="020B0604020202020204" pitchFamily="34" charset="0"/>
              </a:rPr>
              <a:t>notevoli</a:t>
            </a:r>
            <a:r>
              <a:rPr lang="en-US" sz="1600" dirty="0">
                <a:solidFill>
                  <a:srgbClr val="3D3838"/>
                </a:solidFill>
                <a:latin typeface="Arial" panose="020B0604020202020204" pitchFamily="34" charset="0"/>
                <a:ea typeface="Source Sans Pro" pitchFamily="34" charset="-122"/>
                <a:cs typeface="Arial" panose="020B0604020202020204" pitchFamily="34" charset="0"/>
              </a:rPr>
              <a:t> </a:t>
            </a:r>
            <a:r>
              <a:rPr lang="en-US" sz="1600" dirty="0" err="1">
                <a:solidFill>
                  <a:srgbClr val="3D3838"/>
                </a:solidFill>
                <a:latin typeface="Arial" panose="020B0604020202020204" pitchFamily="34" charset="0"/>
                <a:ea typeface="Source Sans Pro" pitchFamily="34" charset="-122"/>
                <a:cs typeface="Arial" panose="020B0604020202020204" pitchFamily="34" charset="0"/>
              </a:rPr>
              <a:t>investimenti</a:t>
            </a:r>
            <a:r>
              <a:rPr lang="en-US" sz="1600" dirty="0">
                <a:solidFill>
                  <a:srgbClr val="3D3838"/>
                </a:solidFill>
                <a:latin typeface="Arial" panose="020B0604020202020204" pitchFamily="34" charset="0"/>
                <a:ea typeface="Source Sans Pro" pitchFamily="34" charset="-122"/>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17" name="Text 9"/>
          <p:cNvSpPr/>
          <p:nvPr/>
        </p:nvSpPr>
        <p:spPr>
          <a:xfrm>
            <a:off x="673894" y="5637561"/>
            <a:ext cx="8064252" cy="462707"/>
          </a:xfrm>
          <a:prstGeom prst="rect">
            <a:avLst/>
          </a:prstGeom>
          <a:noFill/>
          <a:ln/>
        </p:spPr>
        <p:txBody>
          <a:bodyPr wrap="square" lIns="0" tIns="0" rIns="0" bIns="0" rtlCol="0" anchor="t"/>
          <a:lstStyle/>
          <a:p>
            <a:pPr>
              <a:lnSpc>
                <a:spcPts val="1813"/>
              </a:lnSpc>
            </a:pPr>
            <a:r>
              <a:rPr lang="en-US" sz="1600" dirty="0">
                <a:solidFill>
                  <a:srgbClr val="3D3838"/>
                </a:solidFill>
                <a:latin typeface="Arial" panose="020B0604020202020204" pitchFamily="34" charset="0"/>
                <a:ea typeface="Source Sans Pro" pitchFamily="34" charset="-122"/>
                <a:cs typeface="Arial" panose="020B0604020202020204" pitchFamily="34" charset="0"/>
              </a:rPr>
              <a:t>Nel settore degli smartphone, queste barriere hanno limitato drasticamente l'ingresso di nuovi produttori globali nell'ultimo decennio.</a:t>
            </a: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015663"/>
          </a:xfrm>
          <a:prstGeom prst="rect">
            <a:avLst/>
          </a:prstGeom>
        </p:spPr>
        <p:txBody>
          <a:bodyPr wrap="square">
            <a:spAutoFit/>
          </a:bodyPr>
          <a:lstStyle/>
          <a:p>
            <a:r>
              <a:rPr lang="it-IT" sz="3000" b="1" dirty="0"/>
              <a:t>Gli elementi che compongono il modello delle 5 Forze di Porter. </a:t>
            </a:r>
          </a:p>
        </p:txBody>
      </p:sp>
      <p:sp>
        <p:nvSpPr>
          <p:cNvPr id="2" name="Rettangolo 1">
            <a:extLst>
              <a:ext uri="{FF2B5EF4-FFF2-40B4-BE49-F238E27FC236}">
                <a16:creationId xmlns:a16="http://schemas.microsoft.com/office/drawing/2014/main" id="{90911335-9FD2-45E4-B2C7-531CAF4B880B}"/>
              </a:ext>
            </a:extLst>
          </p:cNvPr>
          <p:cNvSpPr/>
          <p:nvPr/>
        </p:nvSpPr>
        <p:spPr>
          <a:xfrm>
            <a:off x="610073" y="1999943"/>
            <a:ext cx="7923854" cy="2862322"/>
          </a:xfrm>
          <a:prstGeom prst="rect">
            <a:avLst/>
          </a:prstGeom>
        </p:spPr>
        <p:txBody>
          <a:bodyPr wrap="square">
            <a:spAutoFit/>
          </a:bodyPr>
          <a:lstStyle/>
          <a:p>
            <a:r>
              <a:rPr lang="it-IT" sz="2000" b="1" dirty="0">
                <a:solidFill>
                  <a:srgbClr val="FF0000"/>
                </a:solidFill>
              </a:rPr>
              <a:t>2) La seconda forza del Modello di Porter: il potere dei fornitori</a:t>
            </a:r>
          </a:p>
          <a:p>
            <a:endParaRPr lang="it-IT" sz="2000" b="1" dirty="0"/>
          </a:p>
          <a:p>
            <a:pPr algn="just"/>
            <a:r>
              <a:rPr lang="it-IT" sz="2000" dirty="0"/>
              <a:t>La seconda forza del </a:t>
            </a:r>
            <a:r>
              <a:rPr lang="it-IT" sz="2000" b="1" dirty="0"/>
              <a:t>Modello di Porter</a:t>
            </a:r>
            <a:r>
              <a:rPr lang="it-IT" sz="2000" dirty="0"/>
              <a:t> stabilisce che i fornitori esercitano il loro potere contrattuale e trattengono una parte maggiore del valore caricando prezzi più alti, limitando la qualità dei servizi o spostando i costi sugli altri attori che fanno parte del settore. Se un settore, attraverso </a:t>
            </a:r>
            <a:r>
              <a:rPr lang="it-IT" sz="2000" b="1" dirty="0"/>
              <a:t>strategie competitive</a:t>
            </a:r>
            <a:r>
              <a:rPr lang="it-IT" sz="2000" dirty="0"/>
              <a:t> errate, non è in grado di reagire all’aumento dei costi con i prezzi di un fornitore particolarmente potente, la sua profittabilità può essere azzerata.</a:t>
            </a:r>
          </a:p>
        </p:txBody>
      </p:sp>
    </p:spTree>
    <p:extLst>
      <p:ext uri="{BB962C8B-B14F-4D97-AF65-F5344CB8AC3E}">
        <p14:creationId xmlns:p14="http://schemas.microsoft.com/office/powerpoint/2010/main" val="2869197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641971"/>
            <a:ext cx="5150049" cy="442987"/>
          </a:xfrm>
          <a:prstGeom prst="rect">
            <a:avLst/>
          </a:prstGeom>
          <a:noFill/>
          <a:ln/>
        </p:spPr>
        <p:txBody>
          <a:bodyPr wrap="none" lIns="0" tIns="0" rIns="0" bIns="0" rtlCol="0" anchor="t"/>
          <a:lstStyle/>
          <a:p>
            <a:pPr>
              <a:lnSpc>
                <a:spcPts val="3469"/>
              </a:lnSpc>
            </a:pPr>
            <a:r>
              <a:rPr lang="en-US" sz="3600" b="1" dirty="0">
                <a:solidFill>
                  <a:srgbClr val="312F2B"/>
                </a:solidFill>
                <a:latin typeface="+mj-lt"/>
                <a:ea typeface="Gelasio" pitchFamily="34" charset="-122"/>
                <a:cs typeface="Gelasio" pitchFamily="34" charset="-120"/>
              </a:rPr>
              <a:t>Potere Contrattuale dei Fornitori</a:t>
            </a:r>
            <a:endParaRPr lang="en-US" sz="3600" b="1" dirty="0">
              <a:latin typeface="+mj-lt"/>
            </a:endParaRPr>
          </a:p>
        </p:txBody>
      </p:sp>
      <p:pic>
        <p:nvPicPr>
          <p:cNvPr id="3" name="Image 0" descr="preencoded.png"/>
          <p:cNvPicPr>
            <a:picLocks noChangeAspect="1"/>
          </p:cNvPicPr>
          <p:nvPr/>
        </p:nvPicPr>
        <p:blipFill>
          <a:blip r:embed="rId3"/>
          <a:stretch>
            <a:fillRect/>
          </a:stretch>
        </p:blipFill>
        <p:spPr>
          <a:xfrm>
            <a:off x="2126457" y="3035499"/>
            <a:ext cx="4891013" cy="4891013"/>
          </a:xfrm>
          <a:prstGeom prst="rect">
            <a:avLst/>
          </a:prstGeom>
        </p:spPr>
      </p:pic>
      <p:pic>
        <p:nvPicPr>
          <p:cNvPr id="4" name="Image 1" descr="preencoded.png"/>
          <p:cNvPicPr>
            <a:picLocks noChangeAspect="1"/>
          </p:cNvPicPr>
          <p:nvPr/>
        </p:nvPicPr>
        <p:blipFill>
          <a:blip r:embed="rId4"/>
          <a:stretch>
            <a:fillRect/>
          </a:stretch>
        </p:blipFill>
        <p:spPr>
          <a:xfrm>
            <a:off x="2757785" y="4629522"/>
            <a:ext cx="239167" cy="298996"/>
          </a:xfrm>
          <a:prstGeom prst="rect">
            <a:avLst/>
          </a:prstGeom>
        </p:spPr>
      </p:pic>
      <p:pic>
        <p:nvPicPr>
          <p:cNvPr id="5" name="Image 2" descr="preencoded.png"/>
          <p:cNvPicPr>
            <a:picLocks noChangeAspect="1"/>
          </p:cNvPicPr>
          <p:nvPr/>
        </p:nvPicPr>
        <p:blipFill>
          <a:blip r:embed="rId5"/>
          <a:stretch>
            <a:fillRect/>
          </a:stretch>
        </p:blipFill>
        <p:spPr>
          <a:xfrm>
            <a:off x="2126457" y="3035499"/>
            <a:ext cx="4891013" cy="4891013"/>
          </a:xfrm>
          <a:prstGeom prst="rect">
            <a:avLst/>
          </a:prstGeom>
        </p:spPr>
      </p:pic>
      <p:pic>
        <p:nvPicPr>
          <p:cNvPr id="6" name="Image 3" descr="preencoded.png"/>
          <p:cNvPicPr>
            <a:picLocks noChangeAspect="1"/>
          </p:cNvPicPr>
          <p:nvPr/>
        </p:nvPicPr>
        <p:blipFill>
          <a:blip r:embed="rId6"/>
          <a:stretch>
            <a:fillRect/>
          </a:stretch>
        </p:blipFill>
        <p:spPr>
          <a:xfrm>
            <a:off x="3750395" y="3636913"/>
            <a:ext cx="239167" cy="298996"/>
          </a:xfrm>
          <a:prstGeom prst="rect">
            <a:avLst/>
          </a:prstGeom>
        </p:spPr>
      </p:pic>
      <p:pic>
        <p:nvPicPr>
          <p:cNvPr id="7" name="Image 4" descr="preencoded.png"/>
          <p:cNvPicPr>
            <a:picLocks noChangeAspect="1"/>
          </p:cNvPicPr>
          <p:nvPr/>
        </p:nvPicPr>
        <p:blipFill>
          <a:blip r:embed="rId7"/>
          <a:stretch>
            <a:fillRect/>
          </a:stretch>
        </p:blipFill>
        <p:spPr>
          <a:xfrm>
            <a:off x="2126457" y="3035499"/>
            <a:ext cx="4891013" cy="4891013"/>
          </a:xfrm>
          <a:prstGeom prst="rect">
            <a:avLst/>
          </a:prstGeom>
        </p:spPr>
      </p:pic>
      <p:pic>
        <p:nvPicPr>
          <p:cNvPr id="8" name="Image 5" descr="preencoded.png"/>
          <p:cNvPicPr>
            <a:picLocks noChangeAspect="1"/>
          </p:cNvPicPr>
          <p:nvPr/>
        </p:nvPicPr>
        <p:blipFill>
          <a:blip r:embed="rId8"/>
          <a:stretch>
            <a:fillRect/>
          </a:stretch>
        </p:blipFill>
        <p:spPr>
          <a:xfrm>
            <a:off x="5154216" y="3636913"/>
            <a:ext cx="239167" cy="298996"/>
          </a:xfrm>
          <a:prstGeom prst="rect">
            <a:avLst/>
          </a:prstGeom>
        </p:spPr>
      </p:pic>
      <p:pic>
        <p:nvPicPr>
          <p:cNvPr id="9" name="Image 6" descr="preencoded.png"/>
          <p:cNvPicPr>
            <a:picLocks noChangeAspect="1"/>
          </p:cNvPicPr>
          <p:nvPr/>
        </p:nvPicPr>
        <p:blipFill>
          <a:blip r:embed="rId9"/>
          <a:stretch>
            <a:fillRect/>
          </a:stretch>
        </p:blipFill>
        <p:spPr>
          <a:xfrm>
            <a:off x="2126457" y="3035499"/>
            <a:ext cx="4891013" cy="4891013"/>
          </a:xfrm>
          <a:prstGeom prst="rect">
            <a:avLst/>
          </a:prstGeom>
        </p:spPr>
      </p:pic>
      <p:pic>
        <p:nvPicPr>
          <p:cNvPr id="10" name="Image 7" descr="preencoded.png"/>
          <p:cNvPicPr>
            <a:picLocks noChangeAspect="1"/>
          </p:cNvPicPr>
          <p:nvPr/>
        </p:nvPicPr>
        <p:blipFill>
          <a:blip r:embed="rId10"/>
          <a:stretch>
            <a:fillRect/>
          </a:stretch>
        </p:blipFill>
        <p:spPr>
          <a:xfrm>
            <a:off x="6146825" y="4629522"/>
            <a:ext cx="239167" cy="298996"/>
          </a:xfrm>
          <a:prstGeom prst="rect">
            <a:avLst/>
          </a:prstGeom>
        </p:spPr>
      </p:pic>
      <p:sp>
        <p:nvSpPr>
          <p:cNvPr id="11" name="Text 1"/>
          <p:cNvSpPr/>
          <p:nvPr/>
        </p:nvSpPr>
        <p:spPr>
          <a:xfrm>
            <a:off x="301079" y="4075246"/>
            <a:ext cx="1772022" cy="221456"/>
          </a:xfrm>
          <a:prstGeom prst="rect">
            <a:avLst/>
          </a:prstGeom>
          <a:noFill/>
          <a:ln/>
        </p:spPr>
        <p:txBody>
          <a:bodyPr wrap="none" lIns="0" tIns="0" rIns="0" bIns="0" rtlCol="0" anchor="t"/>
          <a:lstStyle/>
          <a:p>
            <a:pPr algn="ctr">
              <a:lnSpc>
                <a:spcPts val="1719"/>
              </a:lnSpc>
            </a:pPr>
            <a:r>
              <a:rPr lang="en-US" sz="1800" dirty="0">
                <a:solidFill>
                  <a:srgbClr val="312F2B"/>
                </a:solidFill>
                <a:latin typeface="+mj-lt"/>
                <a:ea typeface="Gelasio" pitchFamily="34" charset="-122"/>
                <a:cs typeface="Gelasio" pitchFamily="34" charset="-120"/>
              </a:rPr>
              <a:t>Concentrazione</a:t>
            </a:r>
            <a:endParaRPr lang="en-US" sz="1800" dirty="0">
              <a:latin typeface="+mj-lt"/>
            </a:endParaRPr>
          </a:p>
        </p:txBody>
      </p:sp>
      <p:sp>
        <p:nvSpPr>
          <p:cNvPr id="12" name="Text 2"/>
          <p:cNvSpPr/>
          <p:nvPr/>
        </p:nvSpPr>
        <p:spPr>
          <a:xfrm>
            <a:off x="247873" y="4381757"/>
            <a:ext cx="1878434" cy="731788"/>
          </a:xfrm>
          <a:prstGeom prst="rect">
            <a:avLst/>
          </a:prstGeom>
          <a:noFill/>
          <a:ln/>
        </p:spPr>
        <p:txBody>
          <a:bodyPr wrap="square" lIns="0" tIns="0" rIns="0" bIns="0" rtlCol="0" anchor="t"/>
          <a:lstStyle/>
          <a:p>
            <a:pPr algn="ctr">
              <a:lnSpc>
                <a:spcPts val="1781"/>
              </a:lnSpc>
            </a:pPr>
            <a:r>
              <a:rPr lang="en-US" dirty="0">
                <a:solidFill>
                  <a:srgbClr val="272525"/>
                </a:solidFill>
                <a:latin typeface="+mj-lt"/>
                <a:ea typeface="Lato" pitchFamily="34" charset="-122"/>
                <a:cs typeface="Lato" pitchFamily="34" charset="-120"/>
              </a:rPr>
              <a:t>Pochi fornitori aumentano il loro potere</a:t>
            </a:r>
            <a:endParaRPr lang="en-US" dirty="0">
              <a:latin typeface="+mj-lt"/>
            </a:endParaRPr>
          </a:p>
        </p:txBody>
      </p:sp>
      <p:sp>
        <p:nvSpPr>
          <p:cNvPr id="13" name="Text 3"/>
          <p:cNvSpPr/>
          <p:nvPr/>
        </p:nvSpPr>
        <p:spPr>
          <a:xfrm>
            <a:off x="2374628" y="2312635"/>
            <a:ext cx="1772022" cy="221456"/>
          </a:xfrm>
          <a:prstGeom prst="rect">
            <a:avLst/>
          </a:prstGeom>
          <a:noFill/>
          <a:ln/>
        </p:spPr>
        <p:txBody>
          <a:bodyPr wrap="none" lIns="0" tIns="0" rIns="0" bIns="0" rtlCol="0" anchor="t"/>
          <a:lstStyle/>
          <a:p>
            <a:pPr algn="ctr">
              <a:lnSpc>
                <a:spcPts val="1719"/>
              </a:lnSpc>
            </a:pPr>
            <a:r>
              <a:rPr lang="en-US" sz="1800" dirty="0">
                <a:solidFill>
                  <a:srgbClr val="312F2B"/>
                </a:solidFill>
                <a:latin typeface="+mj-lt"/>
                <a:ea typeface="Gelasio" pitchFamily="34" charset="-122"/>
                <a:cs typeface="Gelasio" pitchFamily="34" charset="-120"/>
              </a:rPr>
              <a:t>Costo di cambio</a:t>
            </a:r>
            <a:endParaRPr lang="en-US" sz="1800" dirty="0">
              <a:latin typeface="+mj-lt"/>
            </a:endParaRPr>
          </a:p>
        </p:txBody>
      </p:sp>
      <p:sp>
        <p:nvSpPr>
          <p:cNvPr id="14" name="Text 4"/>
          <p:cNvSpPr/>
          <p:nvPr/>
        </p:nvSpPr>
        <p:spPr>
          <a:xfrm>
            <a:off x="2321422" y="2619146"/>
            <a:ext cx="1878509" cy="453628"/>
          </a:xfrm>
          <a:prstGeom prst="rect">
            <a:avLst/>
          </a:prstGeom>
          <a:noFill/>
          <a:ln/>
        </p:spPr>
        <p:txBody>
          <a:bodyPr wrap="square" lIns="0" tIns="0" rIns="0" bIns="0" rtlCol="0" anchor="t"/>
          <a:lstStyle/>
          <a:p>
            <a:pPr algn="ctr">
              <a:lnSpc>
                <a:spcPts val="1781"/>
              </a:lnSpc>
            </a:pPr>
            <a:r>
              <a:rPr lang="en-US" dirty="0">
                <a:solidFill>
                  <a:srgbClr val="272525"/>
                </a:solidFill>
                <a:latin typeface="+mj-lt"/>
                <a:ea typeface="Lato" pitchFamily="34" charset="-122"/>
                <a:cs typeface="Lato" pitchFamily="34" charset="-120"/>
              </a:rPr>
              <a:t>Difficoltà nel cambiare fornitore</a:t>
            </a:r>
            <a:endParaRPr lang="en-US" dirty="0">
              <a:latin typeface="+mj-lt"/>
            </a:endParaRPr>
          </a:p>
        </p:txBody>
      </p:sp>
      <p:sp>
        <p:nvSpPr>
          <p:cNvPr id="15" name="Text 5"/>
          <p:cNvSpPr/>
          <p:nvPr/>
        </p:nvSpPr>
        <p:spPr>
          <a:xfrm>
            <a:off x="4943996" y="2305945"/>
            <a:ext cx="1772022" cy="221456"/>
          </a:xfrm>
          <a:prstGeom prst="rect">
            <a:avLst/>
          </a:prstGeom>
          <a:noFill/>
          <a:ln/>
        </p:spPr>
        <p:txBody>
          <a:bodyPr wrap="none" lIns="0" tIns="0" rIns="0" bIns="0" rtlCol="0" anchor="t"/>
          <a:lstStyle/>
          <a:p>
            <a:pPr algn="ctr">
              <a:lnSpc>
                <a:spcPts val="1719"/>
              </a:lnSpc>
            </a:pPr>
            <a:r>
              <a:rPr lang="en-US" sz="1800" dirty="0">
                <a:solidFill>
                  <a:srgbClr val="312F2B"/>
                </a:solidFill>
                <a:latin typeface="+mj-lt"/>
                <a:ea typeface="Gelasio" pitchFamily="34" charset="-122"/>
                <a:cs typeface="Gelasio" pitchFamily="34" charset="-120"/>
              </a:rPr>
              <a:t>Alternative</a:t>
            </a:r>
            <a:endParaRPr lang="en-US" sz="1800" dirty="0">
              <a:latin typeface="+mj-lt"/>
            </a:endParaRPr>
          </a:p>
        </p:txBody>
      </p:sp>
      <p:sp>
        <p:nvSpPr>
          <p:cNvPr id="16" name="Text 6"/>
          <p:cNvSpPr/>
          <p:nvPr/>
        </p:nvSpPr>
        <p:spPr>
          <a:xfrm>
            <a:off x="4890789" y="2612456"/>
            <a:ext cx="1878509" cy="453628"/>
          </a:xfrm>
          <a:prstGeom prst="rect">
            <a:avLst/>
          </a:prstGeom>
          <a:noFill/>
          <a:ln/>
        </p:spPr>
        <p:txBody>
          <a:bodyPr wrap="square" lIns="0" tIns="0" rIns="0" bIns="0" rtlCol="0" anchor="t"/>
          <a:lstStyle/>
          <a:p>
            <a:pPr algn="ctr">
              <a:lnSpc>
                <a:spcPts val="1781"/>
              </a:lnSpc>
            </a:pPr>
            <a:r>
              <a:rPr lang="en-US" dirty="0">
                <a:solidFill>
                  <a:srgbClr val="272525"/>
                </a:solidFill>
                <a:latin typeface="+mj-lt"/>
                <a:ea typeface="Lato" pitchFamily="34" charset="-122"/>
                <a:cs typeface="Lato" pitchFamily="34" charset="-120"/>
              </a:rPr>
              <a:t>Disponibilità di fornitori sostitutivi</a:t>
            </a:r>
            <a:endParaRPr lang="en-US" dirty="0">
              <a:latin typeface="+mj-lt"/>
            </a:endParaRPr>
          </a:p>
        </p:txBody>
      </p:sp>
      <p:sp>
        <p:nvSpPr>
          <p:cNvPr id="17" name="Text 7"/>
          <p:cNvSpPr/>
          <p:nvPr/>
        </p:nvSpPr>
        <p:spPr>
          <a:xfrm>
            <a:off x="7017618" y="4091204"/>
            <a:ext cx="1772022" cy="221456"/>
          </a:xfrm>
          <a:prstGeom prst="rect">
            <a:avLst/>
          </a:prstGeom>
          <a:noFill/>
          <a:ln/>
        </p:spPr>
        <p:txBody>
          <a:bodyPr wrap="none" lIns="0" tIns="0" rIns="0" bIns="0" rtlCol="0" anchor="t"/>
          <a:lstStyle/>
          <a:p>
            <a:pPr algn="ctr">
              <a:lnSpc>
                <a:spcPts val="1719"/>
              </a:lnSpc>
            </a:pPr>
            <a:r>
              <a:rPr lang="en-US" sz="1800" dirty="0">
                <a:solidFill>
                  <a:srgbClr val="312F2B"/>
                </a:solidFill>
                <a:latin typeface="+mj-lt"/>
                <a:ea typeface="Gelasio" pitchFamily="34" charset="-122"/>
                <a:cs typeface="Gelasio" pitchFamily="34" charset="-120"/>
              </a:rPr>
              <a:t>Importanza</a:t>
            </a:r>
            <a:endParaRPr lang="en-US" sz="1800" dirty="0">
              <a:latin typeface="+mj-lt"/>
            </a:endParaRPr>
          </a:p>
        </p:txBody>
      </p:sp>
      <p:sp>
        <p:nvSpPr>
          <p:cNvPr id="18" name="Text 8"/>
          <p:cNvSpPr/>
          <p:nvPr/>
        </p:nvSpPr>
        <p:spPr>
          <a:xfrm>
            <a:off x="6964412" y="4397715"/>
            <a:ext cx="1878509" cy="453628"/>
          </a:xfrm>
          <a:prstGeom prst="rect">
            <a:avLst/>
          </a:prstGeom>
          <a:noFill/>
          <a:ln/>
        </p:spPr>
        <p:txBody>
          <a:bodyPr wrap="square" lIns="0" tIns="0" rIns="0" bIns="0" rtlCol="0" anchor="t"/>
          <a:lstStyle/>
          <a:p>
            <a:pPr algn="ctr">
              <a:lnSpc>
                <a:spcPts val="1781"/>
              </a:lnSpc>
            </a:pPr>
            <a:r>
              <a:rPr lang="en-US" dirty="0">
                <a:solidFill>
                  <a:srgbClr val="272525"/>
                </a:solidFill>
                <a:latin typeface="+mj-lt"/>
                <a:ea typeface="Lato" pitchFamily="34" charset="-122"/>
                <a:cs typeface="Lato" pitchFamily="34" charset="-120"/>
              </a:rPr>
              <a:t>Rilevanza del fornitore nel processo produttivo</a:t>
            </a:r>
            <a:endParaRPr lang="en-US" dirty="0">
              <a:latin typeface="+mj-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143500" y="0"/>
            <a:ext cx="4000500" cy="6858000"/>
          </a:xfrm>
          <a:prstGeom prst="rect">
            <a:avLst/>
          </a:prstGeom>
        </p:spPr>
      </p:pic>
      <p:sp>
        <p:nvSpPr>
          <p:cNvPr id="3" name="Text 0"/>
          <p:cNvSpPr/>
          <p:nvPr/>
        </p:nvSpPr>
        <p:spPr>
          <a:xfrm>
            <a:off x="439266" y="378396"/>
            <a:ext cx="4690169" cy="831949"/>
          </a:xfrm>
          <a:prstGeom prst="rect">
            <a:avLst/>
          </a:prstGeom>
          <a:noFill/>
          <a:ln/>
        </p:spPr>
        <p:txBody>
          <a:bodyPr wrap="square" lIns="0" tIns="0" rIns="0" bIns="0" rtlCol="0" anchor="t"/>
          <a:lstStyle/>
          <a:p>
            <a:pPr defTabSz="571500">
              <a:lnSpc>
                <a:spcPts val="3250"/>
              </a:lnSpc>
              <a:buClrTx/>
            </a:pPr>
            <a:r>
              <a:rPr lang="en-US" sz="3200" b="1" spc="-26" dirty="0">
                <a:latin typeface="Arial" panose="020B0604020202020204" pitchFamily="34" charset="0"/>
                <a:ea typeface="Montserrat Bold" pitchFamily="34" charset="-122"/>
                <a:cs typeface="Arial" panose="020B0604020202020204" pitchFamily="34" charset="0"/>
              </a:rPr>
              <a:t>Potere Contrattuale dei Fornitori</a:t>
            </a:r>
            <a:endParaRPr lang="en-US" sz="3200" kern="1200" dirty="0">
              <a:solidFill>
                <a:prstClr val="black"/>
              </a:solidFill>
              <a:latin typeface="Arial" panose="020B0604020202020204" pitchFamily="34" charset="0"/>
              <a:ea typeface="+mn-ea"/>
              <a:cs typeface="Arial" panose="020B0604020202020204" pitchFamily="34" charset="0"/>
            </a:endParaRPr>
          </a:p>
        </p:txBody>
      </p:sp>
      <p:sp>
        <p:nvSpPr>
          <p:cNvPr id="5" name="Text 2"/>
          <p:cNvSpPr/>
          <p:nvPr/>
        </p:nvSpPr>
        <p:spPr>
          <a:xfrm>
            <a:off x="592597" y="1906092"/>
            <a:ext cx="1979191" cy="415974"/>
          </a:xfrm>
          <a:prstGeom prst="rect">
            <a:avLst/>
          </a:prstGeom>
          <a:noFill/>
          <a:ln/>
        </p:spPr>
        <p:txBody>
          <a:bodyPr wrap="square" lIns="0" tIns="0" rIns="0" bIns="0" rtlCol="0" anchor="t"/>
          <a:lstStyle/>
          <a:p>
            <a:pPr defTabSz="571500">
              <a:lnSpc>
                <a:spcPts val="1625"/>
              </a:lnSpc>
              <a:buClrTx/>
            </a:pPr>
            <a:r>
              <a:rPr lang="en-US" sz="1600" b="1" spc="-13" dirty="0">
                <a:solidFill>
                  <a:srgbClr val="3D3838"/>
                </a:solidFill>
                <a:latin typeface="Arial" panose="020B0604020202020204" pitchFamily="34" charset="0"/>
                <a:ea typeface="Montserrat Bold" pitchFamily="34" charset="-122"/>
                <a:cs typeface="Arial" panose="020B0604020202020204" pitchFamily="34" charset="0"/>
              </a:rPr>
              <a:t>Dipendenza dai semiconduttori</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6" name="Text 3"/>
          <p:cNvSpPr/>
          <p:nvPr/>
        </p:nvSpPr>
        <p:spPr>
          <a:xfrm>
            <a:off x="592597" y="2409875"/>
            <a:ext cx="1979191" cy="1871180"/>
          </a:xfrm>
          <a:prstGeom prst="rect">
            <a:avLst/>
          </a:prstGeom>
          <a:noFill/>
          <a:ln/>
        </p:spPr>
        <p:txBody>
          <a:bodyPr wrap="square" lIns="0" tIns="0" rIns="0" bIns="0" rtlCol="0" anchor="t"/>
          <a:lstStyle/>
          <a:p>
            <a:pPr defTabSz="571500">
              <a:lnSpc>
                <a:spcPts val="1719"/>
              </a:lnSpc>
              <a:buClrTx/>
            </a:pPr>
            <a:r>
              <a:rPr lang="en-US" kern="1200" dirty="0">
                <a:solidFill>
                  <a:srgbClr val="3D3838"/>
                </a:solidFill>
                <a:latin typeface="Arial" panose="020B0604020202020204" pitchFamily="34" charset="0"/>
                <a:ea typeface="Source Sans Pro" pitchFamily="34" charset="-122"/>
                <a:cs typeface="Arial" panose="020B0604020202020204" pitchFamily="34" charset="0"/>
              </a:rPr>
              <a:t>La recente crisi dei chip ha bloccato intere linee produttive automobilistiche. </a:t>
            </a:r>
          </a:p>
          <a:p>
            <a:pPr defTabSz="571500">
              <a:lnSpc>
                <a:spcPts val="1719"/>
              </a:lnSpc>
              <a:buClrTx/>
            </a:pPr>
            <a:r>
              <a:rPr lang="en-US" kern="1200" dirty="0">
                <a:solidFill>
                  <a:srgbClr val="3D3838"/>
                </a:solidFill>
                <a:latin typeface="Arial" panose="020B0604020202020204" pitchFamily="34" charset="0"/>
                <a:ea typeface="Source Sans Pro" pitchFamily="34" charset="-122"/>
                <a:cs typeface="Arial" panose="020B0604020202020204" pitchFamily="34" charset="0"/>
              </a:rPr>
              <a:t>I </a:t>
            </a:r>
            <a:r>
              <a:rPr lang="en-US" kern="1200" dirty="0" err="1">
                <a:solidFill>
                  <a:srgbClr val="3D3838"/>
                </a:solidFill>
                <a:latin typeface="Arial" panose="020B0604020202020204" pitchFamily="34" charset="0"/>
                <a:ea typeface="Source Sans Pro" pitchFamily="34" charset="-122"/>
                <a:cs typeface="Arial" panose="020B0604020202020204" pitchFamily="34" charset="0"/>
              </a:rPr>
              <a:t>fornitori</a:t>
            </a:r>
            <a:r>
              <a:rPr lang="en-US" kern="1200" dirty="0">
                <a:solidFill>
                  <a:srgbClr val="3D3838"/>
                </a:solidFill>
                <a:latin typeface="Arial" panose="020B0604020202020204" pitchFamily="34" charset="0"/>
                <a:ea typeface="Source Sans Pro" pitchFamily="34" charset="-122"/>
                <a:cs typeface="Arial" panose="020B0604020202020204" pitchFamily="34" charset="0"/>
              </a:rPr>
              <a:t> di semiconduttori hanno imposto condizioni stringenti.</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8" name="Text 5"/>
          <p:cNvSpPr/>
          <p:nvPr/>
        </p:nvSpPr>
        <p:spPr>
          <a:xfrm>
            <a:off x="3010905" y="1906092"/>
            <a:ext cx="1979191" cy="415974"/>
          </a:xfrm>
          <a:prstGeom prst="rect">
            <a:avLst/>
          </a:prstGeom>
          <a:noFill/>
          <a:ln/>
        </p:spPr>
        <p:txBody>
          <a:bodyPr wrap="square" lIns="0" tIns="0" rIns="0" bIns="0" rtlCol="0" anchor="t"/>
          <a:lstStyle/>
          <a:p>
            <a:pPr defTabSz="571500">
              <a:lnSpc>
                <a:spcPts val="1625"/>
              </a:lnSpc>
              <a:buClrTx/>
            </a:pPr>
            <a:r>
              <a:rPr lang="en-US" sz="1600" b="1" spc="-13" dirty="0">
                <a:solidFill>
                  <a:srgbClr val="3D3838"/>
                </a:solidFill>
                <a:latin typeface="Arial" panose="020B0604020202020204" pitchFamily="34" charset="0"/>
                <a:ea typeface="Montserrat Bold" pitchFamily="34" charset="-122"/>
                <a:cs typeface="Arial" panose="020B0604020202020204" pitchFamily="34" charset="0"/>
              </a:rPr>
              <a:t>Strategia di diversificazione</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9" name="Text 6"/>
          <p:cNvSpPr/>
          <p:nvPr/>
        </p:nvSpPr>
        <p:spPr>
          <a:xfrm>
            <a:off x="3010905" y="2409875"/>
            <a:ext cx="1979191" cy="1427834"/>
          </a:xfrm>
          <a:prstGeom prst="rect">
            <a:avLst/>
          </a:prstGeom>
          <a:noFill/>
          <a:ln/>
        </p:spPr>
        <p:txBody>
          <a:bodyPr wrap="square" lIns="0" tIns="0" rIns="0" bIns="0" rtlCol="0" anchor="t"/>
          <a:lstStyle/>
          <a:p>
            <a:pPr defTabSz="571500">
              <a:lnSpc>
                <a:spcPts val="1719"/>
              </a:lnSpc>
              <a:buClrTx/>
            </a:pPr>
            <a:r>
              <a:rPr lang="en-US" kern="1200" dirty="0">
                <a:solidFill>
                  <a:srgbClr val="3D3838"/>
                </a:solidFill>
                <a:latin typeface="Arial" panose="020B0604020202020204" pitchFamily="34" charset="0"/>
                <a:ea typeface="Source Sans Pro" pitchFamily="34" charset="-122"/>
                <a:cs typeface="Arial" panose="020B0604020202020204" pitchFamily="34" charset="0"/>
              </a:rPr>
              <a:t>Toyota ha sviluppato relazioni con fornitori alternativi. Questo ha permesso di ridurre l'impatto della crisi sulla produzione.</a:t>
            </a:r>
            <a:endParaRPr lang="en-US" kern="1200" dirty="0">
              <a:solidFill>
                <a:prstClr val="black"/>
              </a:solidFill>
              <a:latin typeface="Arial" panose="020B0604020202020204" pitchFamily="34" charset="0"/>
              <a:ea typeface="+mn-ea"/>
              <a:cs typeface="Arial" panose="020B0604020202020204" pitchFamily="34" charset="0"/>
            </a:endParaRPr>
          </a:p>
        </p:txBody>
      </p:sp>
      <p:sp>
        <p:nvSpPr>
          <p:cNvPr id="11" name="Text 8"/>
          <p:cNvSpPr/>
          <p:nvPr/>
        </p:nvSpPr>
        <p:spPr>
          <a:xfrm>
            <a:off x="592597" y="4739741"/>
            <a:ext cx="1862956" cy="207988"/>
          </a:xfrm>
          <a:prstGeom prst="rect">
            <a:avLst/>
          </a:prstGeom>
          <a:noFill/>
          <a:ln/>
        </p:spPr>
        <p:txBody>
          <a:bodyPr wrap="none" lIns="0" tIns="0" rIns="0" bIns="0" rtlCol="0" anchor="t"/>
          <a:lstStyle/>
          <a:p>
            <a:pPr defTabSz="571500">
              <a:lnSpc>
                <a:spcPts val="1625"/>
              </a:lnSpc>
              <a:buClrTx/>
            </a:pPr>
            <a:r>
              <a:rPr lang="en-US" sz="1600" b="1" spc="-13" dirty="0">
                <a:solidFill>
                  <a:srgbClr val="3D3838"/>
                </a:solidFill>
                <a:latin typeface="Arial" panose="020B0604020202020204" pitchFamily="34" charset="0"/>
                <a:ea typeface="Montserrat Bold" pitchFamily="34" charset="-122"/>
                <a:cs typeface="Arial" panose="020B0604020202020204" pitchFamily="34" charset="0"/>
              </a:rPr>
              <a:t>Integrazione verticale</a:t>
            </a:r>
            <a:endParaRPr lang="en-US" sz="1600" kern="1200" dirty="0">
              <a:solidFill>
                <a:prstClr val="black"/>
              </a:solidFill>
              <a:latin typeface="Arial" panose="020B0604020202020204" pitchFamily="34" charset="0"/>
              <a:ea typeface="+mn-ea"/>
              <a:cs typeface="Arial" panose="020B0604020202020204" pitchFamily="34" charset="0"/>
            </a:endParaRPr>
          </a:p>
        </p:txBody>
      </p:sp>
      <p:sp>
        <p:nvSpPr>
          <p:cNvPr id="12" name="Text 9"/>
          <p:cNvSpPr/>
          <p:nvPr/>
        </p:nvSpPr>
        <p:spPr>
          <a:xfrm>
            <a:off x="592597" y="5094102"/>
            <a:ext cx="4397424" cy="439043"/>
          </a:xfrm>
          <a:prstGeom prst="rect">
            <a:avLst/>
          </a:prstGeom>
          <a:noFill/>
          <a:ln/>
        </p:spPr>
        <p:txBody>
          <a:bodyPr wrap="square" lIns="0" tIns="0" rIns="0" bIns="0" rtlCol="0" anchor="t"/>
          <a:lstStyle/>
          <a:p>
            <a:pPr defTabSz="571500">
              <a:lnSpc>
                <a:spcPts val="1719"/>
              </a:lnSpc>
              <a:buClrTx/>
            </a:pPr>
            <a:r>
              <a:rPr lang="en-US" kern="1200" dirty="0">
                <a:solidFill>
                  <a:srgbClr val="3D3838"/>
                </a:solidFill>
                <a:latin typeface="Arial" panose="020B0604020202020204" pitchFamily="34" charset="0"/>
                <a:ea typeface="Source Sans Pro" pitchFamily="34" charset="-122"/>
                <a:cs typeface="Arial" panose="020B0604020202020204" pitchFamily="34" charset="0"/>
              </a:rPr>
              <a:t>Tesla ha internalizzato la produzione di componenti critici. Questo ha ridotto la dipendenza da fornitori esterni.</a:t>
            </a:r>
            <a:endParaRPr lang="en-US" kern="1200" dirty="0">
              <a:solidFill>
                <a:prstClr val="black"/>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015663"/>
          </a:xfrm>
          <a:prstGeom prst="rect">
            <a:avLst/>
          </a:prstGeom>
        </p:spPr>
        <p:txBody>
          <a:bodyPr wrap="square">
            <a:spAutoFit/>
          </a:bodyPr>
          <a:lstStyle/>
          <a:p>
            <a:r>
              <a:rPr lang="it-IT" sz="3000" b="1" dirty="0"/>
              <a:t>Gli elementi che compongono il modello delle 5 Forze di Porter. </a:t>
            </a:r>
          </a:p>
        </p:txBody>
      </p:sp>
      <p:sp>
        <p:nvSpPr>
          <p:cNvPr id="2" name="Rettangolo 1">
            <a:extLst>
              <a:ext uri="{FF2B5EF4-FFF2-40B4-BE49-F238E27FC236}">
                <a16:creationId xmlns:a16="http://schemas.microsoft.com/office/drawing/2014/main" id="{90911335-9FD2-45E4-B2C7-531CAF4B880B}"/>
              </a:ext>
            </a:extLst>
          </p:cNvPr>
          <p:cNvSpPr/>
          <p:nvPr/>
        </p:nvSpPr>
        <p:spPr>
          <a:xfrm>
            <a:off x="610073" y="1560672"/>
            <a:ext cx="7923854" cy="4339650"/>
          </a:xfrm>
          <a:prstGeom prst="rect">
            <a:avLst/>
          </a:prstGeom>
        </p:spPr>
        <p:txBody>
          <a:bodyPr wrap="square">
            <a:spAutoFit/>
          </a:bodyPr>
          <a:lstStyle/>
          <a:p>
            <a:r>
              <a:rPr lang="it-IT" sz="1800" b="1" dirty="0">
                <a:solidFill>
                  <a:srgbClr val="FF0000"/>
                </a:solidFill>
              </a:rPr>
              <a:t>3) La terza forza delle 5 forze di Porter: il potere degli acquirenti</a:t>
            </a:r>
          </a:p>
          <a:p>
            <a:endParaRPr lang="it-IT" sz="1800" b="1" dirty="0"/>
          </a:p>
          <a:p>
            <a:r>
              <a:rPr lang="it-IT" sz="1600" dirty="0"/>
              <a:t>La terza delle </a:t>
            </a:r>
            <a:r>
              <a:rPr lang="it-IT" sz="1600" b="1" dirty="0"/>
              <a:t>5 Forze</a:t>
            </a:r>
            <a:r>
              <a:rPr lang="it-IT" sz="1600" dirty="0"/>
              <a:t> del </a:t>
            </a:r>
            <a:r>
              <a:rPr lang="it-IT" sz="1600" b="1" dirty="0"/>
              <a:t>Modello di Porter</a:t>
            </a:r>
            <a:r>
              <a:rPr lang="it-IT" sz="1600" dirty="0"/>
              <a:t> stabilisce che anche i clienti potenti possono esercitare il loro potere contrattuale e catturare maggiore valore costringendo ad abbassare i prezzi, chiedendo una maggiore qualità o servizi migliori e portando in generale i soggetti di un settore a combattere l’uno contro l’altro. Un compratore può essere definito potente se dispone di un potere negoziale rispetto alle altre aziende del settore (soprattutto se sensibili al prezzo) utilizzando la loro influenza principalmente per forzare una riduzione dei prezzi. Il potere contrattuale dei cliente viene influenzato da determinati fattori che possono essere risultato di buone </a:t>
            </a:r>
            <a:r>
              <a:rPr lang="it-IT" sz="1600" b="1" dirty="0"/>
              <a:t>strategie competitive</a:t>
            </a:r>
            <a:r>
              <a:rPr lang="it-IT" sz="1600" dirty="0"/>
              <a:t>, come:</a:t>
            </a:r>
          </a:p>
          <a:p>
            <a:pPr marL="285750" indent="-285750">
              <a:buFont typeface="Arial" panose="020B0604020202020204" pitchFamily="34" charset="0"/>
              <a:buChar char="•"/>
            </a:pPr>
            <a:r>
              <a:rPr lang="it-IT" sz="1600" dirty="0"/>
              <a:t>Dimensione degli acquisti: più il volume degli acquisti di un determinato cliente è elevato, più il cliente ha un potere contrattuale maggiore.</a:t>
            </a:r>
          </a:p>
          <a:p>
            <a:pPr marL="285750" indent="-285750">
              <a:buFont typeface="Arial" panose="020B0604020202020204" pitchFamily="34" charset="0"/>
              <a:buChar char="•"/>
            </a:pPr>
            <a:r>
              <a:rPr lang="it-IT" sz="1600" dirty="0"/>
              <a:t>Concentrazione della clientela: se un'azienda ha pochi clienti, il loro potere contrattuale sarà maggiore.</a:t>
            </a:r>
          </a:p>
          <a:p>
            <a:pPr marL="285750" indent="-285750">
              <a:buFont typeface="Arial" panose="020B0604020202020204" pitchFamily="34" charset="0"/>
              <a:buChar char="•"/>
            </a:pPr>
            <a:r>
              <a:rPr lang="it-IT" sz="1600" dirty="0"/>
              <a:t>Possibile integrazione verticale: se un cliente sceglie di produrre da sé un prodotto anziché acquistarlo da un'altra azienda, l'azienda ha perso un cliente.</a:t>
            </a:r>
          </a:p>
        </p:txBody>
      </p:sp>
    </p:spTree>
    <p:extLst>
      <p:ext uri="{BB962C8B-B14F-4D97-AF65-F5344CB8AC3E}">
        <p14:creationId xmlns:p14="http://schemas.microsoft.com/office/powerpoint/2010/main" val="5599890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247335" y="547910"/>
            <a:ext cx="6992263" cy="885974"/>
          </a:xfrm>
          <a:prstGeom prst="rect">
            <a:avLst/>
          </a:prstGeom>
          <a:noFill/>
          <a:ln/>
        </p:spPr>
        <p:txBody>
          <a:bodyPr wrap="square" lIns="0" tIns="0" rIns="0" bIns="0" rtlCol="0" anchor="t"/>
          <a:lstStyle/>
          <a:p>
            <a:pPr>
              <a:lnSpc>
                <a:spcPts val="3469"/>
              </a:lnSpc>
            </a:pPr>
            <a:r>
              <a:rPr lang="en-US" sz="4000" dirty="0">
                <a:solidFill>
                  <a:srgbClr val="312F2B"/>
                </a:solidFill>
                <a:latin typeface="+mj-lt"/>
                <a:ea typeface="Gelasio" pitchFamily="34" charset="-122"/>
                <a:cs typeface="Gelasio" pitchFamily="34" charset="-120"/>
              </a:rPr>
              <a:t>Potere Contrattuale dei Clienti</a:t>
            </a:r>
            <a:endParaRPr lang="en-US" sz="4000" dirty="0">
              <a:latin typeface="+mj-lt"/>
            </a:endParaRPr>
          </a:p>
        </p:txBody>
      </p:sp>
      <p:sp>
        <p:nvSpPr>
          <p:cNvPr id="4" name="Shape 1"/>
          <p:cNvSpPr/>
          <p:nvPr/>
        </p:nvSpPr>
        <p:spPr>
          <a:xfrm>
            <a:off x="1629857" y="2059583"/>
            <a:ext cx="509047" cy="566422"/>
          </a:xfrm>
          <a:prstGeom prst="roundRect">
            <a:avLst>
              <a:gd name="adj" fmla="val 18669"/>
            </a:avLst>
          </a:prstGeom>
          <a:solidFill>
            <a:srgbClr val="E8E8E3"/>
          </a:solidFill>
          <a:ln w="7620">
            <a:solidFill>
              <a:srgbClr val="CECEC9"/>
            </a:solidFill>
            <a:prstDash val="solid"/>
          </a:ln>
        </p:spPr>
      </p:sp>
      <p:pic>
        <p:nvPicPr>
          <p:cNvPr id="5" name="Image 1" descr="preencoded.png"/>
          <p:cNvPicPr>
            <a:picLocks noChangeAspect="1"/>
          </p:cNvPicPr>
          <p:nvPr/>
        </p:nvPicPr>
        <p:blipFill>
          <a:blip r:embed="rId3"/>
          <a:stretch>
            <a:fillRect/>
          </a:stretch>
        </p:blipFill>
        <p:spPr>
          <a:xfrm>
            <a:off x="1708166" y="2086149"/>
            <a:ext cx="377570" cy="472062"/>
          </a:xfrm>
          <a:prstGeom prst="rect">
            <a:avLst/>
          </a:prstGeom>
        </p:spPr>
      </p:pic>
      <p:sp>
        <p:nvSpPr>
          <p:cNvPr id="6" name="Text 2"/>
          <p:cNvSpPr/>
          <p:nvPr/>
        </p:nvSpPr>
        <p:spPr>
          <a:xfrm>
            <a:off x="2222747" y="2102918"/>
            <a:ext cx="2828262" cy="393296"/>
          </a:xfrm>
          <a:prstGeom prst="rect">
            <a:avLst/>
          </a:prstGeom>
          <a:noFill/>
          <a:ln/>
        </p:spPr>
        <p:txBody>
          <a:bodyPr wrap="none" lIns="0" tIns="0" rIns="0" bIns="0" rtlCol="0" anchor="t"/>
          <a:lstStyle/>
          <a:p>
            <a:pPr>
              <a:lnSpc>
                <a:spcPts val="1719"/>
              </a:lnSpc>
            </a:pPr>
            <a:r>
              <a:rPr lang="en-US" sz="2000" dirty="0">
                <a:solidFill>
                  <a:srgbClr val="272525"/>
                </a:solidFill>
                <a:latin typeface="+mj-lt"/>
                <a:ea typeface="Gelasio" pitchFamily="34" charset="-122"/>
                <a:cs typeface="Gelasio" pitchFamily="34" charset="-120"/>
              </a:rPr>
              <a:t>Numero di clienti</a:t>
            </a:r>
            <a:endParaRPr lang="en-US" sz="2000" dirty="0">
              <a:latin typeface="+mj-lt"/>
            </a:endParaRPr>
          </a:p>
        </p:txBody>
      </p:sp>
      <p:sp>
        <p:nvSpPr>
          <p:cNvPr id="7" name="Text 3"/>
          <p:cNvSpPr/>
          <p:nvPr/>
        </p:nvSpPr>
        <p:spPr>
          <a:xfrm>
            <a:off x="2222747" y="2392642"/>
            <a:ext cx="6802534" cy="402812"/>
          </a:xfrm>
          <a:prstGeom prst="rect">
            <a:avLst/>
          </a:prstGeom>
          <a:noFill/>
          <a:ln/>
        </p:spPr>
        <p:txBody>
          <a:bodyPr wrap="none" lIns="0" tIns="0" rIns="0" bIns="0" rtlCol="0" anchor="t"/>
          <a:lstStyle/>
          <a:p>
            <a:pPr>
              <a:lnSpc>
                <a:spcPts val="1781"/>
              </a:lnSpc>
            </a:pPr>
            <a:r>
              <a:rPr lang="en-US" sz="1600" dirty="0">
                <a:solidFill>
                  <a:srgbClr val="272525"/>
                </a:solidFill>
                <a:latin typeface="+mj-lt"/>
                <a:ea typeface="Lato" pitchFamily="34" charset="-122"/>
                <a:cs typeface="Lato" pitchFamily="34" charset="-120"/>
              </a:rPr>
              <a:t>Una base clienti ampia riduce il loro potere individuale.</a:t>
            </a:r>
            <a:endParaRPr lang="en-US" sz="1600" dirty="0">
              <a:latin typeface="+mj-lt"/>
            </a:endParaRPr>
          </a:p>
        </p:txBody>
      </p:sp>
      <p:sp>
        <p:nvSpPr>
          <p:cNvPr id="8" name="Shape 4"/>
          <p:cNvSpPr/>
          <p:nvPr/>
        </p:nvSpPr>
        <p:spPr>
          <a:xfrm>
            <a:off x="1629857" y="2894136"/>
            <a:ext cx="509047" cy="566422"/>
          </a:xfrm>
          <a:prstGeom prst="roundRect">
            <a:avLst>
              <a:gd name="adj" fmla="val 18669"/>
            </a:avLst>
          </a:prstGeom>
          <a:solidFill>
            <a:srgbClr val="E8E8E3"/>
          </a:solidFill>
          <a:ln w="7620">
            <a:solidFill>
              <a:srgbClr val="CECEC9"/>
            </a:solidFill>
            <a:prstDash val="solid"/>
          </a:ln>
        </p:spPr>
      </p:sp>
      <p:pic>
        <p:nvPicPr>
          <p:cNvPr id="9" name="Image 2" descr="preencoded.png"/>
          <p:cNvPicPr>
            <a:picLocks noChangeAspect="1"/>
          </p:cNvPicPr>
          <p:nvPr/>
        </p:nvPicPr>
        <p:blipFill>
          <a:blip r:embed="rId4"/>
          <a:stretch>
            <a:fillRect/>
          </a:stretch>
        </p:blipFill>
        <p:spPr>
          <a:xfrm>
            <a:off x="1708166" y="2920702"/>
            <a:ext cx="377570" cy="472062"/>
          </a:xfrm>
          <a:prstGeom prst="rect">
            <a:avLst/>
          </a:prstGeom>
        </p:spPr>
      </p:pic>
      <p:sp>
        <p:nvSpPr>
          <p:cNvPr id="10" name="Text 5"/>
          <p:cNvSpPr/>
          <p:nvPr/>
        </p:nvSpPr>
        <p:spPr>
          <a:xfrm>
            <a:off x="2217213" y="2936159"/>
            <a:ext cx="3228159" cy="393296"/>
          </a:xfrm>
          <a:prstGeom prst="rect">
            <a:avLst/>
          </a:prstGeom>
          <a:noFill/>
          <a:ln/>
        </p:spPr>
        <p:txBody>
          <a:bodyPr wrap="none" lIns="0" tIns="0" rIns="0" bIns="0" rtlCol="0" anchor="t"/>
          <a:lstStyle/>
          <a:p>
            <a:pPr>
              <a:lnSpc>
                <a:spcPts val="1719"/>
              </a:lnSpc>
            </a:pPr>
            <a:r>
              <a:rPr lang="en-US" sz="2000" dirty="0">
                <a:solidFill>
                  <a:srgbClr val="272525"/>
                </a:solidFill>
                <a:latin typeface="+mj-lt"/>
                <a:ea typeface="Gelasio" pitchFamily="34" charset="-122"/>
                <a:cs typeface="Gelasio" pitchFamily="34" charset="-120"/>
              </a:rPr>
              <a:t>Dimensione degli acquisti</a:t>
            </a:r>
            <a:endParaRPr lang="en-US" sz="2000" dirty="0">
              <a:latin typeface="+mj-lt"/>
            </a:endParaRPr>
          </a:p>
        </p:txBody>
      </p:sp>
      <p:sp>
        <p:nvSpPr>
          <p:cNvPr id="11" name="Text 6"/>
          <p:cNvSpPr/>
          <p:nvPr/>
        </p:nvSpPr>
        <p:spPr>
          <a:xfrm>
            <a:off x="2212663" y="3211186"/>
            <a:ext cx="6802534" cy="402812"/>
          </a:xfrm>
          <a:prstGeom prst="rect">
            <a:avLst/>
          </a:prstGeom>
          <a:noFill/>
          <a:ln/>
        </p:spPr>
        <p:txBody>
          <a:bodyPr wrap="none" lIns="0" tIns="0" rIns="0" bIns="0" rtlCol="0" anchor="t"/>
          <a:lstStyle/>
          <a:p>
            <a:pPr>
              <a:lnSpc>
                <a:spcPts val="1781"/>
              </a:lnSpc>
            </a:pPr>
            <a:r>
              <a:rPr lang="en-US" sz="1600" dirty="0">
                <a:solidFill>
                  <a:srgbClr val="272525"/>
                </a:solidFill>
                <a:latin typeface="+mj-lt"/>
                <a:ea typeface="Lato" pitchFamily="34" charset="-122"/>
                <a:cs typeface="Lato" pitchFamily="34" charset="-120"/>
              </a:rPr>
              <a:t>Grandi volumi aumentano il potere contrattuale.</a:t>
            </a:r>
            <a:endParaRPr lang="en-US" sz="1600" dirty="0">
              <a:latin typeface="+mj-lt"/>
            </a:endParaRPr>
          </a:p>
        </p:txBody>
      </p:sp>
      <p:sp>
        <p:nvSpPr>
          <p:cNvPr id="12" name="Shape 7"/>
          <p:cNvSpPr/>
          <p:nvPr/>
        </p:nvSpPr>
        <p:spPr>
          <a:xfrm>
            <a:off x="1629857" y="3728690"/>
            <a:ext cx="509047" cy="566422"/>
          </a:xfrm>
          <a:prstGeom prst="roundRect">
            <a:avLst>
              <a:gd name="adj" fmla="val 18669"/>
            </a:avLst>
          </a:prstGeom>
          <a:solidFill>
            <a:srgbClr val="E8E8E3"/>
          </a:solidFill>
          <a:ln w="7620">
            <a:solidFill>
              <a:srgbClr val="CECEC9"/>
            </a:solidFill>
            <a:prstDash val="solid"/>
          </a:ln>
        </p:spPr>
      </p:sp>
      <p:pic>
        <p:nvPicPr>
          <p:cNvPr id="13" name="Image 3" descr="preencoded.png"/>
          <p:cNvPicPr>
            <a:picLocks noChangeAspect="1"/>
          </p:cNvPicPr>
          <p:nvPr/>
        </p:nvPicPr>
        <p:blipFill>
          <a:blip r:embed="rId5"/>
          <a:stretch>
            <a:fillRect/>
          </a:stretch>
        </p:blipFill>
        <p:spPr>
          <a:xfrm>
            <a:off x="1708166" y="3755256"/>
            <a:ext cx="377570" cy="472062"/>
          </a:xfrm>
          <a:prstGeom prst="rect">
            <a:avLst/>
          </a:prstGeom>
        </p:spPr>
      </p:pic>
      <p:sp>
        <p:nvSpPr>
          <p:cNvPr id="14" name="Text 8"/>
          <p:cNvSpPr/>
          <p:nvPr/>
        </p:nvSpPr>
        <p:spPr>
          <a:xfrm>
            <a:off x="2217213" y="3755256"/>
            <a:ext cx="2828262" cy="393296"/>
          </a:xfrm>
          <a:prstGeom prst="rect">
            <a:avLst/>
          </a:prstGeom>
          <a:noFill/>
          <a:ln/>
        </p:spPr>
        <p:txBody>
          <a:bodyPr wrap="none" lIns="0" tIns="0" rIns="0" bIns="0" rtlCol="0" anchor="t"/>
          <a:lstStyle/>
          <a:p>
            <a:pPr>
              <a:lnSpc>
                <a:spcPts val="1719"/>
              </a:lnSpc>
            </a:pPr>
            <a:r>
              <a:rPr lang="en-US" sz="2000" dirty="0">
                <a:solidFill>
                  <a:srgbClr val="272525"/>
                </a:solidFill>
                <a:latin typeface="+mj-lt"/>
                <a:ea typeface="Gelasio" pitchFamily="34" charset="-122"/>
                <a:cs typeface="Gelasio" pitchFamily="34" charset="-120"/>
              </a:rPr>
              <a:t>Costi di switching</a:t>
            </a:r>
            <a:endParaRPr lang="en-US" sz="2000" dirty="0">
              <a:latin typeface="+mj-lt"/>
            </a:endParaRPr>
          </a:p>
        </p:txBody>
      </p:sp>
      <p:sp>
        <p:nvSpPr>
          <p:cNvPr id="15" name="Text 9"/>
          <p:cNvSpPr/>
          <p:nvPr/>
        </p:nvSpPr>
        <p:spPr>
          <a:xfrm>
            <a:off x="2217213" y="4021552"/>
            <a:ext cx="6802534" cy="402812"/>
          </a:xfrm>
          <a:prstGeom prst="rect">
            <a:avLst/>
          </a:prstGeom>
          <a:noFill/>
          <a:ln/>
        </p:spPr>
        <p:txBody>
          <a:bodyPr wrap="none" lIns="0" tIns="0" rIns="0" bIns="0" rtlCol="0" anchor="t"/>
          <a:lstStyle/>
          <a:p>
            <a:pPr>
              <a:lnSpc>
                <a:spcPts val="1781"/>
              </a:lnSpc>
            </a:pPr>
            <a:r>
              <a:rPr lang="en-US" sz="1600" dirty="0">
                <a:solidFill>
                  <a:srgbClr val="272525"/>
                </a:solidFill>
                <a:latin typeface="+mj-lt"/>
                <a:ea typeface="Lato" pitchFamily="34" charset="-122"/>
                <a:cs typeface="Lato" pitchFamily="34" charset="-120"/>
              </a:rPr>
              <a:t>Difficoltà nel cambiare fornitore rafforzano la posizione aziendale.</a:t>
            </a:r>
            <a:endParaRPr lang="en-US" sz="1600" dirty="0">
              <a:latin typeface="+mj-lt"/>
            </a:endParaRPr>
          </a:p>
        </p:txBody>
      </p:sp>
      <p:sp>
        <p:nvSpPr>
          <p:cNvPr id="16" name="Shape 10"/>
          <p:cNvSpPr/>
          <p:nvPr/>
        </p:nvSpPr>
        <p:spPr>
          <a:xfrm>
            <a:off x="1629857" y="4563244"/>
            <a:ext cx="509047" cy="566422"/>
          </a:xfrm>
          <a:prstGeom prst="roundRect">
            <a:avLst>
              <a:gd name="adj" fmla="val 18669"/>
            </a:avLst>
          </a:prstGeom>
          <a:solidFill>
            <a:srgbClr val="E8E8E3"/>
          </a:solidFill>
          <a:ln w="7620">
            <a:solidFill>
              <a:srgbClr val="CECEC9"/>
            </a:solidFill>
            <a:prstDash val="solid"/>
          </a:ln>
        </p:spPr>
      </p:sp>
      <p:pic>
        <p:nvPicPr>
          <p:cNvPr id="17" name="Image 4" descr="preencoded.png"/>
          <p:cNvPicPr>
            <a:picLocks noChangeAspect="1"/>
          </p:cNvPicPr>
          <p:nvPr/>
        </p:nvPicPr>
        <p:blipFill>
          <a:blip r:embed="rId6"/>
          <a:stretch>
            <a:fillRect/>
          </a:stretch>
        </p:blipFill>
        <p:spPr>
          <a:xfrm>
            <a:off x="1708166" y="4589810"/>
            <a:ext cx="377570" cy="472062"/>
          </a:xfrm>
          <a:prstGeom prst="rect">
            <a:avLst/>
          </a:prstGeom>
        </p:spPr>
      </p:pic>
      <p:sp>
        <p:nvSpPr>
          <p:cNvPr id="18" name="Text 11"/>
          <p:cNvSpPr/>
          <p:nvPr/>
        </p:nvSpPr>
        <p:spPr>
          <a:xfrm>
            <a:off x="2217213" y="4629193"/>
            <a:ext cx="2828262" cy="393296"/>
          </a:xfrm>
          <a:prstGeom prst="rect">
            <a:avLst/>
          </a:prstGeom>
          <a:noFill/>
          <a:ln/>
        </p:spPr>
        <p:txBody>
          <a:bodyPr wrap="none" lIns="0" tIns="0" rIns="0" bIns="0" rtlCol="0" anchor="t"/>
          <a:lstStyle/>
          <a:p>
            <a:pPr>
              <a:lnSpc>
                <a:spcPts val="1719"/>
              </a:lnSpc>
            </a:pPr>
            <a:r>
              <a:rPr lang="en-US" sz="2000" dirty="0">
                <a:solidFill>
                  <a:srgbClr val="272525"/>
                </a:solidFill>
                <a:latin typeface="+mj-lt"/>
                <a:ea typeface="Gelasio" pitchFamily="34" charset="-122"/>
                <a:cs typeface="Gelasio" pitchFamily="34" charset="-120"/>
              </a:rPr>
              <a:t>Differenziazione</a:t>
            </a:r>
            <a:endParaRPr lang="en-US" sz="2000" dirty="0">
              <a:latin typeface="+mj-lt"/>
            </a:endParaRPr>
          </a:p>
        </p:txBody>
      </p:sp>
      <p:sp>
        <p:nvSpPr>
          <p:cNvPr id="19" name="Text 12"/>
          <p:cNvSpPr/>
          <p:nvPr/>
        </p:nvSpPr>
        <p:spPr>
          <a:xfrm>
            <a:off x="2164045" y="4882671"/>
            <a:ext cx="6802534" cy="402812"/>
          </a:xfrm>
          <a:prstGeom prst="rect">
            <a:avLst/>
          </a:prstGeom>
          <a:noFill/>
          <a:ln/>
        </p:spPr>
        <p:txBody>
          <a:bodyPr wrap="none" lIns="0" tIns="0" rIns="0" bIns="0" rtlCol="0" anchor="t"/>
          <a:lstStyle/>
          <a:p>
            <a:pPr>
              <a:lnSpc>
                <a:spcPts val="1781"/>
              </a:lnSpc>
            </a:pPr>
            <a:r>
              <a:rPr lang="en-US" sz="1600" dirty="0">
                <a:solidFill>
                  <a:srgbClr val="272525"/>
                </a:solidFill>
                <a:latin typeface="+mj-lt"/>
                <a:ea typeface="Lato" pitchFamily="34" charset="-122"/>
                <a:cs typeface="Lato" pitchFamily="34" charset="-120"/>
              </a:rPr>
              <a:t>Prodotti unici riducono il potere dei clienti.</a:t>
            </a:r>
            <a:endParaRPr lang="en-US" sz="1600" dirty="0">
              <a:latin typeface="+mj-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015663"/>
          </a:xfrm>
          <a:prstGeom prst="rect">
            <a:avLst/>
          </a:prstGeom>
        </p:spPr>
        <p:txBody>
          <a:bodyPr wrap="square">
            <a:spAutoFit/>
          </a:bodyPr>
          <a:lstStyle/>
          <a:p>
            <a:r>
              <a:rPr lang="it-IT" sz="3000" b="1" dirty="0"/>
              <a:t>Gli elementi che compongono il modello delle 5 Forze di Porter. </a:t>
            </a:r>
          </a:p>
        </p:txBody>
      </p:sp>
      <p:sp>
        <p:nvSpPr>
          <p:cNvPr id="2" name="Rettangolo 1">
            <a:extLst>
              <a:ext uri="{FF2B5EF4-FFF2-40B4-BE49-F238E27FC236}">
                <a16:creationId xmlns:a16="http://schemas.microsoft.com/office/drawing/2014/main" id="{90911335-9FD2-45E4-B2C7-531CAF4B880B}"/>
              </a:ext>
            </a:extLst>
          </p:cNvPr>
          <p:cNvSpPr/>
          <p:nvPr/>
        </p:nvSpPr>
        <p:spPr>
          <a:xfrm>
            <a:off x="610073" y="1582340"/>
            <a:ext cx="7923854" cy="3693319"/>
          </a:xfrm>
          <a:prstGeom prst="rect">
            <a:avLst/>
          </a:prstGeom>
        </p:spPr>
        <p:txBody>
          <a:bodyPr wrap="square">
            <a:spAutoFit/>
          </a:bodyPr>
          <a:lstStyle/>
          <a:p>
            <a:r>
              <a:rPr lang="it-IT" sz="1800" b="1" dirty="0">
                <a:solidFill>
                  <a:srgbClr val="FF0000"/>
                </a:solidFill>
              </a:rPr>
              <a:t>4) La quarta forza del Modello di Porter: la minaccia dei prodotti sostitutivi</a:t>
            </a:r>
          </a:p>
          <a:p>
            <a:endParaRPr lang="it-IT" sz="1800" b="1" dirty="0">
              <a:solidFill>
                <a:srgbClr val="FF0000"/>
              </a:solidFill>
            </a:endParaRPr>
          </a:p>
          <a:p>
            <a:pPr algn="just"/>
            <a:r>
              <a:rPr lang="it-IT" sz="1800" dirty="0">
                <a:solidFill>
                  <a:schemeClr val="tx1"/>
                </a:solidFill>
              </a:rPr>
              <a:t>La penultima delle </a:t>
            </a:r>
            <a:r>
              <a:rPr lang="it-IT" sz="1800" b="1" dirty="0">
                <a:solidFill>
                  <a:schemeClr val="tx1"/>
                </a:solidFill>
              </a:rPr>
              <a:t>5 forze </a:t>
            </a:r>
            <a:r>
              <a:rPr lang="it-IT" sz="1800" dirty="0">
                <a:solidFill>
                  <a:schemeClr val="tx1"/>
                </a:solidFill>
              </a:rPr>
              <a:t>del </a:t>
            </a:r>
            <a:r>
              <a:rPr lang="it-IT" sz="1800" b="1" dirty="0">
                <a:solidFill>
                  <a:schemeClr val="tx1"/>
                </a:solidFill>
              </a:rPr>
              <a:t>Modello di Porter </a:t>
            </a:r>
            <a:r>
              <a:rPr lang="it-IT" sz="1800" dirty="0">
                <a:solidFill>
                  <a:schemeClr val="tx1"/>
                </a:solidFill>
              </a:rPr>
              <a:t>chiarisce che un prodotto sostitutivo assolve la stessa funzione rispetto a quella di un prodotto presente in un settore, ma lo fa utilizzando mezzi diversi. Un servizio sostitutivo può costituire una minaccia nel momento in cui mette in discussione il prodotto di settore, già acquisito da un determinato compratore, e in quanto impone un tetto ai prezzi: se un settore non si discosta dalle alternative attraverso la performance di prodotto, il marketing o altri mezzi, avrà dei problemi a livello della profittabilità e, quindi, di potenziale crescita. Perciò sono necessarie delle ben pianificate </a:t>
            </a:r>
            <a:r>
              <a:rPr lang="it-IT" sz="1800" b="1" dirty="0">
                <a:solidFill>
                  <a:schemeClr val="tx1"/>
                </a:solidFill>
              </a:rPr>
              <a:t>strategie competitive</a:t>
            </a:r>
            <a:r>
              <a:rPr lang="it-IT" sz="1800" dirty="0">
                <a:solidFill>
                  <a:schemeClr val="tx1"/>
                </a:solidFill>
              </a:rPr>
              <a:t>.</a:t>
            </a:r>
            <a:endParaRPr lang="it-IT" sz="1600" dirty="0">
              <a:solidFill>
                <a:schemeClr val="tx1"/>
              </a:solidFill>
            </a:endParaRPr>
          </a:p>
        </p:txBody>
      </p:sp>
    </p:spTree>
    <p:extLst>
      <p:ext uri="{BB962C8B-B14F-4D97-AF65-F5344CB8AC3E}">
        <p14:creationId xmlns:p14="http://schemas.microsoft.com/office/powerpoint/2010/main" val="2639681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rotWithShape="1">
          <a:blip r:embed="rId3"/>
          <a:srcRect t="27545" b="35706"/>
          <a:stretch/>
        </p:blipFill>
        <p:spPr>
          <a:xfrm>
            <a:off x="5700712" y="3116982"/>
            <a:ext cx="3429000" cy="2584550"/>
          </a:xfrm>
          <a:prstGeom prst="rect">
            <a:avLst/>
          </a:prstGeom>
        </p:spPr>
      </p:pic>
      <p:sp>
        <p:nvSpPr>
          <p:cNvPr id="3" name="Text 0"/>
          <p:cNvSpPr/>
          <p:nvPr/>
        </p:nvSpPr>
        <p:spPr>
          <a:xfrm>
            <a:off x="393948" y="310146"/>
            <a:ext cx="4660999" cy="368796"/>
          </a:xfrm>
          <a:prstGeom prst="rect">
            <a:avLst/>
          </a:prstGeom>
          <a:noFill/>
          <a:ln/>
        </p:spPr>
        <p:txBody>
          <a:bodyPr wrap="none" lIns="0" tIns="0" rIns="0" bIns="0" rtlCol="0" anchor="t"/>
          <a:lstStyle/>
          <a:p>
            <a:pPr>
              <a:lnSpc>
                <a:spcPts val="2875"/>
              </a:lnSpc>
            </a:pPr>
            <a:r>
              <a:rPr lang="en-US" sz="3200" b="1" spc="-23" dirty="0">
                <a:latin typeface="Arial" panose="020B0604020202020204" pitchFamily="34" charset="0"/>
                <a:ea typeface="Montserrat Bold" pitchFamily="34" charset="-122"/>
                <a:cs typeface="Arial" panose="020B0604020202020204" pitchFamily="34" charset="0"/>
              </a:rPr>
              <a:t>Minaccia di Prodotti Sostitutivi</a:t>
            </a:r>
            <a:endParaRPr lang="en-US" sz="3200" dirty="0">
              <a:latin typeface="Arial" panose="020B0604020202020204" pitchFamily="34" charset="0"/>
              <a:cs typeface="Arial" panose="020B0604020202020204" pitchFamily="34" charset="0"/>
            </a:endParaRPr>
          </a:p>
        </p:txBody>
      </p:sp>
      <p:sp>
        <p:nvSpPr>
          <p:cNvPr id="4" name="Shape 1"/>
          <p:cNvSpPr/>
          <p:nvPr/>
        </p:nvSpPr>
        <p:spPr>
          <a:xfrm>
            <a:off x="600298" y="1791295"/>
            <a:ext cx="14288" cy="3838873"/>
          </a:xfrm>
          <a:prstGeom prst="roundRect">
            <a:avLst>
              <a:gd name="adj" fmla="val 136284"/>
            </a:avLst>
          </a:prstGeom>
          <a:solidFill>
            <a:srgbClr val="D8D4D4"/>
          </a:solidFill>
          <a:ln/>
        </p:spPr>
      </p:sp>
      <p:sp>
        <p:nvSpPr>
          <p:cNvPr id="5" name="Shape 2"/>
          <p:cNvSpPr/>
          <p:nvPr/>
        </p:nvSpPr>
        <p:spPr>
          <a:xfrm>
            <a:off x="732011" y="2076152"/>
            <a:ext cx="389409" cy="14288"/>
          </a:xfrm>
          <a:prstGeom prst="roundRect">
            <a:avLst>
              <a:gd name="adj" fmla="val 136284"/>
            </a:avLst>
          </a:prstGeom>
          <a:solidFill>
            <a:srgbClr val="D8D4D4"/>
          </a:solidFill>
          <a:ln/>
        </p:spPr>
      </p:sp>
      <p:sp>
        <p:nvSpPr>
          <p:cNvPr id="6" name="Shape 3"/>
          <p:cNvSpPr/>
          <p:nvPr/>
        </p:nvSpPr>
        <p:spPr>
          <a:xfrm>
            <a:off x="454298" y="1937296"/>
            <a:ext cx="292001" cy="292001"/>
          </a:xfrm>
          <a:prstGeom prst="roundRect">
            <a:avLst>
              <a:gd name="adj" fmla="val 6668"/>
            </a:avLst>
          </a:prstGeom>
          <a:solidFill>
            <a:srgbClr val="F2EEEE"/>
          </a:solidFill>
          <a:ln/>
        </p:spPr>
      </p:sp>
      <p:pic>
        <p:nvPicPr>
          <p:cNvPr id="7" name="Image 1" descr="preencoded.png"/>
          <p:cNvPicPr>
            <a:picLocks noChangeAspect="1"/>
          </p:cNvPicPr>
          <p:nvPr/>
        </p:nvPicPr>
        <p:blipFill>
          <a:blip r:embed="rId4"/>
          <a:stretch>
            <a:fillRect/>
          </a:stretch>
        </p:blipFill>
        <p:spPr>
          <a:xfrm>
            <a:off x="511820" y="1972680"/>
            <a:ext cx="176957" cy="221233"/>
          </a:xfrm>
          <a:prstGeom prst="rect">
            <a:avLst/>
          </a:prstGeom>
        </p:spPr>
      </p:pic>
      <p:sp>
        <p:nvSpPr>
          <p:cNvPr id="8" name="Text 4"/>
          <p:cNvSpPr/>
          <p:nvPr/>
        </p:nvSpPr>
        <p:spPr>
          <a:xfrm>
            <a:off x="1249338" y="1921074"/>
            <a:ext cx="1691432" cy="184324"/>
          </a:xfrm>
          <a:prstGeom prst="rect">
            <a:avLst/>
          </a:prstGeom>
          <a:noFill/>
          <a:ln/>
        </p:spPr>
        <p:txBody>
          <a:bodyPr wrap="none" lIns="0" tIns="0" rIns="0" bIns="0" rtlCol="0" anchor="t"/>
          <a:lstStyle/>
          <a:p>
            <a:pPr>
              <a:lnSpc>
                <a:spcPts val="1438"/>
              </a:lnSpc>
            </a:pPr>
            <a:r>
              <a:rPr lang="en-US" sz="1600" b="1" spc="-12" dirty="0">
                <a:solidFill>
                  <a:srgbClr val="3D3838"/>
                </a:solidFill>
                <a:latin typeface="Arial" panose="020B0604020202020204" pitchFamily="34" charset="0"/>
                <a:ea typeface="Montserrat Bold" pitchFamily="34" charset="-122"/>
                <a:cs typeface="Arial" panose="020B0604020202020204" pitchFamily="34" charset="0"/>
              </a:rPr>
              <a:t>2000s: TV Tradizionale</a:t>
            </a:r>
            <a:endParaRPr lang="en-US" sz="1600" dirty="0">
              <a:latin typeface="Arial" panose="020B0604020202020204" pitchFamily="34" charset="0"/>
              <a:cs typeface="Arial" panose="020B0604020202020204" pitchFamily="34" charset="0"/>
            </a:endParaRPr>
          </a:p>
        </p:txBody>
      </p:sp>
      <p:sp>
        <p:nvSpPr>
          <p:cNvPr id="9" name="Text 5"/>
          <p:cNvSpPr/>
          <p:nvPr/>
        </p:nvSpPr>
        <p:spPr>
          <a:xfrm>
            <a:off x="1249338" y="2183235"/>
            <a:ext cx="4139606" cy="389334"/>
          </a:xfrm>
          <a:prstGeom prst="rect">
            <a:avLst/>
          </a:prstGeom>
          <a:noFill/>
          <a:ln/>
        </p:spPr>
        <p:txBody>
          <a:bodyPr wrap="square" lIns="0" tIns="0" rIns="0" bIns="0" rtlCol="0" anchor="t"/>
          <a:lstStyle/>
          <a:p>
            <a:pPr>
              <a:lnSpc>
                <a:spcPts val="1531"/>
              </a:lnSpc>
            </a:pPr>
            <a:r>
              <a:rPr lang="en-US" dirty="0">
                <a:solidFill>
                  <a:srgbClr val="3D3838"/>
                </a:solidFill>
                <a:latin typeface="Arial" panose="020B0604020202020204" pitchFamily="34" charset="0"/>
                <a:ea typeface="Source Sans Pro" pitchFamily="34" charset="-122"/>
                <a:cs typeface="Arial" panose="020B0604020202020204" pitchFamily="34" charset="0"/>
              </a:rPr>
              <a:t>Palinsesti fissi e pubblicità non saltabili. Esperienza passiva per lo spettatore.</a:t>
            </a:r>
            <a:endParaRPr lang="en-US" dirty="0">
              <a:latin typeface="Arial" panose="020B0604020202020204" pitchFamily="34" charset="0"/>
              <a:cs typeface="Arial" panose="020B0604020202020204" pitchFamily="34" charset="0"/>
            </a:endParaRPr>
          </a:p>
        </p:txBody>
      </p:sp>
      <p:sp>
        <p:nvSpPr>
          <p:cNvPr id="10" name="Shape 6"/>
          <p:cNvSpPr/>
          <p:nvPr/>
        </p:nvSpPr>
        <p:spPr>
          <a:xfrm>
            <a:off x="732011" y="3116982"/>
            <a:ext cx="389409" cy="14288"/>
          </a:xfrm>
          <a:prstGeom prst="roundRect">
            <a:avLst>
              <a:gd name="adj" fmla="val 136284"/>
            </a:avLst>
          </a:prstGeom>
          <a:solidFill>
            <a:srgbClr val="D8D4D4"/>
          </a:solidFill>
          <a:ln/>
        </p:spPr>
      </p:sp>
      <p:sp>
        <p:nvSpPr>
          <p:cNvPr id="11" name="Shape 7"/>
          <p:cNvSpPr/>
          <p:nvPr/>
        </p:nvSpPr>
        <p:spPr>
          <a:xfrm>
            <a:off x="454298" y="2978125"/>
            <a:ext cx="292001" cy="292001"/>
          </a:xfrm>
          <a:prstGeom prst="roundRect">
            <a:avLst>
              <a:gd name="adj" fmla="val 6668"/>
            </a:avLst>
          </a:prstGeom>
          <a:solidFill>
            <a:srgbClr val="F2EEEE"/>
          </a:solidFill>
          <a:ln/>
        </p:spPr>
      </p:sp>
      <p:pic>
        <p:nvPicPr>
          <p:cNvPr id="12" name="Image 2" descr="preencoded.png"/>
          <p:cNvPicPr>
            <a:picLocks noChangeAspect="1"/>
          </p:cNvPicPr>
          <p:nvPr/>
        </p:nvPicPr>
        <p:blipFill>
          <a:blip r:embed="rId5"/>
          <a:stretch>
            <a:fillRect/>
          </a:stretch>
        </p:blipFill>
        <p:spPr>
          <a:xfrm>
            <a:off x="511820" y="3013510"/>
            <a:ext cx="176957" cy="221233"/>
          </a:xfrm>
          <a:prstGeom prst="rect">
            <a:avLst/>
          </a:prstGeom>
        </p:spPr>
      </p:pic>
      <p:sp>
        <p:nvSpPr>
          <p:cNvPr id="13" name="Text 8"/>
          <p:cNvSpPr/>
          <p:nvPr/>
        </p:nvSpPr>
        <p:spPr>
          <a:xfrm>
            <a:off x="1249338" y="2961903"/>
            <a:ext cx="1475110" cy="184324"/>
          </a:xfrm>
          <a:prstGeom prst="rect">
            <a:avLst/>
          </a:prstGeom>
          <a:noFill/>
          <a:ln/>
        </p:spPr>
        <p:txBody>
          <a:bodyPr wrap="none" lIns="0" tIns="0" rIns="0" bIns="0" rtlCol="0" anchor="t"/>
          <a:lstStyle/>
          <a:p>
            <a:pPr>
              <a:lnSpc>
                <a:spcPts val="1438"/>
              </a:lnSpc>
            </a:pPr>
            <a:r>
              <a:rPr lang="en-US" sz="1600" b="1" spc="-12" dirty="0">
                <a:solidFill>
                  <a:srgbClr val="3D3838"/>
                </a:solidFill>
                <a:latin typeface="Arial" panose="020B0604020202020204" pitchFamily="34" charset="0"/>
                <a:ea typeface="Montserrat Bold" pitchFamily="34" charset="-122"/>
                <a:cs typeface="Arial" panose="020B0604020202020204" pitchFamily="34" charset="0"/>
              </a:rPr>
              <a:t>2010: DVD/Blu-ray</a:t>
            </a:r>
            <a:endParaRPr lang="en-US" sz="1600" dirty="0">
              <a:latin typeface="Arial" panose="020B0604020202020204" pitchFamily="34" charset="0"/>
              <a:cs typeface="Arial" panose="020B0604020202020204" pitchFamily="34" charset="0"/>
            </a:endParaRPr>
          </a:p>
        </p:txBody>
      </p:sp>
      <p:sp>
        <p:nvSpPr>
          <p:cNvPr id="14" name="Text 9"/>
          <p:cNvSpPr/>
          <p:nvPr/>
        </p:nvSpPr>
        <p:spPr>
          <a:xfrm>
            <a:off x="1249338" y="3224064"/>
            <a:ext cx="4465662" cy="184324"/>
          </a:xfrm>
          <a:prstGeom prst="rect">
            <a:avLst/>
          </a:prstGeom>
          <a:noFill/>
          <a:ln/>
        </p:spPr>
        <p:txBody>
          <a:bodyPr wrap="none" lIns="0" tIns="0" rIns="0" bIns="0" rtlCol="0" anchor="t"/>
          <a:lstStyle/>
          <a:p>
            <a:pPr>
              <a:lnSpc>
                <a:spcPts val="1531"/>
              </a:lnSpc>
            </a:pPr>
            <a:r>
              <a:rPr lang="en-US" dirty="0">
                <a:solidFill>
                  <a:srgbClr val="3D3838"/>
                </a:solidFill>
                <a:latin typeface="Arial" panose="020B0604020202020204" pitchFamily="34" charset="0"/>
                <a:ea typeface="Source Sans Pro" pitchFamily="34" charset="-122"/>
                <a:cs typeface="Arial" panose="020B0604020202020204" pitchFamily="34" charset="0"/>
              </a:rPr>
              <a:t>Maggiore </a:t>
            </a:r>
            <a:r>
              <a:rPr lang="en-US" dirty="0" err="1">
                <a:solidFill>
                  <a:srgbClr val="3D3838"/>
                </a:solidFill>
                <a:latin typeface="Arial" panose="020B0604020202020204" pitchFamily="34" charset="0"/>
                <a:ea typeface="Source Sans Pro" pitchFamily="34" charset="-122"/>
                <a:cs typeface="Arial" panose="020B0604020202020204" pitchFamily="34" charset="0"/>
              </a:rPr>
              <a:t>flessibilità</a:t>
            </a:r>
            <a:r>
              <a:rPr lang="en-US" dirty="0">
                <a:solidFill>
                  <a:srgbClr val="3D3838"/>
                </a:solidFill>
                <a:latin typeface="Arial" panose="020B0604020202020204" pitchFamily="34" charset="0"/>
                <a:ea typeface="Source Sans Pro" pitchFamily="34" charset="-122"/>
                <a:cs typeface="Arial" panose="020B0604020202020204" pitchFamily="34" charset="0"/>
              </a:rPr>
              <a:t> ma </a:t>
            </a:r>
            <a:r>
              <a:rPr lang="en-US" dirty="0" err="1">
                <a:solidFill>
                  <a:srgbClr val="3D3838"/>
                </a:solidFill>
                <a:latin typeface="Arial" panose="020B0604020202020204" pitchFamily="34" charset="0"/>
                <a:ea typeface="Source Sans Pro" pitchFamily="34" charset="-122"/>
                <a:cs typeface="Arial" panose="020B0604020202020204" pitchFamily="34" charset="0"/>
              </a:rPr>
              <a:t>ancora</a:t>
            </a:r>
            <a:r>
              <a:rPr lang="en-US" dirty="0">
                <a:solidFill>
                  <a:srgbClr val="3D3838"/>
                </a:solidFill>
                <a:latin typeface="Arial" panose="020B0604020202020204" pitchFamily="34" charset="0"/>
                <a:ea typeface="Source Sans Pro" pitchFamily="34" charset="-122"/>
                <a:cs typeface="Arial" panose="020B0604020202020204" pitchFamily="34" charset="0"/>
              </a:rPr>
              <a:t> </a:t>
            </a:r>
            <a:r>
              <a:rPr lang="en-US" dirty="0" err="1">
                <a:solidFill>
                  <a:srgbClr val="3D3838"/>
                </a:solidFill>
                <a:latin typeface="Arial" panose="020B0604020202020204" pitchFamily="34" charset="0"/>
                <a:ea typeface="Source Sans Pro" pitchFamily="34" charset="-122"/>
                <a:cs typeface="Arial" panose="020B0604020202020204" pitchFamily="34" charset="0"/>
              </a:rPr>
              <a:t>limitata</a:t>
            </a:r>
            <a:r>
              <a:rPr lang="en-US" dirty="0">
                <a:solidFill>
                  <a:srgbClr val="3D3838"/>
                </a:solidFill>
                <a:latin typeface="Arial" panose="020B0604020202020204" pitchFamily="34" charset="0"/>
                <a:ea typeface="Source Sans Pro" pitchFamily="34" charset="-122"/>
                <a:cs typeface="Arial" panose="020B0604020202020204" pitchFamily="34" charset="0"/>
              </a:rPr>
              <a:t>. </a:t>
            </a:r>
            <a:r>
              <a:rPr lang="en-US" dirty="0" err="1">
                <a:solidFill>
                  <a:srgbClr val="3D3838"/>
                </a:solidFill>
                <a:latin typeface="Arial" panose="020B0604020202020204" pitchFamily="34" charset="0"/>
                <a:ea typeface="Source Sans Pro" pitchFamily="34" charset="-122"/>
                <a:cs typeface="Arial" panose="020B0604020202020204" pitchFamily="34" charset="0"/>
              </a:rPr>
              <a:t>Necessità</a:t>
            </a:r>
            <a:r>
              <a:rPr lang="en-US" dirty="0">
                <a:solidFill>
                  <a:srgbClr val="3D3838"/>
                </a:solidFill>
                <a:latin typeface="Arial" panose="020B0604020202020204" pitchFamily="34" charset="0"/>
                <a:ea typeface="Source Sans Pro" pitchFamily="34" charset="-122"/>
                <a:cs typeface="Arial" panose="020B0604020202020204" pitchFamily="34" charset="0"/>
              </a:rPr>
              <a:t> di </a:t>
            </a:r>
            <a:r>
              <a:rPr lang="en-US" dirty="0" err="1">
                <a:solidFill>
                  <a:srgbClr val="3D3838"/>
                </a:solidFill>
                <a:latin typeface="Arial" panose="020B0604020202020204" pitchFamily="34" charset="0"/>
                <a:ea typeface="Source Sans Pro" pitchFamily="34" charset="-122"/>
                <a:cs typeface="Arial" panose="020B0604020202020204" pitchFamily="34" charset="0"/>
              </a:rPr>
              <a:t>supporti</a:t>
            </a:r>
            <a:r>
              <a:rPr lang="en-US" dirty="0">
                <a:solidFill>
                  <a:srgbClr val="3D3838"/>
                </a:solidFill>
                <a:latin typeface="Arial" panose="020B0604020202020204" pitchFamily="34" charset="0"/>
                <a:ea typeface="Source Sans Pro" pitchFamily="34" charset="-122"/>
                <a:cs typeface="Arial" panose="020B0604020202020204" pitchFamily="34" charset="0"/>
              </a:rPr>
              <a:t> </a:t>
            </a:r>
            <a:r>
              <a:rPr lang="en-US" dirty="0" err="1">
                <a:solidFill>
                  <a:srgbClr val="3D3838"/>
                </a:solidFill>
                <a:latin typeface="Arial" panose="020B0604020202020204" pitchFamily="34" charset="0"/>
                <a:ea typeface="Source Sans Pro" pitchFamily="34" charset="-122"/>
                <a:cs typeface="Arial" panose="020B0604020202020204" pitchFamily="34" charset="0"/>
              </a:rPr>
              <a:t>fisici</a:t>
            </a:r>
            <a:r>
              <a:rPr lang="en-US" dirty="0">
                <a:solidFill>
                  <a:srgbClr val="3D3838"/>
                </a:solidFill>
                <a:latin typeface="Arial" panose="020B0604020202020204" pitchFamily="34" charset="0"/>
                <a:ea typeface="Source Sans Pro" pitchFamily="34" charset="-122"/>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15" name="Shape 10"/>
          <p:cNvSpPr/>
          <p:nvPr/>
        </p:nvSpPr>
        <p:spPr>
          <a:xfrm>
            <a:off x="732011" y="3963144"/>
            <a:ext cx="389409" cy="14288"/>
          </a:xfrm>
          <a:prstGeom prst="roundRect">
            <a:avLst>
              <a:gd name="adj" fmla="val 136284"/>
            </a:avLst>
          </a:prstGeom>
          <a:solidFill>
            <a:srgbClr val="D8D4D4"/>
          </a:solidFill>
          <a:ln/>
        </p:spPr>
      </p:sp>
      <p:sp>
        <p:nvSpPr>
          <p:cNvPr id="16" name="Shape 11"/>
          <p:cNvSpPr/>
          <p:nvPr/>
        </p:nvSpPr>
        <p:spPr>
          <a:xfrm>
            <a:off x="454298" y="3824288"/>
            <a:ext cx="292001" cy="292001"/>
          </a:xfrm>
          <a:prstGeom prst="roundRect">
            <a:avLst>
              <a:gd name="adj" fmla="val 6668"/>
            </a:avLst>
          </a:prstGeom>
          <a:solidFill>
            <a:srgbClr val="F2EEEE"/>
          </a:solidFill>
          <a:ln/>
        </p:spPr>
      </p:sp>
      <p:pic>
        <p:nvPicPr>
          <p:cNvPr id="17" name="Image 3" descr="preencoded.png"/>
          <p:cNvPicPr>
            <a:picLocks noChangeAspect="1"/>
          </p:cNvPicPr>
          <p:nvPr/>
        </p:nvPicPr>
        <p:blipFill>
          <a:blip r:embed="rId6"/>
          <a:stretch>
            <a:fillRect/>
          </a:stretch>
        </p:blipFill>
        <p:spPr>
          <a:xfrm>
            <a:off x="511820" y="3859672"/>
            <a:ext cx="176957" cy="221233"/>
          </a:xfrm>
          <a:prstGeom prst="rect">
            <a:avLst/>
          </a:prstGeom>
        </p:spPr>
      </p:pic>
      <p:sp>
        <p:nvSpPr>
          <p:cNvPr id="18" name="Text 12"/>
          <p:cNvSpPr/>
          <p:nvPr/>
        </p:nvSpPr>
        <p:spPr>
          <a:xfrm>
            <a:off x="1249337" y="3808065"/>
            <a:ext cx="2173114" cy="184324"/>
          </a:xfrm>
          <a:prstGeom prst="rect">
            <a:avLst/>
          </a:prstGeom>
          <a:noFill/>
          <a:ln/>
        </p:spPr>
        <p:txBody>
          <a:bodyPr wrap="none" lIns="0" tIns="0" rIns="0" bIns="0" rtlCol="0" anchor="t"/>
          <a:lstStyle/>
          <a:p>
            <a:pPr>
              <a:lnSpc>
                <a:spcPts val="1438"/>
              </a:lnSpc>
            </a:pPr>
            <a:r>
              <a:rPr lang="en-US" sz="1600" b="1" spc="-12" dirty="0">
                <a:solidFill>
                  <a:srgbClr val="3D3838"/>
                </a:solidFill>
                <a:latin typeface="Arial" panose="020B0604020202020204" pitchFamily="34" charset="0"/>
                <a:ea typeface="Montserrat Bold" pitchFamily="34" charset="-122"/>
                <a:cs typeface="Arial" panose="020B0604020202020204" pitchFamily="34" charset="0"/>
              </a:rPr>
              <a:t>2015: Streaming On-Demand</a:t>
            </a:r>
            <a:endParaRPr lang="en-US" sz="1600" dirty="0">
              <a:latin typeface="Arial" panose="020B0604020202020204" pitchFamily="34" charset="0"/>
              <a:cs typeface="Arial" panose="020B0604020202020204" pitchFamily="34" charset="0"/>
            </a:endParaRPr>
          </a:p>
        </p:txBody>
      </p:sp>
      <p:sp>
        <p:nvSpPr>
          <p:cNvPr id="19" name="Text 13"/>
          <p:cNvSpPr/>
          <p:nvPr/>
        </p:nvSpPr>
        <p:spPr>
          <a:xfrm>
            <a:off x="1249338" y="4070227"/>
            <a:ext cx="4011364" cy="389334"/>
          </a:xfrm>
          <a:prstGeom prst="rect">
            <a:avLst/>
          </a:prstGeom>
          <a:noFill/>
          <a:ln/>
        </p:spPr>
        <p:txBody>
          <a:bodyPr wrap="square" lIns="0" tIns="0" rIns="0" bIns="0" rtlCol="0" anchor="t"/>
          <a:lstStyle/>
          <a:p>
            <a:pPr>
              <a:lnSpc>
                <a:spcPts val="1531"/>
              </a:lnSpc>
            </a:pPr>
            <a:r>
              <a:rPr lang="en-US" dirty="0">
                <a:solidFill>
                  <a:srgbClr val="3D3838"/>
                </a:solidFill>
                <a:latin typeface="Arial" panose="020B0604020202020204" pitchFamily="34" charset="0"/>
                <a:ea typeface="Source Sans Pro" pitchFamily="34" charset="-122"/>
                <a:cs typeface="Arial" panose="020B0604020202020204" pitchFamily="34" charset="0"/>
              </a:rPr>
              <a:t>Netflix rivoluziona il consumo mediatico. Contenuti disponibili ovunque, in qualsiasi momento.</a:t>
            </a:r>
            <a:endParaRPr lang="en-US" dirty="0">
              <a:latin typeface="Arial" panose="020B0604020202020204" pitchFamily="34" charset="0"/>
              <a:cs typeface="Arial" panose="020B0604020202020204" pitchFamily="34" charset="0"/>
            </a:endParaRPr>
          </a:p>
        </p:txBody>
      </p:sp>
      <p:sp>
        <p:nvSpPr>
          <p:cNvPr id="20" name="Shape 14"/>
          <p:cNvSpPr/>
          <p:nvPr/>
        </p:nvSpPr>
        <p:spPr>
          <a:xfrm>
            <a:off x="732011" y="5003974"/>
            <a:ext cx="389409" cy="14288"/>
          </a:xfrm>
          <a:prstGeom prst="roundRect">
            <a:avLst>
              <a:gd name="adj" fmla="val 136284"/>
            </a:avLst>
          </a:prstGeom>
          <a:solidFill>
            <a:srgbClr val="D8D4D4"/>
          </a:solidFill>
          <a:ln/>
        </p:spPr>
      </p:sp>
      <p:sp>
        <p:nvSpPr>
          <p:cNvPr id="21" name="Shape 15"/>
          <p:cNvSpPr/>
          <p:nvPr/>
        </p:nvSpPr>
        <p:spPr>
          <a:xfrm>
            <a:off x="454298" y="4865117"/>
            <a:ext cx="292001" cy="292001"/>
          </a:xfrm>
          <a:prstGeom prst="roundRect">
            <a:avLst>
              <a:gd name="adj" fmla="val 6668"/>
            </a:avLst>
          </a:prstGeom>
          <a:solidFill>
            <a:srgbClr val="F2EEEE"/>
          </a:solidFill>
          <a:ln/>
        </p:spPr>
      </p:sp>
      <p:pic>
        <p:nvPicPr>
          <p:cNvPr id="22" name="Image 4" descr="preencoded.png"/>
          <p:cNvPicPr>
            <a:picLocks noChangeAspect="1"/>
          </p:cNvPicPr>
          <p:nvPr/>
        </p:nvPicPr>
        <p:blipFill>
          <a:blip r:embed="rId7"/>
          <a:stretch>
            <a:fillRect/>
          </a:stretch>
        </p:blipFill>
        <p:spPr>
          <a:xfrm>
            <a:off x="511820" y="4900501"/>
            <a:ext cx="176957" cy="221233"/>
          </a:xfrm>
          <a:prstGeom prst="rect">
            <a:avLst/>
          </a:prstGeom>
        </p:spPr>
      </p:pic>
      <p:sp>
        <p:nvSpPr>
          <p:cNvPr id="23" name="Text 16"/>
          <p:cNvSpPr/>
          <p:nvPr/>
        </p:nvSpPr>
        <p:spPr>
          <a:xfrm>
            <a:off x="1249338" y="4848895"/>
            <a:ext cx="1778868" cy="184324"/>
          </a:xfrm>
          <a:prstGeom prst="rect">
            <a:avLst/>
          </a:prstGeom>
          <a:noFill/>
          <a:ln/>
        </p:spPr>
        <p:txBody>
          <a:bodyPr wrap="none" lIns="0" tIns="0" rIns="0" bIns="0" rtlCol="0" anchor="t"/>
          <a:lstStyle/>
          <a:p>
            <a:pPr>
              <a:lnSpc>
                <a:spcPts val="1438"/>
              </a:lnSpc>
            </a:pPr>
            <a:r>
              <a:rPr lang="en-US" sz="1600" b="1" spc="-12" dirty="0">
                <a:solidFill>
                  <a:srgbClr val="3D3838"/>
                </a:solidFill>
                <a:latin typeface="Arial" panose="020B0604020202020204" pitchFamily="34" charset="0"/>
                <a:ea typeface="Montserrat Bold" pitchFamily="34" charset="-122"/>
                <a:cs typeface="Arial" panose="020B0604020202020204" pitchFamily="34" charset="0"/>
              </a:rPr>
              <a:t>2023: Streaming Mobile</a:t>
            </a:r>
            <a:endParaRPr lang="en-US" sz="1600" dirty="0">
              <a:latin typeface="Arial" panose="020B0604020202020204" pitchFamily="34" charset="0"/>
              <a:cs typeface="Arial" panose="020B0604020202020204" pitchFamily="34" charset="0"/>
            </a:endParaRPr>
          </a:p>
        </p:txBody>
      </p:sp>
      <p:sp>
        <p:nvSpPr>
          <p:cNvPr id="24" name="Text 17"/>
          <p:cNvSpPr/>
          <p:nvPr/>
        </p:nvSpPr>
        <p:spPr>
          <a:xfrm>
            <a:off x="1249338" y="5111056"/>
            <a:ext cx="4011364" cy="389334"/>
          </a:xfrm>
          <a:prstGeom prst="rect">
            <a:avLst/>
          </a:prstGeom>
          <a:noFill/>
          <a:ln/>
        </p:spPr>
        <p:txBody>
          <a:bodyPr wrap="square" lIns="0" tIns="0" rIns="0" bIns="0" rtlCol="0" anchor="t"/>
          <a:lstStyle/>
          <a:p>
            <a:pPr>
              <a:lnSpc>
                <a:spcPts val="1531"/>
              </a:lnSpc>
            </a:pPr>
            <a:r>
              <a:rPr lang="en-US" sz="1200" dirty="0">
                <a:solidFill>
                  <a:srgbClr val="3D3838"/>
                </a:solidFill>
                <a:latin typeface="Arial" panose="020B0604020202020204" pitchFamily="34" charset="0"/>
                <a:ea typeface="Source Sans Pro" pitchFamily="34" charset="-122"/>
                <a:cs typeface="Arial" panose="020B0604020202020204" pitchFamily="34" charset="0"/>
              </a:rPr>
              <a:t>C</a:t>
            </a:r>
            <a:r>
              <a:rPr lang="en-US" dirty="0">
                <a:solidFill>
                  <a:srgbClr val="3D3838"/>
                </a:solidFill>
                <a:latin typeface="Arial" panose="020B0604020202020204" pitchFamily="34" charset="0"/>
                <a:ea typeface="Source Sans Pro" pitchFamily="34" charset="-122"/>
                <a:cs typeface="Arial" panose="020B0604020202020204" pitchFamily="34" charset="0"/>
              </a:rPr>
              <a:t>onsumo personalizzato su dispositivi portatili. Algoritmi di raccomandazione avanzati.</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015663"/>
          </a:xfrm>
          <a:prstGeom prst="rect">
            <a:avLst/>
          </a:prstGeom>
        </p:spPr>
        <p:txBody>
          <a:bodyPr wrap="square">
            <a:spAutoFit/>
          </a:bodyPr>
          <a:lstStyle/>
          <a:p>
            <a:r>
              <a:rPr lang="it-IT" sz="3000" b="1" dirty="0"/>
              <a:t>Gli elementi che compongono il modello delle 5 Forze di Porter. </a:t>
            </a:r>
          </a:p>
        </p:txBody>
      </p:sp>
      <p:sp>
        <p:nvSpPr>
          <p:cNvPr id="2" name="Rettangolo 1">
            <a:extLst>
              <a:ext uri="{FF2B5EF4-FFF2-40B4-BE49-F238E27FC236}">
                <a16:creationId xmlns:a16="http://schemas.microsoft.com/office/drawing/2014/main" id="{90911335-9FD2-45E4-B2C7-531CAF4B880B}"/>
              </a:ext>
            </a:extLst>
          </p:cNvPr>
          <p:cNvSpPr/>
          <p:nvPr/>
        </p:nvSpPr>
        <p:spPr>
          <a:xfrm>
            <a:off x="610073" y="1582340"/>
            <a:ext cx="7923854" cy="4247317"/>
          </a:xfrm>
          <a:prstGeom prst="rect">
            <a:avLst/>
          </a:prstGeom>
        </p:spPr>
        <p:txBody>
          <a:bodyPr wrap="square">
            <a:spAutoFit/>
          </a:bodyPr>
          <a:lstStyle/>
          <a:p>
            <a:r>
              <a:rPr lang="it-IT" sz="1800" b="1" dirty="0">
                <a:solidFill>
                  <a:srgbClr val="FF0000"/>
                </a:solidFill>
              </a:rPr>
              <a:t>5) L'ultima sezione del Modello delle 5 Forze di Porter: rivalità tra competitor esistenti</a:t>
            </a:r>
          </a:p>
          <a:p>
            <a:endParaRPr lang="it-IT" sz="1800" b="1" dirty="0">
              <a:solidFill>
                <a:srgbClr val="FF0000"/>
              </a:solidFill>
            </a:endParaRPr>
          </a:p>
          <a:p>
            <a:r>
              <a:rPr lang="it-IT" sz="1800" dirty="0">
                <a:solidFill>
                  <a:schemeClr val="tx1"/>
                </a:solidFill>
              </a:rPr>
              <a:t>La quinta e ultima delle </a:t>
            </a:r>
            <a:r>
              <a:rPr lang="it-IT" sz="1800" b="1" dirty="0">
                <a:solidFill>
                  <a:schemeClr val="tx1"/>
                </a:solidFill>
              </a:rPr>
              <a:t>5 forze </a:t>
            </a:r>
            <a:r>
              <a:rPr lang="it-IT" sz="1800" dirty="0">
                <a:solidFill>
                  <a:schemeClr val="tx1"/>
                </a:solidFill>
              </a:rPr>
              <a:t>del </a:t>
            </a:r>
            <a:r>
              <a:rPr lang="it-IT" sz="1800" b="1" dirty="0">
                <a:solidFill>
                  <a:schemeClr val="tx1"/>
                </a:solidFill>
              </a:rPr>
              <a:t>Modello di Porter </a:t>
            </a:r>
            <a:r>
              <a:rPr lang="it-IT" sz="1800" dirty="0">
                <a:solidFill>
                  <a:schemeClr val="tx1"/>
                </a:solidFill>
              </a:rPr>
              <a:t>esemplifica che la rivalità tra concorrenti esistenti assume forme familiari a tutti, tra cui gli sconti sui prezzi, l’introduzione di nuovi prodotti, campagne pubblicitarie e miglioramenti nel servizio. Un elevato livello di rivalità  </a:t>
            </a:r>
            <a:r>
              <a:rPr lang="it-IT" sz="1800" b="1" dirty="0">
                <a:solidFill>
                  <a:schemeClr val="tx1"/>
                </a:solidFill>
              </a:rPr>
              <a:t>limita la profittabilità di un settore</a:t>
            </a:r>
            <a:r>
              <a:rPr lang="it-IT" sz="1800" dirty="0">
                <a:solidFill>
                  <a:schemeClr val="tx1"/>
                </a:solidFill>
              </a:rPr>
              <a:t>: il livello d’impatto della rivalità sul profitto del settore dipende dall’intensità con cui le aziende competono e dalle basi sulle quali competono. Ma la rivalità può anche essere a somma positiva, quando ogni concorrente intende servire i bisogni di segmenti diversi di consumatori, offrendo diversi mix di prezzo, prodotti, servizi, caratteristiche o identità di brand. L’analisi della concorrenza (attraverso </a:t>
            </a:r>
            <a:r>
              <a:rPr lang="it-IT" sz="1800" b="1" dirty="0">
                <a:solidFill>
                  <a:schemeClr val="tx1"/>
                </a:solidFill>
              </a:rPr>
              <a:t>strategie competitive</a:t>
            </a:r>
            <a:r>
              <a:rPr lang="it-IT" sz="1800" dirty="0">
                <a:solidFill>
                  <a:schemeClr val="tx1"/>
                </a:solidFill>
              </a:rPr>
              <a:t>), basata sul </a:t>
            </a:r>
            <a:r>
              <a:rPr lang="it-IT" sz="1800" b="1" dirty="0">
                <a:solidFill>
                  <a:schemeClr val="tx1"/>
                </a:solidFill>
              </a:rPr>
              <a:t>Modello</a:t>
            </a:r>
            <a:r>
              <a:rPr lang="it-IT" sz="1800" dirty="0">
                <a:solidFill>
                  <a:schemeClr val="tx1"/>
                </a:solidFill>
              </a:rPr>
              <a:t> delle </a:t>
            </a:r>
            <a:r>
              <a:rPr lang="it-IT" sz="1800" b="1" dirty="0">
                <a:solidFill>
                  <a:schemeClr val="tx1"/>
                </a:solidFill>
              </a:rPr>
              <a:t>5 forze di Porter</a:t>
            </a:r>
            <a:r>
              <a:rPr lang="it-IT" sz="1800" dirty="0">
                <a:solidFill>
                  <a:schemeClr val="tx1"/>
                </a:solidFill>
              </a:rPr>
              <a:t>, è fondamentale per portare le aziende verso una redditività protratta nel tempo. </a:t>
            </a:r>
            <a:endParaRPr lang="it-IT" sz="1600" dirty="0">
              <a:solidFill>
                <a:schemeClr val="tx1"/>
              </a:solidFill>
            </a:endParaRPr>
          </a:p>
        </p:txBody>
      </p:sp>
    </p:spTree>
    <p:extLst>
      <p:ext uri="{BB962C8B-B14F-4D97-AF65-F5344CB8AC3E}">
        <p14:creationId xmlns:p14="http://schemas.microsoft.com/office/powerpoint/2010/main" val="2963017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13197"/>
            <a:ext cx="5228555" cy="442987"/>
          </a:xfrm>
          <a:prstGeom prst="rect">
            <a:avLst/>
          </a:prstGeom>
          <a:noFill/>
          <a:ln/>
        </p:spPr>
        <p:txBody>
          <a:bodyPr wrap="none" lIns="0" tIns="0" rIns="0" bIns="0" rtlCol="0" anchor="t"/>
          <a:lstStyle/>
          <a:p>
            <a:pPr>
              <a:lnSpc>
                <a:spcPts val="3469"/>
              </a:lnSpc>
            </a:pPr>
            <a:r>
              <a:rPr lang="en-US" sz="3600" b="1" dirty="0">
                <a:solidFill>
                  <a:srgbClr val="312F2B"/>
                </a:solidFill>
                <a:latin typeface="Arial" panose="020B0604020202020204" pitchFamily="34" charset="0"/>
                <a:ea typeface="Gelasio" pitchFamily="34" charset="-122"/>
                <a:cs typeface="Arial" panose="020B0604020202020204" pitchFamily="34" charset="0"/>
              </a:rPr>
              <a:t>Rivalità tra Competitors Esistenti</a:t>
            </a:r>
            <a:endParaRPr lang="en-US" sz="3600" b="1" dirty="0">
              <a:latin typeface="Arial" panose="020B0604020202020204" pitchFamily="34" charset="0"/>
              <a:cs typeface="Arial" panose="020B0604020202020204" pitchFamily="34" charset="0"/>
            </a:endParaRPr>
          </a:p>
        </p:txBody>
      </p:sp>
      <p:sp>
        <p:nvSpPr>
          <p:cNvPr id="3" name="Shape 1"/>
          <p:cNvSpPr/>
          <p:nvPr/>
        </p:nvSpPr>
        <p:spPr>
          <a:xfrm>
            <a:off x="496118" y="2052266"/>
            <a:ext cx="1040029" cy="1012866"/>
          </a:xfrm>
          <a:prstGeom prst="roundRect">
            <a:avLst>
              <a:gd name="adj" fmla="val 7289"/>
            </a:avLst>
          </a:prstGeom>
          <a:solidFill>
            <a:srgbClr val="E8E8E3"/>
          </a:solidFill>
          <a:ln w="7620">
            <a:solidFill>
              <a:srgbClr val="CECEC9"/>
            </a:solidFill>
            <a:prstDash val="solid"/>
          </a:ln>
        </p:spPr>
      </p:sp>
      <p:pic>
        <p:nvPicPr>
          <p:cNvPr id="4" name="Image 0" descr="preencoded.png"/>
          <p:cNvPicPr>
            <a:picLocks noChangeAspect="1"/>
          </p:cNvPicPr>
          <p:nvPr/>
        </p:nvPicPr>
        <p:blipFill>
          <a:blip r:embed="rId3"/>
          <a:stretch>
            <a:fillRect/>
          </a:stretch>
        </p:blipFill>
        <p:spPr>
          <a:xfrm>
            <a:off x="905918" y="2336080"/>
            <a:ext cx="346928" cy="433563"/>
          </a:xfrm>
          <a:prstGeom prst="rect">
            <a:avLst/>
          </a:prstGeom>
        </p:spPr>
      </p:pic>
      <p:sp>
        <p:nvSpPr>
          <p:cNvPr id="5" name="Text 2"/>
          <p:cNvSpPr/>
          <p:nvPr/>
        </p:nvSpPr>
        <p:spPr>
          <a:xfrm>
            <a:off x="1656830" y="2194025"/>
            <a:ext cx="1828273" cy="274600"/>
          </a:xfrm>
          <a:prstGeom prst="rect">
            <a:avLst/>
          </a:prstGeom>
          <a:noFill/>
          <a:ln/>
        </p:spPr>
        <p:txBody>
          <a:bodyPr wrap="none" lIns="0" tIns="0" rIns="0" bIns="0" rtlCol="0" anchor="t"/>
          <a:lstStyle/>
          <a:p>
            <a:pPr>
              <a:lnSpc>
                <a:spcPts val="1719"/>
              </a:lnSpc>
            </a:pPr>
            <a:r>
              <a:rPr lang="en-US" sz="1800" dirty="0">
                <a:solidFill>
                  <a:srgbClr val="272525"/>
                </a:solidFill>
                <a:latin typeface="Arial" panose="020B0604020202020204" pitchFamily="34" charset="0"/>
                <a:ea typeface="Gelasio" pitchFamily="34" charset="-122"/>
                <a:cs typeface="Arial" panose="020B0604020202020204" pitchFamily="34" charset="0"/>
              </a:rPr>
              <a:t>Numero di concorrenti</a:t>
            </a:r>
            <a:endParaRPr lang="en-US" sz="1800" dirty="0">
              <a:latin typeface="Arial" panose="020B0604020202020204" pitchFamily="34" charset="0"/>
              <a:cs typeface="Arial" panose="020B0604020202020204" pitchFamily="34" charset="0"/>
            </a:endParaRPr>
          </a:p>
        </p:txBody>
      </p:sp>
      <p:sp>
        <p:nvSpPr>
          <p:cNvPr id="6" name="Text 3"/>
          <p:cNvSpPr/>
          <p:nvPr/>
        </p:nvSpPr>
        <p:spPr>
          <a:xfrm>
            <a:off x="1656830" y="2500536"/>
            <a:ext cx="2392378" cy="281244"/>
          </a:xfrm>
          <a:prstGeom prst="rect">
            <a:avLst/>
          </a:prstGeom>
          <a:noFill/>
          <a:ln/>
        </p:spPr>
        <p:txBody>
          <a:bodyPr wrap="none" lIns="0" tIns="0" rIns="0" bIns="0" rtlCol="0" anchor="t"/>
          <a:lstStyle/>
          <a:p>
            <a:pPr>
              <a:lnSpc>
                <a:spcPts val="1781"/>
              </a:lnSpc>
            </a:pPr>
            <a:r>
              <a:rPr lang="en-US" dirty="0">
                <a:solidFill>
                  <a:srgbClr val="272525"/>
                </a:solidFill>
                <a:latin typeface="Arial" panose="020B0604020202020204" pitchFamily="34" charset="0"/>
                <a:ea typeface="Lato" pitchFamily="34" charset="-122"/>
                <a:cs typeface="Arial" panose="020B0604020202020204" pitchFamily="34" charset="0"/>
              </a:rPr>
              <a:t>Più competitor intensificano la rivalità</a:t>
            </a:r>
            <a:endParaRPr lang="en-US" dirty="0">
              <a:latin typeface="Arial" panose="020B0604020202020204" pitchFamily="34" charset="0"/>
              <a:cs typeface="Arial" panose="020B0604020202020204" pitchFamily="34" charset="0"/>
            </a:endParaRPr>
          </a:p>
        </p:txBody>
      </p:sp>
      <p:sp>
        <p:nvSpPr>
          <p:cNvPr id="7" name="Shape 4"/>
          <p:cNvSpPr/>
          <p:nvPr/>
        </p:nvSpPr>
        <p:spPr>
          <a:xfrm>
            <a:off x="1585913" y="2859584"/>
            <a:ext cx="7135741" cy="45719"/>
          </a:xfrm>
          <a:prstGeom prst="roundRect">
            <a:avLst>
              <a:gd name="adj" fmla="val 625116"/>
            </a:avLst>
          </a:prstGeom>
          <a:solidFill>
            <a:srgbClr val="CECEC9"/>
          </a:solidFill>
          <a:ln/>
        </p:spPr>
      </p:sp>
      <p:sp>
        <p:nvSpPr>
          <p:cNvPr id="8" name="Shape 5"/>
          <p:cNvSpPr/>
          <p:nvPr/>
        </p:nvSpPr>
        <p:spPr>
          <a:xfrm>
            <a:off x="496118" y="2939951"/>
            <a:ext cx="2080059" cy="1012866"/>
          </a:xfrm>
          <a:prstGeom prst="roundRect">
            <a:avLst>
              <a:gd name="adj" fmla="val 7289"/>
            </a:avLst>
          </a:prstGeom>
          <a:solidFill>
            <a:srgbClr val="E8E8E3"/>
          </a:solidFill>
          <a:ln w="7620">
            <a:solidFill>
              <a:srgbClr val="CECEC9"/>
            </a:solidFill>
            <a:prstDash val="solid"/>
          </a:ln>
        </p:spPr>
      </p:sp>
      <p:pic>
        <p:nvPicPr>
          <p:cNvPr id="9" name="Image 1" descr="preencoded.png"/>
          <p:cNvPicPr>
            <a:picLocks noChangeAspect="1"/>
          </p:cNvPicPr>
          <p:nvPr/>
        </p:nvPicPr>
        <p:blipFill>
          <a:blip r:embed="rId4"/>
          <a:stretch>
            <a:fillRect/>
          </a:stretch>
        </p:blipFill>
        <p:spPr>
          <a:xfrm>
            <a:off x="1415357" y="3223766"/>
            <a:ext cx="346928" cy="433563"/>
          </a:xfrm>
          <a:prstGeom prst="rect">
            <a:avLst/>
          </a:prstGeom>
        </p:spPr>
      </p:pic>
      <p:sp>
        <p:nvSpPr>
          <p:cNvPr id="10" name="Text 6"/>
          <p:cNvSpPr/>
          <p:nvPr/>
        </p:nvSpPr>
        <p:spPr>
          <a:xfrm>
            <a:off x="2675780" y="3081710"/>
            <a:ext cx="1808677" cy="274600"/>
          </a:xfrm>
          <a:prstGeom prst="rect">
            <a:avLst/>
          </a:prstGeom>
          <a:noFill/>
          <a:ln/>
        </p:spPr>
        <p:txBody>
          <a:bodyPr wrap="none" lIns="0" tIns="0" rIns="0" bIns="0" rtlCol="0" anchor="t"/>
          <a:lstStyle/>
          <a:p>
            <a:pPr>
              <a:lnSpc>
                <a:spcPts val="1719"/>
              </a:lnSpc>
            </a:pPr>
            <a:r>
              <a:rPr lang="en-US" sz="1800" dirty="0">
                <a:solidFill>
                  <a:srgbClr val="272525"/>
                </a:solidFill>
                <a:latin typeface="Arial" panose="020B0604020202020204" pitchFamily="34" charset="0"/>
                <a:ea typeface="Gelasio" pitchFamily="34" charset="-122"/>
                <a:cs typeface="Arial" panose="020B0604020202020204" pitchFamily="34" charset="0"/>
              </a:rPr>
              <a:t>Crescita del mercato</a:t>
            </a:r>
            <a:endParaRPr lang="en-US" sz="1800" dirty="0">
              <a:latin typeface="Arial" panose="020B0604020202020204" pitchFamily="34" charset="0"/>
              <a:cs typeface="Arial" panose="020B0604020202020204" pitchFamily="34" charset="0"/>
            </a:endParaRPr>
          </a:p>
        </p:txBody>
      </p:sp>
      <p:sp>
        <p:nvSpPr>
          <p:cNvPr id="11" name="Text 7"/>
          <p:cNvSpPr/>
          <p:nvPr/>
        </p:nvSpPr>
        <p:spPr>
          <a:xfrm>
            <a:off x="2675780" y="3388222"/>
            <a:ext cx="2880303" cy="281244"/>
          </a:xfrm>
          <a:prstGeom prst="rect">
            <a:avLst/>
          </a:prstGeom>
          <a:noFill/>
          <a:ln/>
        </p:spPr>
        <p:txBody>
          <a:bodyPr wrap="none" lIns="0" tIns="0" rIns="0" bIns="0" rtlCol="0" anchor="t"/>
          <a:lstStyle/>
          <a:p>
            <a:pPr>
              <a:lnSpc>
                <a:spcPts val="1781"/>
              </a:lnSpc>
            </a:pPr>
            <a:r>
              <a:rPr lang="en-US" dirty="0">
                <a:solidFill>
                  <a:srgbClr val="272525"/>
                </a:solidFill>
                <a:latin typeface="Arial" panose="020B0604020202020204" pitchFamily="34" charset="0"/>
                <a:ea typeface="Lato" pitchFamily="34" charset="-122"/>
                <a:cs typeface="Arial" panose="020B0604020202020204" pitchFamily="34" charset="0"/>
              </a:rPr>
              <a:t>Mercati stagnanti aumentano la competizione</a:t>
            </a:r>
            <a:endParaRPr lang="en-US" dirty="0">
              <a:latin typeface="Arial" panose="020B0604020202020204" pitchFamily="34" charset="0"/>
              <a:cs typeface="Arial" panose="020B0604020202020204" pitchFamily="34" charset="0"/>
            </a:endParaRPr>
          </a:p>
        </p:txBody>
      </p:sp>
      <p:sp>
        <p:nvSpPr>
          <p:cNvPr id="12" name="Shape 8"/>
          <p:cNvSpPr/>
          <p:nvPr/>
        </p:nvSpPr>
        <p:spPr>
          <a:xfrm>
            <a:off x="2604864" y="3747269"/>
            <a:ext cx="6095712" cy="45719"/>
          </a:xfrm>
          <a:prstGeom prst="roundRect">
            <a:avLst>
              <a:gd name="adj" fmla="val 625116"/>
            </a:avLst>
          </a:prstGeom>
          <a:solidFill>
            <a:srgbClr val="CECEC9"/>
          </a:solidFill>
          <a:ln/>
        </p:spPr>
      </p:sp>
      <p:sp>
        <p:nvSpPr>
          <p:cNvPr id="13" name="Shape 9"/>
          <p:cNvSpPr/>
          <p:nvPr/>
        </p:nvSpPr>
        <p:spPr>
          <a:xfrm>
            <a:off x="496119" y="3827637"/>
            <a:ext cx="3120087" cy="1012866"/>
          </a:xfrm>
          <a:prstGeom prst="roundRect">
            <a:avLst>
              <a:gd name="adj" fmla="val 7289"/>
            </a:avLst>
          </a:prstGeom>
          <a:solidFill>
            <a:srgbClr val="E8E8E3"/>
          </a:solidFill>
          <a:ln w="7620">
            <a:solidFill>
              <a:srgbClr val="CECEC9"/>
            </a:solidFill>
            <a:prstDash val="solid"/>
          </a:ln>
        </p:spPr>
      </p:sp>
      <p:pic>
        <p:nvPicPr>
          <p:cNvPr id="14" name="Image 2" descr="preencoded.png"/>
          <p:cNvPicPr>
            <a:picLocks noChangeAspect="1"/>
          </p:cNvPicPr>
          <p:nvPr/>
        </p:nvPicPr>
        <p:blipFill>
          <a:blip r:embed="rId5"/>
          <a:stretch>
            <a:fillRect/>
          </a:stretch>
        </p:blipFill>
        <p:spPr>
          <a:xfrm>
            <a:off x="1924870" y="4111451"/>
            <a:ext cx="346928" cy="433563"/>
          </a:xfrm>
          <a:prstGeom prst="rect">
            <a:avLst/>
          </a:prstGeom>
        </p:spPr>
      </p:pic>
      <p:sp>
        <p:nvSpPr>
          <p:cNvPr id="15" name="Text 10"/>
          <p:cNvSpPr/>
          <p:nvPr/>
        </p:nvSpPr>
        <p:spPr>
          <a:xfrm>
            <a:off x="3694732" y="3969395"/>
            <a:ext cx="1808677" cy="274600"/>
          </a:xfrm>
          <a:prstGeom prst="rect">
            <a:avLst/>
          </a:prstGeom>
          <a:noFill/>
          <a:ln/>
        </p:spPr>
        <p:txBody>
          <a:bodyPr wrap="none" lIns="0" tIns="0" rIns="0" bIns="0" rtlCol="0" anchor="t"/>
          <a:lstStyle/>
          <a:p>
            <a:pPr>
              <a:lnSpc>
                <a:spcPts val="1719"/>
              </a:lnSpc>
            </a:pPr>
            <a:r>
              <a:rPr lang="en-US" sz="1800" dirty="0">
                <a:solidFill>
                  <a:srgbClr val="272525"/>
                </a:solidFill>
                <a:latin typeface="Arial" panose="020B0604020202020204" pitchFamily="34" charset="0"/>
                <a:ea typeface="Gelasio" pitchFamily="34" charset="-122"/>
                <a:cs typeface="Arial" panose="020B0604020202020204" pitchFamily="34" charset="0"/>
              </a:rPr>
              <a:t>Differenziazione</a:t>
            </a:r>
            <a:endParaRPr lang="en-US" sz="1800" dirty="0">
              <a:latin typeface="Arial" panose="020B0604020202020204" pitchFamily="34" charset="0"/>
              <a:cs typeface="Arial" panose="020B0604020202020204" pitchFamily="34" charset="0"/>
            </a:endParaRPr>
          </a:p>
        </p:txBody>
      </p:sp>
      <p:sp>
        <p:nvSpPr>
          <p:cNvPr id="16" name="Text 11"/>
          <p:cNvSpPr/>
          <p:nvPr/>
        </p:nvSpPr>
        <p:spPr>
          <a:xfrm>
            <a:off x="3694732" y="4275907"/>
            <a:ext cx="3373771" cy="281244"/>
          </a:xfrm>
          <a:prstGeom prst="rect">
            <a:avLst/>
          </a:prstGeom>
          <a:noFill/>
          <a:ln/>
        </p:spPr>
        <p:txBody>
          <a:bodyPr wrap="none" lIns="0" tIns="0" rIns="0" bIns="0" rtlCol="0" anchor="t"/>
          <a:lstStyle/>
          <a:p>
            <a:pPr>
              <a:lnSpc>
                <a:spcPts val="1781"/>
              </a:lnSpc>
            </a:pPr>
            <a:r>
              <a:rPr lang="en-US" dirty="0">
                <a:solidFill>
                  <a:srgbClr val="272525"/>
                </a:solidFill>
                <a:latin typeface="Arial" panose="020B0604020202020204" pitchFamily="34" charset="0"/>
                <a:ea typeface="Lato" pitchFamily="34" charset="-122"/>
                <a:cs typeface="Arial" panose="020B0604020202020204" pitchFamily="34" charset="0"/>
              </a:rPr>
              <a:t>Prodotti simili intensificano la competizione sui prezzi</a:t>
            </a:r>
            <a:endParaRPr lang="en-US" dirty="0">
              <a:latin typeface="Arial" panose="020B0604020202020204" pitchFamily="34" charset="0"/>
              <a:cs typeface="Arial" panose="020B0604020202020204" pitchFamily="34" charset="0"/>
            </a:endParaRPr>
          </a:p>
        </p:txBody>
      </p:sp>
      <p:sp>
        <p:nvSpPr>
          <p:cNvPr id="17" name="Shape 12"/>
          <p:cNvSpPr/>
          <p:nvPr/>
        </p:nvSpPr>
        <p:spPr>
          <a:xfrm>
            <a:off x="3623817" y="4634954"/>
            <a:ext cx="5055682" cy="45719"/>
          </a:xfrm>
          <a:prstGeom prst="roundRect">
            <a:avLst>
              <a:gd name="adj" fmla="val 625116"/>
            </a:avLst>
          </a:prstGeom>
          <a:solidFill>
            <a:srgbClr val="CECEC9"/>
          </a:solidFill>
          <a:ln/>
        </p:spPr>
      </p:sp>
      <p:sp>
        <p:nvSpPr>
          <p:cNvPr id="18" name="Shape 13"/>
          <p:cNvSpPr/>
          <p:nvPr/>
        </p:nvSpPr>
        <p:spPr>
          <a:xfrm>
            <a:off x="496120" y="4715322"/>
            <a:ext cx="4160192" cy="1012866"/>
          </a:xfrm>
          <a:prstGeom prst="roundRect">
            <a:avLst>
              <a:gd name="adj" fmla="val 7289"/>
            </a:avLst>
          </a:prstGeom>
          <a:solidFill>
            <a:srgbClr val="E8E8E3"/>
          </a:solidFill>
          <a:ln w="7620">
            <a:solidFill>
              <a:srgbClr val="CECEC9"/>
            </a:solidFill>
            <a:prstDash val="solid"/>
          </a:ln>
        </p:spPr>
      </p:sp>
      <p:pic>
        <p:nvPicPr>
          <p:cNvPr id="19" name="Image 3" descr="preencoded.png"/>
          <p:cNvPicPr>
            <a:picLocks noChangeAspect="1"/>
          </p:cNvPicPr>
          <p:nvPr/>
        </p:nvPicPr>
        <p:blipFill>
          <a:blip r:embed="rId6"/>
          <a:stretch>
            <a:fillRect/>
          </a:stretch>
        </p:blipFill>
        <p:spPr>
          <a:xfrm>
            <a:off x="2434383" y="4999136"/>
            <a:ext cx="346928" cy="433563"/>
          </a:xfrm>
          <a:prstGeom prst="rect">
            <a:avLst/>
          </a:prstGeom>
        </p:spPr>
      </p:pic>
      <p:sp>
        <p:nvSpPr>
          <p:cNvPr id="20" name="Text 14"/>
          <p:cNvSpPr/>
          <p:nvPr/>
        </p:nvSpPr>
        <p:spPr>
          <a:xfrm>
            <a:off x="4719574" y="4951983"/>
            <a:ext cx="1808677" cy="274600"/>
          </a:xfrm>
          <a:prstGeom prst="rect">
            <a:avLst/>
          </a:prstGeom>
          <a:noFill/>
          <a:ln/>
        </p:spPr>
        <p:txBody>
          <a:bodyPr wrap="none" lIns="0" tIns="0" rIns="0" bIns="0" rtlCol="0" anchor="t"/>
          <a:lstStyle/>
          <a:p>
            <a:pPr>
              <a:lnSpc>
                <a:spcPts val="1719"/>
              </a:lnSpc>
            </a:pPr>
            <a:r>
              <a:rPr lang="en-US" sz="1800" dirty="0">
                <a:solidFill>
                  <a:srgbClr val="272525"/>
                </a:solidFill>
                <a:latin typeface="Arial" panose="020B0604020202020204" pitchFamily="34" charset="0"/>
                <a:ea typeface="Gelasio" pitchFamily="34" charset="-122"/>
                <a:cs typeface="Arial" panose="020B0604020202020204" pitchFamily="34" charset="0"/>
              </a:rPr>
              <a:t>Barriere all'uscita</a:t>
            </a:r>
            <a:endParaRPr lang="en-US" sz="1800" dirty="0">
              <a:latin typeface="Arial" panose="020B0604020202020204" pitchFamily="34" charset="0"/>
              <a:cs typeface="Arial" panose="020B0604020202020204" pitchFamily="34" charset="0"/>
            </a:endParaRPr>
          </a:p>
        </p:txBody>
      </p:sp>
      <p:sp>
        <p:nvSpPr>
          <p:cNvPr id="21" name="Text 15"/>
          <p:cNvSpPr/>
          <p:nvPr/>
        </p:nvSpPr>
        <p:spPr>
          <a:xfrm>
            <a:off x="4719575" y="5258495"/>
            <a:ext cx="3058641" cy="281244"/>
          </a:xfrm>
          <a:prstGeom prst="rect">
            <a:avLst/>
          </a:prstGeom>
          <a:noFill/>
          <a:ln/>
        </p:spPr>
        <p:txBody>
          <a:bodyPr wrap="none" lIns="0" tIns="0" rIns="0" bIns="0" rtlCol="0" anchor="t"/>
          <a:lstStyle/>
          <a:p>
            <a:pPr>
              <a:lnSpc>
                <a:spcPts val="1781"/>
              </a:lnSpc>
            </a:pPr>
            <a:r>
              <a:rPr lang="en-US" dirty="0">
                <a:solidFill>
                  <a:srgbClr val="272525"/>
                </a:solidFill>
                <a:latin typeface="Arial" panose="020B0604020202020204" pitchFamily="34" charset="0"/>
                <a:ea typeface="Lato" pitchFamily="34" charset="-122"/>
                <a:cs typeface="Arial" panose="020B0604020202020204" pitchFamily="34" charset="0"/>
              </a:rPr>
              <a:t>Difficoltà a lasciare il mercato aumenta la rivalità</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9874" y="498128"/>
            <a:ext cx="5805508" cy="438299"/>
          </a:xfrm>
          <a:prstGeom prst="rect">
            <a:avLst/>
          </a:prstGeom>
          <a:noFill/>
          <a:ln/>
        </p:spPr>
        <p:txBody>
          <a:bodyPr wrap="none" lIns="0" tIns="0" rIns="0" bIns="0" rtlCol="0" anchor="t"/>
          <a:lstStyle/>
          <a:p>
            <a:pPr>
              <a:lnSpc>
                <a:spcPts val="3438"/>
              </a:lnSpc>
            </a:pPr>
            <a:r>
              <a:rPr lang="en-US" sz="3600" b="1" spc="-28" dirty="0">
                <a:latin typeface="+mj-lt"/>
                <a:ea typeface="Montserrat Bold" pitchFamily="34" charset="-122"/>
                <a:cs typeface="Montserrat Bold" pitchFamily="34" charset="-120"/>
              </a:rPr>
              <a:t>Rivalità </a:t>
            </a:r>
            <a:r>
              <a:rPr lang="en-US" sz="3600" b="1" spc="-28" dirty="0" err="1">
                <a:latin typeface="+mj-lt"/>
                <a:ea typeface="Montserrat Bold" pitchFamily="34" charset="-122"/>
                <a:cs typeface="Montserrat Bold" pitchFamily="34" charset="-120"/>
              </a:rPr>
              <a:t>tra</a:t>
            </a:r>
            <a:r>
              <a:rPr lang="en-US" sz="3600" b="1" spc="-28" dirty="0">
                <a:latin typeface="+mj-lt"/>
                <a:ea typeface="Montserrat Bold" pitchFamily="34" charset="-122"/>
                <a:cs typeface="Montserrat Bold" pitchFamily="34" charset="-120"/>
              </a:rPr>
              <a:t> Competitors </a:t>
            </a:r>
            <a:r>
              <a:rPr lang="en-US" sz="3600" b="1" spc="-28" dirty="0" err="1">
                <a:latin typeface="+mj-lt"/>
                <a:ea typeface="Montserrat Bold" pitchFamily="34" charset="-122"/>
                <a:cs typeface="Montserrat Bold" pitchFamily="34" charset="-120"/>
              </a:rPr>
              <a:t>Esistenti</a:t>
            </a:r>
            <a:endParaRPr lang="en-US" sz="3600" dirty="0">
              <a:latin typeface="+mj-lt"/>
            </a:endParaRPr>
          </a:p>
        </p:txBody>
      </p:sp>
      <p:sp>
        <p:nvSpPr>
          <p:cNvPr id="3" name="Text 1"/>
          <p:cNvSpPr/>
          <p:nvPr/>
        </p:nvSpPr>
        <p:spPr>
          <a:xfrm>
            <a:off x="1176374" y="2232572"/>
            <a:ext cx="1753046" cy="219149"/>
          </a:xfrm>
          <a:prstGeom prst="rect">
            <a:avLst/>
          </a:prstGeom>
          <a:noFill/>
          <a:ln/>
        </p:spPr>
        <p:txBody>
          <a:bodyPr wrap="none" lIns="0" tIns="0" rIns="0" bIns="0" rtlCol="0" anchor="t"/>
          <a:lstStyle/>
          <a:p>
            <a:pPr algn="r">
              <a:lnSpc>
                <a:spcPts val="1719"/>
              </a:lnSpc>
            </a:pPr>
            <a:r>
              <a:rPr lang="en-US" sz="1800" b="1" spc="-14" dirty="0">
                <a:solidFill>
                  <a:srgbClr val="3D3838"/>
                </a:solidFill>
                <a:latin typeface="+mj-lt"/>
                <a:ea typeface="Montserrat Bold" pitchFamily="34" charset="-122"/>
                <a:cs typeface="Montserrat Bold" pitchFamily="34" charset="-120"/>
              </a:rPr>
              <a:t>Consolidamento</a:t>
            </a:r>
            <a:endParaRPr lang="en-US" sz="1800" dirty="0">
              <a:latin typeface="+mj-lt"/>
            </a:endParaRPr>
          </a:p>
        </p:txBody>
      </p:sp>
      <p:sp>
        <p:nvSpPr>
          <p:cNvPr id="4" name="Text 2"/>
          <p:cNvSpPr/>
          <p:nvPr/>
        </p:nvSpPr>
        <p:spPr>
          <a:xfrm>
            <a:off x="539910" y="2544218"/>
            <a:ext cx="2389510" cy="462707"/>
          </a:xfrm>
          <a:prstGeom prst="rect">
            <a:avLst/>
          </a:prstGeom>
          <a:noFill/>
          <a:ln/>
        </p:spPr>
        <p:txBody>
          <a:bodyPr wrap="square" lIns="0" tIns="0" rIns="0" bIns="0" rtlCol="0" anchor="t"/>
          <a:lstStyle/>
          <a:p>
            <a:pPr algn="r">
              <a:lnSpc>
                <a:spcPts val="1813"/>
              </a:lnSpc>
            </a:pPr>
            <a:r>
              <a:rPr lang="en-US" sz="1600" dirty="0">
                <a:solidFill>
                  <a:srgbClr val="3D3838"/>
                </a:solidFill>
                <a:latin typeface="+mj-lt"/>
                <a:ea typeface="Source Sans Pro" pitchFamily="34" charset="-122"/>
                <a:cs typeface="Source Sans Pro" pitchFamily="34" charset="-120"/>
              </a:rPr>
              <a:t>Fusioni tra istituti per raggiungere massa critica.</a:t>
            </a:r>
            <a:endParaRPr lang="en-US" sz="1600" dirty="0">
              <a:latin typeface="+mj-lt"/>
            </a:endParaRPr>
          </a:p>
        </p:txBody>
      </p:sp>
      <p:pic>
        <p:nvPicPr>
          <p:cNvPr id="5" name="Image 0" descr="preencoded.png"/>
          <p:cNvPicPr>
            <a:picLocks noChangeAspect="1"/>
          </p:cNvPicPr>
          <p:nvPr/>
        </p:nvPicPr>
        <p:blipFill>
          <a:blip r:embed="rId3"/>
          <a:stretch>
            <a:fillRect/>
          </a:stretch>
        </p:blipFill>
        <p:spPr>
          <a:xfrm>
            <a:off x="3160774" y="1971973"/>
            <a:ext cx="2822451" cy="2822451"/>
          </a:xfrm>
          <a:prstGeom prst="rect">
            <a:avLst/>
          </a:prstGeom>
        </p:spPr>
      </p:pic>
      <p:pic>
        <p:nvPicPr>
          <p:cNvPr id="6" name="Image 1" descr="preencoded.png"/>
          <p:cNvPicPr>
            <a:picLocks noChangeAspect="1"/>
          </p:cNvPicPr>
          <p:nvPr/>
        </p:nvPicPr>
        <p:blipFill>
          <a:blip r:embed="rId4"/>
          <a:stretch>
            <a:fillRect/>
          </a:stretch>
        </p:blipFill>
        <p:spPr>
          <a:xfrm>
            <a:off x="3888543" y="2430661"/>
            <a:ext cx="230758" cy="288503"/>
          </a:xfrm>
          <a:prstGeom prst="rect">
            <a:avLst/>
          </a:prstGeom>
        </p:spPr>
      </p:pic>
      <p:sp>
        <p:nvSpPr>
          <p:cNvPr id="7" name="Text 3"/>
          <p:cNvSpPr/>
          <p:nvPr/>
        </p:nvSpPr>
        <p:spPr>
          <a:xfrm>
            <a:off x="6214578" y="2232572"/>
            <a:ext cx="1753046" cy="219149"/>
          </a:xfrm>
          <a:prstGeom prst="rect">
            <a:avLst/>
          </a:prstGeom>
          <a:noFill/>
          <a:ln/>
        </p:spPr>
        <p:txBody>
          <a:bodyPr wrap="none" lIns="0" tIns="0" rIns="0" bIns="0" rtlCol="0" anchor="t"/>
          <a:lstStyle/>
          <a:p>
            <a:pPr>
              <a:lnSpc>
                <a:spcPts val="1719"/>
              </a:lnSpc>
            </a:pPr>
            <a:r>
              <a:rPr lang="en-US" sz="1800" b="1" spc="-14" dirty="0">
                <a:solidFill>
                  <a:srgbClr val="3D3838"/>
                </a:solidFill>
                <a:latin typeface="+mj-lt"/>
                <a:ea typeface="Montserrat Bold" pitchFamily="34" charset="-122"/>
                <a:cs typeface="Montserrat Bold" pitchFamily="34" charset="-120"/>
              </a:rPr>
              <a:t>Digitalizzazione</a:t>
            </a:r>
            <a:endParaRPr lang="en-US" sz="1800" dirty="0">
              <a:latin typeface="+mj-lt"/>
            </a:endParaRPr>
          </a:p>
        </p:txBody>
      </p:sp>
      <p:sp>
        <p:nvSpPr>
          <p:cNvPr id="8" name="Text 4"/>
          <p:cNvSpPr/>
          <p:nvPr/>
        </p:nvSpPr>
        <p:spPr>
          <a:xfrm>
            <a:off x="6214578" y="2544218"/>
            <a:ext cx="2389584" cy="462707"/>
          </a:xfrm>
          <a:prstGeom prst="rect">
            <a:avLst/>
          </a:prstGeom>
          <a:noFill/>
          <a:ln/>
        </p:spPr>
        <p:txBody>
          <a:bodyPr wrap="square" lIns="0" tIns="0" rIns="0" bIns="0" rtlCol="0" anchor="t"/>
          <a:lstStyle/>
          <a:p>
            <a:pPr>
              <a:lnSpc>
                <a:spcPts val="1813"/>
              </a:lnSpc>
            </a:pPr>
            <a:r>
              <a:rPr lang="en-US" sz="1600" dirty="0">
                <a:solidFill>
                  <a:srgbClr val="3D3838"/>
                </a:solidFill>
                <a:latin typeface="+mj-lt"/>
                <a:ea typeface="Source Sans Pro" pitchFamily="34" charset="-122"/>
                <a:cs typeface="Source Sans Pro" pitchFamily="34" charset="-120"/>
              </a:rPr>
              <a:t>Investimenti in app e servizi online innovativi.</a:t>
            </a:r>
            <a:endParaRPr lang="en-US" sz="1600" dirty="0">
              <a:latin typeface="+mj-lt"/>
            </a:endParaRPr>
          </a:p>
        </p:txBody>
      </p:sp>
      <p:pic>
        <p:nvPicPr>
          <p:cNvPr id="9" name="Image 2" descr="preencoded.png"/>
          <p:cNvPicPr>
            <a:picLocks noChangeAspect="1"/>
          </p:cNvPicPr>
          <p:nvPr/>
        </p:nvPicPr>
        <p:blipFill>
          <a:blip r:embed="rId5"/>
          <a:stretch>
            <a:fillRect/>
          </a:stretch>
        </p:blipFill>
        <p:spPr>
          <a:xfrm>
            <a:off x="3160774" y="1971973"/>
            <a:ext cx="2822451" cy="2822451"/>
          </a:xfrm>
          <a:prstGeom prst="rect">
            <a:avLst/>
          </a:prstGeom>
        </p:spPr>
      </p:pic>
      <p:pic>
        <p:nvPicPr>
          <p:cNvPr id="10" name="Image 3" descr="preencoded.png"/>
          <p:cNvPicPr>
            <a:picLocks noChangeAspect="1"/>
          </p:cNvPicPr>
          <p:nvPr/>
        </p:nvPicPr>
        <p:blipFill>
          <a:blip r:embed="rId6"/>
          <a:stretch>
            <a:fillRect/>
          </a:stretch>
        </p:blipFill>
        <p:spPr>
          <a:xfrm>
            <a:off x="5264757" y="2670870"/>
            <a:ext cx="230758" cy="288503"/>
          </a:xfrm>
          <a:prstGeom prst="rect">
            <a:avLst/>
          </a:prstGeom>
        </p:spPr>
      </p:pic>
      <p:sp>
        <p:nvSpPr>
          <p:cNvPr id="11" name="Text 5"/>
          <p:cNvSpPr/>
          <p:nvPr/>
        </p:nvSpPr>
        <p:spPr>
          <a:xfrm>
            <a:off x="6214578" y="3759473"/>
            <a:ext cx="2024658" cy="219149"/>
          </a:xfrm>
          <a:prstGeom prst="rect">
            <a:avLst/>
          </a:prstGeom>
          <a:noFill/>
          <a:ln/>
        </p:spPr>
        <p:txBody>
          <a:bodyPr wrap="none" lIns="0" tIns="0" rIns="0" bIns="0" rtlCol="0" anchor="t"/>
          <a:lstStyle/>
          <a:p>
            <a:pPr>
              <a:lnSpc>
                <a:spcPts val="1719"/>
              </a:lnSpc>
            </a:pPr>
            <a:r>
              <a:rPr lang="en-US" sz="1800" b="1" spc="-14" dirty="0">
                <a:solidFill>
                  <a:srgbClr val="3D3838"/>
                </a:solidFill>
                <a:latin typeface="+mj-lt"/>
                <a:ea typeface="Montserrat Bold" pitchFamily="34" charset="-122"/>
                <a:cs typeface="Montserrat Bold" pitchFamily="34" charset="-120"/>
              </a:rPr>
              <a:t>Competizione sui tassi</a:t>
            </a:r>
            <a:endParaRPr lang="en-US" sz="1800" dirty="0">
              <a:latin typeface="+mj-lt"/>
            </a:endParaRPr>
          </a:p>
        </p:txBody>
      </p:sp>
      <p:sp>
        <p:nvSpPr>
          <p:cNvPr id="12" name="Text 6"/>
          <p:cNvSpPr/>
          <p:nvPr/>
        </p:nvSpPr>
        <p:spPr>
          <a:xfrm>
            <a:off x="6214578" y="4071119"/>
            <a:ext cx="2389584" cy="462707"/>
          </a:xfrm>
          <a:prstGeom prst="rect">
            <a:avLst/>
          </a:prstGeom>
          <a:noFill/>
          <a:ln/>
        </p:spPr>
        <p:txBody>
          <a:bodyPr wrap="square" lIns="0" tIns="0" rIns="0" bIns="0" rtlCol="0" anchor="t"/>
          <a:lstStyle/>
          <a:p>
            <a:pPr>
              <a:lnSpc>
                <a:spcPts val="1813"/>
              </a:lnSpc>
            </a:pPr>
            <a:r>
              <a:rPr lang="en-US" sz="1600" dirty="0">
                <a:solidFill>
                  <a:srgbClr val="3D3838"/>
                </a:solidFill>
                <a:latin typeface="+mj-lt"/>
                <a:ea typeface="Source Sans Pro" pitchFamily="34" charset="-122"/>
                <a:cs typeface="Source Sans Pro" pitchFamily="34" charset="-120"/>
              </a:rPr>
              <a:t>Offerte sempre più aggressive sui mutui.</a:t>
            </a:r>
            <a:endParaRPr lang="en-US" sz="1600" dirty="0">
              <a:latin typeface="+mj-lt"/>
            </a:endParaRPr>
          </a:p>
        </p:txBody>
      </p:sp>
      <p:pic>
        <p:nvPicPr>
          <p:cNvPr id="13" name="Image 4" descr="preencoded.png"/>
          <p:cNvPicPr>
            <a:picLocks noChangeAspect="1"/>
          </p:cNvPicPr>
          <p:nvPr/>
        </p:nvPicPr>
        <p:blipFill>
          <a:blip r:embed="rId7"/>
          <a:stretch>
            <a:fillRect/>
          </a:stretch>
        </p:blipFill>
        <p:spPr>
          <a:xfrm>
            <a:off x="3160774" y="1971973"/>
            <a:ext cx="2822451" cy="2822451"/>
          </a:xfrm>
          <a:prstGeom prst="rect">
            <a:avLst/>
          </a:prstGeom>
        </p:spPr>
      </p:pic>
      <p:pic>
        <p:nvPicPr>
          <p:cNvPr id="14" name="Image 5" descr="preencoded.png"/>
          <p:cNvPicPr>
            <a:picLocks noChangeAspect="1"/>
          </p:cNvPicPr>
          <p:nvPr/>
        </p:nvPicPr>
        <p:blipFill>
          <a:blip r:embed="rId8"/>
          <a:stretch>
            <a:fillRect/>
          </a:stretch>
        </p:blipFill>
        <p:spPr>
          <a:xfrm>
            <a:off x="5024548" y="4047084"/>
            <a:ext cx="230758" cy="288503"/>
          </a:xfrm>
          <a:prstGeom prst="rect">
            <a:avLst/>
          </a:prstGeom>
        </p:spPr>
      </p:pic>
      <p:sp>
        <p:nvSpPr>
          <p:cNvPr id="15" name="Text 7"/>
          <p:cNvSpPr/>
          <p:nvPr/>
        </p:nvSpPr>
        <p:spPr>
          <a:xfrm>
            <a:off x="1176374" y="3759473"/>
            <a:ext cx="1753046" cy="219149"/>
          </a:xfrm>
          <a:prstGeom prst="rect">
            <a:avLst/>
          </a:prstGeom>
          <a:noFill/>
          <a:ln/>
        </p:spPr>
        <p:txBody>
          <a:bodyPr wrap="none" lIns="0" tIns="0" rIns="0" bIns="0" rtlCol="0" anchor="t"/>
          <a:lstStyle/>
          <a:p>
            <a:pPr algn="r">
              <a:lnSpc>
                <a:spcPts val="1719"/>
              </a:lnSpc>
            </a:pPr>
            <a:r>
              <a:rPr lang="en-US" sz="1800" b="1" spc="-14" dirty="0">
                <a:solidFill>
                  <a:srgbClr val="3D3838"/>
                </a:solidFill>
                <a:latin typeface="+mj-lt"/>
                <a:ea typeface="Montserrat Bold" pitchFamily="34" charset="-122"/>
                <a:cs typeface="Montserrat Bold" pitchFamily="34" charset="-120"/>
              </a:rPr>
              <a:t>Servizi distintivi</a:t>
            </a:r>
            <a:endParaRPr lang="en-US" sz="1800" dirty="0">
              <a:latin typeface="+mj-lt"/>
            </a:endParaRPr>
          </a:p>
        </p:txBody>
      </p:sp>
      <p:sp>
        <p:nvSpPr>
          <p:cNvPr id="16" name="Text 8"/>
          <p:cNvSpPr/>
          <p:nvPr/>
        </p:nvSpPr>
        <p:spPr>
          <a:xfrm>
            <a:off x="539910" y="4071119"/>
            <a:ext cx="2389510" cy="462707"/>
          </a:xfrm>
          <a:prstGeom prst="rect">
            <a:avLst/>
          </a:prstGeom>
          <a:noFill/>
          <a:ln/>
        </p:spPr>
        <p:txBody>
          <a:bodyPr wrap="square" lIns="0" tIns="0" rIns="0" bIns="0" rtlCol="0" anchor="t"/>
          <a:lstStyle/>
          <a:p>
            <a:pPr algn="r">
              <a:lnSpc>
                <a:spcPts val="1813"/>
              </a:lnSpc>
            </a:pPr>
            <a:r>
              <a:rPr lang="en-US" sz="1600" dirty="0">
                <a:solidFill>
                  <a:srgbClr val="3D3838"/>
                </a:solidFill>
                <a:latin typeface="+mj-lt"/>
                <a:ea typeface="Source Sans Pro" pitchFamily="34" charset="-122"/>
                <a:cs typeface="Source Sans Pro" pitchFamily="34" charset="-120"/>
              </a:rPr>
              <a:t>Consulenza specializzata per segmenti premium.</a:t>
            </a:r>
            <a:endParaRPr lang="en-US" sz="1600" dirty="0">
              <a:latin typeface="+mj-lt"/>
            </a:endParaRPr>
          </a:p>
        </p:txBody>
      </p:sp>
      <p:pic>
        <p:nvPicPr>
          <p:cNvPr id="17" name="Image 6" descr="preencoded.png"/>
          <p:cNvPicPr>
            <a:picLocks noChangeAspect="1"/>
          </p:cNvPicPr>
          <p:nvPr/>
        </p:nvPicPr>
        <p:blipFill>
          <a:blip r:embed="rId9"/>
          <a:stretch>
            <a:fillRect/>
          </a:stretch>
        </p:blipFill>
        <p:spPr>
          <a:xfrm>
            <a:off x="3160774" y="1971973"/>
            <a:ext cx="2822451" cy="2822451"/>
          </a:xfrm>
          <a:prstGeom prst="rect">
            <a:avLst/>
          </a:prstGeom>
        </p:spPr>
      </p:pic>
      <p:pic>
        <p:nvPicPr>
          <p:cNvPr id="18" name="Image 7" descr="preencoded.png"/>
          <p:cNvPicPr>
            <a:picLocks noChangeAspect="1"/>
          </p:cNvPicPr>
          <p:nvPr/>
        </p:nvPicPr>
        <p:blipFill>
          <a:blip r:embed="rId10"/>
          <a:stretch>
            <a:fillRect/>
          </a:stretch>
        </p:blipFill>
        <p:spPr>
          <a:xfrm>
            <a:off x="3648335" y="3806875"/>
            <a:ext cx="230758" cy="288503"/>
          </a:xfrm>
          <a:prstGeom prst="rect">
            <a:avLst/>
          </a:prstGeom>
        </p:spPr>
      </p:pic>
      <p:sp>
        <p:nvSpPr>
          <p:cNvPr id="19" name="Text 9"/>
          <p:cNvSpPr/>
          <p:nvPr/>
        </p:nvSpPr>
        <p:spPr>
          <a:xfrm>
            <a:off x="604371" y="5829970"/>
            <a:ext cx="8064252" cy="462707"/>
          </a:xfrm>
          <a:prstGeom prst="rect">
            <a:avLst/>
          </a:prstGeom>
          <a:noFill/>
          <a:ln/>
        </p:spPr>
        <p:txBody>
          <a:bodyPr wrap="square" lIns="0" tIns="0" rIns="0" bIns="0" rtlCol="0" anchor="t"/>
          <a:lstStyle/>
          <a:p>
            <a:pPr algn="just">
              <a:lnSpc>
                <a:spcPts val="1813"/>
              </a:lnSpc>
            </a:pPr>
            <a:r>
              <a:rPr lang="en-US" sz="1600" dirty="0">
                <a:solidFill>
                  <a:srgbClr val="3D3838"/>
                </a:solidFill>
                <a:latin typeface="+mj-lt"/>
                <a:ea typeface="Source Sans Pro" pitchFamily="34" charset="-122"/>
                <a:cs typeface="Source Sans Pro" pitchFamily="34" charset="-120"/>
              </a:rPr>
              <a:t>Il settore bancario italiano ha visto un'intensa rivalità, accelerata dalla necessità di trasformazione digitale e dalle pressioni sui margini di profitto.</a:t>
            </a:r>
            <a:endParaRPr lang="en-US" sz="1600" dirty="0">
              <a:latin typeface="+mj-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3812C6B-6486-400C-891E-6087825BBA52}"/>
              </a:ext>
            </a:extLst>
          </p:cNvPr>
          <p:cNvSpPr/>
          <p:nvPr/>
        </p:nvSpPr>
        <p:spPr>
          <a:xfrm>
            <a:off x="350570" y="289863"/>
            <a:ext cx="7657357" cy="1015663"/>
          </a:xfrm>
          <a:prstGeom prst="rect">
            <a:avLst/>
          </a:prstGeom>
        </p:spPr>
        <p:txBody>
          <a:bodyPr wrap="square">
            <a:spAutoFit/>
          </a:bodyPr>
          <a:lstStyle/>
          <a:p>
            <a:r>
              <a:rPr lang="it-IT" sz="3000" b="1" dirty="0"/>
              <a:t>Gli elementi che compongono il modello delle 5 Forze di Porter. </a:t>
            </a:r>
          </a:p>
        </p:txBody>
      </p:sp>
      <p:pic>
        <p:nvPicPr>
          <p:cNvPr id="3" name="Elementi multimediali online 2" title="Michael E. Porter. Le 5 forze competitive che plasmano la strategia">
            <a:hlinkClick r:id="" action="ppaction://media"/>
            <a:extLst>
              <a:ext uri="{FF2B5EF4-FFF2-40B4-BE49-F238E27FC236}">
                <a16:creationId xmlns:a16="http://schemas.microsoft.com/office/drawing/2014/main" id="{3929E5CE-D5E6-4C87-B2E9-3C37A75B7D53}"/>
              </a:ext>
            </a:extLst>
          </p:cNvPr>
          <p:cNvPicPr>
            <a:picLocks noRot="1" noChangeAspect="1"/>
          </p:cNvPicPr>
          <p:nvPr>
            <a:videoFile r:link="rId1"/>
          </p:nvPr>
        </p:nvPicPr>
        <p:blipFill>
          <a:blip r:embed="rId4"/>
          <a:stretch>
            <a:fillRect/>
          </a:stretch>
        </p:blipFill>
        <p:spPr>
          <a:xfrm>
            <a:off x="864596" y="1575547"/>
            <a:ext cx="7414807" cy="4170829"/>
          </a:xfrm>
          <a:prstGeom prst="rect">
            <a:avLst/>
          </a:prstGeom>
        </p:spPr>
      </p:pic>
    </p:spTree>
    <p:extLst>
      <p:ext uri="{BB962C8B-B14F-4D97-AF65-F5344CB8AC3E}">
        <p14:creationId xmlns:p14="http://schemas.microsoft.com/office/powerpoint/2010/main" val="171851139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65E88D-8238-491F-A220-78AC2D3826CE}"/>
</file>

<file path=customXml/itemProps2.xml><?xml version="1.0" encoding="utf-8"?>
<ds:datastoreItem xmlns:ds="http://schemas.openxmlformats.org/officeDocument/2006/customXml" ds:itemID="{470AB938-D91F-4C97-80D3-5CDD3E0E41B2}"/>
</file>

<file path=customXml/itemProps3.xml><?xml version="1.0" encoding="utf-8"?>
<ds:datastoreItem xmlns:ds="http://schemas.openxmlformats.org/officeDocument/2006/customXml" ds:itemID="{84BDC706-CEE6-48C0-8F42-BC20A75311B8}"/>
</file>

<file path=docProps/app.xml><?xml version="1.0" encoding="utf-8"?>
<Properties xmlns="http://schemas.openxmlformats.org/officeDocument/2006/extended-properties" xmlns:vt="http://schemas.openxmlformats.org/officeDocument/2006/docPropsVTypes">
  <TotalTime>5226</TotalTime>
  <Words>4366</Words>
  <Application>Microsoft Office PowerPoint</Application>
  <PresentationFormat>Presentazione su schermo (4:3)</PresentationFormat>
  <Paragraphs>385</Paragraphs>
  <Slides>51</Slides>
  <Notes>24</Notes>
  <HiddenSlides>0</HiddenSlides>
  <MMClips>2</MMClips>
  <ScaleCrop>false</ScaleCrop>
  <HeadingPairs>
    <vt:vector size="6" baseType="variant">
      <vt:variant>
        <vt:lpstr>Caratteri utilizzati</vt:lpstr>
      </vt:variant>
      <vt:variant>
        <vt:i4>11</vt:i4>
      </vt:variant>
      <vt:variant>
        <vt:lpstr>Tema</vt:lpstr>
      </vt:variant>
      <vt:variant>
        <vt:i4>3</vt:i4>
      </vt:variant>
      <vt:variant>
        <vt:lpstr>Titoli diapositive</vt:lpstr>
      </vt:variant>
      <vt:variant>
        <vt:i4>51</vt:i4>
      </vt:variant>
    </vt:vector>
  </HeadingPairs>
  <TitlesOfParts>
    <vt:vector size="65" baseType="lpstr">
      <vt:lpstr>Calibri</vt:lpstr>
      <vt:lpstr>Poppins SemiBold</vt:lpstr>
      <vt:lpstr>PT Sans</vt:lpstr>
      <vt:lpstr>Montserrat Bold</vt:lpstr>
      <vt:lpstr>Gelasio</vt:lpstr>
      <vt:lpstr>Lato</vt:lpstr>
      <vt:lpstr>Calibri Light</vt:lpstr>
      <vt:lpstr>Nunito Semi Bold</vt:lpstr>
      <vt:lpstr>Source Sans Pro</vt:lpstr>
      <vt:lpstr>Arial</vt:lpstr>
      <vt:lpstr>Poppins</vt:lpstr>
      <vt:lpstr>Tema di Office</vt:lpstr>
      <vt:lpstr>1_Office Theme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I partecipanti alla vita  dell’impresa: l’imprenditore e gli «stakeholder»</dc:title>
  <dc:creator>Carla Rossi</dc:creator>
  <cp:lastModifiedBy>Piccirillo Giuseppe</cp:lastModifiedBy>
  <cp:revision>148</cp:revision>
  <dcterms:created xsi:type="dcterms:W3CDTF">2020-02-20T05:20:26Z</dcterms:created>
  <dcterms:modified xsi:type="dcterms:W3CDTF">2026-04-14T07:36:40Z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2017-03-20T00:00:00Z</vt:filetime>
  </property>
  <property fmtid="{D5CDD505-2E9C-101B-9397-08002B2CF9AE}" pid="3" name="Creator">
    <vt:lpwstr>Microsoft® PowerPoint® 2016</vt:lpwstr>
  </property>
  <property fmtid="{D5CDD505-2E9C-101B-9397-08002B2CF9AE}" pid="4" name="LastSaved">
    <vt:filetime>2020-02-20T00:00:00Z</vt:filetime>
  </property>
  <property fmtid="{D5CDD505-2E9C-101B-9397-08002B2CF9AE}" pid="5" name="ContentTypeId">
    <vt:lpwstr>0x010100CEADD803C0F48442AB4649F39F36D470</vt:lpwstr>
  </property>
</Properties>
</file>