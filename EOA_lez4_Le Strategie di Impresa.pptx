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32.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3.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22.xml" ContentType="application/vnd.openxmlformats-officedocument.presentationml.slideLayout+xml"/>
  <Override PartName="/ppt/slideLayouts/slideLayout17.xml" ContentType="application/vnd.openxmlformats-officedocument.presentationml.slideLayout+xml"/>
  <Override PartName="/ppt/slideLayouts/slideLayout24.xml" ContentType="application/vnd.openxmlformats-officedocument.presentationml.slideLayout+xml"/>
  <Override PartName="/ppt/notesSlides/notesSlide1.xml" ContentType="application/vnd.openxmlformats-officedocument.presentationml.notesSlide+xml"/>
  <Override PartName="/ppt/slideLayouts/slideLayout23.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theme/theme1.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custom.xml" ContentType="application/vnd.openxmlformats-officedocument.custom-properties+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8" r:id="rId1"/>
    <p:sldMasterId id="2147483672" r:id="rId2"/>
  </p:sldMasterIdLst>
  <p:notesMasterIdLst>
    <p:notesMasterId r:id="rId36"/>
  </p:notesMasterIdLst>
  <p:sldIdLst>
    <p:sldId id="367" r:id="rId3"/>
    <p:sldId id="337" r:id="rId4"/>
    <p:sldId id="328" r:id="rId5"/>
    <p:sldId id="329" r:id="rId6"/>
    <p:sldId id="330" r:id="rId7"/>
    <p:sldId id="332" r:id="rId8"/>
    <p:sldId id="331" r:id="rId9"/>
    <p:sldId id="333" r:id="rId10"/>
    <p:sldId id="334" r:id="rId11"/>
    <p:sldId id="335" r:id="rId12"/>
    <p:sldId id="336" r:id="rId13"/>
    <p:sldId id="338" r:id="rId14"/>
    <p:sldId id="339" r:id="rId15"/>
    <p:sldId id="340" r:id="rId16"/>
    <p:sldId id="341" r:id="rId17"/>
    <p:sldId id="359" r:id="rId18"/>
    <p:sldId id="342" r:id="rId19"/>
    <p:sldId id="343" r:id="rId20"/>
    <p:sldId id="345" r:id="rId21"/>
    <p:sldId id="344" r:id="rId22"/>
    <p:sldId id="346" r:id="rId23"/>
    <p:sldId id="347" r:id="rId24"/>
    <p:sldId id="348" r:id="rId25"/>
    <p:sldId id="349" r:id="rId26"/>
    <p:sldId id="350" r:id="rId27"/>
    <p:sldId id="357" r:id="rId28"/>
    <p:sldId id="356" r:id="rId29"/>
    <p:sldId id="358" r:id="rId30"/>
    <p:sldId id="351" r:id="rId31"/>
    <p:sldId id="352" r:id="rId32"/>
    <p:sldId id="353" r:id="rId33"/>
    <p:sldId id="354" r:id="rId34"/>
    <p:sldId id="355" r:id="rId35"/>
  </p:sldIdLst>
  <p:sldSz cx="9144000" cy="6858000" type="screen4x3"/>
  <p:notesSz cx="6858000" cy="9144000"/>
  <p:embeddedFontLst>
    <p:embeddedFont>
      <p:font typeface="Calibri" panose="020F0502020204030204" pitchFamily="34" charset="0"/>
      <p:regular r:id="rId37"/>
      <p:bold r:id="rId38"/>
      <p:italic r:id="rId39"/>
      <p:boldItalic r:id="rId40"/>
    </p:embeddedFont>
    <p:embeddedFont>
      <p:font typeface="Calibri Light" panose="020F0302020204030204" pitchFamily="34" charset="0"/>
      <p:regular r:id="rId41"/>
      <p: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5" roundtripDataSignature="AMtx7mg7PAWhXJQmo3lPgQy8J3J+f46lb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568" autoAdjust="0"/>
    <p:restoredTop sz="95208" autoAdjust="0"/>
  </p:normalViewPr>
  <p:slideViewPr>
    <p:cSldViewPr snapToGrid="0">
      <p:cViewPr varScale="1">
        <p:scale>
          <a:sx n="81" d="100"/>
          <a:sy n="81" d="100"/>
        </p:scale>
        <p:origin x="1824" y="67"/>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3.fntdata"/><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6.fntdata"/><Relationship Id="rId76"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font" Target="fonts/font1.fntdata"/><Relationship Id="rId40" Type="http://schemas.openxmlformats.org/officeDocument/2006/relationships/font" Target="fonts/font4.fntdata"/><Relationship Id="rId79"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82" Type="http://schemas.openxmlformats.org/officeDocument/2006/relationships/customXml" Target="../customXml/item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78" Type="http://schemas.openxmlformats.org/officeDocument/2006/relationships/theme" Target="theme/theme1.xml"/><Relationship Id="rId81" Type="http://schemas.openxmlformats.org/officeDocument/2006/relationships/customXml" Target="../customXml/item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77" Type="http://schemas.openxmlformats.org/officeDocument/2006/relationships/viewProps" Target="viewProps.xml"/><Relationship Id="rId8" Type="http://schemas.openxmlformats.org/officeDocument/2006/relationships/slide" Target="slides/slide6.xml"/><Relationship Id="rId80" Type="http://schemas.openxmlformats.org/officeDocument/2006/relationships/customXml" Target="../customXml/item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font" Target="fonts/font2.fntdata"/><Relationship Id="rId20" Type="http://schemas.openxmlformats.org/officeDocument/2006/relationships/slide" Target="slides/slide18.xml"/><Relationship Id="rId41" Type="http://schemas.openxmlformats.org/officeDocument/2006/relationships/font" Target="fonts/font5.fntdata"/><Relationship Id="rId75"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0367AC0-BB0E-EE45-B67E-6606AB89C3E0}"/>
              </a:ext>
            </a:extLst>
          </p:cNvPr>
          <p:cNvSpPr>
            <a:spLocks noGrp="1"/>
          </p:cNvSpPr>
          <p:nvPr>
            <p:ph type="ctrTitle"/>
          </p:nvPr>
        </p:nvSpPr>
        <p:spPr>
          <a:xfrm>
            <a:off x="1143000" y="1122363"/>
            <a:ext cx="6858000" cy="2387600"/>
          </a:xfrm>
        </p:spPr>
        <p:txBody>
          <a:bodyPr anchor="b"/>
          <a:lstStyle>
            <a:lvl1pPr algn="ctr">
              <a:defRPr sz="45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DFF53AB7-2040-6A4E-B8ED-67778AF88E54}"/>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D7FF3A72-D704-1841-96AA-28EC3DD8E2CE}"/>
              </a:ext>
            </a:extLst>
          </p:cNvPr>
          <p:cNvSpPr>
            <a:spLocks noGrp="1"/>
          </p:cNvSpPr>
          <p:nvPr>
            <p:ph type="dt" sz="half" idx="10"/>
          </p:nvPr>
        </p:nvSpPr>
        <p:spPr/>
        <p:txBody>
          <a:bodyPr/>
          <a:lstStyle/>
          <a:p>
            <a:fld id="{4CE450D7-51B2-DC41-A285-84B90542AA55}" type="datetimeFigureOut">
              <a:rPr lang="it-IT" smtClean="0"/>
              <a:t>07/04/2026</a:t>
            </a:fld>
            <a:endParaRPr lang="it-IT"/>
          </a:p>
        </p:txBody>
      </p:sp>
      <p:sp>
        <p:nvSpPr>
          <p:cNvPr id="5" name="Segnaposto piè di pagina 4">
            <a:extLst>
              <a:ext uri="{FF2B5EF4-FFF2-40B4-BE49-F238E27FC236}">
                <a16:creationId xmlns:a16="http://schemas.microsoft.com/office/drawing/2014/main" id="{A9CA5FEA-D3F6-8D4F-BD4F-ECA68565428C}"/>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AEAAD52E-67DD-4B40-8F63-C3017CBE6B68}"/>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15282559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936CF00-FD7E-3F4B-9F94-8678F6E867F2}"/>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E92E0252-69EC-B644-974B-5C54AEBC12B1}"/>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D6FA8D48-3180-EF46-9462-2E11F852B0FF}"/>
              </a:ext>
            </a:extLst>
          </p:cNvPr>
          <p:cNvSpPr>
            <a:spLocks noGrp="1"/>
          </p:cNvSpPr>
          <p:nvPr>
            <p:ph type="dt" sz="half" idx="10"/>
          </p:nvPr>
        </p:nvSpPr>
        <p:spPr/>
        <p:txBody>
          <a:bodyPr/>
          <a:lstStyle/>
          <a:p>
            <a:fld id="{4CE450D7-51B2-DC41-A285-84B90542AA55}" type="datetimeFigureOut">
              <a:rPr lang="it-IT" smtClean="0"/>
              <a:t>07/04/2026</a:t>
            </a:fld>
            <a:endParaRPr lang="it-IT"/>
          </a:p>
        </p:txBody>
      </p:sp>
      <p:sp>
        <p:nvSpPr>
          <p:cNvPr id="5" name="Segnaposto piè di pagina 4">
            <a:extLst>
              <a:ext uri="{FF2B5EF4-FFF2-40B4-BE49-F238E27FC236}">
                <a16:creationId xmlns:a16="http://schemas.microsoft.com/office/drawing/2014/main" id="{6E8CBD3E-9CC2-AB4D-9F84-714C51B156A9}"/>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639A2179-0F5D-7A48-8EB5-044E5DCF17D7}"/>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41409313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AD9337D-EA32-C342-971D-6F706E94AAA7}"/>
              </a:ext>
            </a:extLst>
          </p:cNvPr>
          <p:cNvSpPr>
            <a:spLocks noGrp="1"/>
          </p:cNvSpPr>
          <p:nvPr>
            <p:ph type="title"/>
          </p:nvPr>
        </p:nvSpPr>
        <p:spPr>
          <a:xfrm>
            <a:off x="623888" y="1709739"/>
            <a:ext cx="7886700" cy="2852737"/>
          </a:xfrm>
        </p:spPr>
        <p:txBody>
          <a:bodyPr anchor="b"/>
          <a:lstStyle>
            <a:lvl1pPr>
              <a:defRPr sz="45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F038567C-11D6-3149-815B-596D4EE50684}"/>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23841DE1-40FA-5541-A83E-AFF6A60DA277}"/>
              </a:ext>
            </a:extLst>
          </p:cNvPr>
          <p:cNvSpPr>
            <a:spLocks noGrp="1"/>
          </p:cNvSpPr>
          <p:nvPr>
            <p:ph type="dt" sz="half" idx="10"/>
          </p:nvPr>
        </p:nvSpPr>
        <p:spPr/>
        <p:txBody>
          <a:bodyPr/>
          <a:lstStyle/>
          <a:p>
            <a:fld id="{4CE450D7-51B2-DC41-A285-84B90542AA55}" type="datetimeFigureOut">
              <a:rPr lang="it-IT" smtClean="0"/>
              <a:t>07/04/2026</a:t>
            </a:fld>
            <a:endParaRPr lang="it-IT"/>
          </a:p>
        </p:txBody>
      </p:sp>
      <p:sp>
        <p:nvSpPr>
          <p:cNvPr id="5" name="Segnaposto piè di pagina 4">
            <a:extLst>
              <a:ext uri="{FF2B5EF4-FFF2-40B4-BE49-F238E27FC236}">
                <a16:creationId xmlns:a16="http://schemas.microsoft.com/office/drawing/2014/main" id="{DDE33406-5847-C144-9808-ECE09FA3E14B}"/>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E3DE7CB0-65E2-9D44-9CF8-6BF203218AB3}"/>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28410679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6A7A561-BA9A-1247-922E-6C11556BBC4F}"/>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EC522E11-E4F4-3542-8669-453F68FA8398}"/>
              </a:ext>
            </a:extLst>
          </p:cNvPr>
          <p:cNvSpPr>
            <a:spLocks noGrp="1"/>
          </p:cNvSpPr>
          <p:nvPr>
            <p:ph sz="half" idx="1"/>
          </p:nvPr>
        </p:nvSpPr>
        <p:spPr>
          <a:xfrm>
            <a:off x="628650" y="1825625"/>
            <a:ext cx="38862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00F52616-68E6-BB4A-96A9-1B7ACBF51BEC}"/>
              </a:ext>
            </a:extLst>
          </p:cNvPr>
          <p:cNvSpPr>
            <a:spLocks noGrp="1"/>
          </p:cNvSpPr>
          <p:nvPr>
            <p:ph sz="half" idx="2"/>
          </p:nvPr>
        </p:nvSpPr>
        <p:spPr>
          <a:xfrm>
            <a:off x="4629150" y="1825625"/>
            <a:ext cx="38862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57CC6BDC-A9E5-AA42-A8A5-C1103F0C3C64}"/>
              </a:ext>
            </a:extLst>
          </p:cNvPr>
          <p:cNvSpPr>
            <a:spLocks noGrp="1"/>
          </p:cNvSpPr>
          <p:nvPr>
            <p:ph type="dt" sz="half" idx="10"/>
          </p:nvPr>
        </p:nvSpPr>
        <p:spPr/>
        <p:txBody>
          <a:bodyPr/>
          <a:lstStyle/>
          <a:p>
            <a:fld id="{4CE450D7-51B2-DC41-A285-84B90542AA55}" type="datetimeFigureOut">
              <a:rPr lang="it-IT" smtClean="0"/>
              <a:t>07/04/2026</a:t>
            </a:fld>
            <a:endParaRPr lang="it-IT"/>
          </a:p>
        </p:txBody>
      </p:sp>
      <p:sp>
        <p:nvSpPr>
          <p:cNvPr id="6" name="Segnaposto piè di pagina 5">
            <a:extLst>
              <a:ext uri="{FF2B5EF4-FFF2-40B4-BE49-F238E27FC236}">
                <a16:creationId xmlns:a16="http://schemas.microsoft.com/office/drawing/2014/main" id="{42F679D5-D7D6-4749-9054-BD128D89C9A5}"/>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B89AA0E8-25D9-1E40-804D-997B6AEA01BD}"/>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36398310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2B8D5F3-5523-B347-8B04-827E78F83122}"/>
              </a:ext>
            </a:extLst>
          </p:cNvPr>
          <p:cNvSpPr>
            <a:spLocks noGrp="1"/>
          </p:cNvSpPr>
          <p:nvPr>
            <p:ph type="title"/>
          </p:nvPr>
        </p:nvSpPr>
        <p:spPr>
          <a:xfrm>
            <a:off x="629841" y="365126"/>
            <a:ext cx="78867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EB603646-5E6A-2F41-B712-8E476B6A62EA}"/>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F98D5E67-11E2-1046-A296-1CC9171C7BAB}"/>
              </a:ext>
            </a:extLst>
          </p:cNvPr>
          <p:cNvSpPr>
            <a:spLocks noGrp="1"/>
          </p:cNvSpPr>
          <p:nvPr>
            <p:ph sz="half" idx="2"/>
          </p:nvPr>
        </p:nvSpPr>
        <p:spPr>
          <a:xfrm>
            <a:off x="629842" y="2505075"/>
            <a:ext cx="3868340"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D30E96A8-2A9D-BA44-82AB-B82F09212EC3}"/>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68018130-58EC-284C-A192-C371081C2517}"/>
              </a:ext>
            </a:extLst>
          </p:cNvPr>
          <p:cNvSpPr>
            <a:spLocks noGrp="1"/>
          </p:cNvSpPr>
          <p:nvPr>
            <p:ph sz="quarter" idx="4"/>
          </p:nvPr>
        </p:nvSpPr>
        <p:spPr>
          <a:xfrm>
            <a:off x="4629150" y="2505075"/>
            <a:ext cx="3887391"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CB29458A-6CF3-B94E-B727-939D1A471561}"/>
              </a:ext>
            </a:extLst>
          </p:cNvPr>
          <p:cNvSpPr>
            <a:spLocks noGrp="1"/>
          </p:cNvSpPr>
          <p:nvPr>
            <p:ph type="dt" sz="half" idx="10"/>
          </p:nvPr>
        </p:nvSpPr>
        <p:spPr/>
        <p:txBody>
          <a:bodyPr/>
          <a:lstStyle/>
          <a:p>
            <a:fld id="{4CE450D7-51B2-DC41-A285-84B90542AA55}" type="datetimeFigureOut">
              <a:rPr lang="it-IT" smtClean="0"/>
              <a:t>07/04/2026</a:t>
            </a:fld>
            <a:endParaRPr lang="it-IT"/>
          </a:p>
        </p:txBody>
      </p:sp>
      <p:sp>
        <p:nvSpPr>
          <p:cNvPr id="8" name="Segnaposto piè di pagina 7">
            <a:extLst>
              <a:ext uri="{FF2B5EF4-FFF2-40B4-BE49-F238E27FC236}">
                <a16:creationId xmlns:a16="http://schemas.microsoft.com/office/drawing/2014/main" id="{59E19C0E-0F91-0940-9385-12ABA967BD64}"/>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40768A48-068F-974D-98D6-0EC1DDB35679}"/>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784834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6ED85C5-357B-0E40-828C-67A5C373E61C}"/>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853762B7-CE4C-5348-82D8-7D04F258B97C}"/>
              </a:ext>
            </a:extLst>
          </p:cNvPr>
          <p:cNvSpPr>
            <a:spLocks noGrp="1"/>
          </p:cNvSpPr>
          <p:nvPr>
            <p:ph type="dt" sz="half" idx="10"/>
          </p:nvPr>
        </p:nvSpPr>
        <p:spPr/>
        <p:txBody>
          <a:bodyPr/>
          <a:lstStyle/>
          <a:p>
            <a:fld id="{4CE450D7-51B2-DC41-A285-84B90542AA55}" type="datetimeFigureOut">
              <a:rPr lang="it-IT" smtClean="0"/>
              <a:t>07/04/2026</a:t>
            </a:fld>
            <a:endParaRPr lang="it-IT"/>
          </a:p>
        </p:txBody>
      </p:sp>
      <p:sp>
        <p:nvSpPr>
          <p:cNvPr id="4" name="Segnaposto piè di pagina 3">
            <a:extLst>
              <a:ext uri="{FF2B5EF4-FFF2-40B4-BE49-F238E27FC236}">
                <a16:creationId xmlns:a16="http://schemas.microsoft.com/office/drawing/2014/main" id="{64DB46E7-B21B-A941-B987-55316164A5DD}"/>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EBEEB6E9-366B-B649-B905-E5A56D276216}"/>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3898561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98D75B54-E12A-5442-8D55-468B050E0F6F}"/>
              </a:ext>
            </a:extLst>
          </p:cNvPr>
          <p:cNvSpPr>
            <a:spLocks noGrp="1"/>
          </p:cNvSpPr>
          <p:nvPr>
            <p:ph type="dt" sz="half" idx="10"/>
          </p:nvPr>
        </p:nvSpPr>
        <p:spPr/>
        <p:txBody>
          <a:bodyPr/>
          <a:lstStyle/>
          <a:p>
            <a:fld id="{4CE450D7-51B2-DC41-A285-84B90542AA55}" type="datetimeFigureOut">
              <a:rPr lang="it-IT" smtClean="0"/>
              <a:t>07/04/2026</a:t>
            </a:fld>
            <a:endParaRPr lang="it-IT"/>
          </a:p>
        </p:txBody>
      </p:sp>
      <p:sp>
        <p:nvSpPr>
          <p:cNvPr id="3" name="Segnaposto piè di pagina 2">
            <a:extLst>
              <a:ext uri="{FF2B5EF4-FFF2-40B4-BE49-F238E27FC236}">
                <a16:creationId xmlns:a16="http://schemas.microsoft.com/office/drawing/2014/main" id="{FAB2A5C5-1808-2946-8DFE-67203370BD81}"/>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CF6E26AB-A10A-934A-A0EC-30A1322A1E35}"/>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3190219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7E5C40B-E968-214F-8001-CA7591B0DD24}"/>
              </a:ext>
            </a:extLst>
          </p:cNvPr>
          <p:cNvSpPr>
            <a:spLocks noGrp="1"/>
          </p:cNvSpPr>
          <p:nvPr>
            <p:ph type="title"/>
          </p:nvPr>
        </p:nvSpPr>
        <p:spPr>
          <a:xfrm>
            <a:off x="629841" y="457200"/>
            <a:ext cx="2949178" cy="1600200"/>
          </a:xfrm>
        </p:spPr>
        <p:txBody>
          <a:bodyPr anchor="b"/>
          <a:lstStyle>
            <a:lvl1pPr>
              <a:defRPr sz="24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C825A044-FBFB-9644-BF3A-2594AC0412A0}"/>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B2B36071-4534-D54F-AFF1-F727D2DC2AB3}"/>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E8641952-BC71-5A4B-BC34-62A2DD8CBCC3}"/>
              </a:ext>
            </a:extLst>
          </p:cNvPr>
          <p:cNvSpPr>
            <a:spLocks noGrp="1"/>
          </p:cNvSpPr>
          <p:nvPr>
            <p:ph type="dt" sz="half" idx="10"/>
          </p:nvPr>
        </p:nvSpPr>
        <p:spPr/>
        <p:txBody>
          <a:bodyPr/>
          <a:lstStyle/>
          <a:p>
            <a:fld id="{4CE450D7-51B2-DC41-A285-84B90542AA55}" type="datetimeFigureOut">
              <a:rPr lang="it-IT" smtClean="0"/>
              <a:t>07/04/2026</a:t>
            </a:fld>
            <a:endParaRPr lang="it-IT"/>
          </a:p>
        </p:txBody>
      </p:sp>
      <p:sp>
        <p:nvSpPr>
          <p:cNvPr id="6" name="Segnaposto piè di pagina 5">
            <a:extLst>
              <a:ext uri="{FF2B5EF4-FFF2-40B4-BE49-F238E27FC236}">
                <a16:creationId xmlns:a16="http://schemas.microsoft.com/office/drawing/2014/main" id="{0E0AA137-16A9-154E-87E2-05B30FB762A5}"/>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64F91609-B2E7-2840-A72D-7EDA1C24F960}"/>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20675156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9F754E3-2D14-8F40-B464-14B90BB9B1E4}"/>
              </a:ext>
            </a:extLst>
          </p:cNvPr>
          <p:cNvSpPr>
            <a:spLocks noGrp="1"/>
          </p:cNvSpPr>
          <p:nvPr>
            <p:ph type="title"/>
          </p:nvPr>
        </p:nvSpPr>
        <p:spPr>
          <a:xfrm>
            <a:off x="629841" y="457200"/>
            <a:ext cx="2949178" cy="1600200"/>
          </a:xfrm>
        </p:spPr>
        <p:txBody>
          <a:bodyPr anchor="b"/>
          <a:lstStyle>
            <a:lvl1pPr>
              <a:defRPr sz="24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4E2F00A2-A169-3647-A99A-786F0618B58D}"/>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it-IT"/>
          </a:p>
        </p:txBody>
      </p:sp>
      <p:sp>
        <p:nvSpPr>
          <p:cNvPr id="4" name="Segnaposto testo 3">
            <a:extLst>
              <a:ext uri="{FF2B5EF4-FFF2-40B4-BE49-F238E27FC236}">
                <a16:creationId xmlns:a16="http://schemas.microsoft.com/office/drawing/2014/main" id="{CACC0AB3-6414-2145-B265-67BDAB7EE152}"/>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ABB4EDBE-6213-DF4D-A4EE-AAF863ADF158}"/>
              </a:ext>
            </a:extLst>
          </p:cNvPr>
          <p:cNvSpPr>
            <a:spLocks noGrp="1"/>
          </p:cNvSpPr>
          <p:nvPr>
            <p:ph type="dt" sz="half" idx="10"/>
          </p:nvPr>
        </p:nvSpPr>
        <p:spPr/>
        <p:txBody>
          <a:bodyPr/>
          <a:lstStyle/>
          <a:p>
            <a:fld id="{4CE450D7-51B2-DC41-A285-84B90542AA55}" type="datetimeFigureOut">
              <a:rPr lang="it-IT" smtClean="0"/>
              <a:t>07/04/2026</a:t>
            </a:fld>
            <a:endParaRPr lang="it-IT"/>
          </a:p>
        </p:txBody>
      </p:sp>
      <p:sp>
        <p:nvSpPr>
          <p:cNvPr id="6" name="Segnaposto piè di pagina 5">
            <a:extLst>
              <a:ext uri="{FF2B5EF4-FFF2-40B4-BE49-F238E27FC236}">
                <a16:creationId xmlns:a16="http://schemas.microsoft.com/office/drawing/2014/main" id="{DDBE1ECD-E8FF-E24F-9FBA-9BB14237E8A8}"/>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4FBF896D-807F-2149-A5ED-B820001F78E7}"/>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28629867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9EE0EDF-6CF5-A14C-99B4-55F664CB25B7}"/>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B6562458-A655-544A-A151-8A948B62E3AE}"/>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F8AF6DD5-DF38-A143-851C-B8924309AC7C}"/>
              </a:ext>
            </a:extLst>
          </p:cNvPr>
          <p:cNvSpPr>
            <a:spLocks noGrp="1"/>
          </p:cNvSpPr>
          <p:nvPr>
            <p:ph type="dt" sz="half" idx="10"/>
          </p:nvPr>
        </p:nvSpPr>
        <p:spPr/>
        <p:txBody>
          <a:bodyPr/>
          <a:lstStyle/>
          <a:p>
            <a:fld id="{4CE450D7-51B2-DC41-A285-84B90542AA55}" type="datetimeFigureOut">
              <a:rPr lang="it-IT" smtClean="0"/>
              <a:t>07/04/2026</a:t>
            </a:fld>
            <a:endParaRPr lang="it-IT"/>
          </a:p>
        </p:txBody>
      </p:sp>
      <p:sp>
        <p:nvSpPr>
          <p:cNvPr id="5" name="Segnaposto piè di pagina 4">
            <a:extLst>
              <a:ext uri="{FF2B5EF4-FFF2-40B4-BE49-F238E27FC236}">
                <a16:creationId xmlns:a16="http://schemas.microsoft.com/office/drawing/2014/main" id="{D3174AE1-61D9-8F49-9F60-D7301C88E360}"/>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FB979509-6812-5346-836E-1B19A053E287}"/>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3351612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CE2465E9-337A-1545-8D0B-9B65F6A3D8D8}"/>
              </a:ext>
            </a:extLst>
          </p:cNvPr>
          <p:cNvSpPr>
            <a:spLocks noGrp="1"/>
          </p:cNvSpPr>
          <p:nvPr>
            <p:ph type="title" orient="vert"/>
          </p:nvPr>
        </p:nvSpPr>
        <p:spPr>
          <a:xfrm>
            <a:off x="6543675" y="365125"/>
            <a:ext cx="1971675"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30430FEB-0602-2D4E-AF90-10E335830C3A}"/>
              </a:ext>
            </a:extLst>
          </p:cNvPr>
          <p:cNvSpPr>
            <a:spLocks noGrp="1"/>
          </p:cNvSpPr>
          <p:nvPr>
            <p:ph type="body" orient="vert" idx="1"/>
          </p:nvPr>
        </p:nvSpPr>
        <p:spPr>
          <a:xfrm>
            <a:off x="628650" y="365125"/>
            <a:ext cx="5800725"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F2C2387C-14AF-1547-87D4-20939D3E801F}"/>
              </a:ext>
            </a:extLst>
          </p:cNvPr>
          <p:cNvSpPr>
            <a:spLocks noGrp="1"/>
          </p:cNvSpPr>
          <p:nvPr>
            <p:ph type="dt" sz="half" idx="10"/>
          </p:nvPr>
        </p:nvSpPr>
        <p:spPr/>
        <p:txBody>
          <a:bodyPr/>
          <a:lstStyle/>
          <a:p>
            <a:fld id="{4CE450D7-51B2-DC41-A285-84B90542AA55}" type="datetimeFigureOut">
              <a:rPr lang="it-IT" smtClean="0"/>
              <a:t>07/04/2026</a:t>
            </a:fld>
            <a:endParaRPr lang="it-IT"/>
          </a:p>
        </p:txBody>
      </p:sp>
      <p:sp>
        <p:nvSpPr>
          <p:cNvPr id="5" name="Segnaposto piè di pagina 4">
            <a:extLst>
              <a:ext uri="{FF2B5EF4-FFF2-40B4-BE49-F238E27FC236}">
                <a16:creationId xmlns:a16="http://schemas.microsoft.com/office/drawing/2014/main" id="{9B85970C-D285-FC46-9BB1-94A16BE1E3F4}"/>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F5CA9C2E-F38A-3642-A45E-1F01AE95919B}"/>
              </a:ext>
            </a:extLst>
          </p:cNvPr>
          <p:cNvSpPr>
            <a:spLocks noGrp="1"/>
          </p:cNvSpPr>
          <p:nvPr>
            <p:ph type="sldNum" sz="quarter" idx="12"/>
          </p:nvPr>
        </p:nvSpPr>
        <p:spPr/>
        <p:txBody>
          <a:bodyPr/>
          <a:lstStyle/>
          <a:p>
            <a:fld id="{6D5E9258-7551-F54F-B974-076C20A398B3}" type="slidenum">
              <a:rPr lang="it-IT" smtClean="0"/>
              <a:t>‹N›</a:t>
            </a:fld>
            <a:endParaRPr lang="it-IT"/>
          </a:p>
        </p:txBody>
      </p:sp>
    </p:spTree>
    <p:extLst>
      <p:ext uri="{BB962C8B-B14F-4D97-AF65-F5344CB8AC3E}">
        <p14:creationId xmlns:p14="http://schemas.microsoft.com/office/powerpoint/2010/main" val="17817632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cSld name="Title Slide">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ctrTitle"/>
          </p:nvPr>
        </p:nvSpPr>
        <p:spPr>
          <a:xfrm>
            <a:off x="2299248" y="2144915"/>
            <a:ext cx="4545502" cy="386516"/>
          </a:xfrm>
          <a:prstGeom prst="rect">
            <a:avLst/>
          </a:prstGeom>
        </p:spPr>
        <p:txBody>
          <a:bodyPr wrap="square" lIns="0" tIns="0" rIns="0" bIns="0">
            <a:spAutoFit/>
          </a:bodyPr>
          <a:lstStyle>
            <a:lvl1pPr>
              <a:defRPr sz="2791" b="1" i="0">
                <a:solidFill>
                  <a:srgbClr val="330065"/>
                </a:solidFill>
                <a:latin typeface="Arial"/>
                <a:cs typeface="Arial"/>
              </a:defRPr>
            </a:lvl1pPr>
          </a:lstStyle>
          <a:p>
            <a:endParaRPr/>
          </a:p>
        </p:txBody>
      </p:sp>
      <p:sp>
        <p:nvSpPr>
          <p:cNvPr id="3" name="Holder 3"/>
          <p:cNvSpPr>
            <a:spLocks noGrp="1"/>
          </p:cNvSpPr>
          <p:nvPr>
            <p:ph type="subTitle" idx="4"/>
          </p:nvPr>
        </p:nvSpPr>
        <p:spPr>
          <a:xfrm>
            <a:off x="1371600" y="3840480"/>
            <a:ext cx="6400800" cy="29084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545" b="0" i="0">
                <a:solidFill>
                  <a:schemeClr val="tx1"/>
                </a:solidFill>
                <a:latin typeface="Arial"/>
                <a:cs typeface="Arial"/>
              </a:defRPr>
            </a:lvl1pPr>
          </a:lstStyle>
          <a:p>
            <a:pPr marL="8645">
              <a:spcBef>
                <a:spcPts val="17"/>
              </a:spcBef>
            </a:pPr>
            <a:r>
              <a:rPr lang="it-IT"/>
              <a:t>Sergio Sciarelli - </a:t>
            </a:r>
            <a:r>
              <a:rPr lang="it-IT" spc="-4"/>
              <a:t>La gestione dell'impresa CEDAM </a:t>
            </a:r>
            <a:r>
              <a:rPr lang="it-IT"/>
              <a:t>© </a:t>
            </a:r>
            <a:r>
              <a:rPr lang="it-IT" spc="-4"/>
              <a:t>2011 </a:t>
            </a:r>
            <a:r>
              <a:rPr lang="it-IT"/>
              <a:t>Wolters Kluwer Italia</a:t>
            </a:r>
            <a:r>
              <a:rPr lang="it-IT" spc="-41"/>
              <a:t> </a:t>
            </a:r>
            <a:r>
              <a:rPr lang="it-IT"/>
              <a:t>S.r.l.</a:t>
            </a:r>
            <a:endParaRPr lang="it-IT"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extLst>
      <p:ext uri="{BB962C8B-B14F-4D97-AF65-F5344CB8AC3E}">
        <p14:creationId xmlns:p14="http://schemas.microsoft.com/office/powerpoint/2010/main" val="2232342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78" b="1" i="0">
                <a:solidFill>
                  <a:srgbClr val="330065"/>
                </a:solidFill>
                <a:latin typeface="Arial"/>
                <a:cs typeface="Arial"/>
              </a:defRPr>
            </a:lvl1pPr>
          </a:lstStyle>
          <a:p>
            <a:endParaRPr/>
          </a:p>
        </p:txBody>
      </p:sp>
      <p:sp>
        <p:nvSpPr>
          <p:cNvPr id="3" name="Holder 3"/>
          <p:cNvSpPr>
            <a:spLocks noGrp="1"/>
          </p:cNvSpPr>
          <p:nvPr>
            <p:ph sz="half" idx="2"/>
          </p:nvPr>
        </p:nvSpPr>
        <p:spPr>
          <a:xfrm>
            <a:off x="457201" y="1577340"/>
            <a:ext cx="3977640" cy="29084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1" y="1577340"/>
            <a:ext cx="3977640" cy="29084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545" b="0" i="0">
                <a:solidFill>
                  <a:schemeClr val="tx1"/>
                </a:solidFill>
                <a:latin typeface="Arial"/>
                <a:cs typeface="Arial"/>
              </a:defRPr>
            </a:lvl1pPr>
          </a:lstStyle>
          <a:p>
            <a:pPr marL="8645">
              <a:spcBef>
                <a:spcPts val="17"/>
              </a:spcBef>
            </a:pPr>
            <a:r>
              <a:rPr lang="it-IT"/>
              <a:t>Sergio Sciarelli - </a:t>
            </a:r>
            <a:r>
              <a:rPr lang="it-IT" spc="-4"/>
              <a:t>La gestione dell'impresa CEDAM </a:t>
            </a:r>
            <a:r>
              <a:rPr lang="it-IT"/>
              <a:t>© </a:t>
            </a:r>
            <a:r>
              <a:rPr lang="it-IT" spc="-4"/>
              <a:t>2011 </a:t>
            </a:r>
            <a:r>
              <a:rPr lang="it-IT"/>
              <a:t>Wolters Kluwer Italia</a:t>
            </a:r>
            <a:r>
              <a:rPr lang="it-IT" spc="-41"/>
              <a:t> </a:t>
            </a:r>
            <a:r>
              <a:rPr lang="it-IT"/>
              <a:t>S.r.l.</a:t>
            </a:r>
            <a:endParaRPr lang="it-IT"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4/7/2026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extLst>
      <p:ext uri="{BB962C8B-B14F-4D97-AF65-F5344CB8AC3E}">
        <p14:creationId xmlns:p14="http://schemas.microsoft.com/office/powerpoint/2010/main" val="36334320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3886078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342900" y="1420283"/>
            <a:ext cx="3886200" cy="98001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685800" y="2590800"/>
            <a:ext cx="3200400" cy="1168400"/>
          </a:xfrm>
          <a:prstGeom prst="rect">
            <a:avLst/>
          </a:prstGeom>
          <a:noFill/>
          <a:ln>
            <a:noFill/>
          </a:ln>
        </p:spPr>
        <p:txBody>
          <a:bodyPr spcFirstLastPara="1" wrap="square" lIns="91425" tIns="45700" rIns="91425" bIns="45700" anchor="t" anchorCtr="0">
            <a:normAutofit/>
          </a:bodyPr>
          <a:lstStyle>
            <a:lvl1pPr lvl="0" algn="ctr">
              <a:spcBef>
                <a:spcPts val="320"/>
              </a:spcBef>
              <a:spcAft>
                <a:spcPts val="0"/>
              </a:spcAft>
              <a:buClr>
                <a:srgbClr val="888888"/>
              </a:buClr>
              <a:buSzPts val="3200"/>
              <a:buNone/>
              <a:defRPr>
                <a:solidFill>
                  <a:srgbClr val="888888"/>
                </a:solidFill>
              </a:defRPr>
            </a:lvl1pPr>
            <a:lvl2pPr lvl="1" algn="ctr">
              <a:spcBef>
                <a:spcPts val="280"/>
              </a:spcBef>
              <a:spcAft>
                <a:spcPts val="0"/>
              </a:spcAft>
              <a:buClr>
                <a:srgbClr val="888888"/>
              </a:buClr>
              <a:buSzPts val="2800"/>
              <a:buNone/>
              <a:defRPr>
                <a:solidFill>
                  <a:srgbClr val="888888"/>
                </a:solidFill>
              </a:defRPr>
            </a:lvl2pPr>
            <a:lvl3pPr lvl="2" algn="ctr">
              <a:spcBef>
                <a:spcPts val="240"/>
              </a:spcBef>
              <a:spcAft>
                <a:spcPts val="0"/>
              </a:spcAft>
              <a:buClr>
                <a:srgbClr val="888888"/>
              </a:buClr>
              <a:buSzPts val="2400"/>
              <a:buNone/>
              <a:defRPr>
                <a:solidFill>
                  <a:srgbClr val="888888"/>
                </a:solidFill>
              </a:defRPr>
            </a:lvl3pPr>
            <a:lvl4pPr lvl="3" algn="ctr">
              <a:spcBef>
                <a:spcPts val="200"/>
              </a:spcBef>
              <a:spcAft>
                <a:spcPts val="0"/>
              </a:spcAft>
              <a:buClr>
                <a:srgbClr val="888888"/>
              </a:buClr>
              <a:buSzPts val="2000"/>
              <a:buNone/>
              <a:defRPr>
                <a:solidFill>
                  <a:srgbClr val="888888"/>
                </a:solidFill>
              </a:defRPr>
            </a:lvl4pPr>
            <a:lvl5pPr lvl="4" algn="ctr">
              <a:spcBef>
                <a:spcPts val="200"/>
              </a:spcBef>
              <a:spcAft>
                <a:spcPts val="0"/>
              </a:spcAft>
              <a:buClr>
                <a:srgbClr val="888888"/>
              </a:buClr>
              <a:buSzPts val="2000"/>
              <a:buNone/>
              <a:defRPr>
                <a:solidFill>
                  <a:srgbClr val="888888"/>
                </a:solidFill>
              </a:defRPr>
            </a:lvl5pPr>
            <a:lvl6pPr lvl="5" algn="ctr">
              <a:spcBef>
                <a:spcPts val="200"/>
              </a:spcBef>
              <a:spcAft>
                <a:spcPts val="0"/>
              </a:spcAft>
              <a:buClr>
                <a:srgbClr val="888888"/>
              </a:buClr>
              <a:buSzPts val="2000"/>
              <a:buNone/>
              <a:defRPr>
                <a:solidFill>
                  <a:srgbClr val="888888"/>
                </a:solidFill>
              </a:defRPr>
            </a:lvl6pPr>
            <a:lvl7pPr lvl="6" algn="ctr">
              <a:spcBef>
                <a:spcPts val="200"/>
              </a:spcBef>
              <a:spcAft>
                <a:spcPts val="0"/>
              </a:spcAft>
              <a:buClr>
                <a:srgbClr val="888888"/>
              </a:buClr>
              <a:buSzPts val="2000"/>
              <a:buNone/>
              <a:defRPr>
                <a:solidFill>
                  <a:srgbClr val="888888"/>
                </a:solidFill>
              </a:defRPr>
            </a:lvl7pPr>
            <a:lvl8pPr lvl="7" algn="ctr">
              <a:spcBef>
                <a:spcPts val="200"/>
              </a:spcBef>
              <a:spcAft>
                <a:spcPts val="0"/>
              </a:spcAft>
              <a:buClr>
                <a:srgbClr val="888888"/>
              </a:buClr>
              <a:buSzPts val="2000"/>
              <a:buNone/>
              <a:defRPr>
                <a:solidFill>
                  <a:srgbClr val="888888"/>
                </a:solidFill>
              </a:defRPr>
            </a:lvl8pPr>
            <a:lvl9pPr lvl="8" algn="ctr">
              <a:spcBef>
                <a:spcPts val="2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38126002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228600" y="183092"/>
            <a:ext cx="41148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228600" y="1066801"/>
            <a:ext cx="4114800" cy="3017309"/>
          </a:xfrm>
          <a:prstGeom prst="rect">
            <a:avLst/>
          </a:prstGeom>
          <a:noFill/>
          <a:ln>
            <a:noFill/>
          </a:ln>
        </p:spPr>
        <p:txBody>
          <a:bodyPr spcFirstLastPara="1" wrap="square" lIns="91425" tIns="45700" rIns="91425" bIns="45700" anchor="t" anchorCtr="0">
            <a:normAutofit/>
          </a:bodyPr>
          <a:lstStyle>
            <a:lvl1pPr marL="228611" lvl="0" indent="-171458" algn="l">
              <a:spcBef>
                <a:spcPts val="180"/>
              </a:spcBef>
              <a:spcAft>
                <a:spcPts val="0"/>
              </a:spcAft>
              <a:buClr>
                <a:schemeClr val="dk1"/>
              </a:buClr>
              <a:buSzPts val="1800"/>
              <a:buChar char="•"/>
              <a:defRPr/>
            </a:lvl1pPr>
            <a:lvl2pPr marL="457223" lvl="1" indent="-171458" algn="l">
              <a:spcBef>
                <a:spcPts val="180"/>
              </a:spcBef>
              <a:spcAft>
                <a:spcPts val="0"/>
              </a:spcAft>
              <a:buClr>
                <a:schemeClr val="dk1"/>
              </a:buClr>
              <a:buSzPts val="1800"/>
              <a:buChar char="–"/>
              <a:defRPr/>
            </a:lvl2pPr>
            <a:lvl3pPr marL="685835" lvl="2" indent="-171458" algn="l">
              <a:spcBef>
                <a:spcPts val="180"/>
              </a:spcBef>
              <a:spcAft>
                <a:spcPts val="0"/>
              </a:spcAft>
              <a:buClr>
                <a:schemeClr val="dk1"/>
              </a:buClr>
              <a:buSzPts val="1800"/>
              <a:buChar char="•"/>
              <a:defRPr/>
            </a:lvl3pPr>
            <a:lvl4pPr marL="914446" lvl="3" indent="-171458" algn="l">
              <a:spcBef>
                <a:spcPts val="180"/>
              </a:spcBef>
              <a:spcAft>
                <a:spcPts val="0"/>
              </a:spcAft>
              <a:buClr>
                <a:schemeClr val="dk1"/>
              </a:buClr>
              <a:buSzPts val="1800"/>
              <a:buChar char="–"/>
              <a:defRPr/>
            </a:lvl4pPr>
            <a:lvl5pPr marL="1143057" lvl="4" indent="-171458" algn="l">
              <a:spcBef>
                <a:spcPts val="180"/>
              </a:spcBef>
              <a:spcAft>
                <a:spcPts val="0"/>
              </a:spcAft>
              <a:buClr>
                <a:schemeClr val="dk1"/>
              </a:buClr>
              <a:buSzPts val="1800"/>
              <a:buChar char="»"/>
              <a:defRPr/>
            </a:lvl5pPr>
            <a:lvl6pPr marL="1371668" lvl="5" indent="-171458" algn="l">
              <a:spcBef>
                <a:spcPts val="180"/>
              </a:spcBef>
              <a:spcAft>
                <a:spcPts val="0"/>
              </a:spcAft>
              <a:buClr>
                <a:schemeClr val="dk1"/>
              </a:buClr>
              <a:buSzPts val="1800"/>
              <a:buChar char="•"/>
              <a:defRPr/>
            </a:lvl6pPr>
            <a:lvl7pPr marL="1600280" lvl="6" indent="-171458" algn="l">
              <a:spcBef>
                <a:spcPts val="180"/>
              </a:spcBef>
              <a:spcAft>
                <a:spcPts val="0"/>
              </a:spcAft>
              <a:buClr>
                <a:schemeClr val="dk1"/>
              </a:buClr>
              <a:buSzPts val="1800"/>
              <a:buChar char="•"/>
              <a:defRPr/>
            </a:lvl7pPr>
            <a:lvl8pPr marL="1828892" lvl="7" indent="-171458" algn="l">
              <a:spcBef>
                <a:spcPts val="180"/>
              </a:spcBef>
              <a:spcAft>
                <a:spcPts val="0"/>
              </a:spcAft>
              <a:buClr>
                <a:schemeClr val="dk1"/>
              </a:buClr>
              <a:buSzPts val="1800"/>
              <a:buChar char="•"/>
              <a:defRPr/>
            </a:lvl8pPr>
            <a:lvl9pPr marL="2057503" lvl="8" indent="-171458" algn="l">
              <a:spcBef>
                <a:spcPts val="18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23165327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361157" y="2937934"/>
            <a:ext cx="3886200" cy="90805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2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361157" y="1937810"/>
            <a:ext cx="3886200" cy="1000125"/>
          </a:xfrm>
          <a:prstGeom prst="rect">
            <a:avLst/>
          </a:prstGeom>
          <a:noFill/>
          <a:ln>
            <a:noFill/>
          </a:ln>
        </p:spPr>
        <p:txBody>
          <a:bodyPr spcFirstLastPara="1" wrap="square" lIns="91425" tIns="45700" rIns="91425" bIns="45700" anchor="b" anchorCtr="0">
            <a:normAutofit/>
          </a:bodyPr>
          <a:lstStyle>
            <a:lvl1pPr marL="228611" lvl="0" indent="-114306" algn="l">
              <a:spcBef>
                <a:spcPts val="200"/>
              </a:spcBef>
              <a:spcAft>
                <a:spcPts val="0"/>
              </a:spcAft>
              <a:buClr>
                <a:srgbClr val="888888"/>
              </a:buClr>
              <a:buSzPts val="2000"/>
              <a:buNone/>
              <a:defRPr sz="1000">
                <a:solidFill>
                  <a:srgbClr val="888888"/>
                </a:solidFill>
              </a:defRPr>
            </a:lvl1pPr>
            <a:lvl2pPr marL="457223" lvl="1" indent="-114306" algn="l">
              <a:spcBef>
                <a:spcPts val="180"/>
              </a:spcBef>
              <a:spcAft>
                <a:spcPts val="0"/>
              </a:spcAft>
              <a:buClr>
                <a:srgbClr val="888888"/>
              </a:buClr>
              <a:buSzPts val="1800"/>
              <a:buNone/>
              <a:defRPr sz="900">
                <a:solidFill>
                  <a:srgbClr val="888888"/>
                </a:solidFill>
              </a:defRPr>
            </a:lvl2pPr>
            <a:lvl3pPr marL="685835" lvl="2" indent="-114306" algn="l">
              <a:spcBef>
                <a:spcPts val="160"/>
              </a:spcBef>
              <a:spcAft>
                <a:spcPts val="0"/>
              </a:spcAft>
              <a:buClr>
                <a:srgbClr val="888888"/>
              </a:buClr>
              <a:buSzPts val="1600"/>
              <a:buNone/>
              <a:defRPr sz="800">
                <a:solidFill>
                  <a:srgbClr val="888888"/>
                </a:solidFill>
              </a:defRPr>
            </a:lvl3pPr>
            <a:lvl4pPr marL="914446" lvl="3" indent="-114306" algn="l">
              <a:spcBef>
                <a:spcPts val="140"/>
              </a:spcBef>
              <a:spcAft>
                <a:spcPts val="0"/>
              </a:spcAft>
              <a:buClr>
                <a:srgbClr val="888888"/>
              </a:buClr>
              <a:buSzPts val="1400"/>
              <a:buNone/>
              <a:defRPr sz="700">
                <a:solidFill>
                  <a:srgbClr val="888888"/>
                </a:solidFill>
              </a:defRPr>
            </a:lvl4pPr>
            <a:lvl5pPr marL="1143057" lvl="4" indent="-114306" algn="l">
              <a:spcBef>
                <a:spcPts val="140"/>
              </a:spcBef>
              <a:spcAft>
                <a:spcPts val="0"/>
              </a:spcAft>
              <a:buClr>
                <a:srgbClr val="888888"/>
              </a:buClr>
              <a:buSzPts val="1400"/>
              <a:buNone/>
              <a:defRPr sz="700">
                <a:solidFill>
                  <a:srgbClr val="888888"/>
                </a:solidFill>
              </a:defRPr>
            </a:lvl5pPr>
            <a:lvl6pPr marL="1371668" lvl="5" indent="-114306" algn="l">
              <a:spcBef>
                <a:spcPts val="140"/>
              </a:spcBef>
              <a:spcAft>
                <a:spcPts val="0"/>
              </a:spcAft>
              <a:buClr>
                <a:srgbClr val="888888"/>
              </a:buClr>
              <a:buSzPts val="1400"/>
              <a:buNone/>
              <a:defRPr sz="700">
                <a:solidFill>
                  <a:srgbClr val="888888"/>
                </a:solidFill>
              </a:defRPr>
            </a:lvl6pPr>
            <a:lvl7pPr marL="1600280" lvl="6" indent="-114306" algn="l">
              <a:spcBef>
                <a:spcPts val="140"/>
              </a:spcBef>
              <a:spcAft>
                <a:spcPts val="0"/>
              </a:spcAft>
              <a:buClr>
                <a:srgbClr val="888888"/>
              </a:buClr>
              <a:buSzPts val="1400"/>
              <a:buNone/>
              <a:defRPr sz="700">
                <a:solidFill>
                  <a:srgbClr val="888888"/>
                </a:solidFill>
              </a:defRPr>
            </a:lvl7pPr>
            <a:lvl8pPr marL="1828892" lvl="7" indent="-114306" algn="l">
              <a:spcBef>
                <a:spcPts val="140"/>
              </a:spcBef>
              <a:spcAft>
                <a:spcPts val="0"/>
              </a:spcAft>
              <a:buClr>
                <a:srgbClr val="888888"/>
              </a:buClr>
              <a:buSzPts val="1400"/>
              <a:buNone/>
              <a:defRPr sz="700">
                <a:solidFill>
                  <a:srgbClr val="888888"/>
                </a:solidFill>
              </a:defRPr>
            </a:lvl8pPr>
            <a:lvl9pPr marL="2057503" lvl="8" indent="-114306" algn="l">
              <a:spcBef>
                <a:spcPts val="140"/>
              </a:spcBef>
              <a:spcAft>
                <a:spcPts val="0"/>
              </a:spcAft>
              <a:buClr>
                <a:srgbClr val="888888"/>
              </a:buClr>
              <a:buSzPts val="1400"/>
              <a:buNone/>
              <a:defRPr sz="700">
                <a:solidFill>
                  <a:srgbClr val="888888"/>
                </a:solidFill>
              </a:defRPr>
            </a:lvl9pPr>
          </a:lstStyle>
          <a:p>
            <a:endParaRPr/>
          </a:p>
        </p:txBody>
      </p:sp>
      <p:sp>
        <p:nvSpPr>
          <p:cNvPr id="30" name="Google Shape;30;p5"/>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11146557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228600" y="183092"/>
            <a:ext cx="41148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228600" y="1066801"/>
            <a:ext cx="2019300" cy="3017309"/>
          </a:xfrm>
          <a:prstGeom prst="rect">
            <a:avLst/>
          </a:prstGeom>
          <a:noFill/>
          <a:ln>
            <a:noFill/>
          </a:ln>
        </p:spPr>
        <p:txBody>
          <a:bodyPr spcFirstLastPara="1" wrap="square" lIns="91425" tIns="45700" rIns="91425" bIns="45700" anchor="t" anchorCtr="0">
            <a:normAutofit/>
          </a:bodyPr>
          <a:lstStyle>
            <a:lvl1pPr marL="228611" lvl="0" indent="-203210" algn="l">
              <a:spcBef>
                <a:spcPts val="280"/>
              </a:spcBef>
              <a:spcAft>
                <a:spcPts val="0"/>
              </a:spcAft>
              <a:buClr>
                <a:schemeClr val="dk1"/>
              </a:buClr>
              <a:buSzPts val="2800"/>
              <a:buChar char="•"/>
              <a:defRPr sz="1400"/>
            </a:lvl1pPr>
            <a:lvl2pPr marL="457223" lvl="1" indent="-190510" algn="l">
              <a:spcBef>
                <a:spcPts val="240"/>
              </a:spcBef>
              <a:spcAft>
                <a:spcPts val="0"/>
              </a:spcAft>
              <a:buClr>
                <a:schemeClr val="dk1"/>
              </a:buClr>
              <a:buSzPts val="2400"/>
              <a:buChar char="–"/>
              <a:defRPr sz="1200"/>
            </a:lvl2pPr>
            <a:lvl3pPr marL="685835" lvl="2" indent="-177809" algn="l">
              <a:spcBef>
                <a:spcPts val="200"/>
              </a:spcBef>
              <a:spcAft>
                <a:spcPts val="0"/>
              </a:spcAft>
              <a:buClr>
                <a:schemeClr val="dk1"/>
              </a:buClr>
              <a:buSzPts val="2000"/>
              <a:buChar char="•"/>
              <a:defRPr sz="1000"/>
            </a:lvl3pPr>
            <a:lvl4pPr marL="914446" lvl="3" indent="-171458" algn="l">
              <a:spcBef>
                <a:spcPts val="180"/>
              </a:spcBef>
              <a:spcAft>
                <a:spcPts val="0"/>
              </a:spcAft>
              <a:buClr>
                <a:schemeClr val="dk1"/>
              </a:buClr>
              <a:buSzPts val="1800"/>
              <a:buChar char="–"/>
              <a:defRPr sz="900"/>
            </a:lvl4pPr>
            <a:lvl5pPr marL="1143057" lvl="4" indent="-171458" algn="l">
              <a:spcBef>
                <a:spcPts val="180"/>
              </a:spcBef>
              <a:spcAft>
                <a:spcPts val="0"/>
              </a:spcAft>
              <a:buClr>
                <a:schemeClr val="dk1"/>
              </a:buClr>
              <a:buSzPts val="1800"/>
              <a:buChar char="»"/>
              <a:defRPr sz="900"/>
            </a:lvl5pPr>
            <a:lvl6pPr marL="1371668" lvl="5" indent="-171458" algn="l">
              <a:spcBef>
                <a:spcPts val="180"/>
              </a:spcBef>
              <a:spcAft>
                <a:spcPts val="0"/>
              </a:spcAft>
              <a:buClr>
                <a:schemeClr val="dk1"/>
              </a:buClr>
              <a:buSzPts val="1800"/>
              <a:buChar char="•"/>
              <a:defRPr sz="900"/>
            </a:lvl6pPr>
            <a:lvl7pPr marL="1600280" lvl="6" indent="-171458" algn="l">
              <a:spcBef>
                <a:spcPts val="180"/>
              </a:spcBef>
              <a:spcAft>
                <a:spcPts val="0"/>
              </a:spcAft>
              <a:buClr>
                <a:schemeClr val="dk1"/>
              </a:buClr>
              <a:buSzPts val="1800"/>
              <a:buChar char="•"/>
              <a:defRPr sz="900"/>
            </a:lvl7pPr>
            <a:lvl8pPr marL="1828892" lvl="7" indent="-171458" algn="l">
              <a:spcBef>
                <a:spcPts val="180"/>
              </a:spcBef>
              <a:spcAft>
                <a:spcPts val="0"/>
              </a:spcAft>
              <a:buClr>
                <a:schemeClr val="dk1"/>
              </a:buClr>
              <a:buSzPts val="1800"/>
              <a:buChar char="•"/>
              <a:defRPr sz="900"/>
            </a:lvl8pPr>
            <a:lvl9pPr marL="2057503" lvl="8" indent="-171458" algn="l">
              <a:spcBef>
                <a:spcPts val="180"/>
              </a:spcBef>
              <a:spcAft>
                <a:spcPts val="0"/>
              </a:spcAft>
              <a:buClr>
                <a:schemeClr val="dk1"/>
              </a:buClr>
              <a:buSzPts val="1800"/>
              <a:buChar char="•"/>
              <a:defRPr sz="900"/>
            </a:lvl9pPr>
          </a:lstStyle>
          <a:p>
            <a:endParaRPr/>
          </a:p>
        </p:txBody>
      </p:sp>
      <p:sp>
        <p:nvSpPr>
          <p:cNvPr id="36" name="Google Shape;36;p6"/>
          <p:cNvSpPr txBox="1">
            <a:spLocks noGrp="1"/>
          </p:cNvSpPr>
          <p:nvPr>
            <p:ph type="body" idx="2"/>
          </p:nvPr>
        </p:nvSpPr>
        <p:spPr>
          <a:xfrm>
            <a:off x="2324100" y="1066801"/>
            <a:ext cx="2019300" cy="3017309"/>
          </a:xfrm>
          <a:prstGeom prst="rect">
            <a:avLst/>
          </a:prstGeom>
          <a:noFill/>
          <a:ln>
            <a:noFill/>
          </a:ln>
        </p:spPr>
        <p:txBody>
          <a:bodyPr spcFirstLastPara="1" wrap="square" lIns="91425" tIns="45700" rIns="91425" bIns="45700" anchor="t" anchorCtr="0">
            <a:normAutofit/>
          </a:bodyPr>
          <a:lstStyle>
            <a:lvl1pPr marL="228611" lvl="0" indent="-203210" algn="l">
              <a:spcBef>
                <a:spcPts val="280"/>
              </a:spcBef>
              <a:spcAft>
                <a:spcPts val="0"/>
              </a:spcAft>
              <a:buClr>
                <a:schemeClr val="dk1"/>
              </a:buClr>
              <a:buSzPts val="2800"/>
              <a:buChar char="•"/>
              <a:defRPr sz="1400"/>
            </a:lvl1pPr>
            <a:lvl2pPr marL="457223" lvl="1" indent="-190510" algn="l">
              <a:spcBef>
                <a:spcPts val="240"/>
              </a:spcBef>
              <a:spcAft>
                <a:spcPts val="0"/>
              </a:spcAft>
              <a:buClr>
                <a:schemeClr val="dk1"/>
              </a:buClr>
              <a:buSzPts val="2400"/>
              <a:buChar char="–"/>
              <a:defRPr sz="1200"/>
            </a:lvl2pPr>
            <a:lvl3pPr marL="685835" lvl="2" indent="-177809" algn="l">
              <a:spcBef>
                <a:spcPts val="200"/>
              </a:spcBef>
              <a:spcAft>
                <a:spcPts val="0"/>
              </a:spcAft>
              <a:buClr>
                <a:schemeClr val="dk1"/>
              </a:buClr>
              <a:buSzPts val="2000"/>
              <a:buChar char="•"/>
              <a:defRPr sz="1000"/>
            </a:lvl3pPr>
            <a:lvl4pPr marL="914446" lvl="3" indent="-171458" algn="l">
              <a:spcBef>
                <a:spcPts val="180"/>
              </a:spcBef>
              <a:spcAft>
                <a:spcPts val="0"/>
              </a:spcAft>
              <a:buClr>
                <a:schemeClr val="dk1"/>
              </a:buClr>
              <a:buSzPts val="1800"/>
              <a:buChar char="–"/>
              <a:defRPr sz="900"/>
            </a:lvl4pPr>
            <a:lvl5pPr marL="1143057" lvl="4" indent="-171458" algn="l">
              <a:spcBef>
                <a:spcPts val="180"/>
              </a:spcBef>
              <a:spcAft>
                <a:spcPts val="0"/>
              </a:spcAft>
              <a:buClr>
                <a:schemeClr val="dk1"/>
              </a:buClr>
              <a:buSzPts val="1800"/>
              <a:buChar char="»"/>
              <a:defRPr sz="900"/>
            </a:lvl5pPr>
            <a:lvl6pPr marL="1371668" lvl="5" indent="-171458" algn="l">
              <a:spcBef>
                <a:spcPts val="180"/>
              </a:spcBef>
              <a:spcAft>
                <a:spcPts val="0"/>
              </a:spcAft>
              <a:buClr>
                <a:schemeClr val="dk1"/>
              </a:buClr>
              <a:buSzPts val="1800"/>
              <a:buChar char="•"/>
              <a:defRPr sz="900"/>
            </a:lvl6pPr>
            <a:lvl7pPr marL="1600280" lvl="6" indent="-171458" algn="l">
              <a:spcBef>
                <a:spcPts val="180"/>
              </a:spcBef>
              <a:spcAft>
                <a:spcPts val="0"/>
              </a:spcAft>
              <a:buClr>
                <a:schemeClr val="dk1"/>
              </a:buClr>
              <a:buSzPts val="1800"/>
              <a:buChar char="•"/>
              <a:defRPr sz="900"/>
            </a:lvl7pPr>
            <a:lvl8pPr marL="1828892" lvl="7" indent="-171458" algn="l">
              <a:spcBef>
                <a:spcPts val="180"/>
              </a:spcBef>
              <a:spcAft>
                <a:spcPts val="0"/>
              </a:spcAft>
              <a:buClr>
                <a:schemeClr val="dk1"/>
              </a:buClr>
              <a:buSzPts val="1800"/>
              <a:buChar char="•"/>
              <a:defRPr sz="900"/>
            </a:lvl8pPr>
            <a:lvl9pPr marL="2057503" lvl="8" indent="-171458" algn="l">
              <a:spcBef>
                <a:spcPts val="180"/>
              </a:spcBef>
              <a:spcAft>
                <a:spcPts val="0"/>
              </a:spcAft>
              <a:buClr>
                <a:schemeClr val="dk1"/>
              </a:buClr>
              <a:buSzPts val="1800"/>
              <a:buChar char="•"/>
              <a:defRPr sz="900"/>
            </a:lvl9pPr>
          </a:lstStyle>
          <a:p>
            <a:endParaRPr/>
          </a:p>
        </p:txBody>
      </p:sp>
      <p:sp>
        <p:nvSpPr>
          <p:cNvPr id="37" name="Google Shape;37;p6"/>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550138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228600" y="183092"/>
            <a:ext cx="41148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228601" y="1023409"/>
            <a:ext cx="2020094" cy="426508"/>
          </a:xfrm>
          <a:prstGeom prst="rect">
            <a:avLst/>
          </a:prstGeom>
          <a:noFill/>
          <a:ln>
            <a:noFill/>
          </a:ln>
        </p:spPr>
        <p:txBody>
          <a:bodyPr spcFirstLastPara="1" wrap="square" lIns="91425" tIns="45700" rIns="91425" bIns="45700" anchor="b" anchorCtr="0">
            <a:normAutofit/>
          </a:bodyPr>
          <a:lstStyle>
            <a:lvl1pPr marL="228611" lvl="0" indent="-114306" algn="l">
              <a:spcBef>
                <a:spcPts val="240"/>
              </a:spcBef>
              <a:spcAft>
                <a:spcPts val="0"/>
              </a:spcAft>
              <a:buClr>
                <a:schemeClr val="dk1"/>
              </a:buClr>
              <a:buSzPts val="2400"/>
              <a:buNone/>
              <a:defRPr sz="1200" b="1"/>
            </a:lvl1pPr>
            <a:lvl2pPr marL="457223" lvl="1" indent="-114306" algn="l">
              <a:spcBef>
                <a:spcPts val="200"/>
              </a:spcBef>
              <a:spcAft>
                <a:spcPts val="0"/>
              </a:spcAft>
              <a:buClr>
                <a:schemeClr val="dk1"/>
              </a:buClr>
              <a:buSzPts val="2000"/>
              <a:buNone/>
              <a:defRPr sz="1000" b="1"/>
            </a:lvl2pPr>
            <a:lvl3pPr marL="685835" lvl="2" indent="-114306" algn="l">
              <a:spcBef>
                <a:spcPts val="180"/>
              </a:spcBef>
              <a:spcAft>
                <a:spcPts val="0"/>
              </a:spcAft>
              <a:buClr>
                <a:schemeClr val="dk1"/>
              </a:buClr>
              <a:buSzPts val="1800"/>
              <a:buNone/>
              <a:defRPr sz="900" b="1"/>
            </a:lvl3pPr>
            <a:lvl4pPr marL="914446" lvl="3" indent="-114306" algn="l">
              <a:spcBef>
                <a:spcPts val="160"/>
              </a:spcBef>
              <a:spcAft>
                <a:spcPts val="0"/>
              </a:spcAft>
              <a:buClr>
                <a:schemeClr val="dk1"/>
              </a:buClr>
              <a:buSzPts val="1600"/>
              <a:buNone/>
              <a:defRPr sz="800" b="1"/>
            </a:lvl4pPr>
            <a:lvl5pPr marL="1143057" lvl="4" indent="-114306" algn="l">
              <a:spcBef>
                <a:spcPts val="160"/>
              </a:spcBef>
              <a:spcAft>
                <a:spcPts val="0"/>
              </a:spcAft>
              <a:buClr>
                <a:schemeClr val="dk1"/>
              </a:buClr>
              <a:buSzPts val="1600"/>
              <a:buNone/>
              <a:defRPr sz="800" b="1"/>
            </a:lvl5pPr>
            <a:lvl6pPr marL="1371668" lvl="5" indent="-114306" algn="l">
              <a:spcBef>
                <a:spcPts val="160"/>
              </a:spcBef>
              <a:spcAft>
                <a:spcPts val="0"/>
              </a:spcAft>
              <a:buClr>
                <a:schemeClr val="dk1"/>
              </a:buClr>
              <a:buSzPts val="1600"/>
              <a:buNone/>
              <a:defRPr sz="800" b="1"/>
            </a:lvl6pPr>
            <a:lvl7pPr marL="1600280" lvl="6" indent="-114306" algn="l">
              <a:spcBef>
                <a:spcPts val="160"/>
              </a:spcBef>
              <a:spcAft>
                <a:spcPts val="0"/>
              </a:spcAft>
              <a:buClr>
                <a:schemeClr val="dk1"/>
              </a:buClr>
              <a:buSzPts val="1600"/>
              <a:buNone/>
              <a:defRPr sz="800" b="1"/>
            </a:lvl7pPr>
            <a:lvl8pPr marL="1828892" lvl="7" indent="-114306" algn="l">
              <a:spcBef>
                <a:spcPts val="160"/>
              </a:spcBef>
              <a:spcAft>
                <a:spcPts val="0"/>
              </a:spcAft>
              <a:buClr>
                <a:schemeClr val="dk1"/>
              </a:buClr>
              <a:buSzPts val="1600"/>
              <a:buNone/>
              <a:defRPr sz="800" b="1"/>
            </a:lvl8pPr>
            <a:lvl9pPr marL="2057503" lvl="8" indent="-114306" algn="l">
              <a:spcBef>
                <a:spcPts val="160"/>
              </a:spcBef>
              <a:spcAft>
                <a:spcPts val="0"/>
              </a:spcAft>
              <a:buClr>
                <a:schemeClr val="dk1"/>
              </a:buClr>
              <a:buSzPts val="1600"/>
              <a:buNone/>
              <a:defRPr sz="800" b="1"/>
            </a:lvl9pPr>
          </a:lstStyle>
          <a:p>
            <a:endParaRPr/>
          </a:p>
        </p:txBody>
      </p:sp>
      <p:sp>
        <p:nvSpPr>
          <p:cNvPr id="43" name="Google Shape;43;p7"/>
          <p:cNvSpPr txBox="1">
            <a:spLocks noGrp="1"/>
          </p:cNvSpPr>
          <p:nvPr>
            <p:ph type="body" idx="2"/>
          </p:nvPr>
        </p:nvSpPr>
        <p:spPr>
          <a:xfrm>
            <a:off x="228601" y="1449917"/>
            <a:ext cx="2020094" cy="2634192"/>
          </a:xfrm>
          <a:prstGeom prst="rect">
            <a:avLst/>
          </a:prstGeom>
          <a:noFill/>
          <a:ln>
            <a:noFill/>
          </a:ln>
        </p:spPr>
        <p:txBody>
          <a:bodyPr spcFirstLastPara="1" wrap="square" lIns="91425" tIns="45700" rIns="91425" bIns="45700" anchor="t" anchorCtr="0">
            <a:normAutofit/>
          </a:bodyPr>
          <a:lstStyle>
            <a:lvl1pPr marL="228611" lvl="0" indent="-190510" algn="l">
              <a:spcBef>
                <a:spcPts val="240"/>
              </a:spcBef>
              <a:spcAft>
                <a:spcPts val="0"/>
              </a:spcAft>
              <a:buClr>
                <a:schemeClr val="dk1"/>
              </a:buClr>
              <a:buSzPts val="2400"/>
              <a:buChar char="•"/>
              <a:defRPr sz="1200"/>
            </a:lvl1pPr>
            <a:lvl2pPr marL="457223" lvl="1" indent="-177809" algn="l">
              <a:spcBef>
                <a:spcPts val="200"/>
              </a:spcBef>
              <a:spcAft>
                <a:spcPts val="0"/>
              </a:spcAft>
              <a:buClr>
                <a:schemeClr val="dk1"/>
              </a:buClr>
              <a:buSzPts val="2000"/>
              <a:buChar char="–"/>
              <a:defRPr sz="1000"/>
            </a:lvl2pPr>
            <a:lvl3pPr marL="685835" lvl="2" indent="-171458" algn="l">
              <a:spcBef>
                <a:spcPts val="180"/>
              </a:spcBef>
              <a:spcAft>
                <a:spcPts val="0"/>
              </a:spcAft>
              <a:buClr>
                <a:schemeClr val="dk1"/>
              </a:buClr>
              <a:buSzPts val="1800"/>
              <a:buChar char="•"/>
              <a:defRPr sz="900"/>
            </a:lvl3pPr>
            <a:lvl4pPr marL="914446" lvl="3" indent="-165108" algn="l">
              <a:spcBef>
                <a:spcPts val="160"/>
              </a:spcBef>
              <a:spcAft>
                <a:spcPts val="0"/>
              </a:spcAft>
              <a:buClr>
                <a:schemeClr val="dk1"/>
              </a:buClr>
              <a:buSzPts val="1600"/>
              <a:buChar char="–"/>
              <a:defRPr sz="800"/>
            </a:lvl4pPr>
            <a:lvl5pPr marL="1143057" lvl="4" indent="-165108" algn="l">
              <a:spcBef>
                <a:spcPts val="160"/>
              </a:spcBef>
              <a:spcAft>
                <a:spcPts val="0"/>
              </a:spcAft>
              <a:buClr>
                <a:schemeClr val="dk1"/>
              </a:buClr>
              <a:buSzPts val="1600"/>
              <a:buChar char="»"/>
              <a:defRPr sz="800"/>
            </a:lvl5pPr>
            <a:lvl6pPr marL="1371668" lvl="5" indent="-165108" algn="l">
              <a:spcBef>
                <a:spcPts val="160"/>
              </a:spcBef>
              <a:spcAft>
                <a:spcPts val="0"/>
              </a:spcAft>
              <a:buClr>
                <a:schemeClr val="dk1"/>
              </a:buClr>
              <a:buSzPts val="1600"/>
              <a:buChar char="•"/>
              <a:defRPr sz="800"/>
            </a:lvl6pPr>
            <a:lvl7pPr marL="1600280" lvl="6" indent="-165108" algn="l">
              <a:spcBef>
                <a:spcPts val="160"/>
              </a:spcBef>
              <a:spcAft>
                <a:spcPts val="0"/>
              </a:spcAft>
              <a:buClr>
                <a:schemeClr val="dk1"/>
              </a:buClr>
              <a:buSzPts val="1600"/>
              <a:buChar char="•"/>
              <a:defRPr sz="800"/>
            </a:lvl7pPr>
            <a:lvl8pPr marL="1828892" lvl="7" indent="-165108" algn="l">
              <a:spcBef>
                <a:spcPts val="160"/>
              </a:spcBef>
              <a:spcAft>
                <a:spcPts val="0"/>
              </a:spcAft>
              <a:buClr>
                <a:schemeClr val="dk1"/>
              </a:buClr>
              <a:buSzPts val="1600"/>
              <a:buChar char="•"/>
              <a:defRPr sz="800"/>
            </a:lvl8pPr>
            <a:lvl9pPr marL="2057503" lvl="8" indent="-165108" algn="l">
              <a:spcBef>
                <a:spcPts val="160"/>
              </a:spcBef>
              <a:spcAft>
                <a:spcPts val="0"/>
              </a:spcAft>
              <a:buClr>
                <a:schemeClr val="dk1"/>
              </a:buClr>
              <a:buSzPts val="1600"/>
              <a:buChar char="•"/>
              <a:defRPr sz="800"/>
            </a:lvl9pPr>
          </a:lstStyle>
          <a:p>
            <a:endParaRPr/>
          </a:p>
        </p:txBody>
      </p:sp>
      <p:sp>
        <p:nvSpPr>
          <p:cNvPr id="44" name="Google Shape;44;p7"/>
          <p:cNvSpPr txBox="1">
            <a:spLocks noGrp="1"/>
          </p:cNvSpPr>
          <p:nvPr>
            <p:ph type="body" idx="3"/>
          </p:nvPr>
        </p:nvSpPr>
        <p:spPr>
          <a:xfrm>
            <a:off x="2322513" y="1023409"/>
            <a:ext cx="2020888" cy="426508"/>
          </a:xfrm>
          <a:prstGeom prst="rect">
            <a:avLst/>
          </a:prstGeom>
          <a:noFill/>
          <a:ln>
            <a:noFill/>
          </a:ln>
        </p:spPr>
        <p:txBody>
          <a:bodyPr spcFirstLastPara="1" wrap="square" lIns="91425" tIns="45700" rIns="91425" bIns="45700" anchor="b" anchorCtr="0">
            <a:normAutofit/>
          </a:bodyPr>
          <a:lstStyle>
            <a:lvl1pPr marL="228611" lvl="0" indent="-114306" algn="l">
              <a:spcBef>
                <a:spcPts val="240"/>
              </a:spcBef>
              <a:spcAft>
                <a:spcPts val="0"/>
              </a:spcAft>
              <a:buClr>
                <a:schemeClr val="dk1"/>
              </a:buClr>
              <a:buSzPts val="2400"/>
              <a:buNone/>
              <a:defRPr sz="1200" b="1"/>
            </a:lvl1pPr>
            <a:lvl2pPr marL="457223" lvl="1" indent="-114306" algn="l">
              <a:spcBef>
                <a:spcPts val="200"/>
              </a:spcBef>
              <a:spcAft>
                <a:spcPts val="0"/>
              </a:spcAft>
              <a:buClr>
                <a:schemeClr val="dk1"/>
              </a:buClr>
              <a:buSzPts val="2000"/>
              <a:buNone/>
              <a:defRPr sz="1000" b="1"/>
            </a:lvl2pPr>
            <a:lvl3pPr marL="685835" lvl="2" indent="-114306" algn="l">
              <a:spcBef>
                <a:spcPts val="180"/>
              </a:spcBef>
              <a:spcAft>
                <a:spcPts val="0"/>
              </a:spcAft>
              <a:buClr>
                <a:schemeClr val="dk1"/>
              </a:buClr>
              <a:buSzPts val="1800"/>
              <a:buNone/>
              <a:defRPr sz="900" b="1"/>
            </a:lvl3pPr>
            <a:lvl4pPr marL="914446" lvl="3" indent="-114306" algn="l">
              <a:spcBef>
                <a:spcPts val="160"/>
              </a:spcBef>
              <a:spcAft>
                <a:spcPts val="0"/>
              </a:spcAft>
              <a:buClr>
                <a:schemeClr val="dk1"/>
              </a:buClr>
              <a:buSzPts val="1600"/>
              <a:buNone/>
              <a:defRPr sz="800" b="1"/>
            </a:lvl4pPr>
            <a:lvl5pPr marL="1143057" lvl="4" indent="-114306" algn="l">
              <a:spcBef>
                <a:spcPts val="160"/>
              </a:spcBef>
              <a:spcAft>
                <a:spcPts val="0"/>
              </a:spcAft>
              <a:buClr>
                <a:schemeClr val="dk1"/>
              </a:buClr>
              <a:buSzPts val="1600"/>
              <a:buNone/>
              <a:defRPr sz="800" b="1"/>
            </a:lvl5pPr>
            <a:lvl6pPr marL="1371668" lvl="5" indent="-114306" algn="l">
              <a:spcBef>
                <a:spcPts val="160"/>
              </a:spcBef>
              <a:spcAft>
                <a:spcPts val="0"/>
              </a:spcAft>
              <a:buClr>
                <a:schemeClr val="dk1"/>
              </a:buClr>
              <a:buSzPts val="1600"/>
              <a:buNone/>
              <a:defRPr sz="800" b="1"/>
            </a:lvl6pPr>
            <a:lvl7pPr marL="1600280" lvl="6" indent="-114306" algn="l">
              <a:spcBef>
                <a:spcPts val="160"/>
              </a:spcBef>
              <a:spcAft>
                <a:spcPts val="0"/>
              </a:spcAft>
              <a:buClr>
                <a:schemeClr val="dk1"/>
              </a:buClr>
              <a:buSzPts val="1600"/>
              <a:buNone/>
              <a:defRPr sz="800" b="1"/>
            </a:lvl7pPr>
            <a:lvl8pPr marL="1828892" lvl="7" indent="-114306" algn="l">
              <a:spcBef>
                <a:spcPts val="160"/>
              </a:spcBef>
              <a:spcAft>
                <a:spcPts val="0"/>
              </a:spcAft>
              <a:buClr>
                <a:schemeClr val="dk1"/>
              </a:buClr>
              <a:buSzPts val="1600"/>
              <a:buNone/>
              <a:defRPr sz="800" b="1"/>
            </a:lvl8pPr>
            <a:lvl9pPr marL="2057503" lvl="8" indent="-114306" algn="l">
              <a:spcBef>
                <a:spcPts val="160"/>
              </a:spcBef>
              <a:spcAft>
                <a:spcPts val="0"/>
              </a:spcAft>
              <a:buClr>
                <a:schemeClr val="dk1"/>
              </a:buClr>
              <a:buSzPts val="1600"/>
              <a:buNone/>
              <a:defRPr sz="800" b="1"/>
            </a:lvl9pPr>
          </a:lstStyle>
          <a:p>
            <a:endParaRPr/>
          </a:p>
        </p:txBody>
      </p:sp>
      <p:sp>
        <p:nvSpPr>
          <p:cNvPr id="45" name="Google Shape;45;p7"/>
          <p:cNvSpPr txBox="1">
            <a:spLocks noGrp="1"/>
          </p:cNvSpPr>
          <p:nvPr>
            <p:ph type="body" idx="4"/>
          </p:nvPr>
        </p:nvSpPr>
        <p:spPr>
          <a:xfrm>
            <a:off x="2322513" y="1449917"/>
            <a:ext cx="2020888" cy="2634192"/>
          </a:xfrm>
          <a:prstGeom prst="rect">
            <a:avLst/>
          </a:prstGeom>
          <a:noFill/>
          <a:ln>
            <a:noFill/>
          </a:ln>
        </p:spPr>
        <p:txBody>
          <a:bodyPr spcFirstLastPara="1" wrap="square" lIns="91425" tIns="45700" rIns="91425" bIns="45700" anchor="t" anchorCtr="0">
            <a:normAutofit/>
          </a:bodyPr>
          <a:lstStyle>
            <a:lvl1pPr marL="228611" lvl="0" indent="-190510" algn="l">
              <a:spcBef>
                <a:spcPts val="240"/>
              </a:spcBef>
              <a:spcAft>
                <a:spcPts val="0"/>
              </a:spcAft>
              <a:buClr>
                <a:schemeClr val="dk1"/>
              </a:buClr>
              <a:buSzPts val="2400"/>
              <a:buChar char="•"/>
              <a:defRPr sz="1200"/>
            </a:lvl1pPr>
            <a:lvl2pPr marL="457223" lvl="1" indent="-177809" algn="l">
              <a:spcBef>
                <a:spcPts val="200"/>
              </a:spcBef>
              <a:spcAft>
                <a:spcPts val="0"/>
              </a:spcAft>
              <a:buClr>
                <a:schemeClr val="dk1"/>
              </a:buClr>
              <a:buSzPts val="2000"/>
              <a:buChar char="–"/>
              <a:defRPr sz="1000"/>
            </a:lvl2pPr>
            <a:lvl3pPr marL="685835" lvl="2" indent="-171458" algn="l">
              <a:spcBef>
                <a:spcPts val="180"/>
              </a:spcBef>
              <a:spcAft>
                <a:spcPts val="0"/>
              </a:spcAft>
              <a:buClr>
                <a:schemeClr val="dk1"/>
              </a:buClr>
              <a:buSzPts val="1800"/>
              <a:buChar char="•"/>
              <a:defRPr sz="900"/>
            </a:lvl3pPr>
            <a:lvl4pPr marL="914446" lvl="3" indent="-165108" algn="l">
              <a:spcBef>
                <a:spcPts val="160"/>
              </a:spcBef>
              <a:spcAft>
                <a:spcPts val="0"/>
              </a:spcAft>
              <a:buClr>
                <a:schemeClr val="dk1"/>
              </a:buClr>
              <a:buSzPts val="1600"/>
              <a:buChar char="–"/>
              <a:defRPr sz="800"/>
            </a:lvl4pPr>
            <a:lvl5pPr marL="1143057" lvl="4" indent="-165108" algn="l">
              <a:spcBef>
                <a:spcPts val="160"/>
              </a:spcBef>
              <a:spcAft>
                <a:spcPts val="0"/>
              </a:spcAft>
              <a:buClr>
                <a:schemeClr val="dk1"/>
              </a:buClr>
              <a:buSzPts val="1600"/>
              <a:buChar char="»"/>
              <a:defRPr sz="800"/>
            </a:lvl5pPr>
            <a:lvl6pPr marL="1371668" lvl="5" indent="-165108" algn="l">
              <a:spcBef>
                <a:spcPts val="160"/>
              </a:spcBef>
              <a:spcAft>
                <a:spcPts val="0"/>
              </a:spcAft>
              <a:buClr>
                <a:schemeClr val="dk1"/>
              </a:buClr>
              <a:buSzPts val="1600"/>
              <a:buChar char="•"/>
              <a:defRPr sz="800"/>
            </a:lvl6pPr>
            <a:lvl7pPr marL="1600280" lvl="6" indent="-165108" algn="l">
              <a:spcBef>
                <a:spcPts val="160"/>
              </a:spcBef>
              <a:spcAft>
                <a:spcPts val="0"/>
              </a:spcAft>
              <a:buClr>
                <a:schemeClr val="dk1"/>
              </a:buClr>
              <a:buSzPts val="1600"/>
              <a:buChar char="•"/>
              <a:defRPr sz="800"/>
            </a:lvl7pPr>
            <a:lvl8pPr marL="1828892" lvl="7" indent="-165108" algn="l">
              <a:spcBef>
                <a:spcPts val="160"/>
              </a:spcBef>
              <a:spcAft>
                <a:spcPts val="0"/>
              </a:spcAft>
              <a:buClr>
                <a:schemeClr val="dk1"/>
              </a:buClr>
              <a:buSzPts val="1600"/>
              <a:buChar char="•"/>
              <a:defRPr sz="800"/>
            </a:lvl8pPr>
            <a:lvl9pPr marL="2057503" lvl="8" indent="-165108" algn="l">
              <a:spcBef>
                <a:spcPts val="160"/>
              </a:spcBef>
              <a:spcAft>
                <a:spcPts val="0"/>
              </a:spcAft>
              <a:buClr>
                <a:schemeClr val="dk1"/>
              </a:buClr>
              <a:buSzPts val="1600"/>
              <a:buChar char="•"/>
              <a:defRPr sz="800"/>
            </a:lvl9pPr>
          </a:lstStyle>
          <a:p>
            <a:endParaRPr/>
          </a:p>
        </p:txBody>
      </p:sp>
      <p:sp>
        <p:nvSpPr>
          <p:cNvPr id="46" name="Google Shape;46;p7"/>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7322436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228600" y="183092"/>
            <a:ext cx="41148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13591856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228600" y="182033"/>
            <a:ext cx="1504157" cy="7747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1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1787526" y="182035"/>
            <a:ext cx="2555875" cy="3902075"/>
          </a:xfrm>
          <a:prstGeom prst="rect">
            <a:avLst/>
          </a:prstGeom>
          <a:noFill/>
          <a:ln>
            <a:noFill/>
          </a:ln>
        </p:spPr>
        <p:txBody>
          <a:bodyPr spcFirstLastPara="1" wrap="square" lIns="91425" tIns="45700" rIns="91425" bIns="45700" anchor="t" anchorCtr="0">
            <a:normAutofit/>
          </a:bodyPr>
          <a:lstStyle>
            <a:lvl1pPr marL="228611" lvl="0" indent="-215911" algn="l">
              <a:spcBef>
                <a:spcPts val="320"/>
              </a:spcBef>
              <a:spcAft>
                <a:spcPts val="0"/>
              </a:spcAft>
              <a:buClr>
                <a:schemeClr val="dk1"/>
              </a:buClr>
              <a:buSzPts val="3200"/>
              <a:buChar char="•"/>
              <a:defRPr sz="1600"/>
            </a:lvl1pPr>
            <a:lvl2pPr marL="457223" lvl="1" indent="-203210" algn="l">
              <a:spcBef>
                <a:spcPts val="280"/>
              </a:spcBef>
              <a:spcAft>
                <a:spcPts val="0"/>
              </a:spcAft>
              <a:buClr>
                <a:schemeClr val="dk1"/>
              </a:buClr>
              <a:buSzPts val="2800"/>
              <a:buChar char="–"/>
              <a:defRPr sz="1400"/>
            </a:lvl2pPr>
            <a:lvl3pPr marL="685835" lvl="2" indent="-190510" algn="l">
              <a:spcBef>
                <a:spcPts val="240"/>
              </a:spcBef>
              <a:spcAft>
                <a:spcPts val="0"/>
              </a:spcAft>
              <a:buClr>
                <a:schemeClr val="dk1"/>
              </a:buClr>
              <a:buSzPts val="2400"/>
              <a:buChar char="•"/>
              <a:defRPr sz="1200"/>
            </a:lvl3pPr>
            <a:lvl4pPr marL="914446" lvl="3" indent="-177809" algn="l">
              <a:spcBef>
                <a:spcPts val="200"/>
              </a:spcBef>
              <a:spcAft>
                <a:spcPts val="0"/>
              </a:spcAft>
              <a:buClr>
                <a:schemeClr val="dk1"/>
              </a:buClr>
              <a:buSzPts val="2000"/>
              <a:buChar char="–"/>
              <a:defRPr sz="1000"/>
            </a:lvl4pPr>
            <a:lvl5pPr marL="1143057" lvl="4" indent="-177809" algn="l">
              <a:spcBef>
                <a:spcPts val="200"/>
              </a:spcBef>
              <a:spcAft>
                <a:spcPts val="0"/>
              </a:spcAft>
              <a:buClr>
                <a:schemeClr val="dk1"/>
              </a:buClr>
              <a:buSzPts val="2000"/>
              <a:buChar char="»"/>
              <a:defRPr sz="1000"/>
            </a:lvl5pPr>
            <a:lvl6pPr marL="1371668" lvl="5" indent="-177809" algn="l">
              <a:spcBef>
                <a:spcPts val="200"/>
              </a:spcBef>
              <a:spcAft>
                <a:spcPts val="0"/>
              </a:spcAft>
              <a:buClr>
                <a:schemeClr val="dk1"/>
              </a:buClr>
              <a:buSzPts val="2000"/>
              <a:buChar char="•"/>
              <a:defRPr sz="1000"/>
            </a:lvl6pPr>
            <a:lvl7pPr marL="1600280" lvl="6" indent="-177809" algn="l">
              <a:spcBef>
                <a:spcPts val="200"/>
              </a:spcBef>
              <a:spcAft>
                <a:spcPts val="0"/>
              </a:spcAft>
              <a:buClr>
                <a:schemeClr val="dk1"/>
              </a:buClr>
              <a:buSzPts val="2000"/>
              <a:buChar char="•"/>
              <a:defRPr sz="1000"/>
            </a:lvl7pPr>
            <a:lvl8pPr marL="1828892" lvl="7" indent="-177809" algn="l">
              <a:spcBef>
                <a:spcPts val="200"/>
              </a:spcBef>
              <a:spcAft>
                <a:spcPts val="0"/>
              </a:spcAft>
              <a:buClr>
                <a:schemeClr val="dk1"/>
              </a:buClr>
              <a:buSzPts val="2000"/>
              <a:buChar char="•"/>
              <a:defRPr sz="1000"/>
            </a:lvl8pPr>
            <a:lvl9pPr marL="2057503" lvl="8" indent="-177809" algn="l">
              <a:spcBef>
                <a:spcPts val="200"/>
              </a:spcBef>
              <a:spcAft>
                <a:spcPts val="0"/>
              </a:spcAft>
              <a:buClr>
                <a:schemeClr val="dk1"/>
              </a:buClr>
              <a:buSzPts val="2000"/>
              <a:buChar char="•"/>
              <a:defRPr sz="1000"/>
            </a:lvl9pPr>
          </a:lstStyle>
          <a:p>
            <a:endParaRPr/>
          </a:p>
        </p:txBody>
      </p:sp>
      <p:sp>
        <p:nvSpPr>
          <p:cNvPr id="57" name="Google Shape;57;p9"/>
          <p:cNvSpPr txBox="1">
            <a:spLocks noGrp="1"/>
          </p:cNvSpPr>
          <p:nvPr>
            <p:ph type="body" idx="2"/>
          </p:nvPr>
        </p:nvSpPr>
        <p:spPr>
          <a:xfrm>
            <a:off x="228600" y="956735"/>
            <a:ext cx="1504157" cy="3127375"/>
          </a:xfrm>
          <a:prstGeom prst="rect">
            <a:avLst/>
          </a:prstGeom>
          <a:noFill/>
          <a:ln>
            <a:noFill/>
          </a:ln>
        </p:spPr>
        <p:txBody>
          <a:bodyPr spcFirstLastPara="1" wrap="square" lIns="91425" tIns="45700" rIns="91425" bIns="45700" anchor="t" anchorCtr="0">
            <a:normAutofit/>
          </a:bodyPr>
          <a:lstStyle>
            <a:lvl1pPr marL="228611" lvl="0" indent="-114306" algn="l">
              <a:spcBef>
                <a:spcPts val="140"/>
              </a:spcBef>
              <a:spcAft>
                <a:spcPts val="0"/>
              </a:spcAft>
              <a:buClr>
                <a:schemeClr val="dk1"/>
              </a:buClr>
              <a:buSzPts val="1400"/>
              <a:buNone/>
              <a:defRPr sz="700"/>
            </a:lvl1pPr>
            <a:lvl2pPr marL="457223" lvl="1" indent="-114306" algn="l">
              <a:spcBef>
                <a:spcPts val="120"/>
              </a:spcBef>
              <a:spcAft>
                <a:spcPts val="0"/>
              </a:spcAft>
              <a:buClr>
                <a:schemeClr val="dk1"/>
              </a:buClr>
              <a:buSzPts val="1200"/>
              <a:buNone/>
              <a:defRPr sz="600"/>
            </a:lvl2pPr>
            <a:lvl3pPr marL="685835" lvl="2" indent="-114306" algn="l">
              <a:spcBef>
                <a:spcPts val="100"/>
              </a:spcBef>
              <a:spcAft>
                <a:spcPts val="0"/>
              </a:spcAft>
              <a:buClr>
                <a:schemeClr val="dk1"/>
              </a:buClr>
              <a:buSzPts val="1000"/>
              <a:buNone/>
              <a:defRPr sz="500"/>
            </a:lvl3pPr>
            <a:lvl4pPr marL="914446" lvl="3" indent="-114306" algn="l">
              <a:spcBef>
                <a:spcPts val="90"/>
              </a:spcBef>
              <a:spcAft>
                <a:spcPts val="0"/>
              </a:spcAft>
              <a:buClr>
                <a:schemeClr val="dk1"/>
              </a:buClr>
              <a:buSzPts val="900"/>
              <a:buNone/>
              <a:defRPr sz="450"/>
            </a:lvl4pPr>
            <a:lvl5pPr marL="1143057" lvl="4" indent="-114306" algn="l">
              <a:spcBef>
                <a:spcPts val="90"/>
              </a:spcBef>
              <a:spcAft>
                <a:spcPts val="0"/>
              </a:spcAft>
              <a:buClr>
                <a:schemeClr val="dk1"/>
              </a:buClr>
              <a:buSzPts val="900"/>
              <a:buNone/>
              <a:defRPr sz="450"/>
            </a:lvl5pPr>
            <a:lvl6pPr marL="1371668" lvl="5" indent="-114306" algn="l">
              <a:spcBef>
                <a:spcPts val="90"/>
              </a:spcBef>
              <a:spcAft>
                <a:spcPts val="0"/>
              </a:spcAft>
              <a:buClr>
                <a:schemeClr val="dk1"/>
              </a:buClr>
              <a:buSzPts val="900"/>
              <a:buNone/>
              <a:defRPr sz="450"/>
            </a:lvl6pPr>
            <a:lvl7pPr marL="1600280" lvl="6" indent="-114306" algn="l">
              <a:spcBef>
                <a:spcPts val="90"/>
              </a:spcBef>
              <a:spcAft>
                <a:spcPts val="0"/>
              </a:spcAft>
              <a:buClr>
                <a:schemeClr val="dk1"/>
              </a:buClr>
              <a:buSzPts val="900"/>
              <a:buNone/>
              <a:defRPr sz="450"/>
            </a:lvl7pPr>
            <a:lvl8pPr marL="1828892" lvl="7" indent="-114306" algn="l">
              <a:spcBef>
                <a:spcPts val="90"/>
              </a:spcBef>
              <a:spcAft>
                <a:spcPts val="0"/>
              </a:spcAft>
              <a:buClr>
                <a:schemeClr val="dk1"/>
              </a:buClr>
              <a:buSzPts val="900"/>
              <a:buNone/>
              <a:defRPr sz="450"/>
            </a:lvl8pPr>
            <a:lvl9pPr marL="2057503" lvl="8" indent="-114306" algn="l">
              <a:spcBef>
                <a:spcPts val="90"/>
              </a:spcBef>
              <a:spcAft>
                <a:spcPts val="0"/>
              </a:spcAft>
              <a:buClr>
                <a:schemeClr val="dk1"/>
              </a:buClr>
              <a:buSzPts val="900"/>
              <a:buNone/>
              <a:defRPr sz="450"/>
            </a:lvl9pPr>
          </a:lstStyle>
          <a:p>
            <a:endParaRPr/>
          </a:p>
        </p:txBody>
      </p:sp>
      <p:sp>
        <p:nvSpPr>
          <p:cNvPr id="58" name="Google Shape;58;p9"/>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41852088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896144" y="3200401"/>
            <a:ext cx="2743200" cy="377825"/>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1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896144" y="408517"/>
            <a:ext cx="2743200" cy="2743200"/>
          </a:xfrm>
          <a:prstGeom prst="rect">
            <a:avLst/>
          </a:prstGeom>
          <a:noFill/>
          <a:ln>
            <a:noFill/>
          </a:ln>
        </p:spPr>
      </p:sp>
      <p:sp>
        <p:nvSpPr>
          <p:cNvPr id="64" name="Google Shape;64;p10"/>
          <p:cNvSpPr txBox="1">
            <a:spLocks noGrp="1"/>
          </p:cNvSpPr>
          <p:nvPr>
            <p:ph type="body" idx="1"/>
          </p:nvPr>
        </p:nvSpPr>
        <p:spPr>
          <a:xfrm>
            <a:off x="896144" y="3578226"/>
            <a:ext cx="2743200" cy="536575"/>
          </a:xfrm>
          <a:prstGeom prst="rect">
            <a:avLst/>
          </a:prstGeom>
          <a:noFill/>
          <a:ln>
            <a:noFill/>
          </a:ln>
        </p:spPr>
        <p:txBody>
          <a:bodyPr spcFirstLastPara="1" wrap="square" lIns="91425" tIns="45700" rIns="91425" bIns="45700" anchor="t" anchorCtr="0">
            <a:normAutofit/>
          </a:bodyPr>
          <a:lstStyle>
            <a:lvl1pPr marL="228611" lvl="0" indent="-114306" algn="l">
              <a:spcBef>
                <a:spcPts val="140"/>
              </a:spcBef>
              <a:spcAft>
                <a:spcPts val="0"/>
              </a:spcAft>
              <a:buClr>
                <a:schemeClr val="dk1"/>
              </a:buClr>
              <a:buSzPts val="1400"/>
              <a:buNone/>
              <a:defRPr sz="700"/>
            </a:lvl1pPr>
            <a:lvl2pPr marL="457223" lvl="1" indent="-114306" algn="l">
              <a:spcBef>
                <a:spcPts val="120"/>
              </a:spcBef>
              <a:spcAft>
                <a:spcPts val="0"/>
              </a:spcAft>
              <a:buClr>
                <a:schemeClr val="dk1"/>
              </a:buClr>
              <a:buSzPts val="1200"/>
              <a:buNone/>
              <a:defRPr sz="600"/>
            </a:lvl2pPr>
            <a:lvl3pPr marL="685835" lvl="2" indent="-114306" algn="l">
              <a:spcBef>
                <a:spcPts val="100"/>
              </a:spcBef>
              <a:spcAft>
                <a:spcPts val="0"/>
              </a:spcAft>
              <a:buClr>
                <a:schemeClr val="dk1"/>
              </a:buClr>
              <a:buSzPts val="1000"/>
              <a:buNone/>
              <a:defRPr sz="500"/>
            </a:lvl3pPr>
            <a:lvl4pPr marL="914446" lvl="3" indent="-114306" algn="l">
              <a:spcBef>
                <a:spcPts val="90"/>
              </a:spcBef>
              <a:spcAft>
                <a:spcPts val="0"/>
              </a:spcAft>
              <a:buClr>
                <a:schemeClr val="dk1"/>
              </a:buClr>
              <a:buSzPts val="900"/>
              <a:buNone/>
              <a:defRPr sz="450"/>
            </a:lvl4pPr>
            <a:lvl5pPr marL="1143057" lvl="4" indent="-114306" algn="l">
              <a:spcBef>
                <a:spcPts val="90"/>
              </a:spcBef>
              <a:spcAft>
                <a:spcPts val="0"/>
              </a:spcAft>
              <a:buClr>
                <a:schemeClr val="dk1"/>
              </a:buClr>
              <a:buSzPts val="900"/>
              <a:buNone/>
              <a:defRPr sz="450"/>
            </a:lvl5pPr>
            <a:lvl6pPr marL="1371668" lvl="5" indent="-114306" algn="l">
              <a:spcBef>
                <a:spcPts val="90"/>
              </a:spcBef>
              <a:spcAft>
                <a:spcPts val="0"/>
              </a:spcAft>
              <a:buClr>
                <a:schemeClr val="dk1"/>
              </a:buClr>
              <a:buSzPts val="900"/>
              <a:buNone/>
              <a:defRPr sz="450"/>
            </a:lvl6pPr>
            <a:lvl7pPr marL="1600280" lvl="6" indent="-114306" algn="l">
              <a:spcBef>
                <a:spcPts val="90"/>
              </a:spcBef>
              <a:spcAft>
                <a:spcPts val="0"/>
              </a:spcAft>
              <a:buClr>
                <a:schemeClr val="dk1"/>
              </a:buClr>
              <a:buSzPts val="900"/>
              <a:buNone/>
              <a:defRPr sz="450"/>
            </a:lvl7pPr>
            <a:lvl8pPr marL="1828892" lvl="7" indent="-114306" algn="l">
              <a:spcBef>
                <a:spcPts val="90"/>
              </a:spcBef>
              <a:spcAft>
                <a:spcPts val="0"/>
              </a:spcAft>
              <a:buClr>
                <a:schemeClr val="dk1"/>
              </a:buClr>
              <a:buSzPts val="900"/>
              <a:buNone/>
              <a:defRPr sz="450"/>
            </a:lvl8pPr>
            <a:lvl9pPr marL="2057503" lvl="8" indent="-114306" algn="l">
              <a:spcBef>
                <a:spcPts val="90"/>
              </a:spcBef>
              <a:spcAft>
                <a:spcPts val="0"/>
              </a:spcAft>
              <a:buClr>
                <a:schemeClr val="dk1"/>
              </a:buClr>
              <a:buSzPts val="900"/>
              <a:buNone/>
              <a:defRPr sz="450"/>
            </a:lvl9pPr>
          </a:lstStyle>
          <a:p>
            <a:endParaRPr/>
          </a:p>
        </p:txBody>
      </p:sp>
      <p:sp>
        <p:nvSpPr>
          <p:cNvPr id="65" name="Google Shape;65;p10"/>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30881405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228600" y="183092"/>
            <a:ext cx="4114800" cy="762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777346" y="518055"/>
            <a:ext cx="3017309" cy="4114800"/>
          </a:xfrm>
          <a:prstGeom prst="rect">
            <a:avLst/>
          </a:prstGeom>
          <a:noFill/>
          <a:ln>
            <a:noFill/>
          </a:ln>
        </p:spPr>
        <p:txBody>
          <a:bodyPr spcFirstLastPara="1" wrap="square" lIns="91425" tIns="45700" rIns="91425" bIns="45700" anchor="t" anchorCtr="0">
            <a:normAutofit/>
          </a:bodyPr>
          <a:lstStyle>
            <a:lvl1pPr marL="228611" lvl="0" indent="-171458" algn="l">
              <a:spcBef>
                <a:spcPts val="180"/>
              </a:spcBef>
              <a:spcAft>
                <a:spcPts val="0"/>
              </a:spcAft>
              <a:buClr>
                <a:schemeClr val="dk1"/>
              </a:buClr>
              <a:buSzPts val="1800"/>
              <a:buChar char="•"/>
              <a:defRPr/>
            </a:lvl1pPr>
            <a:lvl2pPr marL="457223" lvl="1" indent="-171458" algn="l">
              <a:spcBef>
                <a:spcPts val="180"/>
              </a:spcBef>
              <a:spcAft>
                <a:spcPts val="0"/>
              </a:spcAft>
              <a:buClr>
                <a:schemeClr val="dk1"/>
              </a:buClr>
              <a:buSzPts val="1800"/>
              <a:buChar char="–"/>
              <a:defRPr/>
            </a:lvl2pPr>
            <a:lvl3pPr marL="685835" lvl="2" indent="-171458" algn="l">
              <a:spcBef>
                <a:spcPts val="180"/>
              </a:spcBef>
              <a:spcAft>
                <a:spcPts val="0"/>
              </a:spcAft>
              <a:buClr>
                <a:schemeClr val="dk1"/>
              </a:buClr>
              <a:buSzPts val="1800"/>
              <a:buChar char="•"/>
              <a:defRPr/>
            </a:lvl3pPr>
            <a:lvl4pPr marL="914446" lvl="3" indent="-171458" algn="l">
              <a:spcBef>
                <a:spcPts val="180"/>
              </a:spcBef>
              <a:spcAft>
                <a:spcPts val="0"/>
              </a:spcAft>
              <a:buClr>
                <a:schemeClr val="dk1"/>
              </a:buClr>
              <a:buSzPts val="1800"/>
              <a:buChar char="–"/>
              <a:defRPr/>
            </a:lvl4pPr>
            <a:lvl5pPr marL="1143057" lvl="4" indent="-171458" algn="l">
              <a:spcBef>
                <a:spcPts val="180"/>
              </a:spcBef>
              <a:spcAft>
                <a:spcPts val="0"/>
              </a:spcAft>
              <a:buClr>
                <a:schemeClr val="dk1"/>
              </a:buClr>
              <a:buSzPts val="1800"/>
              <a:buChar char="»"/>
              <a:defRPr/>
            </a:lvl5pPr>
            <a:lvl6pPr marL="1371668" lvl="5" indent="-171458" algn="l">
              <a:spcBef>
                <a:spcPts val="180"/>
              </a:spcBef>
              <a:spcAft>
                <a:spcPts val="0"/>
              </a:spcAft>
              <a:buClr>
                <a:schemeClr val="dk1"/>
              </a:buClr>
              <a:buSzPts val="1800"/>
              <a:buChar char="•"/>
              <a:defRPr/>
            </a:lvl6pPr>
            <a:lvl7pPr marL="1600280" lvl="6" indent="-171458" algn="l">
              <a:spcBef>
                <a:spcPts val="180"/>
              </a:spcBef>
              <a:spcAft>
                <a:spcPts val="0"/>
              </a:spcAft>
              <a:buClr>
                <a:schemeClr val="dk1"/>
              </a:buClr>
              <a:buSzPts val="1800"/>
              <a:buChar char="•"/>
              <a:defRPr/>
            </a:lvl7pPr>
            <a:lvl8pPr marL="1828892" lvl="7" indent="-171458" algn="l">
              <a:spcBef>
                <a:spcPts val="180"/>
              </a:spcBef>
              <a:spcAft>
                <a:spcPts val="0"/>
              </a:spcAft>
              <a:buClr>
                <a:schemeClr val="dk1"/>
              </a:buClr>
              <a:buSzPts val="1800"/>
              <a:buChar char="•"/>
              <a:defRPr/>
            </a:lvl8pPr>
            <a:lvl9pPr marL="2057503" lvl="8" indent="-171458" algn="l">
              <a:spcBef>
                <a:spcPts val="18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4161029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1878542" y="1619251"/>
            <a:ext cx="3901017" cy="10287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216958" y="628650"/>
            <a:ext cx="3901017" cy="3009900"/>
          </a:xfrm>
          <a:prstGeom prst="rect">
            <a:avLst/>
          </a:prstGeom>
          <a:noFill/>
          <a:ln>
            <a:noFill/>
          </a:ln>
        </p:spPr>
        <p:txBody>
          <a:bodyPr spcFirstLastPara="1" wrap="square" lIns="91425" tIns="45700" rIns="91425" bIns="45700" anchor="t" anchorCtr="0">
            <a:normAutofit/>
          </a:bodyPr>
          <a:lstStyle>
            <a:lvl1pPr marL="228611" lvl="0" indent="-171458" algn="l">
              <a:spcBef>
                <a:spcPts val="180"/>
              </a:spcBef>
              <a:spcAft>
                <a:spcPts val="0"/>
              </a:spcAft>
              <a:buClr>
                <a:schemeClr val="dk1"/>
              </a:buClr>
              <a:buSzPts val="1800"/>
              <a:buChar char="•"/>
              <a:defRPr/>
            </a:lvl1pPr>
            <a:lvl2pPr marL="457223" lvl="1" indent="-171458" algn="l">
              <a:spcBef>
                <a:spcPts val="180"/>
              </a:spcBef>
              <a:spcAft>
                <a:spcPts val="0"/>
              </a:spcAft>
              <a:buClr>
                <a:schemeClr val="dk1"/>
              </a:buClr>
              <a:buSzPts val="1800"/>
              <a:buChar char="–"/>
              <a:defRPr/>
            </a:lvl2pPr>
            <a:lvl3pPr marL="685835" lvl="2" indent="-171458" algn="l">
              <a:spcBef>
                <a:spcPts val="180"/>
              </a:spcBef>
              <a:spcAft>
                <a:spcPts val="0"/>
              </a:spcAft>
              <a:buClr>
                <a:schemeClr val="dk1"/>
              </a:buClr>
              <a:buSzPts val="1800"/>
              <a:buChar char="•"/>
              <a:defRPr/>
            </a:lvl3pPr>
            <a:lvl4pPr marL="914446" lvl="3" indent="-171458" algn="l">
              <a:spcBef>
                <a:spcPts val="180"/>
              </a:spcBef>
              <a:spcAft>
                <a:spcPts val="0"/>
              </a:spcAft>
              <a:buClr>
                <a:schemeClr val="dk1"/>
              </a:buClr>
              <a:buSzPts val="1800"/>
              <a:buChar char="–"/>
              <a:defRPr/>
            </a:lvl4pPr>
            <a:lvl5pPr marL="1143057" lvl="4" indent="-171458" algn="l">
              <a:spcBef>
                <a:spcPts val="180"/>
              </a:spcBef>
              <a:spcAft>
                <a:spcPts val="0"/>
              </a:spcAft>
              <a:buClr>
                <a:schemeClr val="dk1"/>
              </a:buClr>
              <a:buSzPts val="1800"/>
              <a:buChar char="»"/>
              <a:defRPr/>
            </a:lvl5pPr>
            <a:lvl6pPr marL="1371668" lvl="5" indent="-171458" algn="l">
              <a:spcBef>
                <a:spcPts val="180"/>
              </a:spcBef>
              <a:spcAft>
                <a:spcPts val="0"/>
              </a:spcAft>
              <a:buClr>
                <a:schemeClr val="dk1"/>
              </a:buClr>
              <a:buSzPts val="1800"/>
              <a:buChar char="•"/>
              <a:defRPr/>
            </a:lvl6pPr>
            <a:lvl7pPr marL="1600280" lvl="6" indent="-171458" algn="l">
              <a:spcBef>
                <a:spcPts val="180"/>
              </a:spcBef>
              <a:spcAft>
                <a:spcPts val="0"/>
              </a:spcAft>
              <a:buClr>
                <a:schemeClr val="dk1"/>
              </a:buClr>
              <a:buSzPts val="1800"/>
              <a:buChar char="•"/>
              <a:defRPr/>
            </a:lvl7pPr>
            <a:lvl8pPr marL="1828892" lvl="7" indent="-171458" algn="l">
              <a:spcBef>
                <a:spcPts val="180"/>
              </a:spcBef>
              <a:spcAft>
                <a:spcPts val="0"/>
              </a:spcAft>
              <a:buClr>
                <a:schemeClr val="dk1"/>
              </a:buClr>
              <a:buSzPts val="1800"/>
              <a:buChar char="•"/>
              <a:defRPr/>
            </a:lvl8pPr>
            <a:lvl9pPr marL="2057503" lvl="8" indent="-171458" algn="l">
              <a:spcBef>
                <a:spcPts val="18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8044277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3FA82C02-2C4D-1F4D-851E-B56DA3E87832}"/>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2830BE5C-47B3-8640-86D1-69594D995278}"/>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9585972A-A66B-ED47-A758-27225C854381}"/>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4CE450D7-51B2-DC41-A285-84B90542AA55}" type="datetimeFigureOut">
              <a:rPr lang="it-IT" smtClean="0"/>
              <a:t>07/04/2026</a:t>
            </a:fld>
            <a:endParaRPr lang="it-IT"/>
          </a:p>
        </p:txBody>
      </p:sp>
      <p:sp>
        <p:nvSpPr>
          <p:cNvPr id="5" name="Segnaposto piè di pagina 4">
            <a:extLst>
              <a:ext uri="{FF2B5EF4-FFF2-40B4-BE49-F238E27FC236}">
                <a16:creationId xmlns:a16="http://schemas.microsoft.com/office/drawing/2014/main" id="{87CFA4B0-5065-6C44-81B0-58ACBBDA063C}"/>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it-IT"/>
          </a:p>
        </p:txBody>
      </p:sp>
      <p:sp>
        <p:nvSpPr>
          <p:cNvPr id="6" name="Segnaposto numero diapositiva 5">
            <a:extLst>
              <a:ext uri="{FF2B5EF4-FFF2-40B4-BE49-F238E27FC236}">
                <a16:creationId xmlns:a16="http://schemas.microsoft.com/office/drawing/2014/main" id="{6DE9C76E-E86C-AF43-9FF0-BF8CC7B7DD05}"/>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D5E9258-7551-F54F-B974-076C20A398B3}" type="slidenum">
              <a:rPr lang="it-IT" smtClean="0"/>
              <a:t>‹N›</a:t>
            </a:fld>
            <a:endParaRPr lang="it-IT"/>
          </a:p>
        </p:txBody>
      </p:sp>
    </p:spTree>
    <p:extLst>
      <p:ext uri="{BB962C8B-B14F-4D97-AF65-F5344CB8AC3E}">
        <p14:creationId xmlns:p14="http://schemas.microsoft.com/office/powerpoint/2010/main" val="3109977122"/>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it-IT"/>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28600" y="183092"/>
            <a:ext cx="4114800" cy="762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228600" y="1066801"/>
            <a:ext cx="4114800" cy="3017309"/>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228600" y="4237568"/>
            <a:ext cx="1066800" cy="243417"/>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1562100" y="4237568"/>
            <a:ext cx="1447800" cy="243417"/>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9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3276600" y="4237568"/>
            <a:ext cx="1066800" cy="243417"/>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600" b="0" i="0" u="none" strike="noStrike" cap="none">
                <a:solidFill>
                  <a:srgbClr val="888888"/>
                </a:solidFill>
                <a:latin typeface="Calibri"/>
                <a:ea typeface="Calibri"/>
                <a:cs typeface="Calibri"/>
                <a:sym typeface="Calibri"/>
              </a:defRPr>
            </a:lvl1pPr>
            <a:lvl2pPr marL="0" marR="0" lvl="1" indent="0" algn="r" rtl="0">
              <a:spcBef>
                <a:spcPts val="0"/>
              </a:spcBef>
              <a:buNone/>
              <a:defRPr sz="600" b="0" i="0" u="none" strike="noStrike" cap="none">
                <a:solidFill>
                  <a:srgbClr val="888888"/>
                </a:solidFill>
                <a:latin typeface="Calibri"/>
                <a:ea typeface="Calibri"/>
                <a:cs typeface="Calibri"/>
                <a:sym typeface="Calibri"/>
              </a:defRPr>
            </a:lvl2pPr>
            <a:lvl3pPr marL="0" marR="0" lvl="2" indent="0" algn="r" rtl="0">
              <a:spcBef>
                <a:spcPts val="0"/>
              </a:spcBef>
              <a:buNone/>
              <a:defRPr sz="600" b="0" i="0" u="none" strike="noStrike" cap="none">
                <a:solidFill>
                  <a:srgbClr val="888888"/>
                </a:solidFill>
                <a:latin typeface="Calibri"/>
                <a:ea typeface="Calibri"/>
                <a:cs typeface="Calibri"/>
                <a:sym typeface="Calibri"/>
              </a:defRPr>
            </a:lvl3pPr>
            <a:lvl4pPr marL="0" marR="0" lvl="3" indent="0" algn="r" rtl="0">
              <a:spcBef>
                <a:spcPts val="0"/>
              </a:spcBef>
              <a:buNone/>
              <a:defRPr sz="600" b="0" i="0" u="none" strike="noStrike" cap="none">
                <a:solidFill>
                  <a:srgbClr val="888888"/>
                </a:solidFill>
                <a:latin typeface="Calibri"/>
                <a:ea typeface="Calibri"/>
                <a:cs typeface="Calibri"/>
                <a:sym typeface="Calibri"/>
              </a:defRPr>
            </a:lvl4pPr>
            <a:lvl5pPr marL="0" marR="0" lvl="4" indent="0" algn="r" rtl="0">
              <a:spcBef>
                <a:spcPts val="0"/>
              </a:spcBef>
              <a:buNone/>
              <a:defRPr sz="600" b="0" i="0" u="none" strike="noStrike" cap="none">
                <a:solidFill>
                  <a:srgbClr val="888888"/>
                </a:solidFill>
                <a:latin typeface="Calibri"/>
                <a:ea typeface="Calibri"/>
                <a:cs typeface="Calibri"/>
                <a:sym typeface="Calibri"/>
              </a:defRPr>
            </a:lvl5pPr>
            <a:lvl6pPr marL="0" marR="0" lvl="5" indent="0" algn="r" rtl="0">
              <a:spcBef>
                <a:spcPts val="0"/>
              </a:spcBef>
              <a:buNone/>
              <a:defRPr sz="600" b="0" i="0" u="none" strike="noStrike" cap="none">
                <a:solidFill>
                  <a:srgbClr val="888888"/>
                </a:solidFill>
                <a:latin typeface="Calibri"/>
                <a:ea typeface="Calibri"/>
                <a:cs typeface="Calibri"/>
                <a:sym typeface="Calibri"/>
              </a:defRPr>
            </a:lvl6pPr>
            <a:lvl7pPr marL="0" marR="0" lvl="6" indent="0" algn="r" rtl="0">
              <a:spcBef>
                <a:spcPts val="0"/>
              </a:spcBef>
              <a:buNone/>
              <a:defRPr sz="600" b="0" i="0" u="none" strike="noStrike" cap="none">
                <a:solidFill>
                  <a:srgbClr val="888888"/>
                </a:solidFill>
                <a:latin typeface="Calibri"/>
                <a:ea typeface="Calibri"/>
                <a:cs typeface="Calibri"/>
                <a:sym typeface="Calibri"/>
              </a:defRPr>
            </a:lvl7pPr>
            <a:lvl8pPr marL="0" marR="0" lvl="7" indent="0" algn="r" rtl="0">
              <a:spcBef>
                <a:spcPts val="0"/>
              </a:spcBef>
              <a:buNone/>
              <a:defRPr sz="600" b="0" i="0" u="none" strike="noStrike" cap="none">
                <a:solidFill>
                  <a:srgbClr val="888888"/>
                </a:solidFill>
                <a:latin typeface="Calibri"/>
                <a:ea typeface="Calibri"/>
                <a:cs typeface="Calibri"/>
                <a:sym typeface="Calibri"/>
              </a:defRPr>
            </a:lvl8pPr>
            <a:lvl9pPr marL="0" marR="0" lvl="8" indent="0" algn="r" rtl="0">
              <a:spcBef>
                <a:spcPts val="0"/>
              </a:spcBef>
              <a:buNone/>
              <a:defRPr sz="600" b="0" i="0" u="none" strike="noStrike" cap="none">
                <a:solidFill>
                  <a:srgbClr val="888888"/>
                </a:solidFill>
                <a:latin typeface="Calibri"/>
                <a:ea typeface="Calibri"/>
                <a:cs typeface="Calibri"/>
                <a:sym typeface="Calibri"/>
              </a:defRPr>
            </a:lvl9pPr>
          </a:lstStyle>
          <a:p>
            <a:fld id="{00000000-1234-1234-1234-123412341234}" type="slidenum">
              <a:rPr lang="en-US" smtClean="0"/>
              <a:pPr/>
              <a:t>‹N›</a:t>
            </a:fld>
            <a:endParaRPr lang="en-US"/>
          </a:p>
        </p:txBody>
      </p:sp>
    </p:spTree>
    <p:extLst>
      <p:ext uri="{BB962C8B-B14F-4D97-AF65-F5344CB8AC3E}">
        <p14:creationId xmlns:p14="http://schemas.microsoft.com/office/powerpoint/2010/main" val="1663489699"/>
      </p:ext>
    </p:extLst>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7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4.xml"/><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2.xml"/><Relationship Id="rId1" Type="http://schemas.openxmlformats.org/officeDocument/2006/relationships/video" Target="https://www.youtube.com/embed/Nndoqcj0vNo"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slideLayout" Target="../slideLayouts/slideLayout12.xml"/><Relationship Id="rId1" Type="http://schemas.openxmlformats.org/officeDocument/2006/relationships/video" Target="https://www.youtube.com/embed/Ty5lFVuHuTU"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479EA"/>
        </a:solidFill>
        <a:effectLst/>
      </p:bgPr>
    </p:bg>
    <p:spTree>
      <p:nvGrpSpPr>
        <p:cNvPr id="1" name="Shape 83"/>
        <p:cNvGrpSpPr/>
        <p:nvPr/>
      </p:nvGrpSpPr>
      <p:grpSpPr>
        <a:xfrm>
          <a:off x="0" y="0"/>
          <a:ext cx="0" cy="0"/>
          <a:chOff x="0" y="0"/>
          <a:chExt cx="0" cy="0"/>
        </a:xfrm>
      </p:grpSpPr>
      <p:sp>
        <p:nvSpPr>
          <p:cNvPr id="84" name="Google Shape;84;p13"/>
          <p:cNvSpPr/>
          <p:nvPr/>
        </p:nvSpPr>
        <p:spPr>
          <a:xfrm>
            <a:off x="514350" y="1482961"/>
            <a:ext cx="2029975" cy="721763"/>
          </a:xfrm>
          <a:custGeom>
            <a:avLst/>
            <a:gdLst/>
            <a:ahLst/>
            <a:cxnLst/>
            <a:rect l="l" t="t" r="r" b="b"/>
            <a:pathLst>
              <a:path w="4059950" h="1443525" extrusionOk="0">
                <a:moveTo>
                  <a:pt x="0" y="0"/>
                </a:moveTo>
                <a:lnTo>
                  <a:pt x="4059950" y="0"/>
                </a:lnTo>
                <a:lnTo>
                  <a:pt x="4059950" y="1443525"/>
                </a:lnTo>
                <a:lnTo>
                  <a:pt x="0" y="1443525"/>
                </a:lnTo>
                <a:lnTo>
                  <a:pt x="0" y="0"/>
                </a:lnTo>
                <a:close/>
              </a:path>
            </a:pathLst>
          </a:custGeom>
          <a:blipFill rotWithShape="1">
            <a:blip r:embed="rId3">
              <a:alphaModFix/>
            </a:blip>
            <a:stretch>
              <a:fillRect b="-259"/>
            </a:stretch>
          </a:blipFill>
          <a:ln>
            <a:noFill/>
          </a:ln>
        </p:spPr>
      </p:sp>
      <p:pic>
        <p:nvPicPr>
          <p:cNvPr id="85" name="Google Shape;85;p13"/>
          <p:cNvPicPr preferRelativeResize="0"/>
          <p:nvPr/>
        </p:nvPicPr>
        <p:blipFill rotWithShape="1">
          <a:blip r:embed="rId4">
            <a:alphaModFix/>
          </a:blip>
          <a:srcRect/>
          <a:stretch/>
        </p:blipFill>
        <p:spPr>
          <a:xfrm>
            <a:off x="5825763" y="3143850"/>
            <a:ext cx="2803888" cy="2229091"/>
          </a:xfrm>
          <a:prstGeom prst="rect">
            <a:avLst/>
          </a:prstGeom>
          <a:noFill/>
          <a:ln>
            <a:noFill/>
          </a:ln>
        </p:spPr>
      </p:pic>
      <p:sp>
        <p:nvSpPr>
          <p:cNvPr id="86" name="Google Shape;86;p13"/>
          <p:cNvSpPr txBox="1"/>
          <p:nvPr/>
        </p:nvSpPr>
        <p:spPr>
          <a:xfrm>
            <a:off x="514350" y="3258471"/>
            <a:ext cx="3624493" cy="775597"/>
          </a:xfrm>
          <a:prstGeom prst="rect">
            <a:avLst/>
          </a:prstGeom>
          <a:noFill/>
          <a:ln>
            <a:noFill/>
          </a:ln>
        </p:spPr>
        <p:txBody>
          <a:bodyPr spcFirstLastPara="1" wrap="square" lIns="0" tIns="0" rIns="0" bIns="0" anchor="t" anchorCtr="0">
            <a:spAutoFit/>
          </a:bodyPr>
          <a:lstStyle/>
          <a:p>
            <a:pPr marL="0" marR="0" lvl="0" indent="0" algn="l" defTabSz="457223" rtl="0" eaLnBrk="1" fontAlgn="auto" latinLnBrk="0" hangingPunct="1">
              <a:lnSpc>
                <a:spcPct val="120000"/>
              </a:lnSpc>
              <a:spcBef>
                <a:spcPts val="0"/>
              </a:spcBef>
              <a:spcAft>
                <a:spcPts val="0"/>
              </a:spcAft>
              <a:buClr>
                <a:srgbClr val="000000"/>
              </a:buClr>
              <a:buSzTx/>
              <a:buFontTx/>
              <a:buNone/>
              <a:tabLst/>
              <a:defRPr/>
            </a:pPr>
            <a:r>
              <a:rPr kumimoji="0" lang="en-US" sz="4200" b="1" i="0" u="none" strike="noStrike" kern="0" cap="none" spc="0" normalizeH="0" baseline="0" noProof="0" dirty="0">
                <a:ln>
                  <a:noFill/>
                </a:ln>
                <a:solidFill>
                  <a:srgbClr val="FFFFFF"/>
                </a:solidFill>
                <a:effectLst/>
                <a:uLnTx/>
                <a:uFillTx/>
                <a:latin typeface="Poppins SemiBold"/>
                <a:ea typeface="Poppins SemiBold"/>
                <a:cs typeface="Poppins SemiBold"/>
                <a:sym typeface="Poppins SemiBold"/>
              </a:rPr>
              <a:t>Corso EOA</a:t>
            </a:r>
            <a:endParaRPr kumimoji="0" sz="7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87" name="Google Shape;87;p13"/>
          <p:cNvSpPr txBox="1"/>
          <p:nvPr/>
        </p:nvSpPr>
        <p:spPr>
          <a:xfrm>
            <a:off x="2689059" y="1534035"/>
            <a:ext cx="2363986" cy="247760"/>
          </a:xfrm>
          <a:prstGeom prst="rect">
            <a:avLst/>
          </a:prstGeom>
          <a:noFill/>
          <a:ln>
            <a:noFill/>
          </a:ln>
        </p:spPr>
        <p:txBody>
          <a:bodyPr spcFirstLastPara="1" wrap="square" lIns="0" tIns="0" rIns="0" bIns="0" anchor="t" anchorCtr="0">
            <a:spAutoFit/>
          </a:bodyPr>
          <a:lstStyle/>
          <a:p>
            <a:pPr marL="0" marR="0" lvl="0" indent="0" algn="l" defTabSz="457223" rtl="0" eaLnBrk="1" fontAlgn="auto" latinLnBrk="0" hangingPunct="1">
              <a:lnSpc>
                <a:spcPct val="161030"/>
              </a:lnSpc>
              <a:spcBef>
                <a:spcPts val="0"/>
              </a:spcBef>
              <a:spcAft>
                <a:spcPts val="0"/>
              </a:spcAft>
              <a:buClr>
                <a:srgbClr val="000000"/>
              </a:buClr>
              <a:buSzTx/>
              <a:buFontTx/>
              <a:buNone/>
              <a:tabLst/>
              <a:defRPr/>
            </a:pPr>
            <a:r>
              <a:rPr kumimoji="0" lang="en-US" sz="1000" b="1" i="0" u="none" strike="noStrike" kern="0" cap="none" spc="0" normalizeH="0" baseline="0" noProof="0" dirty="0">
                <a:ln>
                  <a:noFill/>
                </a:ln>
                <a:solidFill>
                  <a:srgbClr val="FFFFFF"/>
                </a:solidFill>
                <a:effectLst/>
                <a:uLnTx/>
                <a:uFillTx/>
                <a:latin typeface="Poppins"/>
                <a:ea typeface="Poppins"/>
                <a:cs typeface="Poppins"/>
                <a:sym typeface="Poppins"/>
              </a:rPr>
              <a:t>LAUREA TRIENNALE IN INFORMATICA </a:t>
            </a:r>
            <a:endParaRPr kumimoji="0" sz="7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88" name="Google Shape;88;p13"/>
          <p:cNvSpPr txBox="1"/>
          <p:nvPr/>
        </p:nvSpPr>
        <p:spPr>
          <a:xfrm>
            <a:off x="515759" y="4004430"/>
            <a:ext cx="3355293" cy="443198"/>
          </a:xfrm>
          <a:prstGeom prst="rect">
            <a:avLst/>
          </a:prstGeom>
          <a:noFill/>
          <a:ln>
            <a:noFill/>
          </a:ln>
        </p:spPr>
        <p:txBody>
          <a:bodyPr spcFirstLastPara="1" wrap="square" lIns="0" tIns="0" rIns="0" bIns="0" anchor="t" anchorCtr="0">
            <a:spAutoFit/>
          </a:bodyPr>
          <a:lstStyle/>
          <a:p>
            <a:pPr marL="0" marR="0" lvl="0" indent="0" algn="l" defTabSz="457223" rtl="0" eaLnBrk="1" fontAlgn="auto" latinLnBrk="0" hangingPunct="1">
              <a:lnSpc>
                <a:spcPct val="120010"/>
              </a:lnSpc>
              <a:spcBef>
                <a:spcPts val="0"/>
              </a:spcBef>
              <a:spcAft>
                <a:spcPts val="0"/>
              </a:spcAft>
              <a:buClr>
                <a:srgbClr val="000000"/>
              </a:buClr>
              <a:buSzTx/>
              <a:buFontTx/>
              <a:buNone/>
              <a:tabLst/>
              <a:defRPr/>
            </a:pPr>
            <a:r>
              <a:rPr kumimoji="0" lang="en-US" sz="1400" b="1" i="0" u="none" strike="noStrike" kern="0" cap="none" spc="0" normalizeH="0" baseline="0" noProof="0" dirty="0">
                <a:ln>
                  <a:noFill/>
                </a:ln>
                <a:solidFill>
                  <a:srgbClr val="FFFFFF"/>
                </a:solidFill>
                <a:effectLst/>
                <a:uLnTx/>
                <a:uFillTx/>
                <a:latin typeface="Poppins"/>
                <a:ea typeface="Poppins"/>
                <a:cs typeface="Poppins"/>
                <a:sym typeface="Poppins"/>
              </a:rPr>
              <a:t>Prof. Giuseppe </a:t>
            </a:r>
            <a:r>
              <a:rPr kumimoji="0" lang="en-US" sz="1400" b="1" i="0" u="none" strike="noStrike" kern="0" cap="none" spc="0" normalizeH="0" baseline="0" noProof="0" dirty="0" err="1">
                <a:ln>
                  <a:noFill/>
                </a:ln>
                <a:solidFill>
                  <a:srgbClr val="FFFFFF"/>
                </a:solidFill>
                <a:effectLst/>
                <a:uLnTx/>
                <a:uFillTx/>
                <a:latin typeface="Poppins"/>
                <a:ea typeface="Poppins"/>
                <a:cs typeface="Poppins"/>
                <a:sym typeface="Poppins"/>
              </a:rPr>
              <a:t>Piccirillo</a:t>
            </a:r>
            <a:endParaRPr kumimoji="0" sz="10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457223" rtl="0" eaLnBrk="1" fontAlgn="auto" latinLnBrk="0" hangingPunct="1">
              <a:lnSpc>
                <a:spcPct val="120010"/>
              </a:lnSpc>
              <a:spcBef>
                <a:spcPts val="0"/>
              </a:spcBef>
              <a:spcAft>
                <a:spcPts val="0"/>
              </a:spcAft>
              <a:buClr>
                <a:srgbClr val="000000"/>
              </a:buClr>
              <a:buSzTx/>
              <a:buFontTx/>
              <a:buNone/>
              <a:tabLst/>
              <a:defRPr/>
            </a:pPr>
            <a:endParaRPr kumimoji="0" sz="1000" b="1" i="0" u="none" strike="noStrike" kern="0" cap="none" spc="0" normalizeH="0" baseline="0" noProof="0" dirty="0">
              <a:ln>
                <a:noFill/>
              </a:ln>
              <a:solidFill>
                <a:srgbClr val="FFFFFF"/>
              </a:solidFill>
              <a:effectLst/>
              <a:uLnTx/>
              <a:uFillTx/>
              <a:latin typeface="Poppins"/>
              <a:ea typeface="Poppins"/>
              <a:cs typeface="Poppins"/>
              <a:sym typeface="Poppins"/>
            </a:endParaRPr>
          </a:p>
        </p:txBody>
      </p:sp>
      <p:sp>
        <p:nvSpPr>
          <p:cNvPr id="89" name="Google Shape;89;p13"/>
          <p:cNvSpPr txBox="1"/>
          <p:nvPr/>
        </p:nvSpPr>
        <p:spPr>
          <a:xfrm>
            <a:off x="5225617" y="1576898"/>
            <a:ext cx="2770550" cy="369332"/>
          </a:xfrm>
          <a:prstGeom prst="rect">
            <a:avLst/>
          </a:prstGeom>
          <a:noFill/>
          <a:ln>
            <a:noFill/>
          </a:ln>
        </p:spPr>
        <p:txBody>
          <a:bodyPr spcFirstLastPara="1" wrap="square" lIns="0" tIns="0" rIns="0" bIns="0" anchor="t" anchorCtr="0">
            <a:spAutoFit/>
          </a:bodyPr>
          <a:lstStyle/>
          <a:p>
            <a:pPr marL="0" marR="0" lvl="0" indent="0" algn="l" defTabSz="457223" rtl="0" eaLnBrk="1" fontAlgn="auto" latinLnBrk="0" hangingPunct="1">
              <a:lnSpc>
                <a:spcPct val="120010"/>
              </a:lnSpc>
              <a:spcBef>
                <a:spcPts val="0"/>
              </a:spcBef>
              <a:spcAft>
                <a:spcPts val="0"/>
              </a:spcAft>
              <a:buClr>
                <a:srgbClr val="000000"/>
              </a:buClr>
              <a:buSzTx/>
              <a:buFontTx/>
              <a:buNone/>
              <a:tabLst/>
              <a:defRPr/>
            </a:pPr>
            <a:r>
              <a:rPr kumimoji="0" lang="en-US" sz="1000" b="1" i="0" u="none" strike="noStrike" kern="0" cap="none" spc="0" normalizeH="0" baseline="0" noProof="0" dirty="0">
                <a:ln>
                  <a:noFill/>
                </a:ln>
                <a:solidFill>
                  <a:srgbClr val="FFFFFF"/>
                </a:solidFill>
                <a:effectLst/>
                <a:uLnTx/>
                <a:uFillTx/>
                <a:latin typeface="Poppins"/>
                <a:ea typeface="Poppins"/>
                <a:cs typeface="Poppins"/>
                <a:sym typeface="Poppins"/>
              </a:rPr>
              <a:t>CORSO II SEMESTRE</a:t>
            </a:r>
            <a:endParaRPr kumimoji="0" sz="7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457223" rtl="0" eaLnBrk="1" fontAlgn="auto" latinLnBrk="0" hangingPunct="1">
              <a:lnSpc>
                <a:spcPct val="120010"/>
              </a:lnSpc>
              <a:spcBef>
                <a:spcPts val="0"/>
              </a:spcBef>
              <a:spcAft>
                <a:spcPts val="0"/>
              </a:spcAft>
              <a:buClr>
                <a:srgbClr val="000000"/>
              </a:buClr>
              <a:buSzTx/>
              <a:buFontTx/>
              <a:buNone/>
              <a:tabLst/>
              <a:defRPr/>
            </a:pPr>
            <a:r>
              <a:rPr kumimoji="0" lang="en-US" sz="1000" b="1" i="0" u="none" strike="noStrike" kern="0" cap="none" spc="0" normalizeH="0" baseline="0" noProof="0">
                <a:ln>
                  <a:noFill/>
                </a:ln>
                <a:solidFill>
                  <a:srgbClr val="FFFFFF"/>
                </a:solidFill>
                <a:effectLst/>
                <a:uLnTx/>
                <a:uFillTx/>
                <a:latin typeface="Poppins"/>
                <a:ea typeface="Poppins"/>
                <a:cs typeface="Poppins"/>
                <a:sym typeface="Poppins"/>
              </a:rPr>
              <a:t>2025 - 2026</a:t>
            </a:r>
            <a:endParaRPr kumimoji="0" sz="7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91" name="Google Shape;91;p13"/>
          <p:cNvSpPr txBox="1"/>
          <p:nvPr/>
        </p:nvSpPr>
        <p:spPr>
          <a:xfrm>
            <a:off x="514350" y="2697341"/>
            <a:ext cx="7593594" cy="276871"/>
          </a:xfrm>
          <a:prstGeom prst="rect">
            <a:avLst/>
          </a:prstGeom>
          <a:noFill/>
          <a:ln>
            <a:noFill/>
          </a:ln>
        </p:spPr>
        <p:txBody>
          <a:bodyPr spcFirstLastPara="1" wrap="square" lIns="0" tIns="0" rIns="0" bIns="0" anchor="t" anchorCtr="0">
            <a:spAutoFit/>
          </a:bodyPr>
          <a:lstStyle/>
          <a:p>
            <a:pPr marL="0" marR="0" lvl="0" indent="0" algn="l" defTabSz="457223" rtl="0" eaLnBrk="1" fontAlgn="auto" latinLnBrk="0" hangingPunct="1">
              <a:lnSpc>
                <a:spcPct val="120006"/>
              </a:lnSpc>
              <a:spcBef>
                <a:spcPts val="0"/>
              </a:spcBef>
              <a:spcAft>
                <a:spcPts val="0"/>
              </a:spcAft>
              <a:buClr>
                <a:srgbClr val="000000"/>
              </a:buClr>
              <a:buSzTx/>
              <a:buFontTx/>
              <a:buNone/>
              <a:tabLst/>
              <a:defRPr/>
            </a:pPr>
            <a:r>
              <a:rPr kumimoji="0" lang="en-US" sz="1499" b="1" i="0" u="none" strike="noStrike" kern="0" cap="none" spc="0" normalizeH="0" baseline="0" noProof="0" dirty="0">
                <a:ln>
                  <a:noFill/>
                </a:ln>
                <a:solidFill>
                  <a:srgbClr val="FFFFFF"/>
                </a:solidFill>
                <a:effectLst/>
                <a:uLnTx/>
                <a:uFillTx/>
                <a:latin typeface="Poppins"/>
                <a:ea typeface="Poppins"/>
                <a:cs typeface="Poppins"/>
                <a:sym typeface="Poppins"/>
              </a:rPr>
              <a:t>LEZIONE. </a:t>
            </a:r>
            <a:r>
              <a:rPr lang="en-US" sz="1499" b="1" dirty="0">
                <a:solidFill>
                  <a:srgbClr val="FFFFFF"/>
                </a:solidFill>
                <a:latin typeface="Poppins"/>
                <a:ea typeface="Poppins"/>
                <a:cs typeface="Poppins"/>
                <a:sym typeface="Poppins"/>
              </a:rPr>
              <a:t>4</a:t>
            </a:r>
            <a:r>
              <a:rPr kumimoji="0" lang="en-US" sz="1499" b="1" i="0" u="none" strike="noStrike" kern="0" cap="none" spc="0" normalizeH="0" baseline="0" noProof="0" dirty="0">
                <a:ln>
                  <a:noFill/>
                </a:ln>
                <a:solidFill>
                  <a:srgbClr val="FFFFFF"/>
                </a:solidFill>
                <a:effectLst/>
                <a:uLnTx/>
                <a:uFillTx/>
                <a:latin typeface="Poppins"/>
                <a:ea typeface="Poppins"/>
                <a:cs typeface="Poppins"/>
                <a:sym typeface="Poppins"/>
              </a:rPr>
              <a:t> -  LE STRATEGIE Di IMPRESA</a:t>
            </a:r>
            <a:endParaRPr kumimoji="0" sz="700" b="0" i="0" u="none" strike="noStrike" kern="0" cap="none" spc="0" normalizeH="0" baseline="0" noProof="0" dirty="0">
              <a:ln>
                <a:noFill/>
              </a:ln>
              <a:solidFill>
                <a:srgbClr val="000000"/>
              </a:solidFill>
              <a:effectLst/>
              <a:uLnTx/>
              <a:uFillTx/>
              <a:latin typeface="Arial"/>
              <a:ea typeface="+mn-ea"/>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4EA21A89-D74D-4540-A5AD-5D40743B935C}"/>
              </a:ext>
            </a:extLst>
          </p:cNvPr>
          <p:cNvSpPr/>
          <p:nvPr/>
        </p:nvSpPr>
        <p:spPr>
          <a:xfrm>
            <a:off x="304798" y="1022349"/>
            <a:ext cx="8444753" cy="1815882"/>
          </a:xfrm>
          <a:prstGeom prst="rect">
            <a:avLst/>
          </a:prstGeom>
        </p:spPr>
        <p:txBody>
          <a:bodyPr wrap="square">
            <a:spAutoFit/>
          </a:bodyPr>
          <a:lstStyle/>
          <a:p>
            <a:pPr algn="just"/>
            <a:r>
              <a:rPr lang="it-IT" sz="1600" i="1" dirty="0"/>
              <a:t>C’erano una volta due presidenti di società concorrenti nello stesso settore. Questi due presidenti decisero di andare in campeggio per discutere di una possibile fusione. Fecero un’escursione nel bosco. Improvvisamente, incontrarono un orso grizzly che si sollevò sulle zampe posteriori e ringhiò. Immediatamente, il primo presidente si tolse lo zaino e tirò fuori un paio di scarpe da jogging. Il secondo presidente disse: "Ehi, non puoi correre più di quell'orso". Il primo presidente rispose: "Forse non posso correre più veloce di quell'orso, ma sicuramente posso correre più veloce di te!"</a:t>
            </a:r>
          </a:p>
        </p:txBody>
      </p:sp>
      <p:sp>
        <p:nvSpPr>
          <p:cNvPr id="5" name="Rettangolo 4">
            <a:extLst>
              <a:ext uri="{FF2B5EF4-FFF2-40B4-BE49-F238E27FC236}">
                <a16:creationId xmlns:a16="http://schemas.microsoft.com/office/drawing/2014/main" id="{13D41CFD-6C34-433F-8ECD-7E66A0C1B92A}"/>
              </a:ext>
            </a:extLst>
          </p:cNvPr>
          <p:cNvSpPr/>
          <p:nvPr/>
        </p:nvSpPr>
        <p:spPr>
          <a:xfrm>
            <a:off x="155299" y="343653"/>
            <a:ext cx="8845268" cy="584775"/>
          </a:xfrm>
          <a:prstGeom prst="rect">
            <a:avLst/>
          </a:prstGeom>
        </p:spPr>
        <p:txBody>
          <a:bodyPr wrap="square">
            <a:spAutoFit/>
          </a:bodyPr>
          <a:lstStyle/>
          <a:p>
            <a:r>
              <a:rPr lang="it-IT" sz="3200" b="1" dirty="0"/>
              <a:t>Pensi di poter correre più veloce di un orso? </a:t>
            </a:r>
          </a:p>
        </p:txBody>
      </p:sp>
      <p:sp>
        <p:nvSpPr>
          <p:cNvPr id="6" name="Rettangolo 5">
            <a:extLst>
              <a:ext uri="{FF2B5EF4-FFF2-40B4-BE49-F238E27FC236}">
                <a16:creationId xmlns:a16="http://schemas.microsoft.com/office/drawing/2014/main" id="{E5DA4A79-70C4-4004-8967-CFB3856C5E6E}"/>
              </a:ext>
            </a:extLst>
          </p:cNvPr>
          <p:cNvSpPr/>
          <p:nvPr/>
        </p:nvSpPr>
        <p:spPr>
          <a:xfrm>
            <a:off x="439269" y="5939736"/>
            <a:ext cx="8265457" cy="646331"/>
          </a:xfrm>
          <a:prstGeom prst="rect">
            <a:avLst/>
          </a:prstGeom>
        </p:spPr>
        <p:txBody>
          <a:bodyPr wrap="square">
            <a:spAutoFit/>
          </a:bodyPr>
          <a:lstStyle/>
          <a:p>
            <a:pPr algn="just"/>
            <a:r>
              <a:rPr lang="it-IT" sz="1800" b="1" dirty="0"/>
              <a:t>Questa storia cattura la nozione di gestione strategica, che è quella di raggiungere e mantenere un vantaggio competitivo.</a:t>
            </a:r>
          </a:p>
        </p:txBody>
      </p:sp>
      <p:grpSp>
        <p:nvGrpSpPr>
          <p:cNvPr id="9" name="Gruppo 8">
            <a:extLst>
              <a:ext uri="{FF2B5EF4-FFF2-40B4-BE49-F238E27FC236}">
                <a16:creationId xmlns:a16="http://schemas.microsoft.com/office/drawing/2014/main" id="{6226EB0A-C160-443E-A218-C7BC67B715B5}"/>
              </a:ext>
            </a:extLst>
          </p:cNvPr>
          <p:cNvGrpSpPr/>
          <p:nvPr/>
        </p:nvGrpSpPr>
        <p:grpSpPr>
          <a:xfrm>
            <a:off x="1945340" y="2838231"/>
            <a:ext cx="5378825" cy="3025773"/>
            <a:chOff x="1945340" y="2838231"/>
            <a:chExt cx="5378825" cy="3025773"/>
          </a:xfrm>
        </p:grpSpPr>
        <p:pic>
          <p:nvPicPr>
            <p:cNvPr id="7" name="Immagine 6">
              <a:extLst>
                <a:ext uri="{FF2B5EF4-FFF2-40B4-BE49-F238E27FC236}">
                  <a16:creationId xmlns:a16="http://schemas.microsoft.com/office/drawing/2014/main" id="{B5BBE0E7-0477-4AFB-B022-EC43FE109AD2}"/>
                </a:ext>
              </a:extLst>
            </p:cNvPr>
            <p:cNvPicPr>
              <a:picLocks noChangeAspect="1"/>
            </p:cNvPicPr>
            <p:nvPr/>
          </p:nvPicPr>
          <p:blipFill rotWithShape="1">
            <a:blip r:embed="rId2"/>
            <a:srcRect l="53627" t="53823" r="10000" b="10872"/>
            <a:stretch/>
          </p:blipFill>
          <p:spPr>
            <a:xfrm>
              <a:off x="1945340" y="2995790"/>
              <a:ext cx="5253317" cy="2868214"/>
            </a:xfrm>
            <a:prstGeom prst="rect">
              <a:avLst/>
            </a:prstGeom>
          </p:spPr>
        </p:pic>
        <p:sp>
          <p:nvSpPr>
            <p:cNvPr id="8" name="Ovale 7">
              <a:extLst>
                <a:ext uri="{FF2B5EF4-FFF2-40B4-BE49-F238E27FC236}">
                  <a16:creationId xmlns:a16="http://schemas.microsoft.com/office/drawing/2014/main" id="{6C37769E-89C6-4AEC-AAAA-2775F7857510}"/>
                </a:ext>
              </a:extLst>
            </p:cNvPr>
            <p:cNvSpPr/>
            <p:nvPr/>
          </p:nvSpPr>
          <p:spPr>
            <a:xfrm>
              <a:off x="6804212" y="2838231"/>
              <a:ext cx="519953" cy="47871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grpSp>
    </p:spTree>
    <p:extLst>
      <p:ext uri="{BB962C8B-B14F-4D97-AF65-F5344CB8AC3E}">
        <p14:creationId xmlns:p14="http://schemas.microsoft.com/office/powerpoint/2010/main" val="22800290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E913408C-64C8-41FC-AEB5-892DEB3F21DD}"/>
              </a:ext>
            </a:extLst>
          </p:cNvPr>
          <p:cNvSpPr/>
          <p:nvPr/>
        </p:nvSpPr>
        <p:spPr>
          <a:xfrm>
            <a:off x="555812" y="346628"/>
            <a:ext cx="8139953" cy="2554545"/>
          </a:xfrm>
          <a:prstGeom prst="rect">
            <a:avLst/>
          </a:prstGeom>
        </p:spPr>
        <p:txBody>
          <a:bodyPr wrap="square">
            <a:spAutoFit/>
          </a:bodyPr>
          <a:lstStyle/>
          <a:p>
            <a:pPr algn="just"/>
            <a:r>
              <a:rPr lang="it-IT" sz="3200" dirty="0"/>
              <a:t>«La </a:t>
            </a:r>
            <a:r>
              <a:rPr lang="it-IT" sz="3200" b="1" dirty="0"/>
              <a:t>strategia</a:t>
            </a:r>
            <a:r>
              <a:rPr lang="it-IT" sz="3200" dirty="0"/>
              <a:t> è il compito principale delle organizzazioni. In situazioni di vita o di morte è il tao della sopravvivenza o dell’ estinzione. Il suo studio non può essere accantonato».</a:t>
            </a:r>
          </a:p>
        </p:txBody>
      </p:sp>
      <p:sp>
        <p:nvSpPr>
          <p:cNvPr id="5" name="Rettangolo 4">
            <a:extLst>
              <a:ext uri="{FF2B5EF4-FFF2-40B4-BE49-F238E27FC236}">
                <a16:creationId xmlns:a16="http://schemas.microsoft.com/office/drawing/2014/main" id="{69C66CF0-EBD5-4C60-BC50-DE872C0F9E71}"/>
              </a:ext>
            </a:extLst>
          </p:cNvPr>
          <p:cNvSpPr/>
          <p:nvPr/>
        </p:nvSpPr>
        <p:spPr>
          <a:xfrm>
            <a:off x="3630705" y="3956828"/>
            <a:ext cx="4652683" cy="523220"/>
          </a:xfrm>
          <a:prstGeom prst="rect">
            <a:avLst/>
          </a:prstGeom>
        </p:spPr>
        <p:txBody>
          <a:bodyPr wrap="square">
            <a:spAutoFit/>
          </a:bodyPr>
          <a:lstStyle/>
          <a:p>
            <a:r>
              <a:rPr lang="it-IT" sz="2800" i="1" dirty="0" err="1"/>
              <a:t>Sun</a:t>
            </a:r>
            <a:r>
              <a:rPr lang="it-IT" sz="2800" i="1" dirty="0"/>
              <a:t> </a:t>
            </a:r>
            <a:r>
              <a:rPr lang="it-IT" sz="2800" i="1" dirty="0" err="1"/>
              <a:t>Tzu</a:t>
            </a:r>
            <a:r>
              <a:rPr lang="it-IT" sz="2800" i="1" dirty="0"/>
              <a:t>, L’arte della guerra</a:t>
            </a:r>
          </a:p>
        </p:txBody>
      </p:sp>
      <p:pic>
        <p:nvPicPr>
          <p:cNvPr id="6" name="Immagine 5">
            <a:extLst>
              <a:ext uri="{FF2B5EF4-FFF2-40B4-BE49-F238E27FC236}">
                <a16:creationId xmlns:a16="http://schemas.microsoft.com/office/drawing/2014/main" id="{3641C48F-7904-4C77-A4CE-EF40FB945BA2}"/>
              </a:ext>
            </a:extLst>
          </p:cNvPr>
          <p:cNvPicPr>
            <a:picLocks noChangeAspect="1"/>
          </p:cNvPicPr>
          <p:nvPr/>
        </p:nvPicPr>
        <p:blipFill>
          <a:blip r:embed="rId2"/>
          <a:stretch>
            <a:fillRect/>
          </a:stretch>
        </p:blipFill>
        <p:spPr>
          <a:xfrm>
            <a:off x="860612" y="3016004"/>
            <a:ext cx="2259108" cy="3624783"/>
          </a:xfrm>
          <a:prstGeom prst="rect">
            <a:avLst/>
          </a:prstGeom>
        </p:spPr>
      </p:pic>
    </p:spTree>
    <p:extLst>
      <p:ext uri="{BB962C8B-B14F-4D97-AF65-F5344CB8AC3E}">
        <p14:creationId xmlns:p14="http://schemas.microsoft.com/office/powerpoint/2010/main" val="22187750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1D709CED-1020-4F60-AADC-EC9D231478F7}"/>
              </a:ext>
            </a:extLst>
          </p:cNvPr>
          <p:cNvSpPr/>
          <p:nvPr/>
        </p:nvSpPr>
        <p:spPr>
          <a:xfrm>
            <a:off x="171071" y="1267774"/>
            <a:ext cx="8801857" cy="3693319"/>
          </a:xfrm>
          <a:prstGeom prst="rect">
            <a:avLst/>
          </a:prstGeom>
        </p:spPr>
        <p:txBody>
          <a:bodyPr wrap="square">
            <a:spAutoFit/>
          </a:bodyPr>
          <a:lstStyle/>
          <a:p>
            <a:pPr algn="just"/>
            <a:r>
              <a:rPr lang="it-IT" sz="2600" dirty="0"/>
              <a:t>• Compito della strategia di business è determinare come l’impresa dovrà impiegare le risorse all’interno del proprio ambiente di riferimento per soddisfare i propri obiettivi di lungo termine e come dovrà organizzarsi per realizzare tale strategia. </a:t>
            </a:r>
          </a:p>
          <a:p>
            <a:pPr algn="just"/>
            <a:r>
              <a:rPr lang="it-IT" sz="2600" dirty="0"/>
              <a:t>• Per avere successo la strategia deve essere </a:t>
            </a:r>
            <a:r>
              <a:rPr lang="it-IT" sz="2600" b="1" dirty="0"/>
              <a:t>COERENTE</a:t>
            </a:r>
            <a:r>
              <a:rPr lang="it-IT" sz="2600" dirty="0"/>
              <a:t> sia con le caratteristiche dell’ambiente esterno dell’impresa, sia con quelle del suo ambiente interno. </a:t>
            </a:r>
          </a:p>
        </p:txBody>
      </p:sp>
      <p:sp>
        <p:nvSpPr>
          <p:cNvPr id="5" name="Rettangolo 4">
            <a:extLst>
              <a:ext uri="{FF2B5EF4-FFF2-40B4-BE49-F238E27FC236}">
                <a16:creationId xmlns:a16="http://schemas.microsoft.com/office/drawing/2014/main" id="{377A1B64-9786-43FF-BF64-D9A9293D0B76}"/>
              </a:ext>
            </a:extLst>
          </p:cNvPr>
          <p:cNvSpPr/>
          <p:nvPr/>
        </p:nvSpPr>
        <p:spPr>
          <a:xfrm>
            <a:off x="804571" y="465746"/>
            <a:ext cx="7925568" cy="584775"/>
          </a:xfrm>
          <a:prstGeom prst="rect">
            <a:avLst/>
          </a:prstGeom>
        </p:spPr>
        <p:txBody>
          <a:bodyPr wrap="none">
            <a:spAutoFit/>
          </a:bodyPr>
          <a:lstStyle/>
          <a:p>
            <a:r>
              <a:rPr lang="it-IT" sz="3200" b="1" dirty="0"/>
              <a:t>Schema di base per l’analisi strategica. </a:t>
            </a:r>
          </a:p>
        </p:txBody>
      </p:sp>
      <p:sp>
        <p:nvSpPr>
          <p:cNvPr id="6" name="Rettangolo 5">
            <a:extLst>
              <a:ext uri="{FF2B5EF4-FFF2-40B4-BE49-F238E27FC236}">
                <a16:creationId xmlns:a16="http://schemas.microsoft.com/office/drawing/2014/main" id="{830A352C-14CA-464A-97B4-574931863FCE}"/>
              </a:ext>
            </a:extLst>
          </p:cNvPr>
          <p:cNvSpPr/>
          <p:nvPr/>
        </p:nvSpPr>
        <p:spPr>
          <a:xfrm>
            <a:off x="171071" y="5178346"/>
            <a:ext cx="8695023" cy="1015663"/>
          </a:xfrm>
          <a:prstGeom prst="rect">
            <a:avLst/>
          </a:prstGeom>
        </p:spPr>
        <p:txBody>
          <a:bodyPr wrap="square">
            <a:spAutoFit/>
          </a:bodyPr>
          <a:lstStyle/>
          <a:p>
            <a:pPr algn="just"/>
            <a:r>
              <a:rPr lang="it-IT" sz="2000" b="1" dirty="0"/>
              <a:t>La mancanza di coerenza tra la strategia perseguita da un’impresa e gli ambienti di riferimento esterni ed interni è una causa frequente d’insuccesso.</a:t>
            </a:r>
          </a:p>
        </p:txBody>
      </p:sp>
    </p:spTree>
    <p:extLst>
      <p:ext uri="{BB962C8B-B14F-4D97-AF65-F5344CB8AC3E}">
        <p14:creationId xmlns:p14="http://schemas.microsoft.com/office/powerpoint/2010/main" val="36803421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62911C1F-C7CE-41DB-AF3E-69E31F1C82B8}"/>
              </a:ext>
            </a:extLst>
          </p:cNvPr>
          <p:cNvSpPr/>
          <p:nvPr/>
        </p:nvSpPr>
        <p:spPr>
          <a:xfrm>
            <a:off x="368796" y="1830633"/>
            <a:ext cx="8339667" cy="2492990"/>
          </a:xfrm>
          <a:prstGeom prst="rect">
            <a:avLst/>
          </a:prstGeom>
        </p:spPr>
        <p:txBody>
          <a:bodyPr wrap="square">
            <a:spAutoFit/>
          </a:bodyPr>
          <a:lstStyle/>
          <a:p>
            <a:pPr algn="just"/>
            <a:r>
              <a:rPr lang="it-IT" sz="2600" dirty="0"/>
              <a:t>Le imprese necessitano delle strategie per ragioni simili a quelle degli eserciti militari: </a:t>
            </a:r>
          </a:p>
          <a:p>
            <a:pPr marL="514350" indent="-514350" algn="just">
              <a:buFont typeface="+mj-lt"/>
              <a:buAutoNum type="alphaLcParenR"/>
            </a:pPr>
            <a:r>
              <a:rPr lang="it-IT" sz="2600" dirty="0"/>
              <a:t>darsi una linea di condotta ed uno scopo; </a:t>
            </a:r>
          </a:p>
          <a:p>
            <a:pPr marL="514350" indent="-514350" algn="just">
              <a:buFont typeface="+mj-lt"/>
              <a:buAutoNum type="alphaLcParenR"/>
            </a:pPr>
            <a:r>
              <a:rPr lang="it-IT" sz="2600" dirty="0"/>
              <a:t>impiegare le risorse nella maniera più efficace; </a:t>
            </a:r>
          </a:p>
          <a:p>
            <a:pPr marL="514350" indent="-514350" algn="just">
              <a:buFont typeface="+mj-lt"/>
              <a:buAutoNum type="alphaLcParenR"/>
            </a:pPr>
            <a:r>
              <a:rPr lang="it-IT" sz="2600" dirty="0"/>
              <a:t>coordinare il flusso delle decisioni prese dai diversi membri dell’organizzazione.</a:t>
            </a:r>
          </a:p>
        </p:txBody>
      </p:sp>
      <p:sp>
        <p:nvSpPr>
          <p:cNvPr id="5" name="Rettangolo 4">
            <a:extLst>
              <a:ext uri="{FF2B5EF4-FFF2-40B4-BE49-F238E27FC236}">
                <a16:creationId xmlns:a16="http://schemas.microsoft.com/office/drawing/2014/main" id="{C281CD81-C391-4506-9CE3-0B9021CAD35C}"/>
              </a:ext>
            </a:extLst>
          </p:cNvPr>
          <p:cNvSpPr/>
          <p:nvPr/>
        </p:nvSpPr>
        <p:spPr>
          <a:xfrm>
            <a:off x="292115" y="351746"/>
            <a:ext cx="6417141" cy="954107"/>
          </a:xfrm>
          <a:prstGeom prst="rect">
            <a:avLst/>
          </a:prstGeom>
        </p:spPr>
        <p:txBody>
          <a:bodyPr wrap="none">
            <a:spAutoFit/>
          </a:bodyPr>
          <a:lstStyle/>
          <a:p>
            <a:r>
              <a:rPr lang="it-IT" sz="3200" b="1" dirty="0"/>
              <a:t>Studi sulle strategie di impresa.</a:t>
            </a:r>
          </a:p>
          <a:p>
            <a:r>
              <a:rPr lang="it-IT" sz="2400" b="1" dirty="0"/>
              <a:t>Le origini e gli studi sulle strategie militari.</a:t>
            </a:r>
          </a:p>
        </p:txBody>
      </p:sp>
      <p:sp>
        <p:nvSpPr>
          <p:cNvPr id="6" name="Rettangolo 5">
            <a:extLst>
              <a:ext uri="{FF2B5EF4-FFF2-40B4-BE49-F238E27FC236}">
                <a16:creationId xmlns:a16="http://schemas.microsoft.com/office/drawing/2014/main" id="{B8294A36-A5C9-4088-B183-9A22D2965CEE}"/>
              </a:ext>
            </a:extLst>
          </p:cNvPr>
          <p:cNvSpPr/>
          <p:nvPr/>
        </p:nvSpPr>
        <p:spPr>
          <a:xfrm>
            <a:off x="368796" y="5121695"/>
            <a:ext cx="8084922" cy="892552"/>
          </a:xfrm>
          <a:prstGeom prst="rect">
            <a:avLst/>
          </a:prstGeom>
        </p:spPr>
        <p:txBody>
          <a:bodyPr wrap="square">
            <a:spAutoFit/>
          </a:bodyPr>
          <a:lstStyle/>
          <a:p>
            <a:pPr algn="just"/>
            <a:r>
              <a:rPr lang="it-IT" sz="2600" b="1" i="1" dirty="0"/>
              <a:t>I concetti e le teorie della strategia di business hanno i loro precedenti nella strategia militare.</a:t>
            </a:r>
          </a:p>
        </p:txBody>
      </p:sp>
    </p:spTree>
    <p:extLst>
      <p:ext uri="{BB962C8B-B14F-4D97-AF65-F5344CB8AC3E}">
        <p14:creationId xmlns:p14="http://schemas.microsoft.com/office/powerpoint/2010/main" val="25113125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62911C1F-C7CE-41DB-AF3E-69E31F1C82B8}"/>
              </a:ext>
            </a:extLst>
          </p:cNvPr>
          <p:cNvSpPr/>
          <p:nvPr/>
        </p:nvSpPr>
        <p:spPr>
          <a:xfrm>
            <a:off x="402166" y="4711144"/>
            <a:ext cx="8339667" cy="1384995"/>
          </a:xfrm>
          <a:prstGeom prst="rect">
            <a:avLst/>
          </a:prstGeom>
        </p:spPr>
        <p:txBody>
          <a:bodyPr wrap="square">
            <a:spAutoFit/>
          </a:bodyPr>
          <a:lstStyle/>
          <a:p>
            <a:pPr algn="just"/>
            <a:r>
              <a:rPr lang="it-IT" sz="2800" dirty="0"/>
              <a:t>Tra i principi ed i concetti comuni tra la strategia militare e la strategia di business, il più importante è la distinzione tra </a:t>
            </a:r>
            <a:r>
              <a:rPr lang="it-IT" sz="2800" b="1" dirty="0"/>
              <a:t>strategia </a:t>
            </a:r>
            <a:r>
              <a:rPr lang="it-IT" sz="2800" dirty="0"/>
              <a:t>e</a:t>
            </a:r>
            <a:r>
              <a:rPr lang="it-IT" sz="2800" b="1" dirty="0"/>
              <a:t> tattica</a:t>
            </a:r>
            <a:r>
              <a:rPr lang="it-IT" sz="2800" dirty="0"/>
              <a:t>.</a:t>
            </a:r>
            <a:endParaRPr lang="it-IT" sz="2600" dirty="0"/>
          </a:p>
        </p:txBody>
      </p:sp>
      <p:sp>
        <p:nvSpPr>
          <p:cNvPr id="5" name="Rettangolo 4">
            <a:extLst>
              <a:ext uri="{FF2B5EF4-FFF2-40B4-BE49-F238E27FC236}">
                <a16:creationId xmlns:a16="http://schemas.microsoft.com/office/drawing/2014/main" id="{C281CD81-C391-4506-9CE3-0B9021CAD35C}"/>
              </a:ext>
            </a:extLst>
          </p:cNvPr>
          <p:cNvSpPr/>
          <p:nvPr/>
        </p:nvSpPr>
        <p:spPr>
          <a:xfrm>
            <a:off x="292115" y="351746"/>
            <a:ext cx="6417141" cy="954107"/>
          </a:xfrm>
          <a:prstGeom prst="rect">
            <a:avLst/>
          </a:prstGeom>
        </p:spPr>
        <p:txBody>
          <a:bodyPr wrap="none">
            <a:spAutoFit/>
          </a:bodyPr>
          <a:lstStyle/>
          <a:p>
            <a:r>
              <a:rPr lang="it-IT" sz="3200" b="1" dirty="0"/>
              <a:t>Studi sulle strategie di impresa.</a:t>
            </a:r>
          </a:p>
          <a:p>
            <a:r>
              <a:rPr lang="it-IT" sz="2400" b="1" dirty="0"/>
              <a:t>Le origini e gli studi sulle strategie militari.</a:t>
            </a:r>
          </a:p>
        </p:txBody>
      </p:sp>
      <p:sp>
        <p:nvSpPr>
          <p:cNvPr id="7" name="CasellaDiTesto 6">
            <a:extLst>
              <a:ext uri="{FF2B5EF4-FFF2-40B4-BE49-F238E27FC236}">
                <a16:creationId xmlns:a16="http://schemas.microsoft.com/office/drawing/2014/main" id="{86FAC78B-F774-4926-B1B6-C3FAD00B49C3}"/>
              </a:ext>
            </a:extLst>
          </p:cNvPr>
          <p:cNvSpPr txBox="1"/>
          <p:nvPr/>
        </p:nvSpPr>
        <p:spPr>
          <a:xfrm>
            <a:off x="4620479" y="1622612"/>
            <a:ext cx="2088777" cy="461665"/>
          </a:xfrm>
          <a:prstGeom prst="rect">
            <a:avLst/>
          </a:prstGeom>
          <a:noFill/>
        </p:spPr>
        <p:txBody>
          <a:bodyPr wrap="square" rtlCol="0">
            <a:spAutoFit/>
          </a:bodyPr>
          <a:lstStyle/>
          <a:p>
            <a:endParaRPr lang="it-IT" sz="2400" dirty="0"/>
          </a:p>
        </p:txBody>
      </p:sp>
      <p:sp>
        <p:nvSpPr>
          <p:cNvPr id="8" name="CasellaDiTesto 7">
            <a:extLst>
              <a:ext uri="{FF2B5EF4-FFF2-40B4-BE49-F238E27FC236}">
                <a16:creationId xmlns:a16="http://schemas.microsoft.com/office/drawing/2014/main" id="{0F3A8350-98FB-4EA7-951D-30A6E7E07CA0}"/>
              </a:ext>
            </a:extLst>
          </p:cNvPr>
          <p:cNvSpPr txBox="1"/>
          <p:nvPr/>
        </p:nvSpPr>
        <p:spPr>
          <a:xfrm>
            <a:off x="765656" y="1532965"/>
            <a:ext cx="2088777" cy="461665"/>
          </a:xfrm>
          <a:prstGeom prst="rect">
            <a:avLst/>
          </a:prstGeom>
          <a:noFill/>
        </p:spPr>
        <p:txBody>
          <a:bodyPr wrap="square" rtlCol="0">
            <a:spAutoFit/>
          </a:bodyPr>
          <a:lstStyle/>
          <a:p>
            <a:endParaRPr lang="it-IT" sz="2400" dirty="0"/>
          </a:p>
        </p:txBody>
      </p:sp>
      <p:sp>
        <p:nvSpPr>
          <p:cNvPr id="9" name="CasellaDiTesto 8">
            <a:extLst>
              <a:ext uri="{FF2B5EF4-FFF2-40B4-BE49-F238E27FC236}">
                <a16:creationId xmlns:a16="http://schemas.microsoft.com/office/drawing/2014/main" id="{FF438898-FD20-48FF-BE49-02560786C856}"/>
              </a:ext>
            </a:extLst>
          </p:cNvPr>
          <p:cNvSpPr txBox="1"/>
          <p:nvPr/>
        </p:nvSpPr>
        <p:spPr>
          <a:xfrm>
            <a:off x="2136707" y="3512771"/>
            <a:ext cx="1698843" cy="830997"/>
          </a:xfrm>
          <a:prstGeom prst="rect">
            <a:avLst/>
          </a:prstGeom>
          <a:noFill/>
        </p:spPr>
        <p:txBody>
          <a:bodyPr wrap="square" rtlCol="0">
            <a:spAutoFit/>
          </a:bodyPr>
          <a:lstStyle/>
          <a:p>
            <a:pPr algn="ctr"/>
            <a:r>
              <a:rPr lang="it-IT" sz="2400" dirty="0" err="1"/>
              <a:t>Stratòs</a:t>
            </a:r>
            <a:endParaRPr lang="it-IT" sz="2400" dirty="0"/>
          </a:p>
          <a:p>
            <a:r>
              <a:rPr lang="it-IT" sz="2400" dirty="0"/>
              <a:t> (Esercito)</a:t>
            </a:r>
          </a:p>
        </p:txBody>
      </p:sp>
      <p:sp>
        <p:nvSpPr>
          <p:cNvPr id="10" name="CasellaDiTesto 9">
            <a:extLst>
              <a:ext uri="{FF2B5EF4-FFF2-40B4-BE49-F238E27FC236}">
                <a16:creationId xmlns:a16="http://schemas.microsoft.com/office/drawing/2014/main" id="{C811ECB5-205A-424B-AF37-CA5A0078D3F8}"/>
              </a:ext>
            </a:extLst>
          </p:cNvPr>
          <p:cNvSpPr txBox="1"/>
          <p:nvPr/>
        </p:nvSpPr>
        <p:spPr>
          <a:xfrm>
            <a:off x="663387" y="1752337"/>
            <a:ext cx="2088777" cy="461665"/>
          </a:xfrm>
          <a:prstGeom prst="rect">
            <a:avLst/>
          </a:prstGeom>
          <a:noFill/>
        </p:spPr>
        <p:txBody>
          <a:bodyPr wrap="square" rtlCol="0">
            <a:spAutoFit/>
          </a:bodyPr>
          <a:lstStyle/>
          <a:p>
            <a:r>
              <a:rPr lang="it-IT" sz="2400" dirty="0"/>
              <a:t>STRATEGIA</a:t>
            </a:r>
          </a:p>
        </p:txBody>
      </p:sp>
      <p:sp>
        <p:nvSpPr>
          <p:cNvPr id="11" name="CasellaDiTesto 10">
            <a:extLst>
              <a:ext uri="{FF2B5EF4-FFF2-40B4-BE49-F238E27FC236}">
                <a16:creationId xmlns:a16="http://schemas.microsoft.com/office/drawing/2014/main" id="{F7620338-5543-43C3-9ADE-7A4B2292DB87}"/>
              </a:ext>
            </a:extLst>
          </p:cNvPr>
          <p:cNvSpPr txBox="1"/>
          <p:nvPr/>
        </p:nvSpPr>
        <p:spPr>
          <a:xfrm>
            <a:off x="3500685" y="1665481"/>
            <a:ext cx="2711856" cy="830997"/>
          </a:xfrm>
          <a:prstGeom prst="rect">
            <a:avLst/>
          </a:prstGeom>
          <a:noFill/>
        </p:spPr>
        <p:txBody>
          <a:bodyPr wrap="square" rtlCol="0">
            <a:spAutoFit/>
          </a:bodyPr>
          <a:lstStyle/>
          <a:p>
            <a:r>
              <a:rPr lang="it-IT" sz="2400" dirty="0"/>
              <a:t>STRATEGÌA (parola Greca)</a:t>
            </a:r>
          </a:p>
        </p:txBody>
      </p:sp>
      <p:sp>
        <p:nvSpPr>
          <p:cNvPr id="17" name="CasellaDiTesto 16">
            <a:extLst>
              <a:ext uri="{FF2B5EF4-FFF2-40B4-BE49-F238E27FC236}">
                <a16:creationId xmlns:a16="http://schemas.microsoft.com/office/drawing/2014/main" id="{EF3EAFB1-D372-4EAD-83E8-6A9DE942A08B}"/>
              </a:ext>
            </a:extLst>
          </p:cNvPr>
          <p:cNvSpPr txBox="1"/>
          <p:nvPr/>
        </p:nvSpPr>
        <p:spPr>
          <a:xfrm>
            <a:off x="4571999" y="3520519"/>
            <a:ext cx="2088777" cy="830997"/>
          </a:xfrm>
          <a:prstGeom prst="rect">
            <a:avLst/>
          </a:prstGeom>
          <a:noFill/>
        </p:spPr>
        <p:txBody>
          <a:bodyPr wrap="square" rtlCol="0">
            <a:spAutoFit/>
          </a:bodyPr>
          <a:lstStyle/>
          <a:p>
            <a:pPr algn="ctr"/>
            <a:r>
              <a:rPr lang="it-IT" sz="2400" dirty="0"/>
              <a:t>-</a:t>
            </a:r>
            <a:r>
              <a:rPr lang="it-IT" sz="2400" dirty="0" err="1"/>
              <a:t>ag</a:t>
            </a:r>
            <a:endParaRPr lang="it-IT" sz="2400" dirty="0"/>
          </a:p>
          <a:p>
            <a:r>
              <a:rPr lang="it-IT" sz="2400" dirty="0"/>
              <a:t> (Comandare)</a:t>
            </a:r>
          </a:p>
        </p:txBody>
      </p:sp>
      <p:cxnSp>
        <p:nvCxnSpPr>
          <p:cNvPr id="18" name="Connettore 2 17">
            <a:extLst>
              <a:ext uri="{FF2B5EF4-FFF2-40B4-BE49-F238E27FC236}">
                <a16:creationId xmlns:a16="http://schemas.microsoft.com/office/drawing/2014/main" id="{02443AB1-81BF-4B7D-ABDA-B9546A34DD26}"/>
              </a:ext>
            </a:extLst>
          </p:cNvPr>
          <p:cNvCxnSpPr/>
          <p:nvPr/>
        </p:nvCxnSpPr>
        <p:spPr>
          <a:xfrm>
            <a:off x="2617694" y="1994630"/>
            <a:ext cx="882991" cy="0"/>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cxnSp>
        <p:nvCxnSpPr>
          <p:cNvPr id="19" name="Connettore 2 18">
            <a:extLst>
              <a:ext uri="{FF2B5EF4-FFF2-40B4-BE49-F238E27FC236}">
                <a16:creationId xmlns:a16="http://schemas.microsoft.com/office/drawing/2014/main" id="{78678923-2C3E-4FBE-978E-235542A5F3C1}"/>
              </a:ext>
            </a:extLst>
          </p:cNvPr>
          <p:cNvCxnSpPr>
            <a:cxnSpLocks/>
          </p:cNvCxnSpPr>
          <p:nvPr/>
        </p:nvCxnSpPr>
        <p:spPr>
          <a:xfrm flipH="1">
            <a:off x="3330355" y="2503953"/>
            <a:ext cx="986118" cy="1044405"/>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cxnSp>
        <p:nvCxnSpPr>
          <p:cNvPr id="21" name="Connettore 2 20">
            <a:extLst>
              <a:ext uri="{FF2B5EF4-FFF2-40B4-BE49-F238E27FC236}">
                <a16:creationId xmlns:a16="http://schemas.microsoft.com/office/drawing/2014/main" id="{51A730FE-8117-4C21-971F-468C1CD3716A}"/>
              </a:ext>
            </a:extLst>
          </p:cNvPr>
          <p:cNvCxnSpPr>
            <a:cxnSpLocks/>
          </p:cNvCxnSpPr>
          <p:nvPr/>
        </p:nvCxnSpPr>
        <p:spPr>
          <a:xfrm>
            <a:off x="4316474" y="2440537"/>
            <a:ext cx="981667" cy="1107821"/>
          </a:xfrm>
          <a:prstGeom prst="straightConnector1">
            <a:avLst/>
          </a:prstGeom>
          <a:ln w="1016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89227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62911C1F-C7CE-41DB-AF3E-69E31F1C82B8}"/>
              </a:ext>
            </a:extLst>
          </p:cNvPr>
          <p:cNvSpPr/>
          <p:nvPr/>
        </p:nvSpPr>
        <p:spPr>
          <a:xfrm>
            <a:off x="368796" y="1830633"/>
            <a:ext cx="8339667" cy="3970318"/>
          </a:xfrm>
          <a:prstGeom prst="rect">
            <a:avLst/>
          </a:prstGeom>
        </p:spPr>
        <p:txBody>
          <a:bodyPr wrap="square">
            <a:spAutoFit/>
          </a:bodyPr>
          <a:lstStyle/>
          <a:p>
            <a:pPr algn="just"/>
            <a:r>
              <a:rPr lang="it-IT" sz="2800" b="1" dirty="0"/>
              <a:t>Strategia</a:t>
            </a:r>
            <a:r>
              <a:rPr lang="it-IT" sz="2800" dirty="0"/>
              <a:t>: piano complessivo per lo spiegamento di risorse necessarie a conseguire una posizione di vantaggio. </a:t>
            </a:r>
          </a:p>
          <a:p>
            <a:pPr algn="just"/>
            <a:r>
              <a:rPr lang="it-IT" sz="2800" i="1" dirty="0"/>
              <a:t>Si preoccupa di vincere la guerra. </a:t>
            </a:r>
          </a:p>
          <a:p>
            <a:pPr algn="just"/>
            <a:endParaRPr lang="it-IT" sz="2800" dirty="0"/>
          </a:p>
          <a:p>
            <a:pPr algn="just"/>
            <a:endParaRPr lang="it-IT" sz="2800" dirty="0"/>
          </a:p>
          <a:p>
            <a:pPr algn="just"/>
            <a:r>
              <a:rPr lang="it-IT" sz="2800" b="1" dirty="0"/>
              <a:t>Tattica</a:t>
            </a:r>
            <a:r>
              <a:rPr lang="it-IT" sz="2800" dirty="0"/>
              <a:t>: progetto di azione specifica. </a:t>
            </a:r>
          </a:p>
          <a:p>
            <a:pPr algn="just"/>
            <a:r>
              <a:rPr lang="it-IT" sz="2800" i="1" dirty="0"/>
              <a:t>Riguarda le operazioni necessarie per vincere le battaglie.</a:t>
            </a:r>
            <a:endParaRPr lang="it-IT" sz="2600" i="1" dirty="0"/>
          </a:p>
        </p:txBody>
      </p:sp>
      <p:sp>
        <p:nvSpPr>
          <p:cNvPr id="5" name="Rettangolo 4">
            <a:extLst>
              <a:ext uri="{FF2B5EF4-FFF2-40B4-BE49-F238E27FC236}">
                <a16:creationId xmlns:a16="http://schemas.microsoft.com/office/drawing/2014/main" id="{C281CD81-C391-4506-9CE3-0B9021CAD35C}"/>
              </a:ext>
            </a:extLst>
          </p:cNvPr>
          <p:cNvSpPr/>
          <p:nvPr/>
        </p:nvSpPr>
        <p:spPr>
          <a:xfrm>
            <a:off x="292115" y="351746"/>
            <a:ext cx="6417141" cy="954107"/>
          </a:xfrm>
          <a:prstGeom prst="rect">
            <a:avLst/>
          </a:prstGeom>
        </p:spPr>
        <p:txBody>
          <a:bodyPr wrap="none">
            <a:spAutoFit/>
          </a:bodyPr>
          <a:lstStyle/>
          <a:p>
            <a:r>
              <a:rPr lang="it-IT" sz="3200" b="1" dirty="0"/>
              <a:t>Studi sulle strategie di impresa.</a:t>
            </a:r>
          </a:p>
          <a:p>
            <a:r>
              <a:rPr lang="it-IT" sz="2400" b="1" dirty="0"/>
              <a:t>Le origini e gli studi sulle strategie militari.</a:t>
            </a:r>
          </a:p>
        </p:txBody>
      </p:sp>
    </p:spTree>
    <p:extLst>
      <p:ext uri="{BB962C8B-B14F-4D97-AF65-F5344CB8AC3E}">
        <p14:creationId xmlns:p14="http://schemas.microsoft.com/office/powerpoint/2010/main" val="9350770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62911C1F-C7CE-41DB-AF3E-69E31F1C82B8}"/>
              </a:ext>
            </a:extLst>
          </p:cNvPr>
          <p:cNvSpPr/>
          <p:nvPr/>
        </p:nvSpPr>
        <p:spPr>
          <a:xfrm>
            <a:off x="368796" y="1830633"/>
            <a:ext cx="8339667" cy="4093428"/>
          </a:xfrm>
          <a:prstGeom prst="rect">
            <a:avLst/>
          </a:prstGeom>
        </p:spPr>
        <p:txBody>
          <a:bodyPr wrap="square">
            <a:spAutoFit/>
          </a:bodyPr>
          <a:lstStyle/>
          <a:p>
            <a:pPr algn="just"/>
            <a:r>
              <a:rPr lang="it-IT" sz="2600" dirty="0"/>
              <a:t>La tendenza a sviluppare i principi di strategia militare e di strategia aziendale come discipline separate, riflette</a:t>
            </a:r>
          </a:p>
          <a:p>
            <a:pPr algn="just"/>
            <a:r>
              <a:rPr lang="it-IT" sz="2600" dirty="0"/>
              <a:t>l’assenza di una teoria generale della strategia.</a:t>
            </a:r>
          </a:p>
          <a:p>
            <a:pPr algn="just"/>
            <a:endParaRPr lang="it-IT" sz="2600" dirty="0"/>
          </a:p>
          <a:p>
            <a:pPr algn="just"/>
            <a:endParaRPr lang="it-IT" sz="2600" dirty="0"/>
          </a:p>
          <a:p>
            <a:pPr algn="just"/>
            <a:r>
              <a:rPr lang="it-IT" sz="2600" dirty="0"/>
              <a:t>Nel 1944 la pubblicazione della </a:t>
            </a:r>
            <a:r>
              <a:rPr lang="it-IT" sz="2600" b="1" i="1" dirty="0"/>
              <a:t>Teoria dei giochi </a:t>
            </a:r>
            <a:r>
              <a:rPr lang="it-IT" sz="2600" dirty="0"/>
              <a:t>ha</a:t>
            </a:r>
          </a:p>
          <a:p>
            <a:pPr algn="just"/>
            <a:r>
              <a:rPr lang="it-IT" sz="2600" dirty="0"/>
              <a:t>rivoluzionato gli studi sull’interazione competitiva in tutti</a:t>
            </a:r>
          </a:p>
          <a:p>
            <a:pPr algn="just"/>
            <a:r>
              <a:rPr lang="it-IT" sz="2600" dirty="0"/>
              <a:t>gli ambiti e ha fatto sperare nello sviluppo di una teoria</a:t>
            </a:r>
          </a:p>
          <a:p>
            <a:pPr algn="just"/>
            <a:r>
              <a:rPr lang="it-IT" sz="2600" dirty="0"/>
              <a:t>generale del comportamento competitivo a cui però non si è ancora giunti.</a:t>
            </a:r>
          </a:p>
        </p:txBody>
      </p:sp>
      <p:sp>
        <p:nvSpPr>
          <p:cNvPr id="5" name="Rettangolo 4">
            <a:extLst>
              <a:ext uri="{FF2B5EF4-FFF2-40B4-BE49-F238E27FC236}">
                <a16:creationId xmlns:a16="http://schemas.microsoft.com/office/drawing/2014/main" id="{C281CD81-C391-4506-9CE3-0B9021CAD35C}"/>
              </a:ext>
            </a:extLst>
          </p:cNvPr>
          <p:cNvSpPr/>
          <p:nvPr/>
        </p:nvSpPr>
        <p:spPr>
          <a:xfrm>
            <a:off x="292115" y="351746"/>
            <a:ext cx="6417141" cy="954107"/>
          </a:xfrm>
          <a:prstGeom prst="rect">
            <a:avLst/>
          </a:prstGeom>
        </p:spPr>
        <p:txBody>
          <a:bodyPr wrap="none">
            <a:spAutoFit/>
          </a:bodyPr>
          <a:lstStyle/>
          <a:p>
            <a:r>
              <a:rPr lang="it-IT" sz="3200" b="1" dirty="0"/>
              <a:t>Studi sulle strategie di impresa.</a:t>
            </a:r>
          </a:p>
          <a:p>
            <a:r>
              <a:rPr lang="it-IT" sz="2400" b="1" dirty="0"/>
              <a:t>Le origini e gli studi sulle strategie militari.</a:t>
            </a:r>
          </a:p>
        </p:txBody>
      </p:sp>
    </p:spTree>
    <p:extLst>
      <p:ext uri="{BB962C8B-B14F-4D97-AF65-F5344CB8AC3E}">
        <p14:creationId xmlns:p14="http://schemas.microsoft.com/office/powerpoint/2010/main" val="3483860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62911C1F-C7CE-41DB-AF3E-69E31F1C82B8}"/>
              </a:ext>
            </a:extLst>
          </p:cNvPr>
          <p:cNvSpPr/>
          <p:nvPr/>
        </p:nvSpPr>
        <p:spPr>
          <a:xfrm>
            <a:off x="402166" y="1485147"/>
            <a:ext cx="8339667" cy="4893647"/>
          </a:xfrm>
          <a:prstGeom prst="rect">
            <a:avLst/>
          </a:prstGeom>
        </p:spPr>
        <p:txBody>
          <a:bodyPr wrap="square">
            <a:spAutoFit/>
          </a:bodyPr>
          <a:lstStyle/>
          <a:p>
            <a:pPr algn="just"/>
            <a:r>
              <a:rPr lang="it-IT" sz="2400" dirty="0"/>
              <a:t>L’evoluzione della strategia aziendale è stata sollecitata</a:t>
            </a:r>
          </a:p>
          <a:p>
            <a:pPr algn="just"/>
            <a:r>
              <a:rPr lang="it-IT" sz="2400" dirty="0"/>
              <a:t>dalle esigenze pratiche delle imprese.</a:t>
            </a:r>
          </a:p>
          <a:p>
            <a:pPr algn="just"/>
            <a:r>
              <a:rPr lang="it-IT" sz="2400" b="1" dirty="0"/>
              <a:t>Anni ‘50</a:t>
            </a:r>
            <a:r>
              <a:rPr lang="it-IT" sz="2400" dirty="0"/>
              <a:t>: imprese sempre più grandi e complesse.</a:t>
            </a:r>
          </a:p>
          <a:p>
            <a:pPr algn="just"/>
            <a:r>
              <a:rPr lang="it-IT" sz="2400" dirty="0"/>
              <a:t>Pianificazione e controllo di budget per il controllo finanziario attraverso: budgeting finanziario, pianificazione degli investimenti e valutazione dei progetti.</a:t>
            </a:r>
          </a:p>
          <a:p>
            <a:pPr algn="just"/>
            <a:r>
              <a:rPr lang="it-IT" sz="2400" b="1" dirty="0"/>
              <a:t>Anni ‘60 – primi anni ‘70</a:t>
            </a:r>
            <a:r>
              <a:rPr lang="it-IT" sz="2400" dirty="0"/>
              <a:t>: pianificazione aziendale della crescita, della diversificazione e del portafoglio prodotti con previsioni a m/l termine, attraverso tecniche decisionali cosiddette scientifiche (analisi costi-benefici, il discounted cash flow, la programmazione lineare, la previsione econometrica, la gestione della domanda macroeconomica).</a:t>
            </a:r>
          </a:p>
        </p:txBody>
      </p:sp>
      <p:sp>
        <p:nvSpPr>
          <p:cNvPr id="5" name="Rettangolo 4">
            <a:extLst>
              <a:ext uri="{FF2B5EF4-FFF2-40B4-BE49-F238E27FC236}">
                <a16:creationId xmlns:a16="http://schemas.microsoft.com/office/drawing/2014/main" id="{C281CD81-C391-4506-9CE3-0B9021CAD35C}"/>
              </a:ext>
            </a:extLst>
          </p:cNvPr>
          <p:cNvSpPr/>
          <p:nvPr/>
        </p:nvSpPr>
        <p:spPr>
          <a:xfrm>
            <a:off x="292115" y="351746"/>
            <a:ext cx="6417141" cy="954107"/>
          </a:xfrm>
          <a:prstGeom prst="rect">
            <a:avLst/>
          </a:prstGeom>
        </p:spPr>
        <p:txBody>
          <a:bodyPr wrap="none">
            <a:spAutoFit/>
          </a:bodyPr>
          <a:lstStyle/>
          <a:p>
            <a:r>
              <a:rPr lang="it-IT" sz="3200" b="1" dirty="0"/>
              <a:t>Studi sulle strategie di impresa.</a:t>
            </a:r>
          </a:p>
          <a:p>
            <a:r>
              <a:rPr lang="it-IT" sz="2400" b="1" dirty="0"/>
              <a:t>Le origini e gli studi sulle strategie militari.</a:t>
            </a:r>
          </a:p>
        </p:txBody>
      </p:sp>
    </p:spTree>
    <p:extLst>
      <p:ext uri="{BB962C8B-B14F-4D97-AF65-F5344CB8AC3E}">
        <p14:creationId xmlns:p14="http://schemas.microsoft.com/office/powerpoint/2010/main" val="12538727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62911C1F-C7CE-41DB-AF3E-69E31F1C82B8}"/>
              </a:ext>
            </a:extLst>
          </p:cNvPr>
          <p:cNvSpPr/>
          <p:nvPr/>
        </p:nvSpPr>
        <p:spPr>
          <a:xfrm>
            <a:off x="402166" y="1798911"/>
            <a:ext cx="8339667" cy="3785652"/>
          </a:xfrm>
          <a:prstGeom prst="rect">
            <a:avLst/>
          </a:prstGeom>
        </p:spPr>
        <p:txBody>
          <a:bodyPr wrap="square">
            <a:spAutoFit/>
          </a:bodyPr>
          <a:lstStyle/>
          <a:p>
            <a:pPr algn="just"/>
            <a:r>
              <a:rPr lang="it-IT" sz="2400" b="1" dirty="0"/>
              <a:t>Fine anni ‘70 – metà anni ‘80</a:t>
            </a:r>
            <a:r>
              <a:rPr lang="it-IT" sz="2400" dirty="0"/>
              <a:t>: la diversificazione fallì nelle sinergie, le crisi petrolifere causarono un periodo di instabilità, aumento della concorrenza delle imprese giapponesi, europee e del sud-est asiatico. </a:t>
            </a:r>
          </a:p>
          <a:p>
            <a:pPr algn="just"/>
            <a:endParaRPr lang="it-IT" sz="2400" dirty="0"/>
          </a:p>
          <a:p>
            <a:pPr algn="just"/>
            <a:endParaRPr lang="it-IT" sz="2400" dirty="0"/>
          </a:p>
          <a:p>
            <a:pPr algn="just"/>
            <a:r>
              <a:rPr lang="it-IT" sz="2400" dirty="0"/>
              <a:t>Abbandono della pianificazione per la formulazione delle strategie per il posizionamento sul mercato, selezione dei settori e dei mercati, posizionamento per la leadership di mercato.</a:t>
            </a:r>
          </a:p>
        </p:txBody>
      </p:sp>
      <p:sp>
        <p:nvSpPr>
          <p:cNvPr id="5" name="Rettangolo 4">
            <a:extLst>
              <a:ext uri="{FF2B5EF4-FFF2-40B4-BE49-F238E27FC236}">
                <a16:creationId xmlns:a16="http://schemas.microsoft.com/office/drawing/2014/main" id="{C281CD81-C391-4506-9CE3-0B9021CAD35C}"/>
              </a:ext>
            </a:extLst>
          </p:cNvPr>
          <p:cNvSpPr/>
          <p:nvPr/>
        </p:nvSpPr>
        <p:spPr>
          <a:xfrm>
            <a:off x="292115" y="351746"/>
            <a:ext cx="6417141" cy="954107"/>
          </a:xfrm>
          <a:prstGeom prst="rect">
            <a:avLst/>
          </a:prstGeom>
        </p:spPr>
        <p:txBody>
          <a:bodyPr wrap="none">
            <a:spAutoFit/>
          </a:bodyPr>
          <a:lstStyle/>
          <a:p>
            <a:r>
              <a:rPr lang="it-IT" sz="3200" b="1" dirty="0"/>
              <a:t>Studi sulle strategie di impresa.</a:t>
            </a:r>
          </a:p>
          <a:p>
            <a:r>
              <a:rPr lang="it-IT" sz="2400" b="1" dirty="0"/>
              <a:t>Le origini e gli studi sulle strategie militari.</a:t>
            </a:r>
          </a:p>
        </p:txBody>
      </p:sp>
    </p:spTree>
    <p:extLst>
      <p:ext uri="{BB962C8B-B14F-4D97-AF65-F5344CB8AC3E}">
        <p14:creationId xmlns:p14="http://schemas.microsoft.com/office/powerpoint/2010/main" val="28087419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62911C1F-C7CE-41DB-AF3E-69E31F1C82B8}"/>
              </a:ext>
            </a:extLst>
          </p:cNvPr>
          <p:cNvSpPr/>
          <p:nvPr/>
        </p:nvSpPr>
        <p:spPr>
          <a:xfrm>
            <a:off x="402166" y="1709264"/>
            <a:ext cx="8339667" cy="4154984"/>
          </a:xfrm>
          <a:prstGeom prst="rect">
            <a:avLst/>
          </a:prstGeom>
        </p:spPr>
        <p:txBody>
          <a:bodyPr wrap="square">
            <a:spAutoFit/>
          </a:bodyPr>
          <a:lstStyle/>
          <a:p>
            <a:pPr algn="just"/>
            <a:r>
              <a:rPr lang="it-IT" sz="2400" b="1" dirty="0"/>
              <a:t>Fine anni ‘80 – anni ’90</a:t>
            </a:r>
            <a:r>
              <a:rPr lang="it-IT" sz="2400" dirty="0"/>
              <a:t>: l’obiettivo diventa il vantaggio competitivo con la focalizzazione della strategia sulle fonti interne e lo sviluppo di nuovi business. Si dà importanza a risorse e competenze, al valore per l’azionista, alla gestione della conoscenza e alla tecnologia dell’informazione.</a:t>
            </a:r>
          </a:p>
          <a:p>
            <a:pPr algn="just"/>
            <a:endParaRPr lang="it-IT" sz="2400" dirty="0"/>
          </a:p>
          <a:p>
            <a:pPr algn="just"/>
            <a:r>
              <a:rPr lang="it-IT" sz="2400" b="1" dirty="0"/>
              <a:t>Anni 2000</a:t>
            </a:r>
            <a:r>
              <a:rPr lang="it-IT" sz="2400" dirty="0"/>
              <a:t>: tema dominante è l’innovazione strategica e organizzativa con equilibrio tra la dimensione, la flessibilità e la rapidità di reazione attraverso strategie di cooperazione, competizione sugli standard, complessità e auto-organizzazione e la responsabilità sociale dell’impresa.</a:t>
            </a:r>
          </a:p>
        </p:txBody>
      </p:sp>
      <p:sp>
        <p:nvSpPr>
          <p:cNvPr id="5" name="Rettangolo 4">
            <a:extLst>
              <a:ext uri="{FF2B5EF4-FFF2-40B4-BE49-F238E27FC236}">
                <a16:creationId xmlns:a16="http://schemas.microsoft.com/office/drawing/2014/main" id="{C281CD81-C391-4506-9CE3-0B9021CAD35C}"/>
              </a:ext>
            </a:extLst>
          </p:cNvPr>
          <p:cNvSpPr/>
          <p:nvPr/>
        </p:nvSpPr>
        <p:spPr>
          <a:xfrm>
            <a:off x="292115" y="351746"/>
            <a:ext cx="6417141" cy="954107"/>
          </a:xfrm>
          <a:prstGeom prst="rect">
            <a:avLst/>
          </a:prstGeom>
        </p:spPr>
        <p:txBody>
          <a:bodyPr wrap="none">
            <a:spAutoFit/>
          </a:bodyPr>
          <a:lstStyle/>
          <a:p>
            <a:r>
              <a:rPr lang="it-IT" sz="3200" b="1" dirty="0"/>
              <a:t>Studi sulle strategie di impresa.</a:t>
            </a:r>
          </a:p>
          <a:p>
            <a:r>
              <a:rPr lang="it-IT" sz="2400" b="1" dirty="0"/>
              <a:t>Le origini e gli studi sulle strategie militari.</a:t>
            </a:r>
          </a:p>
        </p:txBody>
      </p:sp>
    </p:spTree>
    <p:extLst>
      <p:ext uri="{BB962C8B-B14F-4D97-AF65-F5344CB8AC3E}">
        <p14:creationId xmlns:p14="http://schemas.microsoft.com/office/powerpoint/2010/main" val="12274910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62911C1F-C7CE-41DB-AF3E-69E31F1C82B8}"/>
              </a:ext>
            </a:extLst>
          </p:cNvPr>
          <p:cNvSpPr/>
          <p:nvPr/>
        </p:nvSpPr>
        <p:spPr>
          <a:xfrm>
            <a:off x="402166" y="1709264"/>
            <a:ext cx="8339667" cy="3785652"/>
          </a:xfrm>
          <a:prstGeom prst="rect">
            <a:avLst/>
          </a:prstGeom>
        </p:spPr>
        <p:txBody>
          <a:bodyPr wrap="square">
            <a:spAutoFit/>
          </a:bodyPr>
          <a:lstStyle/>
          <a:p>
            <a:pPr algn="just"/>
            <a:r>
              <a:rPr lang="it-IT" sz="2400" dirty="0"/>
              <a:t>In generale si può dire che:</a:t>
            </a:r>
          </a:p>
          <a:p>
            <a:pPr algn="just"/>
            <a:r>
              <a:rPr lang="it-IT" sz="2400" dirty="0"/>
              <a:t>compito della strategia è pianificare in che modo un’organizzazione o un individuo possono raggiungere gli obiettivi prefissati.</a:t>
            </a:r>
          </a:p>
          <a:p>
            <a:pPr algn="just"/>
            <a:endParaRPr lang="it-IT" sz="2400" dirty="0"/>
          </a:p>
          <a:p>
            <a:pPr algn="just"/>
            <a:endParaRPr lang="it-IT" sz="2400" dirty="0"/>
          </a:p>
          <a:p>
            <a:pPr algn="just"/>
            <a:r>
              <a:rPr lang="it-IT" sz="2400" dirty="0"/>
              <a:t>Per definizioni più precise si deve considerare:</a:t>
            </a:r>
          </a:p>
          <a:p>
            <a:pPr marL="342900" indent="-342900" algn="just">
              <a:buFont typeface="Arial" panose="020B0604020202020204" pitchFamily="34" charset="0"/>
              <a:buChar char="•"/>
            </a:pPr>
            <a:r>
              <a:rPr lang="it-IT" sz="2400" dirty="0"/>
              <a:t>il tipo di contesto;</a:t>
            </a:r>
          </a:p>
          <a:p>
            <a:pPr marL="342900" indent="-342900" algn="just">
              <a:buFont typeface="Arial" panose="020B0604020202020204" pitchFamily="34" charset="0"/>
              <a:buChar char="•"/>
            </a:pPr>
            <a:r>
              <a:rPr lang="it-IT" sz="2400" dirty="0"/>
              <a:t>la stabilità e la prevedibilità dell’ambiente in cui la strategia deve essere applicata.</a:t>
            </a:r>
          </a:p>
        </p:txBody>
      </p:sp>
      <p:sp>
        <p:nvSpPr>
          <p:cNvPr id="5" name="Rettangolo 4">
            <a:extLst>
              <a:ext uri="{FF2B5EF4-FFF2-40B4-BE49-F238E27FC236}">
                <a16:creationId xmlns:a16="http://schemas.microsoft.com/office/drawing/2014/main" id="{C281CD81-C391-4506-9CE3-0B9021CAD35C}"/>
              </a:ext>
            </a:extLst>
          </p:cNvPr>
          <p:cNvSpPr/>
          <p:nvPr/>
        </p:nvSpPr>
        <p:spPr>
          <a:xfrm>
            <a:off x="292115" y="351746"/>
            <a:ext cx="6514925" cy="584775"/>
          </a:xfrm>
          <a:prstGeom prst="rect">
            <a:avLst/>
          </a:prstGeom>
        </p:spPr>
        <p:txBody>
          <a:bodyPr wrap="none">
            <a:spAutoFit/>
          </a:bodyPr>
          <a:lstStyle/>
          <a:p>
            <a:r>
              <a:rPr lang="it-IT" sz="3200" b="1" dirty="0"/>
              <a:t>Che cosa significa STRATEGIA?</a:t>
            </a:r>
          </a:p>
        </p:txBody>
      </p:sp>
    </p:spTree>
    <p:extLst>
      <p:ext uri="{BB962C8B-B14F-4D97-AF65-F5344CB8AC3E}">
        <p14:creationId xmlns:p14="http://schemas.microsoft.com/office/powerpoint/2010/main" val="3081714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62911C1F-C7CE-41DB-AF3E-69E31F1C82B8}"/>
              </a:ext>
            </a:extLst>
          </p:cNvPr>
          <p:cNvSpPr/>
          <p:nvPr/>
        </p:nvSpPr>
        <p:spPr>
          <a:xfrm>
            <a:off x="402166" y="1351508"/>
            <a:ext cx="8339667" cy="4154984"/>
          </a:xfrm>
          <a:prstGeom prst="rect">
            <a:avLst/>
          </a:prstGeom>
        </p:spPr>
        <p:txBody>
          <a:bodyPr wrap="square">
            <a:spAutoFit/>
          </a:bodyPr>
          <a:lstStyle/>
          <a:p>
            <a:pPr algn="just"/>
            <a:r>
              <a:rPr lang="it-IT" sz="2400" dirty="0"/>
              <a:t>Non si è raggiunto un diffuso consenso sulla definizione di strategia, né nel suo significato generale, né in quanto applicata all’impresa.</a:t>
            </a:r>
          </a:p>
          <a:p>
            <a:pPr algn="just"/>
            <a:r>
              <a:rPr lang="it-IT" sz="2400" dirty="0"/>
              <a:t>La strategia di impresa è definita da alcuni autori con riferimento al posizionamento sul mercato esterno.</a:t>
            </a:r>
          </a:p>
          <a:p>
            <a:pPr algn="just"/>
            <a:endParaRPr lang="it-IT" sz="2400" dirty="0"/>
          </a:p>
          <a:p>
            <a:pPr algn="just"/>
            <a:r>
              <a:rPr lang="it-IT" sz="2400" dirty="0"/>
              <a:t>Tutte le definizioni di strategia hanno un </a:t>
            </a:r>
            <a:r>
              <a:rPr lang="it-IT" sz="2400" u="sng" dirty="0"/>
              <a:t>aspetto in comune</a:t>
            </a:r>
          </a:p>
          <a:p>
            <a:pPr algn="just"/>
            <a:r>
              <a:rPr lang="it-IT" sz="2400" dirty="0"/>
              <a:t>la strategia implica l’effettuazione di scelte:</a:t>
            </a:r>
          </a:p>
          <a:p>
            <a:pPr algn="just"/>
            <a:endParaRPr lang="it-IT" sz="2400" dirty="0"/>
          </a:p>
          <a:p>
            <a:pPr marL="342900" indent="-342900" algn="just">
              <a:buFont typeface="Arial" panose="020B0604020202020204" pitchFamily="34" charset="0"/>
              <a:buChar char="•"/>
            </a:pPr>
            <a:r>
              <a:rPr lang="it-IT" sz="2400" b="1" dirty="0"/>
              <a:t>Dove competere?</a:t>
            </a:r>
          </a:p>
          <a:p>
            <a:pPr marL="342900" indent="-342900" algn="just">
              <a:buFont typeface="Arial" panose="020B0604020202020204" pitchFamily="34" charset="0"/>
              <a:buChar char="•"/>
            </a:pPr>
            <a:r>
              <a:rPr lang="it-IT" sz="2400" b="1" dirty="0"/>
              <a:t>Come competere?</a:t>
            </a:r>
          </a:p>
        </p:txBody>
      </p:sp>
      <p:sp>
        <p:nvSpPr>
          <p:cNvPr id="5" name="Rettangolo 4">
            <a:extLst>
              <a:ext uri="{FF2B5EF4-FFF2-40B4-BE49-F238E27FC236}">
                <a16:creationId xmlns:a16="http://schemas.microsoft.com/office/drawing/2014/main" id="{C281CD81-C391-4506-9CE3-0B9021CAD35C}"/>
              </a:ext>
            </a:extLst>
          </p:cNvPr>
          <p:cNvSpPr/>
          <p:nvPr/>
        </p:nvSpPr>
        <p:spPr>
          <a:xfrm>
            <a:off x="292115" y="351746"/>
            <a:ext cx="6514925" cy="584775"/>
          </a:xfrm>
          <a:prstGeom prst="rect">
            <a:avLst/>
          </a:prstGeom>
        </p:spPr>
        <p:txBody>
          <a:bodyPr wrap="none">
            <a:spAutoFit/>
          </a:bodyPr>
          <a:lstStyle/>
          <a:p>
            <a:r>
              <a:rPr lang="it-IT" sz="3200" b="1" dirty="0"/>
              <a:t>Che cosa significa STRATEGIA?</a:t>
            </a:r>
          </a:p>
        </p:txBody>
      </p:sp>
    </p:spTree>
    <p:extLst>
      <p:ext uri="{BB962C8B-B14F-4D97-AF65-F5344CB8AC3E}">
        <p14:creationId xmlns:p14="http://schemas.microsoft.com/office/powerpoint/2010/main" val="37650655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62911C1F-C7CE-41DB-AF3E-69E31F1C82B8}"/>
              </a:ext>
            </a:extLst>
          </p:cNvPr>
          <p:cNvSpPr/>
          <p:nvPr/>
        </p:nvSpPr>
        <p:spPr>
          <a:xfrm>
            <a:off x="402166" y="1692167"/>
            <a:ext cx="8339667" cy="4154984"/>
          </a:xfrm>
          <a:prstGeom prst="rect">
            <a:avLst/>
          </a:prstGeom>
        </p:spPr>
        <p:txBody>
          <a:bodyPr wrap="square">
            <a:spAutoFit/>
          </a:bodyPr>
          <a:lstStyle/>
          <a:p>
            <a:pPr algn="just"/>
            <a:r>
              <a:rPr lang="it-IT" sz="2400" dirty="0" err="1"/>
              <a:t>Mintzberg</a:t>
            </a:r>
            <a:r>
              <a:rPr lang="it-IT" sz="2400" dirty="0"/>
              <a:t> distingue tra:</a:t>
            </a:r>
          </a:p>
          <a:p>
            <a:pPr algn="just"/>
            <a:endParaRPr lang="it-IT" sz="2400" dirty="0"/>
          </a:p>
          <a:p>
            <a:pPr marL="342900" indent="-342900" algn="just">
              <a:buFont typeface="Arial" panose="020B0604020202020204" pitchFamily="34" charset="0"/>
              <a:buChar char="•"/>
            </a:pPr>
            <a:r>
              <a:rPr lang="it-IT" sz="2400" b="1" dirty="0"/>
              <a:t>Strategia deliberata (TOP DOWN): </a:t>
            </a:r>
            <a:r>
              <a:rPr lang="it-IT" sz="2400" dirty="0"/>
              <a:t>strategia come viene concepita dal gruppo dei dirigenti di vertice.</a:t>
            </a:r>
          </a:p>
          <a:p>
            <a:pPr marL="342900" indent="-342900" algn="just">
              <a:buFont typeface="Arial" panose="020B0604020202020204" pitchFamily="34" charset="0"/>
              <a:buChar char="•"/>
            </a:pPr>
            <a:r>
              <a:rPr lang="it-IT" sz="2400" b="1" dirty="0"/>
              <a:t>Strategia emergente (BOTTOM UP): </a:t>
            </a:r>
            <a:r>
              <a:rPr lang="it-IT" sz="2400" dirty="0"/>
              <a:t>insieme di decisioni che emergono dal complesso processo in cui i singoli manager interpretano la strategia e la adattano ai cambiamenti delle circostanze esterne e ai modi in cui la strategia deliberata viene interpretata.</a:t>
            </a:r>
          </a:p>
          <a:p>
            <a:pPr marL="342900" indent="-342900" algn="just">
              <a:buFont typeface="Arial" panose="020B0604020202020204" pitchFamily="34" charset="0"/>
              <a:buChar char="•"/>
            </a:pPr>
            <a:r>
              <a:rPr lang="it-IT" sz="2400" b="1" dirty="0"/>
              <a:t>Strategia realizzata: </a:t>
            </a:r>
            <a:r>
              <a:rPr lang="it-IT" sz="2400" dirty="0"/>
              <a:t>strategia che viene effettivamente implementata, solo in parte correlata a quella deliberata.</a:t>
            </a:r>
          </a:p>
        </p:txBody>
      </p:sp>
      <p:sp>
        <p:nvSpPr>
          <p:cNvPr id="5" name="Rettangolo 4">
            <a:extLst>
              <a:ext uri="{FF2B5EF4-FFF2-40B4-BE49-F238E27FC236}">
                <a16:creationId xmlns:a16="http://schemas.microsoft.com/office/drawing/2014/main" id="{C281CD81-C391-4506-9CE3-0B9021CAD35C}"/>
              </a:ext>
            </a:extLst>
          </p:cNvPr>
          <p:cNvSpPr/>
          <p:nvPr/>
        </p:nvSpPr>
        <p:spPr>
          <a:xfrm>
            <a:off x="292116" y="351746"/>
            <a:ext cx="8339668" cy="954107"/>
          </a:xfrm>
          <a:prstGeom prst="rect">
            <a:avLst/>
          </a:prstGeom>
        </p:spPr>
        <p:txBody>
          <a:bodyPr wrap="square">
            <a:spAutoFit/>
          </a:bodyPr>
          <a:lstStyle/>
          <a:p>
            <a:r>
              <a:rPr lang="it-IT" sz="2800" b="1" dirty="0"/>
              <a:t>STRATEGIA DELIBERATA e STRATEGIA EMERGENTE</a:t>
            </a:r>
          </a:p>
        </p:txBody>
      </p:sp>
    </p:spTree>
    <p:extLst>
      <p:ext uri="{BB962C8B-B14F-4D97-AF65-F5344CB8AC3E}">
        <p14:creationId xmlns:p14="http://schemas.microsoft.com/office/powerpoint/2010/main" val="9731199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tangolo 4">
            <a:extLst>
              <a:ext uri="{FF2B5EF4-FFF2-40B4-BE49-F238E27FC236}">
                <a16:creationId xmlns:a16="http://schemas.microsoft.com/office/drawing/2014/main" id="{C281CD81-C391-4506-9CE3-0B9021CAD35C}"/>
              </a:ext>
            </a:extLst>
          </p:cNvPr>
          <p:cNvSpPr/>
          <p:nvPr/>
        </p:nvSpPr>
        <p:spPr>
          <a:xfrm>
            <a:off x="292116" y="351746"/>
            <a:ext cx="8339668" cy="523220"/>
          </a:xfrm>
          <a:prstGeom prst="rect">
            <a:avLst/>
          </a:prstGeom>
        </p:spPr>
        <p:txBody>
          <a:bodyPr wrap="square">
            <a:spAutoFit/>
          </a:bodyPr>
          <a:lstStyle/>
          <a:p>
            <a:r>
              <a:rPr lang="it-IT" sz="2800" b="1" dirty="0"/>
              <a:t>TOP DOWN e BOTTOM UP</a:t>
            </a:r>
          </a:p>
        </p:txBody>
      </p:sp>
      <p:pic>
        <p:nvPicPr>
          <p:cNvPr id="1026" name="Picture 2" descr="Pianificazione «top-down» e «bottom-up» | Ragioneria">
            <a:extLst>
              <a:ext uri="{FF2B5EF4-FFF2-40B4-BE49-F238E27FC236}">
                <a16:creationId xmlns:a16="http://schemas.microsoft.com/office/drawing/2014/main" id="{B3AC3A94-3B1C-4223-A509-49FF9D05843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422" t="26500" r="3211" b="16625"/>
          <a:stretch/>
        </p:blipFill>
        <p:spPr bwMode="auto">
          <a:xfrm>
            <a:off x="147317" y="1183343"/>
            <a:ext cx="8849366" cy="51009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86736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tangolo 4">
            <a:extLst>
              <a:ext uri="{FF2B5EF4-FFF2-40B4-BE49-F238E27FC236}">
                <a16:creationId xmlns:a16="http://schemas.microsoft.com/office/drawing/2014/main" id="{C281CD81-C391-4506-9CE3-0B9021CAD35C}"/>
              </a:ext>
            </a:extLst>
          </p:cNvPr>
          <p:cNvSpPr/>
          <p:nvPr/>
        </p:nvSpPr>
        <p:spPr>
          <a:xfrm>
            <a:off x="292116" y="351746"/>
            <a:ext cx="8339668" cy="523220"/>
          </a:xfrm>
          <a:prstGeom prst="rect">
            <a:avLst/>
          </a:prstGeom>
        </p:spPr>
        <p:txBody>
          <a:bodyPr wrap="square">
            <a:spAutoFit/>
          </a:bodyPr>
          <a:lstStyle/>
          <a:p>
            <a:r>
              <a:rPr lang="it-IT" sz="2800" b="1" dirty="0"/>
              <a:t>TOP DOWN e BOTTOM UP</a:t>
            </a:r>
          </a:p>
        </p:txBody>
      </p:sp>
      <p:pic>
        <p:nvPicPr>
          <p:cNvPr id="2" name="Elementi multimediali online 1" title="OLTRE IL TOP DOWN E IL BOTTOM UP">
            <a:hlinkClick r:id="" action="ppaction://media"/>
            <a:extLst>
              <a:ext uri="{FF2B5EF4-FFF2-40B4-BE49-F238E27FC236}">
                <a16:creationId xmlns:a16="http://schemas.microsoft.com/office/drawing/2014/main" id="{138FF4CD-66B8-401D-966A-2DEC0A1C34F5}"/>
              </a:ext>
            </a:extLst>
          </p:cNvPr>
          <p:cNvPicPr>
            <a:picLocks noRot="1" noChangeAspect="1"/>
          </p:cNvPicPr>
          <p:nvPr>
            <a:videoFile r:link="rId1"/>
          </p:nvPr>
        </p:nvPicPr>
        <p:blipFill>
          <a:blip r:embed="rId3"/>
          <a:stretch>
            <a:fillRect/>
          </a:stretch>
        </p:blipFill>
        <p:spPr>
          <a:xfrm>
            <a:off x="657412" y="1227044"/>
            <a:ext cx="7829176" cy="4403912"/>
          </a:xfrm>
          <a:prstGeom prst="rect">
            <a:avLst/>
          </a:prstGeom>
        </p:spPr>
      </p:pic>
    </p:spTree>
    <p:extLst>
      <p:ext uri="{BB962C8B-B14F-4D97-AF65-F5344CB8AC3E}">
        <p14:creationId xmlns:p14="http://schemas.microsoft.com/office/powerpoint/2010/main" val="17170201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tangolo 4">
            <a:extLst>
              <a:ext uri="{FF2B5EF4-FFF2-40B4-BE49-F238E27FC236}">
                <a16:creationId xmlns:a16="http://schemas.microsoft.com/office/drawing/2014/main" id="{C281CD81-C391-4506-9CE3-0B9021CAD35C}"/>
              </a:ext>
            </a:extLst>
          </p:cNvPr>
          <p:cNvSpPr/>
          <p:nvPr/>
        </p:nvSpPr>
        <p:spPr>
          <a:xfrm>
            <a:off x="292116" y="351746"/>
            <a:ext cx="8339668" cy="954107"/>
          </a:xfrm>
          <a:prstGeom prst="rect">
            <a:avLst/>
          </a:prstGeom>
        </p:spPr>
        <p:txBody>
          <a:bodyPr wrap="square">
            <a:spAutoFit/>
          </a:bodyPr>
          <a:lstStyle/>
          <a:p>
            <a:r>
              <a:rPr lang="it-IT" sz="2800" b="1" dirty="0"/>
              <a:t>STRATEGIA DELIBERATA e STRATEGIA EMERGENTE</a:t>
            </a:r>
          </a:p>
        </p:txBody>
      </p:sp>
      <p:pic>
        <p:nvPicPr>
          <p:cNvPr id="2" name="Immagine 1">
            <a:extLst>
              <a:ext uri="{FF2B5EF4-FFF2-40B4-BE49-F238E27FC236}">
                <a16:creationId xmlns:a16="http://schemas.microsoft.com/office/drawing/2014/main" id="{1434FF87-F755-44A3-860D-55056E4FE3DB}"/>
              </a:ext>
            </a:extLst>
          </p:cNvPr>
          <p:cNvPicPr>
            <a:picLocks noChangeAspect="1"/>
          </p:cNvPicPr>
          <p:nvPr/>
        </p:nvPicPr>
        <p:blipFill rotWithShape="1">
          <a:blip r:embed="rId2"/>
          <a:srcRect l="34020" t="27073" r="14117" b="8722"/>
          <a:stretch/>
        </p:blipFill>
        <p:spPr>
          <a:xfrm>
            <a:off x="905435" y="1407452"/>
            <a:ext cx="7467600" cy="5200145"/>
          </a:xfrm>
          <a:prstGeom prst="rect">
            <a:avLst/>
          </a:prstGeom>
        </p:spPr>
      </p:pic>
    </p:spTree>
    <p:extLst>
      <p:ext uri="{BB962C8B-B14F-4D97-AF65-F5344CB8AC3E}">
        <p14:creationId xmlns:p14="http://schemas.microsoft.com/office/powerpoint/2010/main" val="38145838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tangolo 4">
            <a:extLst>
              <a:ext uri="{FF2B5EF4-FFF2-40B4-BE49-F238E27FC236}">
                <a16:creationId xmlns:a16="http://schemas.microsoft.com/office/drawing/2014/main" id="{C281CD81-C391-4506-9CE3-0B9021CAD35C}"/>
              </a:ext>
            </a:extLst>
          </p:cNvPr>
          <p:cNvSpPr/>
          <p:nvPr/>
        </p:nvSpPr>
        <p:spPr>
          <a:xfrm>
            <a:off x="292116" y="351746"/>
            <a:ext cx="8339668" cy="954107"/>
          </a:xfrm>
          <a:prstGeom prst="rect">
            <a:avLst/>
          </a:prstGeom>
        </p:spPr>
        <p:txBody>
          <a:bodyPr wrap="square">
            <a:spAutoFit/>
          </a:bodyPr>
          <a:lstStyle/>
          <a:p>
            <a:r>
              <a:rPr lang="it-IT" sz="2800" b="1" dirty="0"/>
              <a:t>STRATEGIA DELIBERATA e STRATEGIA EMERGENTE</a:t>
            </a:r>
          </a:p>
        </p:txBody>
      </p:sp>
      <p:sp>
        <p:nvSpPr>
          <p:cNvPr id="3" name="Rettangolo 2">
            <a:extLst>
              <a:ext uri="{FF2B5EF4-FFF2-40B4-BE49-F238E27FC236}">
                <a16:creationId xmlns:a16="http://schemas.microsoft.com/office/drawing/2014/main" id="{E2B1C37E-7332-457B-9DBC-7E236B2D9CF1}"/>
              </a:ext>
            </a:extLst>
          </p:cNvPr>
          <p:cNvSpPr/>
          <p:nvPr/>
        </p:nvSpPr>
        <p:spPr>
          <a:xfrm>
            <a:off x="484093" y="2386076"/>
            <a:ext cx="7799294" cy="3539430"/>
          </a:xfrm>
          <a:prstGeom prst="rect">
            <a:avLst/>
          </a:prstGeom>
        </p:spPr>
        <p:txBody>
          <a:bodyPr wrap="square">
            <a:spAutoFit/>
          </a:bodyPr>
          <a:lstStyle/>
          <a:p>
            <a:pPr algn="just"/>
            <a:r>
              <a:rPr lang="it-IT" sz="2800" dirty="0"/>
              <a:t>Nella maggior parte delle organizzazioni nascono dalla combinazione tra strategie deliberate (</a:t>
            </a:r>
            <a:r>
              <a:rPr lang="it-IT" sz="2800" i="1" dirty="0"/>
              <a:t>top down</a:t>
            </a:r>
            <a:r>
              <a:rPr lang="it-IT" sz="2800" dirty="0"/>
              <a:t>) e strategie emergenti (</a:t>
            </a:r>
            <a:r>
              <a:rPr lang="it-IT" sz="2800" i="1" dirty="0"/>
              <a:t>bottom-up</a:t>
            </a:r>
            <a:r>
              <a:rPr lang="it-IT" sz="2800" dirty="0"/>
              <a:t>). </a:t>
            </a:r>
          </a:p>
          <a:p>
            <a:pPr algn="just"/>
            <a:endParaRPr lang="it-IT" sz="2800" dirty="0"/>
          </a:p>
          <a:p>
            <a:pPr algn="just"/>
            <a:r>
              <a:rPr lang="it-IT" sz="2800" dirty="0"/>
              <a:t>Si ha un maggior impiego delle strategie emergenti con l’aumentare della volatilità e dell’imprevedibilità dell’ambiente esterno.</a:t>
            </a:r>
          </a:p>
        </p:txBody>
      </p:sp>
      <p:sp>
        <p:nvSpPr>
          <p:cNvPr id="4" name="Rettangolo 3">
            <a:extLst>
              <a:ext uri="{FF2B5EF4-FFF2-40B4-BE49-F238E27FC236}">
                <a16:creationId xmlns:a16="http://schemas.microsoft.com/office/drawing/2014/main" id="{04C9C0A8-513A-441D-8800-9B0D9A55EDE9}"/>
              </a:ext>
            </a:extLst>
          </p:cNvPr>
          <p:cNvSpPr/>
          <p:nvPr/>
        </p:nvSpPr>
        <p:spPr>
          <a:xfrm>
            <a:off x="537882" y="1553577"/>
            <a:ext cx="7691717" cy="584775"/>
          </a:xfrm>
          <a:prstGeom prst="rect">
            <a:avLst/>
          </a:prstGeom>
        </p:spPr>
        <p:txBody>
          <a:bodyPr wrap="square">
            <a:spAutoFit/>
          </a:bodyPr>
          <a:lstStyle/>
          <a:p>
            <a:r>
              <a:rPr lang="it-IT" sz="3200" b="1" dirty="0"/>
              <a:t>Come vengono formulate le strategie?</a:t>
            </a:r>
          </a:p>
        </p:txBody>
      </p:sp>
    </p:spTree>
    <p:extLst>
      <p:ext uri="{BB962C8B-B14F-4D97-AF65-F5344CB8AC3E}">
        <p14:creationId xmlns:p14="http://schemas.microsoft.com/office/powerpoint/2010/main" val="29329504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tangolo 4">
            <a:extLst>
              <a:ext uri="{FF2B5EF4-FFF2-40B4-BE49-F238E27FC236}">
                <a16:creationId xmlns:a16="http://schemas.microsoft.com/office/drawing/2014/main" id="{C281CD81-C391-4506-9CE3-0B9021CAD35C}"/>
              </a:ext>
            </a:extLst>
          </p:cNvPr>
          <p:cNvSpPr/>
          <p:nvPr/>
        </p:nvSpPr>
        <p:spPr>
          <a:xfrm>
            <a:off x="292116" y="351746"/>
            <a:ext cx="8339668" cy="954107"/>
          </a:xfrm>
          <a:prstGeom prst="rect">
            <a:avLst/>
          </a:prstGeom>
        </p:spPr>
        <p:txBody>
          <a:bodyPr wrap="square">
            <a:spAutoFit/>
          </a:bodyPr>
          <a:lstStyle/>
          <a:p>
            <a:r>
              <a:rPr lang="it-IT" sz="2800" b="1" dirty="0"/>
              <a:t>STRATEGIA DELIBERATA e STRATEGIA EMERGENTE</a:t>
            </a:r>
          </a:p>
        </p:txBody>
      </p:sp>
      <p:sp>
        <p:nvSpPr>
          <p:cNvPr id="3" name="Rettangolo 2">
            <a:extLst>
              <a:ext uri="{FF2B5EF4-FFF2-40B4-BE49-F238E27FC236}">
                <a16:creationId xmlns:a16="http://schemas.microsoft.com/office/drawing/2014/main" id="{E2B1C37E-7332-457B-9DBC-7E236B2D9CF1}"/>
              </a:ext>
            </a:extLst>
          </p:cNvPr>
          <p:cNvSpPr/>
          <p:nvPr/>
        </p:nvSpPr>
        <p:spPr>
          <a:xfrm>
            <a:off x="484094" y="2878519"/>
            <a:ext cx="7799294" cy="3108543"/>
          </a:xfrm>
          <a:prstGeom prst="rect">
            <a:avLst/>
          </a:prstGeom>
        </p:spPr>
        <p:txBody>
          <a:bodyPr wrap="square">
            <a:spAutoFit/>
          </a:bodyPr>
          <a:lstStyle/>
          <a:p>
            <a:pPr marL="457200" indent="-457200" algn="just">
              <a:buFont typeface="Arial" panose="020B0604020202020204" pitchFamily="34" charset="0"/>
              <a:buChar char="•"/>
            </a:pPr>
            <a:r>
              <a:rPr lang="it-IT" sz="2800" dirty="0"/>
              <a:t>Attraverso un processo interattivo che include la sperimentazione e il feedback;</a:t>
            </a:r>
          </a:p>
          <a:p>
            <a:pPr marL="457200" indent="-457200" algn="just">
              <a:buFont typeface="Arial" panose="020B0604020202020204" pitchFamily="34" charset="0"/>
              <a:buChar char="•"/>
            </a:pPr>
            <a:r>
              <a:rPr lang="it-IT" sz="2800" dirty="0"/>
              <a:t>Approccio razionale e sistematico;</a:t>
            </a:r>
          </a:p>
          <a:p>
            <a:pPr marL="457200" indent="-457200" algn="just">
              <a:buFont typeface="Arial" panose="020B0604020202020204" pitchFamily="34" charset="0"/>
              <a:buChar char="•"/>
            </a:pPr>
            <a:r>
              <a:rPr lang="it-IT" sz="2800" dirty="0"/>
              <a:t>Coinvolgere l’intuito, la riflessione e l’interazione tra pensiero e azione, aiutandosi con l’analisi sistematica delle ragioni del successo o dell’insuccesso di un’impresa.</a:t>
            </a:r>
          </a:p>
        </p:txBody>
      </p:sp>
      <p:sp>
        <p:nvSpPr>
          <p:cNvPr id="4" name="Rettangolo 3">
            <a:extLst>
              <a:ext uri="{FF2B5EF4-FFF2-40B4-BE49-F238E27FC236}">
                <a16:creationId xmlns:a16="http://schemas.microsoft.com/office/drawing/2014/main" id="{04C9C0A8-513A-441D-8800-9B0D9A55EDE9}"/>
              </a:ext>
            </a:extLst>
          </p:cNvPr>
          <p:cNvSpPr/>
          <p:nvPr/>
        </p:nvSpPr>
        <p:spPr>
          <a:xfrm>
            <a:off x="537882" y="1553577"/>
            <a:ext cx="7691717" cy="1077218"/>
          </a:xfrm>
          <a:prstGeom prst="rect">
            <a:avLst/>
          </a:prstGeom>
        </p:spPr>
        <p:txBody>
          <a:bodyPr wrap="square">
            <a:spAutoFit/>
          </a:bodyPr>
          <a:lstStyle/>
          <a:p>
            <a:r>
              <a:rPr lang="it-IT" sz="3200" b="1" dirty="0"/>
              <a:t>Qual è il miglior modo di formulare la strategia?</a:t>
            </a:r>
          </a:p>
        </p:txBody>
      </p:sp>
    </p:spTree>
    <p:extLst>
      <p:ext uri="{BB962C8B-B14F-4D97-AF65-F5344CB8AC3E}">
        <p14:creationId xmlns:p14="http://schemas.microsoft.com/office/powerpoint/2010/main" val="20019285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tangolo 4">
            <a:extLst>
              <a:ext uri="{FF2B5EF4-FFF2-40B4-BE49-F238E27FC236}">
                <a16:creationId xmlns:a16="http://schemas.microsoft.com/office/drawing/2014/main" id="{C281CD81-C391-4506-9CE3-0B9021CAD35C}"/>
              </a:ext>
            </a:extLst>
          </p:cNvPr>
          <p:cNvSpPr/>
          <p:nvPr/>
        </p:nvSpPr>
        <p:spPr>
          <a:xfrm>
            <a:off x="292116" y="351746"/>
            <a:ext cx="8339668" cy="523220"/>
          </a:xfrm>
          <a:prstGeom prst="rect">
            <a:avLst/>
          </a:prstGeom>
        </p:spPr>
        <p:txBody>
          <a:bodyPr wrap="square">
            <a:spAutoFit/>
          </a:bodyPr>
          <a:lstStyle/>
          <a:p>
            <a:r>
              <a:rPr lang="it-IT" sz="2800" b="1" dirty="0"/>
              <a:t>Ruoli della Gestione Strategica </a:t>
            </a:r>
          </a:p>
        </p:txBody>
      </p:sp>
      <p:sp>
        <p:nvSpPr>
          <p:cNvPr id="3" name="Rettangolo 2">
            <a:extLst>
              <a:ext uri="{FF2B5EF4-FFF2-40B4-BE49-F238E27FC236}">
                <a16:creationId xmlns:a16="http://schemas.microsoft.com/office/drawing/2014/main" id="{E2B1C37E-7332-457B-9DBC-7E236B2D9CF1}"/>
              </a:ext>
            </a:extLst>
          </p:cNvPr>
          <p:cNvSpPr/>
          <p:nvPr/>
        </p:nvSpPr>
        <p:spPr>
          <a:xfrm>
            <a:off x="546846" y="1148836"/>
            <a:ext cx="8050307" cy="4708981"/>
          </a:xfrm>
          <a:prstGeom prst="rect">
            <a:avLst/>
          </a:prstGeom>
        </p:spPr>
        <p:txBody>
          <a:bodyPr wrap="square">
            <a:spAutoFit/>
          </a:bodyPr>
          <a:lstStyle/>
          <a:p>
            <a:pPr algn="just"/>
            <a:r>
              <a:rPr lang="it-IT" sz="2000" dirty="0"/>
              <a:t>La gestione strategica svolge una pluralità di ruoli e contribuisce al perseguimento di tre importanti obiettivi manageriali.</a:t>
            </a:r>
          </a:p>
          <a:p>
            <a:pPr marL="514350" indent="-514350" algn="just">
              <a:buAutoNum type="alphaLcParenR"/>
            </a:pPr>
            <a:r>
              <a:rPr lang="it-IT" sz="2000" b="1" dirty="0"/>
              <a:t>Supporto alle decisioni</a:t>
            </a:r>
            <a:r>
              <a:rPr lang="it-IT" sz="2000" dirty="0"/>
              <a:t>: linea guida e tema unificante che dà coerenza alle decisioni, conduce a decisioni migliori superando la razionalità limitata dei soggetti, mettendo in comune più conoscenze e facilitando l’applicazione di strumenti analitici. </a:t>
            </a:r>
          </a:p>
          <a:p>
            <a:pPr marL="514350" indent="-514350" algn="just">
              <a:buAutoNum type="alphaLcParenR"/>
            </a:pPr>
            <a:r>
              <a:rPr lang="it-IT" sz="2000" b="1" dirty="0"/>
              <a:t>Strumento di coordinamento e comunicazione </a:t>
            </a:r>
            <a:r>
              <a:rPr lang="it-IT" sz="2000" dirty="0"/>
              <a:t>delle azioni individuali attraverso la comunicazione a tutti i membri dell’organizzazione ed il coinvolgimento delle varie funzioni, livelli e gruppi di interesse presenti all’interno dell’organizzazione.</a:t>
            </a:r>
          </a:p>
          <a:p>
            <a:pPr marL="514350" indent="-514350" algn="just">
              <a:buAutoNum type="alphaLcParenR"/>
            </a:pPr>
            <a:r>
              <a:rPr lang="it-IT" sz="2000" b="1" dirty="0"/>
              <a:t>Strategia come obiettivo</a:t>
            </a:r>
            <a:r>
              <a:rPr lang="it-IT" sz="2000" dirty="0"/>
              <a:t>: lo scopo di guardare al futuro non è solo stabilire in quali direzioni guidare la formulazione della strategia, ma anche definire aspirazioni per l’impresa che possano motivare i membri dell’organizzazione (intento strategico).</a:t>
            </a:r>
          </a:p>
        </p:txBody>
      </p:sp>
    </p:spTree>
    <p:extLst>
      <p:ext uri="{BB962C8B-B14F-4D97-AF65-F5344CB8AC3E}">
        <p14:creationId xmlns:p14="http://schemas.microsoft.com/office/powerpoint/2010/main" val="20855420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tangolo 4">
            <a:extLst>
              <a:ext uri="{FF2B5EF4-FFF2-40B4-BE49-F238E27FC236}">
                <a16:creationId xmlns:a16="http://schemas.microsoft.com/office/drawing/2014/main" id="{C281CD81-C391-4506-9CE3-0B9021CAD35C}"/>
              </a:ext>
            </a:extLst>
          </p:cNvPr>
          <p:cNvSpPr/>
          <p:nvPr/>
        </p:nvSpPr>
        <p:spPr>
          <a:xfrm>
            <a:off x="292116" y="351746"/>
            <a:ext cx="8339668" cy="523220"/>
          </a:xfrm>
          <a:prstGeom prst="rect">
            <a:avLst/>
          </a:prstGeom>
        </p:spPr>
        <p:txBody>
          <a:bodyPr wrap="square">
            <a:spAutoFit/>
          </a:bodyPr>
          <a:lstStyle/>
          <a:p>
            <a:r>
              <a:rPr lang="it-IT" sz="2800" b="1" dirty="0"/>
              <a:t>Ruoli della Gestione Strategica </a:t>
            </a:r>
          </a:p>
        </p:txBody>
      </p:sp>
      <p:sp>
        <p:nvSpPr>
          <p:cNvPr id="3" name="Rettangolo 2">
            <a:extLst>
              <a:ext uri="{FF2B5EF4-FFF2-40B4-BE49-F238E27FC236}">
                <a16:creationId xmlns:a16="http://schemas.microsoft.com/office/drawing/2014/main" id="{E2B1C37E-7332-457B-9DBC-7E236B2D9CF1}"/>
              </a:ext>
            </a:extLst>
          </p:cNvPr>
          <p:cNvSpPr/>
          <p:nvPr/>
        </p:nvSpPr>
        <p:spPr>
          <a:xfrm>
            <a:off x="359440" y="2505634"/>
            <a:ext cx="8422192" cy="2308324"/>
          </a:xfrm>
          <a:prstGeom prst="rect">
            <a:avLst/>
          </a:prstGeom>
        </p:spPr>
        <p:txBody>
          <a:bodyPr wrap="square">
            <a:spAutoFit/>
          </a:bodyPr>
          <a:lstStyle/>
          <a:p>
            <a:pPr marL="342900" indent="-342900" algn="just">
              <a:buFont typeface="Arial" panose="020B0604020202020204" pitchFamily="34" charset="0"/>
              <a:buChar char="•"/>
            </a:pPr>
            <a:r>
              <a:rPr lang="it-IT" sz="2400" dirty="0"/>
              <a:t>Aiutare a comprendere i problemi;</a:t>
            </a:r>
          </a:p>
          <a:p>
            <a:pPr marL="342900" indent="-342900" algn="just">
              <a:buFont typeface="Arial" panose="020B0604020202020204" pitchFamily="34" charset="0"/>
              <a:buChar char="•"/>
            </a:pPr>
            <a:r>
              <a:rPr lang="it-IT" sz="2400" dirty="0"/>
              <a:t>Identificare e classificare i principali fattori di influenza delle decisioni strategiche;</a:t>
            </a:r>
          </a:p>
          <a:p>
            <a:pPr marL="342900" indent="-342900" algn="just">
              <a:buFont typeface="Arial" panose="020B0604020202020204" pitchFamily="34" charset="0"/>
              <a:buChar char="•"/>
            </a:pPr>
            <a:r>
              <a:rPr lang="it-IT" sz="2400" dirty="0"/>
              <a:t>Capire la complessità delle decisioni strategiche al fine di migliorare l’approccio del management alla strategia rendendolo dinamico, flessibile e innovativo.</a:t>
            </a:r>
            <a:endParaRPr lang="it-IT" sz="2000" dirty="0"/>
          </a:p>
        </p:txBody>
      </p:sp>
      <p:sp>
        <p:nvSpPr>
          <p:cNvPr id="2" name="Rettangolo 1">
            <a:extLst>
              <a:ext uri="{FF2B5EF4-FFF2-40B4-BE49-F238E27FC236}">
                <a16:creationId xmlns:a16="http://schemas.microsoft.com/office/drawing/2014/main" id="{D578AD3D-C801-40AB-9F9C-9A342B44270D}"/>
              </a:ext>
            </a:extLst>
          </p:cNvPr>
          <p:cNvSpPr/>
          <p:nvPr/>
        </p:nvSpPr>
        <p:spPr>
          <a:xfrm>
            <a:off x="428216" y="1398583"/>
            <a:ext cx="8284640" cy="461665"/>
          </a:xfrm>
          <a:prstGeom prst="rect">
            <a:avLst/>
          </a:prstGeom>
        </p:spPr>
        <p:txBody>
          <a:bodyPr wrap="none">
            <a:spAutoFit/>
          </a:bodyPr>
          <a:lstStyle/>
          <a:p>
            <a:r>
              <a:rPr lang="it-IT" sz="2400" b="1" dirty="0"/>
              <a:t>Scopo dell’analisi strategica non è fornire risposte, ma:</a:t>
            </a:r>
          </a:p>
        </p:txBody>
      </p:sp>
    </p:spTree>
    <p:extLst>
      <p:ext uri="{BB962C8B-B14F-4D97-AF65-F5344CB8AC3E}">
        <p14:creationId xmlns:p14="http://schemas.microsoft.com/office/powerpoint/2010/main" val="12527491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tangolo 4">
            <a:extLst>
              <a:ext uri="{FF2B5EF4-FFF2-40B4-BE49-F238E27FC236}">
                <a16:creationId xmlns:a16="http://schemas.microsoft.com/office/drawing/2014/main" id="{C281CD81-C391-4506-9CE3-0B9021CAD35C}"/>
              </a:ext>
            </a:extLst>
          </p:cNvPr>
          <p:cNvSpPr/>
          <p:nvPr/>
        </p:nvSpPr>
        <p:spPr>
          <a:xfrm>
            <a:off x="292116" y="351746"/>
            <a:ext cx="8339668" cy="523220"/>
          </a:xfrm>
          <a:prstGeom prst="rect">
            <a:avLst/>
          </a:prstGeom>
        </p:spPr>
        <p:txBody>
          <a:bodyPr wrap="square">
            <a:spAutoFit/>
          </a:bodyPr>
          <a:lstStyle/>
          <a:p>
            <a:r>
              <a:rPr lang="it-IT" sz="2800" b="1" dirty="0"/>
              <a:t>Obiettivi Aziendali </a:t>
            </a:r>
          </a:p>
        </p:txBody>
      </p:sp>
      <p:sp>
        <p:nvSpPr>
          <p:cNvPr id="3" name="Rettangolo 2">
            <a:extLst>
              <a:ext uri="{FF2B5EF4-FFF2-40B4-BE49-F238E27FC236}">
                <a16:creationId xmlns:a16="http://schemas.microsoft.com/office/drawing/2014/main" id="{E2B1C37E-7332-457B-9DBC-7E236B2D9CF1}"/>
              </a:ext>
            </a:extLst>
          </p:cNvPr>
          <p:cNvSpPr/>
          <p:nvPr/>
        </p:nvSpPr>
        <p:spPr>
          <a:xfrm>
            <a:off x="360904" y="942364"/>
            <a:ext cx="8422192" cy="2677656"/>
          </a:xfrm>
          <a:prstGeom prst="rect">
            <a:avLst/>
          </a:prstGeom>
        </p:spPr>
        <p:txBody>
          <a:bodyPr wrap="square">
            <a:spAutoFit/>
          </a:bodyPr>
          <a:lstStyle/>
          <a:p>
            <a:pPr algn="just"/>
            <a:r>
              <a:rPr lang="it-IT" sz="2100" dirty="0"/>
              <a:t>Lo schema di Analisi Strategica si compone di:</a:t>
            </a:r>
          </a:p>
          <a:p>
            <a:pPr marL="342900" indent="-342900" algn="just">
              <a:buFont typeface="Arial" panose="020B0604020202020204" pitchFamily="34" charset="0"/>
              <a:buChar char="•"/>
            </a:pPr>
            <a:r>
              <a:rPr lang="it-IT" sz="2100" b="1" dirty="0"/>
              <a:t>RISORSE e COMPETENZE</a:t>
            </a:r>
          </a:p>
          <a:p>
            <a:pPr marL="342900" indent="-342900" algn="just">
              <a:buFont typeface="Arial" panose="020B0604020202020204" pitchFamily="34" charset="0"/>
              <a:buChar char="•"/>
            </a:pPr>
            <a:r>
              <a:rPr lang="it-IT" sz="2100" b="1" dirty="0"/>
              <a:t>SETTORE in cui si opera</a:t>
            </a:r>
          </a:p>
          <a:p>
            <a:pPr marL="342900" indent="-342900" algn="just">
              <a:buFont typeface="Arial" panose="020B0604020202020204" pitchFamily="34" charset="0"/>
              <a:buChar char="•"/>
            </a:pPr>
            <a:r>
              <a:rPr lang="it-IT" sz="2100" b="1" dirty="0"/>
              <a:t>STRUTTURA e SISTEMI MANAGERIALI</a:t>
            </a:r>
          </a:p>
          <a:p>
            <a:pPr marL="342900" indent="-342900" algn="just">
              <a:buFont typeface="Arial" panose="020B0604020202020204" pitchFamily="34" charset="0"/>
              <a:buChar char="•"/>
            </a:pPr>
            <a:r>
              <a:rPr lang="it-IT" sz="2100" b="1" dirty="0"/>
              <a:t>OBIETTIVI e VALORI</a:t>
            </a:r>
          </a:p>
          <a:p>
            <a:pPr marL="342900" indent="-342900" algn="just">
              <a:buFont typeface="Arial" panose="020B0604020202020204" pitchFamily="34" charset="0"/>
              <a:buChar char="•"/>
            </a:pPr>
            <a:endParaRPr lang="it-IT" sz="2100" b="1" dirty="0"/>
          </a:p>
          <a:p>
            <a:pPr algn="just"/>
            <a:r>
              <a:rPr lang="it-IT" sz="2100" dirty="0"/>
              <a:t>“La Strategia è il modo con cui l’impresa impiega le proprie risorse e competenze nel settore di attività per raggiungere i suoi obiettivi”.</a:t>
            </a:r>
          </a:p>
        </p:txBody>
      </p:sp>
      <p:sp>
        <p:nvSpPr>
          <p:cNvPr id="4" name="Rettangolo 3">
            <a:extLst>
              <a:ext uri="{FF2B5EF4-FFF2-40B4-BE49-F238E27FC236}">
                <a16:creationId xmlns:a16="http://schemas.microsoft.com/office/drawing/2014/main" id="{544F12D6-E7F0-47C9-AB33-615BF75A9FE1}"/>
              </a:ext>
            </a:extLst>
          </p:cNvPr>
          <p:cNvSpPr/>
          <p:nvPr/>
        </p:nvSpPr>
        <p:spPr>
          <a:xfrm>
            <a:off x="717179" y="3947067"/>
            <a:ext cx="2000900" cy="707886"/>
          </a:xfrm>
          <a:prstGeom prst="rect">
            <a:avLst/>
          </a:prstGeom>
        </p:spPr>
        <p:txBody>
          <a:bodyPr wrap="square">
            <a:spAutoFit/>
          </a:bodyPr>
          <a:lstStyle/>
          <a:p>
            <a:pPr algn="ctr"/>
            <a:r>
              <a:rPr lang="it-IT" sz="2000" b="1" dirty="0"/>
              <a:t>OBIETTIVO PRIMARIO</a:t>
            </a:r>
            <a:endParaRPr lang="it-IT" sz="2000" dirty="0"/>
          </a:p>
        </p:txBody>
      </p:sp>
      <p:sp>
        <p:nvSpPr>
          <p:cNvPr id="6" name="Rettangolo 5">
            <a:extLst>
              <a:ext uri="{FF2B5EF4-FFF2-40B4-BE49-F238E27FC236}">
                <a16:creationId xmlns:a16="http://schemas.microsoft.com/office/drawing/2014/main" id="{F9AB2669-D37B-4695-B291-2AA0C808EF7D}"/>
              </a:ext>
            </a:extLst>
          </p:cNvPr>
          <p:cNvSpPr/>
          <p:nvPr/>
        </p:nvSpPr>
        <p:spPr>
          <a:xfrm>
            <a:off x="4212433" y="3947067"/>
            <a:ext cx="4151638" cy="707886"/>
          </a:xfrm>
          <a:prstGeom prst="rect">
            <a:avLst/>
          </a:prstGeom>
        </p:spPr>
        <p:txBody>
          <a:bodyPr wrap="square">
            <a:spAutoFit/>
          </a:bodyPr>
          <a:lstStyle/>
          <a:p>
            <a:pPr algn="ctr"/>
            <a:r>
              <a:rPr lang="it-IT" sz="2000" dirty="0"/>
              <a:t>Massimizzazione Profitto nel lungo periodo</a:t>
            </a:r>
          </a:p>
        </p:txBody>
      </p:sp>
      <p:cxnSp>
        <p:nvCxnSpPr>
          <p:cNvPr id="8" name="Connettore 2 7">
            <a:extLst>
              <a:ext uri="{FF2B5EF4-FFF2-40B4-BE49-F238E27FC236}">
                <a16:creationId xmlns:a16="http://schemas.microsoft.com/office/drawing/2014/main" id="{BB563520-4D00-4307-A75E-D663CD78A42A}"/>
              </a:ext>
            </a:extLst>
          </p:cNvPr>
          <p:cNvCxnSpPr>
            <a:cxnSpLocks/>
          </p:cNvCxnSpPr>
          <p:nvPr/>
        </p:nvCxnSpPr>
        <p:spPr>
          <a:xfrm>
            <a:off x="2619464" y="4301010"/>
            <a:ext cx="1494354" cy="0"/>
          </a:xfrm>
          <a:prstGeom prst="straightConnector1">
            <a:avLst/>
          </a:prstGeom>
          <a:ln w="203200">
            <a:tailEnd type="triangle"/>
          </a:ln>
        </p:spPr>
        <p:style>
          <a:lnRef idx="1">
            <a:schemeClr val="accent1"/>
          </a:lnRef>
          <a:fillRef idx="0">
            <a:schemeClr val="accent1"/>
          </a:fillRef>
          <a:effectRef idx="0">
            <a:schemeClr val="accent1"/>
          </a:effectRef>
          <a:fontRef idx="minor">
            <a:schemeClr val="tx1"/>
          </a:fontRef>
        </p:style>
      </p:cxnSp>
      <p:sp>
        <p:nvSpPr>
          <p:cNvPr id="9" name="Rettangolo 8">
            <a:extLst>
              <a:ext uri="{FF2B5EF4-FFF2-40B4-BE49-F238E27FC236}">
                <a16:creationId xmlns:a16="http://schemas.microsoft.com/office/drawing/2014/main" id="{62101D20-3DC3-4E1D-8D8A-1DC2564EDAC0}"/>
              </a:ext>
            </a:extLst>
          </p:cNvPr>
          <p:cNvSpPr/>
          <p:nvPr/>
        </p:nvSpPr>
        <p:spPr>
          <a:xfrm>
            <a:off x="2637394" y="5040768"/>
            <a:ext cx="4151638" cy="400110"/>
          </a:xfrm>
          <a:prstGeom prst="rect">
            <a:avLst/>
          </a:prstGeom>
        </p:spPr>
        <p:txBody>
          <a:bodyPr wrap="square">
            <a:spAutoFit/>
          </a:bodyPr>
          <a:lstStyle/>
          <a:p>
            <a:pPr algn="ctr"/>
            <a:r>
              <a:rPr lang="it-IT" sz="2000" dirty="0"/>
              <a:t>Mission</a:t>
            </a:r>
          </a:p>
        </p:txBody>
      </p:sp>
      <p:sp>
        <p:nvSpPr>
          <p:cNvPr id="10" name="Rettangolo 9">
            <a:extLst>
              <a:ext uri="{FF2B5EF4-FFF2-40B4-BE49-F238E27FC236}">
                <a16:creationId xmlns:a16="http://schemas.microsoft.com/office/drawing/2014/main" id="{CEDDFBBA-C2D0-4757-A585-50CFD24727FD}"/>
              </a:ext>
            </a:extLst>
          </p:cNvPr>
          <p:cNvSpPr/>
          <p:nvPr/>
        </p:nvSpPr>
        <p:spPr>
          <a:xfrm>
            <a:off x="2619464" y="5915636"/>
            <a:ext cx="4151638" cy="400110"/>
          </a:xfrm>
          <a:prstGeom prst="rect">
            <a:avLst/>
          </a:prstGeom>
        </p:spPr>
        <p:txBody>
          <a:bodyPr wrap="square">
            <a:spAutoFit/>
          </a:bodyPr>
          <a:lstStyle/>
          <a:p>
            <a:pPr algn="ctr"/>
            <a:r>
              <a:rPr lang="it-IT" sz="2000" dirty="0"/>
              <a:t>Profitto</a:t>
            </a:r>
          </a:p>
        </p:txBody>
      </p:sp>
      <p:sp>
        <p:nvSpPr>
          <p:cNvPr id="21" name="Freccia circolare a destra 20">
            <a:extLst>
              <a:ext uri="{FF2B5EF4-FFF2-40B4-BE49-F238E27FC236}">
                <a16:creationId xmlns:a16="http://schemas.microsoft.com/office/drawing/2014/main" id="{C519C9B9-8D9C-42BB-AA34-9630DF6D4E65}"/>
              </a:ext>
            </a:extLst>
          </p:cNvPr>
          <p:cNvSpPr/>
          <p:nvPr/>
        </p:nvSpPr>
        <p:spPr>
          <a:xfrm>
            <a:off x="2718080" y="5126740"/>
            <a:ext cx="1494354" cy="1292326"/>
          </a:xfrm>
          <a:prstGeom prst="curvedRightArrow">
            <a:avLst>
              <a:gd name="adj1" fmla="val 25000"/>
              <a:gd name="adj2" fmla="val 43737"/>
              <a:gd name="adj3" fmla="val 25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22" name="Freccia circolare a sinistra 21">
            <a:extLst>
              <a:ext uri="{FF2B5EF4-FFF2-40B4-BE49-F238E27FC236}">
                <a16:creationId xmlns:a16="http://schemas.microsoft.com/office/drawing/2014/main" id="{83157813-8CB8-4D3C-A708-ED07BB8506C2}"/>
              </a:ext>
            </a:extLst>
          </p:cNvPr>
          <p:cNvSpPr/>
          <p:nvPr/>
        </p:nvSpPr>
        <p:spPr>
          <a:xfrm>
            <a:off x="5235388" y="5150572"/>
            <a:ext cx="1428007" cy="1268494"/>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Tree>
    <p:extLst>
      <p:ext uri="{BB962C8B-B14F-4D97-AF65-F5344CB8AC3E}">
        <p14:creationId xmlns:p14="http://schemas.microsoft.com/office/powerpoint/2010/main" val="30710795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tangolo 4">
            <a:extLst>
              <a:ext uri="{FF2B5EF4-FFF2-40B4-BE49-F238E27FC236}">
                <a16:creationId xmlns:a16="http://schemas.microsoft.com/office/drawing/2014/main" id="{C281CD81-C391-4506-9CE3-0B9021CAD35C}"/>
              </a:ext>
            </a:extLst>
          </p:cNvPr>
          <p:cNvSpPr/>
          <p:nvPr/>
        </p:nvSpPr>
        <p:spPr>
          <a:xfrm>
            <a:off x="292116" y="351746"/>
            <a:ext cx="8339668" cy="523220"/>
          </a:xfrm>
          <a:prstGeom prst="rect">
            <a:avLst/>
          </a:prstGeom>
        </p:spPr>
        <p:txBody>
          <a:bodyPr wrap="square">
            <a:spAutoFit/>
          </a:bodyPr>
          <a:lstStyle/>
          <a:p>
            <a:r>
              <a:rPr lang="it-IT" sz="2800" b="1" dirty="0"/>
              <a:t>Obiettivi Aziendali </a:t>
            </a:r>
          </a:p>
        </p:txBody>
      </p:sp>
      <p:sp>
        <p:nvSpPr>
          <p:cNvPr id="3" name="Rettangolo 2">
            <a:extLst>
              <a:ext uri="{FF2B5EF4-FFF2-40B4-BE49-F238E27FC236}">
                <a16:creationId xmlns:a16="http://schemas.microsoft.com/office/drawing/2014/main" id="{E2B1C37E-7332-457B-9DBC-7E236B2D9CF1}"/>
              </a:ext>
            </a:extLst>
          </p:cNvPr>
          <p:cNvSpPr/>
          <p:nvPr/>
        </p:nvSpPr>
        <p:spPr>
          <a:xfrm>
            <a:off x="1200206" y="1310618"/>
            <a:ext cx="7026014" cy="415498"/>
          </a:xfrm>
          <a:prstGeom prst="rect">
            <a:avLst/>
          </a:prstGeom>
        </p:spPr>
        <p:txBody>
          <a:bodyPr wrap="square">
            <a:spAutoFit/>
          </a:bodyPr>
          <a:lstStyle/>
          <a:p>
            <a:pPr algn="just"/>
            <a:r>
              <a:rPr lang="it-IT" sz="2100" dirty="0"/>
              <a:t>L’attività d’impresa è volta a creare VALORE attraverso:</a:t>
            </a:r>
          </a:p>
        </p:txBody>
      </p:sp>
      <p:sp>
        <p:nvSpPr>
          <p:cNvPr id="4" name="Rettangolo 3">
            <a:extLst>
              <a:ext uri="{FF2B5EF4-FFF2-40B4-BE49-F238E27FC236}">
                <a16:creationId xmlns:a16="http://schemas.microsoft.com/office/drawing/2014/main" id="{544F12D6-E7F0-47C9-AB33-615BF75A9FE1}"/>
              </a:ext>
            </a:extLst>
          </p:cNvPr>
          <p:cNvSpPr/>
          <p:nvPr/>
        </p:nvSpPr>
        <p:spPr>
          <a:xfrm>
            <a:off x="640978" y="5088528"/>
            <a:ext cx="7835150" cy="954107"/>
          </a:xfrm>
          <a:prstGeom prst="rect">
            <a:avLst/>
          </a:prstGeom>
        </p:spPr>
        <p:txBody>
          <a:bodyPr wrap="square">
            <a:spAutoFit/>
          </a:bodyPr>
          <a:lstStyle/>
          <a:p>
            <a:pPr algn="ctr"/>
            <a:r>
              <a:rPr lang="it-IT" sz="2800" dirty="0"/>
              <a:t>Proventi dalla vendita di </a:t>
            </a:r>
            <a:r>
              <a:rPr lang="it-IT" sz="2800" b="1" dirty="0"/>
              <a:t>Output </a:t>
            </a:r>
            <a:r>
              <a:rPr lang="it-IT" sz="2800" dirty="0"/>
              <a:t>- Costi sostenuti per </a:t>
            </a:r>
            <a:r>
              <a:rPr lang="it-IT" sz="2800" b="1" dirty="0"/>
              <a:t>Input</a:t>
            </a:r>
            <a:endParaRPr lang="it-IT" sz="2800" dirty="0"/>
          </a:p>
        </p:txBody>
      </p:sp>
      <p:sp>
        <p:nvSpPr>
          <p:cNvPr id="6" name="Rettangolo 5">
            <a:extLst>
              <a:ext uri="{FF2B5EF4-FFF2-40B4-BE49-F238E27FC236}">
                <a16:creationId xmlns:a16="http://schemas.microsoft.com/office/drawing/2014/main" id="{F9AB2669-D37B-4695-B291-2AA0C808EF7D}"/>
              </a:ext>
            </a:extLst>
          </p:cNvPr>
          <p:cNvSpPr/>
          <p:nvPr/>
        </p:nvSpPr>
        <p:spPr>
          <a:xfrm>
            <a:off x="753035" y="4153262"/>
            <a:ext cx="7611036" cy="830997"/>
          </a:xfrm>
          <a:prstGeom prst="rect">
            <a:avLst/>
          </a:prstGeom>
        </p:spPr>
        <p:txBody>
          <a:bodyPr wrap="square">
            <a:spAutoFit/>
          </a:bodyPr>
          <a:lstStyle/>
          <a:p>
            <a:pPr algn="ctr"/>
            <a:r>
              <a:rPr lang="it-IT" sz="2400" dirty="0"/>
              <a:t>Il valore che si crea viene denominato </a:t>
            </a:r>
            <a:r>
              <a:rPr lang="it-IT" sz="2400" b="1" dirty="0"/>
              <a:t>Valore Aggiunto </a:t>
            </a:r>
            <a:r>
              <a:rPr lang="it-IT" sz="2400" dirty="0"/>
              <a:t>che si calcola:</a:t>
            </a:r>
          </a:p>
        </p:txBody>
      </p:sp>
      <p:cxnSp>
        <p:nvCxnSpPr>
          <p:cNvPr id="8" name="Connettore 2 7">
            <a:extLst>
              <a:ext uri="{FF2B5EF4-FFF2-40B4-BE49-F238E27FC236}">
                <a16:creationId xmlns:a16="http://schemas.microsoft.com/office/drawing/2014/main" id="{BB563520-4D00-4307-A75E-D663CD78A42A}"/>
              </a:ext>
            </a:extLst>
          </p:cNvPr>
          <p:cNvCxnSpPr>
            <a:cxnSpLocks/>
          </p:cNvCxnSpPr>
          <p:nvPr/>
        </p:nvCxnSpPr>
        <p:spPr>
          <a:xfrm flipH="1">
            <a:off x="3048001" y="1746858"/>
            <a:ext cx="1013541" cy="1391578"/>
          </a:xfrm>
          <a:prstGeom prst="straightConnector1">
            <a:avLst/>
          </a:prstGeom>
          <a:ln w="203200">
            <a:tailEnd type="triangle"/>
          </a:ln>
        </p:spPr>
        <p:style>
          <a:lnRef idx="1">
            <a:schemeClr val="accent1"/>
          </a:lnRef>
          <a:fillRef idx="0">
            <a:schemeClr val="accent1"/>
          </a:fillRef>
          <a:effectRef idx="0">
            <a:schemeClr val="accent1"/>
          </a:effectRef>
          <a:fontRef idx="minor">
            <a:schemeClr val="tx1"/>
          </a:fontRef>
        </p:style>
      </p:cxnSp>
      <p:sp>
        <p:nvSpPr>
          <p:cNvPr id="9" name="Rettangolo 8">
            <a:extLst>
              <a:ext uri="{FF2B5EF4-FFF2-40B4-BE49-F238E27FC236}">
                <a16:creationId xmlns:a16="http://schemas.microsoft.com/office/drawing/2014/main" id="{62101D20-3DC3-4E1D-8D8A-1DC2564EDAC0}"/>
              </a:ext>
            </a:extLst>
          </p:cNvPr>
          <p:cNvSpPr/>
          <p:nvPr/>
        </p:nvSpPr>
        <p:spPr>
          <a:xfrm>
            <a:off x="1879387" y="3275047"/>
            <a:ext cx="2000901" cy="400110"/>
          </a:xfrm>
          <a:prstGeom prst="rect">
            <a:avLst/>
          </a:prstGeom>
        </p:spPr>
        <p:txBody>
          <a:bodyPr wrap="square">
            <a:spAutoFit/>
          </a:bodyPr>
          <a:lstStyle/>
          <a:p>
            <a:pPr algn="ctr"/>
            <a:r>
              <a:rPr lang="it-IT" sz="2000" b="1" dirty="0"/>
              <a:t>Produzione</a:t>
            </a:r>
          </a:p>
        </p:txBody>
      </p:sp>
      <p:sp>
        <p:nvSpPr>
          <p:cNvPr id="10" name="Rettangolo 9">
            <a:extLst>
              <a:ext uri="{FF2B5EF4-FFF2-40B4-BE49-F238E27FC236}">
                <a16:creationId xmlns:a16="http://schemas.microsoft.com/office/drawing/2014/main" id="{CEDDFBBA-C2D0-4757-A585-50CFD24727FD}"/>
              </a:ext>
            </a:extLst>
          </p:cNvPr>
          <p:cNvSpPr/>
          <p:nvPr/>
        </p:nvSpPr>
        <p:spPr>
          <a:xfrm>
            <a:off x="4713213" y="3280914"/>
            <a:ext cx="2075819" cy="400110"/>
          </a:xfrm>
          <a:prstGeom prst="rect">
            <a:avLst/>
          </a:prstGeom>
        </p:spPr>
        <p:txBody>
          <a:bodyPr wrap="square">
            <a:spAutoFit/>
          </a:bodyPr>
          <a:lstStyle/>
          <a:p>
            <a:pPr algn="ctr"/>
            <a:r>
              <a:rPr lang="it-IT" sz="2000" b="1" dirty="0"/>
              <a:t>Scambio</a:t>
            </a:r>
          </a:p>
        </p:txBody>
      </p:sp>
      <p:cxnSp>
        <p:nvCxnSpPr>
          <p:cNvPr id="13" name="Connettore 2 12">
            <a:extLst>
              <a:ext uri="{FF2B5EF4-FFF2-40B4-BE49-F238E27FC236}">
                <a16:creationId xmlns:a16="http://schemas.microsoft.com/office/drawing/2014/main" id="{4FE5685F-4C20-4671-A466-8FAFFA65381F}"/>
              </a:ext>
            </a:extLst>
          </p:cNvPr>
          <p:cNvCxnSpPr>
            <a:cxnSpLocks/>
          </p:cNvCxnSpPr>
          <p:nvPr/>
        </p:nvCxnSpPr>
        <p:spPr>
          <a:xfrm>
            <a:off x="4589930" y="1746858"/>
            <a:ext cx="953724" cy="1391578"/>
          </a:xfrm>
          <a:prstGeom prst="straightConnector1">
            <a:avLst/>
          </a:prstGeom>
          <a:ln w="203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13028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tangolo 4">
            <a:extLst>
              <a:ext uri="{FF2B5EF4-FFF2-40B4-BE49-F238E27FC236}">
                <a16:creationId xmlns:a16="http://schemas.microsoft.com/office/drawing/2014/main" id="{C281CD81-C391-4506-9CE3-0B9021CAD35C}"/>
              </a:ext>
            </a:extLst>
          </p:cNvPr>
          <p:cNvSpPr/>
          <p:nvPr/>
        </p:nvSpPr>
        <p:spPr>
          <a:xfrm>
            <a:off x="292116" y="351746"/>
            <a:ext cx="8339668" cy="523220"/>
          </a:xfrm>
          <a:prstGeom prst="rect">
            <a:avLst/>
          </a:prstGeom>
        </p:spPr>
        <p:txBody>
          <a:bodyPr wrap="square">
            <a:spAutoFit/>
          </a:bodyPr>
          <a:lstStyle/>
          <a:p>
            <a:r>
              <a:rPr lang="it-IT" sz="2800" b="1" dirty="0"/>
              <a:t>Valori, Vision e Mission</a:t>
            </a:r>
          </a:p>
        </p:txBody>
      </p:sp>
      <p:sp>
        <p:nvSpPr>
          <p:cNvPr id="2" name="Rettangolo 1">
            <a:extLst>
              <a:ext uri="{FF2B5EF4-FFF2-40B4-BE49-F238E27FC236}">
                <a16:creationId xmlns:a16="http://schemas.microsoft.com/office/drawing/2014/main" id="{E95EF675-8EE4-46AA-9B7C-E48392CD2558}"/>
              </a:ext>
            </a:extLst>
          </p:cNvPr>
          <p:cNvSpPr/>
          <p:nvPr/>
        </p:nvSpPr>
        <p:spPr>
          <a:xfrm>
            <a:off x="292116" y="1046197"/>
            <a:ext cx="8448473" cy="707886"/>
          </a:xfrm>
          <a:prstGeom prst="rect">
            <a:avLst/>
          </a:prstGeom>
        </p:spPr>
        <p:txBody>
          <a:bodyPr wrap="square">
            <a:spAutoFit/>
          </a:bodyPr>
          <a:lstStyle/>
          <a:p>
            <a:pPr algn="just"/>
            <a:r>
              <a:rPr lang="it-IT" sz="2000" b="1" i="1" dirty="0"/>
              <a:t>I profitti sono essenziali per l’esistenza dell’impresa, ma non sono la ragione della sua esistenza…                                              </a:t>
            </a:r>
            <a:r>
              <a:rPr lang="it-IT" sz="2000" dirty="0"/>
              <a:t>Dennis Blake</a:t>
            </a:r>
          </a:p>
        </p:txBody>
      </p:sp>
      <p:sp>
        <p:nvSpPr>
          <p:cNvPr id="7" name="Rettangolo 6">
            <a:extLst>
              <a:ext uri="{FF2B5EF4-FFF2-40B4-BE49-F238E27FC236}">
                <a16:creationId xmlns:a16="http://schemas.microsoft.com/office/drawing/2014/main" id="{85755213-4665-4B94-95A4-5F56DD3760EA}"/>
              </a:ext>
            </a:extLst>
          </p:cNvPr>
          <p:cNvSpPr/>
          <p:nvPr/>
        </p:nvSpPr>
        <p:spPr>
          <a:xfrm>
            <a:off x="362310" y="2135286"/>
            <a:ext cx="8516470" cy="3785652"/>
          </a:xfrm>
          <a:prstGeom prst="rect">
            <a:avLst/>
          </a:prstGeom>
        </p:spPr>
        <p:txBody>
          <a:bodyPr wrap="square">
            <a:spAutoFit/>
          </a:bodyPr>
          <a:lstStyle/>
          <a:p>
            <a:pPr algn="just"/>
            <a:r>
              <a:rPr lang="it-IT" sz="2400" dirty="0"/>
              <a:t>Si considerano fondamentali, dunque anche: </a:t>
            </a:r>
          </a:p>
          <a:p>
            <a:pPr marL="342900" indent="-342900" algn="just">
              <a:buFont typeface="Arial" panose="020B0604020202020204" pitchFamily="34" charset="0"/>
              <a:buChar char="•"/>
            </a:pPr>
            <a:r>
              <a:rPr lang="it-IT" sz="2400" b="1" dirty="0"/>
              <a:t>VALORI </a:t>
            </a:r>
            <a:r>
              <a:rPr lang="it-IT" sz="2400" dirty="0"/>
              <a:t>“Il punto di partenza della strategia è l’idea del perché l’azienda esiste”. Si può considerare tra i Valori anche la cultura organizzativa che è quella che indirizza i comportamenti degli attori organizzativi e può essere di 3 livelli: Livello degli artefatti; livello dei valori dichiarati e livello degli assunti taciti e condivisi. </a:t>
            </a:r>
          </a:p>
          <a:p>
            <a:pPr marL="342900" indent="-342900" algn="just">
              <a:buFont typeface="Arial" panose="020B0604020202020204" pitchFamily="34" charset="0"/>
              <a:buChar char="•"/>
            </a:pPr>
            <a:r>
              <a:rPr lang="it-IT" sz="2400" b="1" dirty="0"/>
              <a:t>VISION</a:t>
            </a:r>
            <a:r>
              <a:rPr lang="it-IT" sz="2400" dirty="0"/>
              <a:t> è ciò che si desidererebbe essere (teorico)</a:t>
            </a:r>
          </a:p>
          <a:p>
            <a:pPr marL="342900" indent="-342900" algn="just">
              <a:buFont typeface="Arial" panose="020B0604020202020204" pitchFamily="34" charset="0"/>
              <a:buChar char="•"/>
            </a:pPr>
            <a:r>
              <a:rPr lang="it-IT" sz="2400" b="1" dirty="0"/>
              <a:t>MISSION</a:t>
            </a:r>
            <a:r>
              <a:rPr lang="it-IT" sz="2400" dirty="0"/>
              <a:t> è ciò che effettivamente si può essere (tenendo conto delle variabili aziendali e ambientali) </a:t>
            </a:r>
          </a:p>
        </p:txBody>
      </p:sp>
    </p:spTree>
    <p:extLst>
      <p:ext uri="{BB962C8B-B14F-4D97-AF65-F5344CB8AC3E}">
        <p14:creationId xmlns:p14="http://schemas.microsoft.com/office/powerpoint/2010/main" val="14039289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tangolo 4">
            <a:extLst>
              <a:ext uri="{FF2B5EF4-FFF2-40B4-BE49-F238E27FC236}">
                <a16:creationId xmlns:a16="http://schemas.microsoft.com/office/drawing/2014/main" id="{C281CD81-C391-4506-9CE3-0B9021CAD35C}"/>
              </a:ext>
            </a:extLst>
          </p:cNvPr>
          <p:cNvSpPr/>
          <p:nvPr/>
        </p:nvSpPr>
        <p:spPr>
          <a:xfrm>
            <a:off x="292116" y="351746"/>
            <a:ext cx="8339668" cy="523220"/>
          </a:xfrm>
          <a:prstGeom prst="rect">
            <a:avLst/>
          </a:prstGeom>
        </p:spPr>
        <p:txBody>
          <a:bodyPr wrap="square">
            <a:spAutoFit/>
          </a:bodyPr>
          <a:lstStyle/>
          <a:p>
            <a:r>
              <a:rPr lang="it-IT" sz="2800" b="1" dirty="0"/>
              <a:t>In Sintesi</a:t>
            </a:r>
          </a:p>
        </p:txBody>
      </p:sp>
      <p:sp>
        <p:nvSpPr>
          <p:cNvPr id="3" name="Rettangolo 2">
            <a:extLst>
              <a:ext uri="{FF2B5EF4-FFF2-40B4-BE49-F238E27FC236}">
                <a16:creationId xmlns:a16="http://schemas.microsoft.com/office/drawing/2014/main" id="{77A6104A-49D1-4A2F-8EF9-5BB5CF4C2C25}"/>
              </a:ext>
            </a:extLst>
          </p:cNvPr>
          <p:cNvSpPr/>
          <p:nvPr/>
        </p:nvSpPr>
        <p:spPr>
          <a:xfrm>
            <a:off x="356728" y="1317812"/>
            <a:ext cx="8210443" cy="4524315"/>
          </a:xfrm>
          <a:prstGeom prst="rect">
            <a:avLst/>
          </a:prstGeom>
        </p:spPr>
        <p:txBody>
          <a:bodyPr wrap="square">
            <a:spAutoFit/>
          </a:bodyPr>
          <a:lstStyle/>
          <a:p>
            <a:pPr marL="342900" indent="-342900" algn="just">
              <a:buFont typeface="Arial" panose="020B0604020202020204" pitchFamily="34" charset="0"/>
              <a:buChar char="•"/>
            </a:pPr>
            <a:r>
              <a:rPr lang="it-IT" sz="2400" dirty="0"/>
              <a:t>Ai fini della formulazione della strategia, la massimizzazione del profitto è un principio ragionevole, il quale, nel lungo periodo, si traduce nella massimizzazione del valore dell’impresa, ma non è sempre vero che le imprese che conseguono migliori risultati in termini di profitto sono concentrate solo su quello; infatti sono quelle che nella gestione tendono a raggiungere obiettivi diversi dalla massimizzazione del profitto che di norma arrivano anche a questo obiettivo.</a:t>
            </a:r>
          </a:p>
          <a:p>
            <a:pPr marL="342900" indent="-342900" algn="just">
              <a:buFont typeface="Arial" panose="020B0604020202020204" pitchFamily="34" charset="0"/>
              <a:buChar char="•"/>
            </a:pPr>
            <a:r>
              <a:rPr lang="it-IT" sz="2400" dirty="0"/>
              <a:t>La strategia aziendale si esplica anche attraverso una </a:t>
            </a:r>
            <a:r>
              <a:rPr lang="it-IT" sz="2400" dirty="0" err="1"/>
              <a:t>vision</a:t>
            </a:r>
            <a:r>
              <a:rPr lang="it-IT" sz="2400" dirty="0"/>
              <a:t>, una mission e determinati valori che influenzano la cultura organizzativa</a:t>
            </a:r>
          </a:p>
        </p:txBody>
      </p:sp>
    </p:spTree>
    <p:extLst>
      <p:ext uri="{BB962C8B-B14F-4D97-AF65-F5344CB8AC3E}">
        <p14:creationId xmlns:p14="http://schemas.microsoft.com/office/powerpoint/2010/main" val="1079935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tangolo 4">
            <a:extLst>
              <a:ext uri="{FF2B5EF4-FFF2-40B4-BE49-F238E27FC236}">
                <a16:creationId xmlns:a16="http://schemas.microsoft.com/office/drawing/2014/main" id="{C281CD81-C391-4506-9CE3-0B9021CAD35C}"/>
              </a:ext>
            </a:extLst>
          </p:cNvPr>
          <p:cNvSpPr/>
          <p:nvPr/>
        </p:nvSpPr>
        <p:spPr>
          <a:xfrm>
            <a:off x="292116" y="351746"/>
            <a:ext cx="8339668" cy="523220"/>
          </a:xfrm>
          <a:prstGeom prst="rect">
            <a:avLst/>
          </a:prstGeom>
        </p:spPr>
        <p:txBody>
          <a:bodyPr wrap="square">
            <a:spAutoFit/>
          </a:bodyPr>
          <a:lstStyle/>
          <a:p>
            <a:r>
              <a:rPr lang="it-IT" sz="2800" b="1" dirty="0"/>
              <a:t>Esempi di Vision</a:t>
            </a:r>
          </a:p>
        </p:txBody>
      </p:sp>
      <p:pic>
        <p:nvPicPr>
          <p:cNvPr id="4" name="Immagine 3">
            <a:extLst>
              <a:ext uri="{FF2B5EF4-FFF2-40B4-BE49-F238E27FC236}">
                <a16:creationId xmlns:a16="http://schemas.microsoft.com/office/drawing/2014/main" id="{912F4987-CFB1-42F1-9AF9-3AE568248AAE}"/>
              </a:ext>
            </a:extLst>
          </p:cNvPr>
          <p:cNvPicPr>
            <a:picLocks noChangeAspect="1"/>
          </p:cNvPicPr>
          <p:nvPr/>
        </p:nvPicPr>
        <p:blipFill rotWithShape="1">
          <a:blip r:embed="rId2"/>
          <a:srcRect l="1830" t="18480" b="16213"/>
          <a:stretch/>
        </p:blipFill>
        <p:spPr>
          <a:xfrm>
            <a:off x="292116" y="1228165"/>
            <a:ext cx="8498899" cy="4240306"/>
          </a:xfrm>
          <a:prstGeom prst="rect">
            <a:avLst/>
          </a:prstGeom>
        </p:spPr>
      </p:pic>
    </p:spTree>
    <p:extLst>
      <p:ext uri="{BB962C8B-B14F-4D97-AF65-F5344CB8AC3E}">
        <p14:creationId xmlns:p14="http://schemas.microsoft.com/office/powerpoint/2010/main" val="13561366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tangolo 4">
            <a:extLst>
              <a:ext uri="{FF2B5EF4-FFF2-40B4-BE49-F238E27FC236}">
                <a16:creationId xmlns:a16="http://schemas.microsoft.com/office/drawing/2014/main" id="{C281CD81-C391-4506-9CE3-0B9021CAD35C}"/>
              </a:ext>
            </a:extLst>
          </p:cNvPr>
          <p:cNvSpPr/>
          <p:nvPr/>
        </p:nvSpPr>
        <p:spPr>
          <a:xfrm>
            <a:off x="292116" y="351746"/>
            <a:ext cx="8339668" cy="523220"/>
          </a:xfrm>
          <a:prstGeom prst="rect">
            <a:avLst/>
          </a:prstGeom>
        </p:spPr>
        <p:txBody>
          <a:bodyPr wrap="square">
            <a:spAutoFit/>
          </a:bodyPr>
          <a:lstStyle/>
          <a:p>
            <a:r>
              <a:rPr lang="it-IT" sz="2800" b="1" dirty="0"/>
              <a:t>Esempi di Mission</a:t>
            </a:r>
          </a:p>
        </p:txBody>
      </p:sp>
      <p:pic>
        <p:nvPicPr>
          <p:cNvPr id="2" name="Immagine 1">
            <a:extLst>
              <a:ext uri="{FF2B5EF4-FFF2-40B4-BE49-F238E27FC236}">
                <a16:creationId xmlns:a16="http://schemas.microsoft.com/office/drawing/2014/main" id="{81427F83-E31C-4FDA-B6BC-CD882CB9E7D7}"/>
              </a:ext>
            </a:extLst>
          </p:cNvPr>
          <p:cNvPicPr>
            <a:picLocks noChangeAspect="1"/>
          </p:cNvPicPr>
          <p:nvPr/>
        </p:nvPicPr>
        <p:blipFill>
          <a:blip r:embed="rId2"/>
          <a:stretch>
            <a:fillRect/>
          </a:stretch>
        </p:blipFill>
        <p:spPr>
          <a:xfrm>
            <a:off x="210243" y="919298"/>
            <a:ext cx="8718604" cy="5622816"/>
          </a:xfrm>
          <a:prstGeom prst="rect">
            <a:avLst/>
          </a:prstGeom>
        </p:spPr>
      </p:pic>
    </p:spTree>
    <p:extLst>
      <p:ext uri="{BB962C8B-B14F-4D97-AF65-F5344CB8AC3E}">
        <p14:creationId xmlns:p14="http://schemas.microsoft.com/office/powerpoint/2010/main" val="26777782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tangolo 4">
            <a:extLst>
              <a:ext uri="{FF2B5EF4-FFF2-40B4-BE49-F238E27FC236}">
                <a16:creationId xmlns:a16="http://schemas.microsoft.com/office/drawing/2014/main" id="{C281CD81-C391-4506-9CE3-0B9021CAD35C}"/>
              </a:ext>
            </a:extLst>
          </p:cNvPr>
          <p:cNvSpPr/>
          <p:nvPr/>
        </p:nvSpPr>
        <p:spPr>
          <a:xfrm>
            <a:off x="292116" y="351746"/>
            <a:ext cx="8339668" cy="523220"/>
          </a:xfrm>
          <a:prstGeom prst="rect">
            <a:avLst/>
          </a:prstGeom>
        </p:spPr>
        <p:txBody>
          <a:bodyPr wrap="square">
            <a:spAutoFit/>
          </a:bodyPr>
          <a:lstStyle/>
          <a:p>
            <a:r>
              <a:rPr lang="it-IT" sz="2800" b="1" dirty="0"/>
              <a:t>Vision e Mission</a:t>
            </a:r>
          </a:p>
        </p:txBody>
      </p:sp>
      <p:pic>
        <p:nvPicPr>
          <p:cNvPr id="3" name="Elementi multimediali online 2" title="Definizione di visione e missione (vision e mission)">
            <a:hlinkClick r:id="" action="ppaction://media"/>
            <a:extLst>
              <a:ext uri="{FF2B5EF4-FFF2-40B4-BE49-F238E27FC236}">
                <a16:creationId xmlns:a16="http://schemas.microsoft.com/office/drawing/2014/main" id="{A9A2EAD9-F4EA-4A3D-9AFD-29FBB54C5888}"/>
              </a:ext>
            </a:extLst>
          </p:cNvPr>
          <p:cNvPicPr>
            <a:picLocks noRot="1" noChangeAspect="1"/>
          </p:cNvPicPr>
          <p:nvPr>
            <a:videoFile r:link="rId1"/>
          </p:nvPr>
        </p:nvPicPr>
        <p:blipFill>
          <a:blip r:embed="rId3"/>
          <a:stretch>
            <a:fillRect/>
          </a:stretch>
        </p:blipFill>
        <p:spPr>
          <a:xfrm>
            <a:off x="992094" y="1593476"/>
            <a:ext cx="7159812" cy="4027394"/>
          </a:xfrm>
          <a:prstGeom prst="rect">
            <a:avLst/>
          </a:prstGeom>
        </p:spPr>
      </p:pic>
    </p:spTree>
    <p:extLst>
      <p:ext uri="{BB962C8B-B14F-4D97-AF65-F5344CB8AC3E}">
        <p14:creationId xmlns:p14="http://schemas.microsoft.com/office/powerpoint/2010/main" val="32797150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tangolo 4">
            <a:extLst>
              <a:ext uri="{FF2B5EF4-FFF2-40B4-BE49-F238E27FC236}">
                <a16:creationId xmlns:a16="http://schemas.microsoft.com/office/drawing/2014/main" id="{C281CD81-C391-4506-9CE3-0B9021CAD35C}"/>
              </a:ext>
            </a:extLst>
          </p:cNvPr>
          <p:cNvSpPr/>
          <p:nvPr/>
        </p:nvSpPr>
        <p:spPr>
          <a:xfrm>
            <a:off x="292116" y="351746"/>
            <a:ext cx="8339668" cy="523220"/>
          </a:xfrm>
          <a:prstGeom prst="rect">
            <a:avLst/>
          </a:prstGeom>
        </p:spPr>
        <p:txBody>
          <a:bodyPr wrap="square">
            <a:spAutoFit/>
          </a:bodyPr>
          <a:lstStyle/>
          <a:p>
            <a:r>
              <a:rPr lang="it-IT" sz="2800" b="1" dirty="0"/>
              <a:t>Formulazione della Strategia</a:t>
            </a:r>
          </a:p>
        </p:txBody>
      </p:sp>
      <p:sp>
        <p:nvSpPr>
          <p:cNvPr id="2" name="Rettangolo 1">
            <a:extLst>
              <a:ext uri="{FF2B5EF4-FFF2-40B4-BE49-F238E27FC236}">
                <a16:creationId xmlns:a16="http://schemas.microsoft.com/office/drawing/2014/main" id="{CB026302-49D0-4003-AA50-806D76CD0B50}"/>
              </a:ext>
            </a:extLst>
          </p:cNvPr>
          <p:cNvSpPr/>
          <p:nvPr/>
        </p:nvSpPr>
        <p:spPr>
          <a:xfrm>
            <a:off x="292117" y="1033790"/>
            <a:ext cx="8339667" cy="707886"/>
          </a:xfrm>
          <a:prstGeom prst="rect">
            <a:avLst/>
          </a:prstGeom>
        </p:spPr>
        <p:txBody>
          <a:bodyPr wrap="square">
            <a:spAutoFit/>
          </a:bodyPr>
          <a:lstStyle/>
          <a:p>
            <a:r>
              <a:rPr lang="it-IT" sz="2000" dirty="0"/>
              <a:t>Nei confronti dell’evoluzione dell’ambiente esterno, l’imprenditore può adottare differenti atteggiamenti:</a:t>
            </a:r>
          </a:p>
        </p:txBody>
      </p:sp>
      <p:graphicFrame>
        <p:nvGraphicFramePr>
          <p:cNvPr id="4" name="Tabella 3">
            <a:extLst>
              <a:ext uri="{FF2B5EF4-FFF2-40B4-BE49-F238E27FC236}">
                <a16:creationId xmlns:a16="http://schemas.microsoft.com/office/drawing/2014/main" id="{8914367F-5483-4437-857E-CA7F7E3BD991}"/>
              </a:ext>
            </a:extLst>
          </p:cNvPr>
          <p:cNvGraphicFramePr>
            <a:graphicFrameLocks noGrp="1"/>
          </p:cNvGraphicFramePr>
          <p:nvPr>
            <p:extLst>
              <p:ext uri="{D42A27DB-BD31-4B8C-83A1-F6EECF244321}">
                <p14:modId xmlns:p14="http://schemas.microsoft.com/office/powerpoint/2010/main" val="4149431659"/>
              </p:ext>
            </p:extLst>
          </p:nvPr>
        </p:nvGraphicFramePr>
        <p:xfrm>
          <a:off x="402166" y="2110907"/>
          <a:ext cx="8339667" cy="4227138"/>
        </p:xfrm>
        <a:graphic>
          <a:graphicData uri="http://schemas.openxmlformats.org/drawingml/2006/table">
            <a:tbl>
              <a:tblPr firstRow="1" bandRow="1">
                <a:tableStyleId>{5C22544A-7EE6-4342-B048-85BDC9FD1C3A}</a:tableStyleId>
              </a:tblPr>
              <a:tblGrid>
                <a:gridCol w="2779889">
                  <a:extLst>
                    <a:ext uri="{9D8B030D-6E8A-4147-A177-3AD203B41FA5}">
                      <a16:colId xmlns:a16="http://schemas.microsoft.com/office/drawing/2014/main" val="30796816"/>
                    </a:ext>
                  </a:extLst>
                </a:gridCol>
                <a:gridCol w="2779889">
                  <a:extLst>
                    <a:ext uri="{9D8B030D-6E8A-4147-A177-3AD203B41FA5}">
                      <a16:colId xmlns:a16="http://schemas.microsoft.com/office/drawing/2014/main" val="4025667879"/>
                    </a:ext>
                  </a:extLst>
                </a:gridCol>
                <a:gridCol w="2779889">
                  <a:extLst>
                    <a:ext uri="{9D8B030D-6E8A-4147-A177-3AD203B41FA5}">
                      <a16:colId xmlns:a16="http://schemas.microsoft.com/office/drawing/2014/main" val="3346737841"/>
                    </a:ext>
                  </a:extLst>
                </a:gridCol>
              </a:tblGrid>
              <a:tr h="1409046">
                <a:tc>
                  <a:txBody>
                    <a:bodyPr/>
                    <a:lstStyle/>
                    <a:p>
                      <a:pPr marL="0" algn="ctr" defTabSz="685800" rtl="0" eaLnBrk="1" latinLnBrk="0" hangingPunct="1"/>
                      <a:r>
                        <a:rPr lang="it-IT" sz="1600" b="1" kern="1200" dirty="0">
                          <a:solidFill>
                            <a:schemeClr val="dk1"/>
                          </a:solidFill>
                          <a:latin typeface="Arial" panose="020B0604020202020204" pitchFamily="34" charset="0"/>
                          <a:ea typeface="+mn-ea"/>
                          <a:cs typeface="Arial" panose="020B0604020202020204" pitchFamily="34" charset="0"/>
                        </a:rPr>
                        <a:t>ATTEGGIAMENTO DI ATTESA</a:t>
                      </a:r>
                    </a:p>
                  </a:txBody>
                  <a:tcPr anchor="ctr" anchorCtr="1">
                    <a:solidFill>
                      <a:schemeClr val="accent1">
                        <a:lumMod val="20000"/>
                        <a:lumOff val="80000"/>
                      </a:schemeClr>
                    </a:solidFill>
                  </a:tcPr>
                </a:tc>
                <a:tc>
                  <a:txBody>
                    <a:bodyPr/>
                    <a:lstStyle/>
                    <a:p>
                      <a:pPr marL="0" algn="ctr" defTabSz="685800" rtl="0" eaLnBrk="1" latinLnBrk="0" hangingPunct="1"/>
                      <a:r>
                        <a:rPr lang="it-IT" sz="1600" b="0" kern="1200" dirty="0">
                          <a:solidFill>
                            <a:schemeClr val="dk1"/>
                          </a:solidFill>
                          <a:latin typeface="Arial" panose="020B0604020202020204" pitchFamily="34" charset="0"/>
                          <a:ea typeface="+mn-ea"/>
                          <a:cs typeface="Arial" panose="020B0604020202020204" pitchFamily="34" charset="0"/>
                        </a:rPr>
                        <a:t>RISPOSTA AL VERIFICARSI DI CAMBIAMENTI AMBIENTALI</a:t>
                      </a:r>
                    </a:p>
                  </a:txBody>
                  <a:tcPr anchor="ctr" anchorCtr="1">
                    <a:solidFill>
                      <a:schemeClr val="accent1">
                        <a:lumMod val="20000"/>
                        <a:lumOff val="80000"/>
                      </a:schemeClr>
                    </a:solidFill>
                  </a:tcPr>
                </a:tc>
                <a:tc>
                  <a:txBody>
                    <a:bodyPr/>
                    <a:lstStyle/>
                    <a:p>
                      <a:pPr marL="0" algn="ctr" defTabSz="685800" rtl="0" eaLnBrk="1" latinLnBrk="0" hangingPunct="1"/>
                      <a:r>
                        <a:rPr lang="it-IT" sz="1600" b="0" kern="1200" dirty="0">
                          <a:solidFill>
                            <a:schemeClr val="dk1"/>
                          </a:solidFill>
                          <a:latin typeface="Arial" panose="020B0604020202020204" pitchFamily="34" charset="0"/>
                          <a:ea typeface="+mn-ea"/>
                          <a:cs typeface="Arial" panose="020B0604020202020204" pitchFamily="34" charset="0"/>
                        </a:rPr>
                        <a:t>Adattamenti all’ambiente/mercato/ contesto ed evoluzione di competenze e risorse</a:t>
                      </a:r>
                    </a:p>
                  </a:txBody>
                  <a:tcPr anchor="ctr" anchorCtr="1">
                    <a:solidFill>
                      <a:schemeClr val="accent1">
                        <a:lumMod val="20000"/>
                        <a:lumOff val="80000"/>
                      </a:schemeClr>
                    </a:solidFill>
                  </a:tcPr>
                </a:tc>
                <a:extLst>
                  <a:ext uri="{0D108BD9-81ED-4DB2-BD59-A6C34878D82A}">
                    <a16:rowId xmlns:a16="http://schemas.microsoft.com/office/drawing/2014/main" val="96089819"/>
                  </a:ext>
                </a:extLst>
              </a:tr>
              <a:tr h="1409046">
                <a:tc>
                  <a:txBody>
                    <a:bodyPr/>
                    <a:lstStyle/>
                    <a:p>
                      <a:pPr algn="ctr"/>
                      <a:r>
                        <a:rPr lang="it-IT" sz="1600" b="1" dirty="0">
                          <a:latin typeface="Arial" panose="020B0604020202020204" pitchFamily="34" charset="0"/>
                          <a:cs typeface="Arial" panose="020B0604020202020204" pitchFamily="34" charset="0"/>
                        </a:rPr>
                        <a:t>ATTEGGIAMENTO ANTICIPATORIO</a:t>
                      </a:r>
                    </a:p>
                  </a:txBody>
                  <a:tcPr anchor="ctr" anchorCtr="1">
                    <a:solidFill>
                      <a:schemeClr val="accent1">
                        <a:lumMod val="20000"/>
                        <a:lumOff val="80000"/>
                      </a:schemeClr>
                    </a:solidFill>
                  </a:tcPr>
                </a:tc>
                <a:tc>
                  <a:txBody>
                    <a:bodyPr/>
                    <a:lstStyle/>
                    <a:p>
                      <a:pPr algn="ctr"/>
                      <a:r>
                        <a:rPr lang="it-IT" sz="1600" dirty="0">
                          <a:latin typeface="Arial" panose="020B0604020202020204" pitchFamily="34" charset="0"/>
                          <a:cs typeface="Arial" panose="020B0604020202020204" pitchFamily="34" charset="0"/>
                        </a:rPr>
                        <a:t>RISPOSTA ANTICIPATA RISPETTO AI CAMBIAMENTI PREVISTI</a:t>
                      </a:r>
                    </a:p>
                  </a:txBody>
                  <a:tcPr anchor="ctr" anchorCtr="1">
                    <a:solidFill>
                      <a:schemeClr val="accent1">
                        <a:lumMod val="20000"/>
                        <a:lumOff val="80000"/>
                      </a:schemeClr>
                    </a:solidFill>
                  </a:tcPr>
                </a:tc>
                <a:tc>
                  <a:txBody>
                    <a:bodyPr/>
                    <a:lstStyle/>
                    <a:p>
                      <a:pPr algn="ctr"/>
                      <a:r>
                        <a:rPr lang="it-IT" sz="1600" dirty="0">
                          <a:latin typeface="Arial" panose="020B0604020202020204" pitchFamily="34" charset="0"/>
                          <a:cs typeface="Arial" panose="020B0604020202020204" pitchFamily="34" charset="0"/>
                        </a:rPr>
                        <a:t>Attivazione dell’ambiente o cambiamenti di contesto e valorizzazione risorse da riprodurre e accumulare</a:t>
                      </a:r>
                    </a:p>
                  </a:txBody>
                  <a:tcPr anchor="ctr" anchorCtr="1">
                    <a:solidFill>
                      <a:schemeClr val="accent1">
                        <a:lumMod val="20000"/>
                        <a:lumOff val="80000"/>
                      </a:schemeClr>
                    </a:solidFill>
                  </a:tcPr>
                </a:tc>
                <a:extLst>
                  <a:ext uri="{0D108BD9-81ED-4DB2-BD59-A6C34878D82A}">
                    <a16:rowId xmlns:a16="http://schemas.microsoft.com/office/drawing/2014/main" val="1252749575"/>
                  </a:ext>
                </a:extLst>
              </a:tr>
              <a:tr h="1409046">
                <a:tc>
                  <a:txBody>
                    <a:bodyPr/>
                    <a:lstStyle/>
                    <a:p>
                      <a:pPr algn="ctr"/>
                      <a:r>
                        <a:rPr lang="it-IT" sz="1600" b="1" dirty="0">
                          <a:latin typeface="Arial" panose="020B0604020202020204" pitchFamily="34" charset="0"/>
                          <a:cs typeface="Arial" panose="020B0604020202020204" pitchFamily="34" charset="0"/>
                        </a:rPr>
                        <a:t>ATTEGGIAMENTO ATTIVO</a:t>
                      </a:r>
                    </a:p>
                  </a:txBody>
                  <a:tcPr anchor="ctr" anchorCtr="1">
                    <a:solidFill>
                      <a:schemeClr val="accent1">
                        <a:lumMod val="20000"/>
                        <a:lumOff val="80000"/>
                      </a:schemeClr>
                    </a:solidFill>
                  </a:tcPr>
                </a:tc>
                <a:tc>
                  <a:txBody>
                    <a:bodyPr/>
                    <a:lstStyle/>
                    <a:p>
                      <a:pPr algn="ctr"/>
                      <a:r>
                        <a:rPr lang="it-IT" sz="1600" dirty="0">
                          <a:latin typeface="Arial" panose="020B0604020202020204" pitchFamily="34" charset="0"/>
                          <a:cs typeface="Arial" panose="020B0604020202020204" pitchFamily="34" charset="0"/>
                        </a:rPr>
                        <a:t>INDUZIONE DEI CAMBIAMENTI NELL’AMBIENTE</a:t>
                      </a:r>
                    </a:p>
                  </a:txBody>
                  <a:tcPr anchor="ctr" anchorCtr="1">
                    <a:solidFill>
                      <a:schemeClr val="accent1">
                        <a:lumMod val="20000"/>
                        <a:lumOff val="80000"/>
                      </a:schemeClr>
                    </a:solidFill>
                  </a:tcPr>
                </a:tc>
                <a:tc>
                  <a:txBody>
                    <a:bodyPr/>
                    <a:lstStyle/>
                    <a:p>
                      <a:pPr algn="ctr"/>
                      <a:r>
                        <a:rPr lang="it-IT" sz="1600" dirty="0">
                          <a:latin typeface="Arial" panose="020B0604020202020204" pitchFamily="34" charset="0"/>
                          <a:cs typeface="Arial" panose="020B0604020202020204" pitchFamily="34" charset="0"/>
                        </a:rPr>
                        <a:t>Strategie duali: adattamento e attivazione, presente e futuro (</a:t>
                      </a:r>
                      <a:r>
                        <a:rPr lang="it-IT" sz="1600" dirty="0" err="1">
                          <a:latin typeface="Arial" panose="020B0604020202020204" pitchFamily="34" charset="0"/>
                          <a:cs typeface="Arial" panose="020B0604020202020204" pitchFamily="34" charset="0"/>
                        </a:rPr>
                        <a:t>visioning</a:t>
                      </a:r>
                      <a:r>
                        <a:rPr lang="it-IT" sz="1600" dirty="0">
                          <a:latin typeface="Arial" panose="020B0604020202020204" pitchFamily="34" charset="0"/>
                          <a:cs typeface="Arial" panose="020B0604020202020204" pitchFamily="34" charset="0"/>
                        </a:rPr>
                        <a:t>), </a:t>
                      </a:r>
                      <a:r>
                        <a:rPr lang="it-IT" sz="1600" dirty="0" err="1">
                          <a:latin typeface="Arial" panose="020B0604020202020204" pitchFamily="34" charset="0"/>
                          <a:cs typeface="Arial" panose="020B0604020202020204" pitchFamily="34" charset="0"/>
                        </a:rPr>
                        <a:t>customer</a:t>
                      </a:r>
                      <a:r>
                        <a:rPr lang="it-IT" sz="1600" dirty="0">
                          <a:latin typeface="Arial" panose="020B0604020202020204" pitchFamily="34" charset="0"/>
                          <a:cs typeface="Arial" panose="020B0604020202020204" pitchFamily="34" charset="0"/>
                        </a:rPr>
                        <a:t>-led e market- </a:t>
                      </a:r>
                      <a:r>
                        <a:rPr lang="it-IT" sz="1600" dirty="0" err="1">
                          <a:latin typeface="Arial" panose="020B0604020202020204" pitchFamily="34" charset="0"/>
                          <a:cs typeface="Arial" panose="020B0604020202020204" pitchFamily="34" charset="0"/>
                        </a:rPr>
                        <a:t>driving</a:t>
                      </a:r>
                      <a:endParaRPr lang="it-IT" sz="1600" dirty="0">
                        <a:latin typeface="Arial" panose="020B0604020202020204" pitchFamily="34" charset="0"/>
                        <a:cs typeface="Arial" panose="020B0604020202020204" pitchFamily="34" charset="0"/>
                      </a:endParaRPr>
                    </a:p>
                  </a:txBody>
                  <a:tcPr anchor="ctr" anchorCtr="1">
                    <a:solidFill>
                      <a:schemeClr val="accent1">
                        <a:lumMod val="20000"/>
                        <a:lumOff val="80000"/>
                      </a:schemeClr>
                    </a:solidFill>
                  </a:tcPr>
                </a:tc>
                <a:extLst>
                  <a:ext uri="{0D108BD9-81ED-4DB2-BD59-A6C34878D82A}">
                    <a16:rowId xmlns:a16="http://schemas.microsoft.com/office/drawing/2014/main" val="1273523129"/>
                  </a:ext>
                </a:extLst>
              </a:tr>
            </a:tbl>
          </a:graphicData>
        </a:graphic>
      </p:graphicFrame>
    </p:spTree>
    <p:extLst>
      <p:ext uri="{BB962C8B-B14F-4D97-AF65-F5344CB8AC3E}">
        <p14:creationId xmlns:p14="http://schemas.microsoft.com/office/powerpoint/2010/main" val="21631600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tangolo 4">
            <a:extLst>
              <a:ext uri="{FF2B5EF4-FFF2-40B4-BE49-F238E27FC236}">
                <a16:creationId xmlns:a16="http://schemas.microsoft.com/office/drawing/2014/main" id="{C281CD81-C391-4506-9CE3-0B9021CAD35C}"/>
              </a:ext>
            </a:extLst>
          </p:cNvPr>
          <p:cNvSpPr/>
          <p:nvPr/>
        </p:nvSpPr>
        <p:spPr>
          <a:xfrm>
            <a:off x="292116" y="351746"/>
            <a:ext cx="8339668" cy="523220"/>
          </a:xfrm>
          <a:prstGeom prst="rect">
            <a:avLst/>
          </a:prstGeom>
        </p:spPr>
        <p:txBody>
          <a:bodyPr wrap="square">
            <a:spAutoFit/>
          </a:bodyPr>
          <a:lstStyle/>
          <a:p>
            <a:r>
              <a:rPr lang="it-IT" sz="2800" b="1" dirty="0"/>
              <a:t>Strategia Complessiva e Strategia di Business</a:t>
            </a:r>
          </a:p>
        </p:txBody>
      </p:sp>
      <p:sp>
        <p:nvSpPr>
          <p:cNvPr id="2" name="Rettangolo 1">
            <a:extLst>
              <a:ext uri="{FF2B5EF4-FFF2-40B4-BE49-F238E27FC236}">
                <a16:creationId xmlns:a16="http://schemas.microsoft.com/office/drawing/2014/main" id="{CB026302-49D0-4003-AA50-806D76CD0B50}"/>
              </a:ext>
            </a:extLst>
          </p:cNvPr>
          <p:cNvSpPr/>
          <p:nvPr/>
        </p:nvSpPr>
        <p:spPr>
          <a:xfrm>
            <a:off x="193507" y="1524164"/>
            <a:ext cx="3464094" cy="461665"/>
          </a:xfrm>
          <a:prstGeom prst="rect">
            <a:avLst/>
          </a:prstGeom>
        </p:spPr>
        <p:txBody>
          <a:bodyPr wrap="square">
            <a:spAutoFit/>
          </a:bodyPr>
          <a:lstStyle/>
          <a:p>
            <a:r>
              <a:rPr lang="it-IT" sz="2400" dirty="0"/>
              <a:t>Obiettivo della Strategia</a:t>
            </a:r>
          </a:p>
        </p:txBody>
      </p:sp>
      <p:sp>
        <p:nvSpPr>
          <p:cNvPr id="6" name="Rettangolo 5">
            <a:extLst>
              <a:ext uri="{FF2B5EF4-FFF2-40B4-BE49-F238E27FC236}">
                <a16:creationId xmlns:a16="http://schemas.microsoft.com/office/drawing/2014/main" id="{04CFF5A3-17E0-4381-9D0C-CACAE5E3A743}"/>
              </a:ext>
            </a:extLst>
          </p:cNvPr>
          <p:cNvSpPr/>
          <p:nvPr/>
        </p:nvSpPr>
        <p:spPr>
          <a:xfrm>
            <a:off x="4572000" y="1093276"/>
            <a:ext cx="4500282" cy="1323439"/>
          </a:xfrm>
          <a:prstGeom prst="rect">
            <a:avLst/>
          </a:prstGeom>
        </p:spPr>
        <p:txBody>
          <a:bodyPr wrap="square">
            <a:spAutoFit/>
          </a:bodyPr>
          <a:lstStyle/>
          <a:p>
            <a:pPr algn="just"/>
            <a:r>
              <a:rPr lang="it-IT" sz="2000" dirty="0"/>
              <a:t>Assicurare la sopravvivenza e la prosperità dell’impresa ottenendo un rendiconto del capitale maggiore del suo costo</a:t>
            </a:r>
          </a:p>
        </p:txBody>
      </p:sp>
      <p:cxnSp>
        <p:nvCxnSpPr>
          <p:cNvPr id="7" name="Connettore 2 6">
            <a:extLst>
              <a:ext uri="{FF2B5EF4-FFF2-40B4-BE49-F238E27FC236}">
                <a16:creationId xmlns:a16="http://schemas.microsoft.com/office/drawing/2014/main" id="{F0F60DA4-C5C6-4D87-9A8C-C3C03051EE69}"/>
              </a:ext>
            </a:extLst>
          </p:cNvPr>
          <p:cNvCxnSpPr>
            <a:cxnSpLocks/>
            <a:stCxn id="2" idx="3"/>
            <a:endCxn id="6" idx="1"/>
          </p:cNvCxnSpPr>
          <p:nvPr/>
        </p:nvCxnSpPr>
        <p:spPr>
          <a:xfrm flipV="1">
            <a:off x="3657601" y="1754996"/>
            <a:ext cx="914399" cy="1"/>
          </a:xfrm>
          <a:prstGeom prst="straightConnector1">
            <a:avLst/>
          </a:prstGeom>
          <a:ln w="127000">
            <a:tailEnd type="triangle"/>
          </a:ln>
        </p:spPr>
        <p:style>
          <a:lnRef idx="1">
            <a:schemeClr val="accent1"/>
          </a:lnRef>
          <a:fillRef idx="0">
            <a:schemeClr val="accent1"/>
          </a:fillRef>
          <a:effectRef idx="0">
            <a:schemeClr val="accent1"/>
          </a:effectRef>
          <a:fontRef idx="minor">
            <a:schemeClr val="tx1"/>
          </a:fontRef>
        </p:style>
      </p:cxnSp>
      <p:sp>
        <p:nvSpPr>
          <p:cNvPr id="10" name="Rettangolo 9">
            <a:extLst>
              <a:ext uri="{FF2B5EF4-FFF2-40B4-BE49-F238E27FC236}">
                <a16:creationId xmlns:a16="http://schemas.microsoft.com/office/drawing/2014/main" id="{AD27C71A-4421-4A79-8DE2-EDA0CD644320}"/>
              </a:ext>
            </a:extLst>
          </p:cNvPr>
          <p:cNvSpPr/>
          <p:nvPr/>
        </p:nvSpPr>
        <p:spPr>
          <a:xfrm>
            <a:off x="292116" y="3773995"/>
            <a:ext cx="2209045" cy="744071"/>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dirty="0">
                <a:solidFill>
                  <a:schemeClr val="tx1"/>
                </a:solidFill>
              </a:rPr>
              <a:t>TASSO DI PROFITTO SUPERIORE AL LIVELLO COMPETITIVO</a:t>
            </a:r>
          </a:p>
        </p:txBody>
      </p:sp>
      <p:sp>
        <p:nvSpPr>
          <p:cNvPr id="11" name="Rettangolo 10">
            <a:extLst>
              <a:ext uri="{FF2B5EF4-FFF2-40B4-BE49-F238E27FC236}">
                <a16:creationId xmlns:a16="http://schemas.microsoft.com/office/drawing/2014/main" id="{A8DF0409-B47A-4C76-ACDC-9D9A64072BA5}"/>
              </a:ext>
            </a:extLst>
          </p:cNvPr>
          <p:cNvSpPr/>
          <p:nvPr/>
        </p:nvSpPr>
        <p:spPr>
          <a:xfrm>
            <a:off x="292116" y="4500136"/>
            <a:ext cx="2209047" cy="744071"/>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dirty="0">
                <a:solidFill>
                  <a:schemeClr val="tx1"/>
                </a:solidFill>
              </a:rPr>
              <a:t>Quali sono le fonti del profitto?</a:t>
            </a:r>
          </a:p>
        </p:txBody>
      </p:sp>
      <p:sp>
        <p:nvSpPr>
          <p:cNvPr id="12" name="Rettangolo 11">
            <a:extLst>
              <a:ext uri="{FF2B5EF4-FFF2-40B4-BE49-F238E27FC236}">
                <a16:creationId xmlns:a16="http://schemas.microsoft.com/office/drawing/2014/main" id="{374DB150-FC94-4312-9054-C7D4FC28D6DA}"/>
              </a:ext>
            </a:extLst>
          </p:cNvPr>
          <p:cNvSpPr/>
          <p:nvPr/>
        </p:nvSpPr>
        <p:spPr>
          <a:xfrm>
            <a:off x="3792075" y="2924709"/>
            <a:ext cx="1739153" cy="744071"/>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dirty="0">
                <a:solidFill>
                  <a:schemeClr val="tx1"/>
                </a:solidFill>
              </a:rPr>
              <a:t>ATTRATTIVITÀ DEL SETTORE</a:t>
            </a:r>
          </a:p>
        </p:txBody>
      </p:sp>
      <p:sp>
        <p:nvSpPr>
          <p:cNvPr id="13" name="Rettangolo 12">
            <a:extLst>
              <a:ext uri="{FF2B5EF4-FFF2-40B4-BE49-F238E27FC236}">
                <a16:creationId xmlns:a16="http://schemas.microsoft.com/office/drawing/2014/main" id="{B5D367BB-FE19-471E-A2F2-A254C72DDF8C}"/>
              </a:ext>
            </a:extLst>
          </p:cNvPr>
          <p:cNvSpPr/>
          <p:nvPr/>
        </p:nvSpPr>
        <p:spPr>
          <a:xfrm>
            <a:off x="3792075" y="5058308"/>
            <a:ext cx="1739153" cy="744071"/>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dirty="0">
                <a:solidFill>
                  <a:schemeClr val="tx1"/>
                </a:solidFill>
              </a:rPr>
              <a:t>VANTAGGIO COMPETITIVO</a:t>
            </a:r>
          </a:p>
        </p:txBody>
      </p:sp>
      <p:sp>
        <p:nvSpPr>
          <p:cNvPr id="14" name="Rettangolo 13">
            <a:extLst>
              <a:ext uri="{FF2B5EF4-FFF2-40B4-BE49-F238E27FC236}">
                <a16:creationId xmlns:a16="http://schemas.microsoft.com/office/drawing/2014/main" id="{69783520-FB6C-43EC-AE4D-89BF3B7956DE}"/>
              </a:ext>
            </a:extLst>
          </p:cNvPr>
          <p:cNvSpPr/>
          <p:nvPr/>
        </p:nvSpPr>
        <p:spPr>
          <a:xfrm>
            <a:off x="3792075" y="3623955"/>
            <a:ext cx="1739153" cy="744071"/>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dirty="0">
                <a:solidFill>
                  <a:schemeClr val="tx1"/>
                </a:solidFill>
              </a:rPr>
              <a:t>In quali settori dovremmo operare?</a:t>
            </a:r>
          </a:p>
        </p:txBody>
      </p:sp>
      <p:sp>
        <p:nvSpPr>
          <p:cNvPr id="15" name="Rettangolo 14">
            <a:extLst>
              <a:ext uri="{FF2B5EF4-FFF2-40B4-BE49-F238E27FC236}">
                <a16:creationId xmlns:a16="http://schemas.microsoft.com/office/drawing/2014/main" id="{BAED477C-B5B5-4482-B5AE-6EB57753E6D4}"/>
              </a:ext>
            </a:extLst>
          </p:cNvPr>
          <p:cNvSpPr/>
          <p:nvPr/>
        </p:nvSpPr>
        <p:spPr>
          <a:xfrm>
            <a:off x="3792075" y="5802379"/>
            <a:ext cx="1739153" cy="744071"/>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dirty="0">
                <a:solidFill>
                  <a:schemeClr val="tx1"/>
                </a:solidFill>
              </a:rPr>
              <a:t>Come dobbiamo competere?</a:t>
            </a:r>
          </a:p>
        </p:txBody>
      </p:sp>
      <p:sp>
        <p:nvSpPr>
          <p:cNvPr id="16" name="Ovale 15">
            <a:extLst>
              <a:ext uri="{FF2B5EF4-FFF2-40B4-BE49-F238E27FC236}">
                <a16:creationId xmlns:a16="http://schemas.microsoft.com/office/drawing/2014/main" id="{7F1586AF-A942-45F9-980E-438C071DCF1D}"/>
              </a:ext>
            </a:extLst>
          </p:cNvPr>
          <p:cNvSpPr/>
          <p:nvPr/>
        </p:nvSpPr>
        <p:spPr>
          <a:xfrm>
            <a:off x="6822140" y="3019973"/>
            <a:ext cx="1809643" cy="1015279"/>
          </a:xfrm>
          <a:prstGeom prst="ellips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dirty="0">
                <a:solidFill>
                  <a:schemeClr val="tx1"/>
                </a:solidFill>
              </a:rPr>
              <a:t>STERATEGIA COMPLESSIVA</a:t>
            </a:r>
          </a:p>
        </p:txBody>
      </p:sp>
      <p:sp>
        <p:nvSpPr>
          <p:cNvPr id="17" name="Ovale 16">
            <a:extLst>
              <a:ext uri="{FF2B5EF4-FFF2-40B4-BE49-F238E27FC236}">
                <a16:creationId xmlns:a16="http://schemas.microsoft.com/office/drawing/2014/main" id="{C6264256-9317-47EC-B288-5D3032A44B04}"/>
              </a:ext>
            </a:extLst>
          </p:cNvPr>
          <p:cNvSpPr/>
          <p:nvPr/>
        </p:nvSpPr>
        <p:spPr>
          <a:xfrm>
            <a:off x="6822140" y="5159136"/>
            <a:ext cx="1809643" cy="1015279"/>
          </a:xfrm>
          <a:prstGeom prst="ellipse">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dirty="0">
                <a:solidFill>
                  <a:schemeClr val="tx1"/>
                </a:solidFill>
              </a:rPr>
              <a:t>STRATEGIA COMPETITIVA/DI BUSINESS</a:t>
            </a:r>
          </a:p>
        </p:txBody>
      </p:sp>
      <p:cxnSp>
        <p:nvCxnSpPr>
          <p:cNvPr id="18" name="Connettore 2 17">
            <a:extLst>
              <a:ext uri="{FF2B5EF4-FFF2-40B4-BE49-F238E27FC236}">
                <a16:creationId xmlns:a16="http://schemas.microsoft.com/office/drawing/2014/main" id="{32D4BC24-18D5-4274-9C0E-C392F9C0FA17}"/>
              </a:ext>
            </a:extLst>
          </p:cNvPr>
          <p:cNvCxnSpPr>
            <a:cxnSpLocks/>
          </p:cNvCxnSpPr>
          <p:nvPr/>
        </p:nvCxnSpPr>
        <p:spPr>
          <a:xfrm flipV="1">
            <a:off x="2501160" y="3668780"/>
            <a:ext cx="1290914" cy="569440"/>
          </a:xfrm>
          <a:prstGeom prst="straightConnector1">
            <a:avLst/>
          </a:prstGeom>
          <a:ln w="79375">
            <a:tailEnd type="triangle"/>
          </a:ln>
        </p:spPr>
        <p:style>
          <a:lnRef idx="1">
            <a:schemeClr val="accent1"/>
          </a:lnRef>
          <a:fillRef idx="0">
            <a:schemeClr val="accent1"/>
          </a:fillRef>
          <a:effectRef idx="0">
            <a:schemeClr val="accent1"/>
          </a:effectRef>
          <a:fontRef idx="minor">
            <a:schemeClr val="tx1"/>
          </a:fontRef>
        </p:style>
      </p:cxnSp>
      <p:cxnSp>
        <p:nvCxnSpPr>
          <p:cNvPr id="19" name="Connettore 2 18">
            <a:extLst>
              <a:ext uri="{FF2B5EF4-FFF2-40B4-BE49-F238E27FC236}">
                <a16:creationId xmlns:a16="http://schemas.microsoft.com/office/drawing/2014/main" id="{B96567F4-04AB-4466-8ABE-FA3A1B208211}"/>
              </a:ext>
            </a:extLst>
          </p:cNvPr>
          <p:cNvCxnSpPr>
            <a:cxnSpLocks/>
          </p:cNvCxnSpPr>
          <p:nvPr/>
        </p:nvCxnSpPr>
        <p:spPr>
          <a:xfrm>
            <a:off x="2501160" y="4733365"/>
            <a:ext cx="1290914" cy="1016777"/>
          </a:xfrm>
          <a:prstGeom prst="straightConnector1">
            <a:avLst/>
          </a:prstGeom>
          <a:ln w="79375">
            <a:tailEnd type="triangle"/>
          </a:ln>
        </p:spPr>
        <p:style>
          <a:lnRef idx="1">
            <a:schemeClr val="accent1"/>
          </a:lnRef>
          <a:fillRef idx="0">
            <a:schemeClr val="accent1"/>
          </a:fillRef>
          <a:effectRef idx="0">
            <a:schemeClr val="accent1"/>
          </a:effectRef>
          <a:fontRef idx="minor">
            <a:schemeClr val="tx1"/>
          </a:fontRef>
        </p:style>
      </p:cxnSp>
      <p:cxnSp>
        <p:nvCxnSpPr>
          <p:cNvPr id="20" name="Connettore 2 19">
            <a:extLst>
              <a:ext uri="{FF2B5EF4-FFF2-40B4-BE49-F238E27FC236}">
                <a16:creationId xmlns:a16="http://schemas.microsoft.com/office/drawing/2014/main" id="{483D4531-CDA4-4314-9EE9-63102F80A704}"/>
              </a:ext>
            </a:extLst>
          </p:cNvPr>
          <p:cNvCxnSpPr>
            <a:cxnSpLocks/>
          </p:cNvCxnSpPr>
          <p:nvPr/>
        </p:nvCxnSpPr>
        <p:spPr>
          <a:xfrm flipV="1">
            <a:off x="5587256" y="3527613"/>
            <a:ext cx="1207989" cy="0"/>
          </a:xfrm>
          <a:prstGeom prst="straightConnector1">
            <a:avLst/>
          </a:prstGeom>
          <a:ln w="79375">
            <a:tailEnd type="triangle"/>
          </a:ln>
        </p:spPr>
        <p:style>
          <a:lnRef idx="1">
            <a:schemeClr val="accent1"/>
          </a:lnRef>
          <a:fillRef idx="0">
            <a:schemeClr val="accent1"/>
          </a:fillRef>
          <a:effectRef idx="0">
            <a:schemeClr val="accent1"/>
          </a:effectRef>
          <a:fontRef idx="minor">
            <a:schemeClr val="tx1"/>
          </a:fontRef>
        </p:style>
      </p:cxnSp>
      <p:cxnSp>
        <p:nvCxnSpPr>
          <p:cNvPr id="21" name="Connettore 2 20">
            <a:extLst>
              <a:ext uri="{FF2B5EF4-FFF2-40B4-BE49-F238E27FC236}">
                <a16:creationId xmlns:a16="http://schemas.microsoft.com/office/drawing/2014/main" id="{507985DA-2E76-4879-A825-ABF782569E5C}"/>
              </a:ext>
            </a:extLst>
          </p:cNvPr>
          <p:cNvCxnSpPr>
            <a:cxnSpLocks/>
          </p:cNvCxnSpPr>
          <p:nvPr/>
        </p:nvCxnSpPr>
        <p:spPr>
          <a:xfrm flipV="1">
            <a:off x="5596221" y="5750142"/>
            <a:ext cx="1207989" cy="0"/>
          </a:xfrm>
          <a:prstGeom prst="straightConnector1">
            <a:avLst/>
          </a:prstGeom>
          <a:ln w="793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59592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tangolo 4">
            <a:extLst>
              <a:ext uri="{FF2B5EF4-FFF2-40B4-BE49-F238E27FC236}">
                <a16:creationId xmlns:a16="http://schemas.microsoft.com/office/drawing/2014/main" id="{C281CD81-C391-4506-9CE3-0B9021CAD35C}"/>
              </a:ext>
            </a:extLst>
          </p:cNvPr>
          <p:cNvSpPr/>
          <p:nvPr/>
        </p:nvSpPr>
        <p:spPr>
          <a:xfrm>
            <a:off x="292116" y="351746"/>
            <a:ext cx="8339668" cy="523220"/>
          </a:xfrm>
          <a:prstGeom prst="rect">
            <a:avLst/>
          </a:prstGeom>
        </p:spPr>
        <p:txBody>
          <a:bodyPr wrap="square">
            <a:spAutoFit/>
          </a:bodyPr>
          <a:lstStyle/>
          <a:p>
            <a:r>
              <a:rPr lang="it-IT" sz="2800" b="1" dirty="0"/>
              <a:t>Strategia Complessiva e Strategia di Business</a:t>
            </a:r>
          </a:p>
        </p:txBody>
      </p:sp>
      <p:sp>
        <p:nvSpPr>
          <p:cNvPr id="3" name="Rettangolo 2">
            <a:extLst>
              <a:ext uri="{FF2B5EF4-FFF2-40B4-BE49-F238E27FC236}">
                <a16:creationId xmlns:a16="http://schemas.microsoft.com/office/drawing/2014/main" id="{BA91697E-9F8E-4EF7-A1BD-738663FB0128}"/>
              </a:ext>
            </a:extLst>
          </p:cNvPr>
          <p:cNvSpPr/>
          <p:nvPr/>
        </p:nvSpPr>
        <p:spPr>
          <a:xfrm>
            <a:off x="201706" y="1301858"/>
            <a:ext cx="8740588" cy="4401205"/>
          </a:xfrm>
          <a:prstGeom prst="rect">
            <a:avLst/>
          </a:prstGeom>
        </p:spPr>
        <p:txBody>
          <a:bodyPr wrap="square">
            <a:spAutoFit/>
          </a:bodyPr>
          <a:lstStyle/>
          <a:p>
            <a:pPr marL="285750" indent="-285750" algn="just">
              <a:buFont typeface="Arial" panose="020B0604020202020204" pitchFamily="34" charset="0"/>
              <a:buChar char="•"/>
            </a:pPr>
            <a:r>
              <a:rPr lang="it-IT" sz="2800" b="1" dirty="0"/>
              <a:t>Strategia di gruppo (corporate </a:t>
            </a:r>
            <a:r>
              <a:rPr lang="it-IT" sz="2800" b="1" dirty="0" err="1"/>
              <a:t>strategy</a:t>
            </a:r>
            <a:r>
              <a:rPr lang="it-IT" sz="2800" b="1" dirty="0"/>
              <a:t>): </a:t>
            </a:r>
            <a:r>
              <a:rPr lang="it-IT" sz="2800" dirty="0"/>
              <a:t>definisce il campo di azione dell’impresa attraverso la scelta dei settori e dei mercati nei quali competere (dove). È responsabilità dell’alta direzione e degli organi di staff. </a:t>
            </a:r>
          </a:p>
          <a:p>
            <a:pPr algn="just"/>
            <a:endParaRPr lang="it-IT" sz="2800" dirty="0"/>
          </a:p>
          <a:p>
            <a:pPr marL="285750" indent="-285750" algn="just">
              <a:buFont typeface="Arial" panose="020B0604020202020204" pitchFamily="34" charset="0"/>
              <a:buChar char="•"/>
            </a:pPr>
            <a:r>
              <a:rPr lang="it-IT" sz="2800" b="1" dirty="0"/>
              <a:t>Strategia di business (business </a:t>
            </a:r>
            <a:r>
              <a:rPr lang="it-IT" sz="2800" b="1" dirty="0" err="1"/>
              <a:t>strategy</a:t>
            </a:r>
            <a:r>
              <a:rPr lang="it-IT" sz="2800" b="1" dirty="0"/>
              <a:t>): </a:t>
            </a:r>
            <a:r>
              <a:rPr lang="it-IT" sz="2800" dirty="0"/>
              <a:t>è volta a definire il modo di competere all’interno di un determinato settore o mercato (come).                      È responsabilità del management delle divisioni.</a:t>
            </a:r>
          </a:p>
        </p:txBody>
      </p:sp>
    </p:spTree>
    <p:extLst>
      <p:ext uri="{BB962C8B-B14F-4D97-AF65-F5344CB8AC3E}">
        <p14:creationId xmlns:p14="http://schemas.microsoft.com/office/powerpoint/2010/main" val="17793686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tangolo 4">
            <a:extLst>
              <a:ext uri="{FF2B5EF4-FFF2-40B4-BE49-F238E27FC236}">
                <a16:creationId xmlns:a16="http://schemas.microsoft.com/office/drawing/2014/main" id="{C281CD81-C391-4506-9CE3-0B9021CAD35C}"/>
              </a:ext>
            </a:extLst>
          </p:cNvPr>
          <p:cNvSpPr/>
          <p:nvPr/>
        </p:nvSpPr>
        <p:spPr>
          <a:xfrm>
            <a:off x="292116" y="351746"/>
            <a:ext cx="8339668" cy="523220"/>
          </a:xfrm>
          <a:prstGeom prst="rect">
            <a:avLst/>
          </a:prstGeom>
        </p:spPr>
        <p:txBody>
          <a:bodyPr wrap="square">
            <a:spAutoFit/>
          </a:bodyPr>
          <a:lstStyle/>
          <a:p>
            <a:r>
              <a:rPr lang="it-IT" sz="2800" b="1" dirty="0"/>
              <a:t>Strategia Complessiva e Strategia di Business</a:t>
            </a:r>
          </a:p>
        </p:txBody>
      </p:sp>
      <p:pic>
        <p:nvPicPr>
          <p:cNvPr id="2" name="Immagine 1">
            <a:extLst>
              <a:ext uri="{FF2B5EF4-FFF2-40B4-BE49-F238E27FC236}">
                <a16:creationId xmlns:a16="http://schemas.microsoft.com/office/drawing/2014/main" id="{401A373E-BFA6-4391-AE57-984E7AC28B9F}"/>
              </a:ext>
            </a:extLst>
          </p:cNvPr>
          <p:cNvPicPr>
            <a:picLocks noChangeAspect="1"/>
          </p:cNvPicPr>
          <p:nvPr/>
        </p:nvPicPr>
        <p:blipFill rotWithShape="1">
          <a:blip r:embed="rId2"/>
          <a:srcRect l="19510" t="27255" r="27745" b="14532"/>
          <a:stretch/>
        </p:blipFill>
        <p:spPr>
          <a:xfrm>
            <a:off x="586518" y="1084729"/>
            <a:ext cx="7970964" cy="4948517"/>
          </a:xfrm>
          <a:prstGeom prst="rect">
            <a:avLst/>
          </a:prstGeom>
        </p:spPr>
      </p:pic>
    </p:spTree>
    <p:extLst>
      <p:ext uri="{BB962C8B-B14F-4D97-AF65-F5344CB8AC3E}">
        <p14:creationId xmlns:p14="http://schemas.microsoft.com/office/powerpoint/2010/main" val="39582335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tangolo 4">
            <a:extLst>
              <a:ext uri="{FF2B5EF4-FFF2-40B4-BE49-F238E27FC236}">
                <a16:creationId xmlns:a16="http://schemas.microsoft.com/office/drawing/2014/main" id="{C281CD81-C391-4506-9CE3-0B9021CAD35C}"/>
              </a:ext>
            </a:extLst>
          </p:cNvPr>
          <p:cNvSpPr/>
          <p:nvPr/>
        </p:nvSpPr>
        <p:spPr>
          <a:xfrm>
            <a:off x="292116" y="351746"/>
            <a:ext cx="8339668" cy="523220"/>
          </a:xfrm>
          <a:prstGeom prst="rect">
            <a:avLst/>
          </a:prstGeom>
        </p:spPr>
        <p:txBody>
          <a:bodyPr wrap="square">
            <a:spAutoFit/>
          </a:bodyPr>
          <a:lstStyle/>
          <a:p>
            <a:r>
              <a:rPr lang="it-IT" sz="2800" b="1" dirty="0"/>
              <a:t>Strategia Complessiva e Strategia di Business</a:t>
            </a:r>
          </a:p>
        </p:txBody>
      </p:sp>
      <p:pic>
        <p:nvPicPr>
          <p:cNvPr id="4" name="Immagine 3">
            <a:extLst>
              <a:ext uri="{FF2B5EF4-FFF2-40B4-BE49-F238E27FC236}">
                <a16:creationId xmlns:a16="http://schemas.microsoft.com/office/drawing/2014/main" id="{C6B41974-1E18-443B-8EBD-81422C828C9E}"/>
              </a:ext>
            </a:extLst>
          </p:cNvPr>
          <p:cNvPicPr>
            <a:picLocks noChangeAspect="1"/>
          </p:cNvPicPr>
          <p:nvPr/>
        </p:nvPicPr>
        <p:blipFill rotWithShape="1">
          <a:blip r:embed="rId2"/>
          <a:srcRect l="16470" t="22026" r="21961" b="12788"/>
          <a:stretch/>
        </p:blipFill>
        <p:spPr>
          <a:xfrm>
            <a:off x="485101" y="1228164"/>
            <a:ext cx="8173798" cy="4867836"/>
          </a:xfrm>
          <a:prstGeom prst="rect">
            <a:avLst/>
          </a:prstGeom>
        </p:spPr>
      </p:pic>
    </p:spTree>
    <p:extLst>
      <p:ext uri="{BB962C8B-B14F-4D97-AF65-F5344CB8AC3E}">
        <p14:creationId xmlns:p14="http://schemas.microsoft.com/office/powerpoint/2010/main" val="291732080"/>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CEADD803C0F48442AB4649F39F36D470" ma:contentTypeVersion="3" ma:contentTypeDescription="Creare un nuovo documento." ma:contentTypeScope="" ma:versionID="d35b2196341eb729f5da875762150e16">
  <xsd:schema xmlns:xsd="http://www.w3.org/2001/XMLSchema" xmlns:xs="http://www.w3.org/2001/XMLSchema" xmlns:p="http://schemas.microsoft.com/office/2006/metadata/properties" xmlns:ns2="e77681ba-7771-496a-b5df-ee3e7b098b60" targetNamespace="http://schemas.microsoft.com/office/2006/metadata/properties" ma:root="true" ma:fieldsID="a7b6408fcc08daad0ede9d1b64b7a63e" ns2:_="">
    <xsd:import namespace="e77681ba-7771-496a-b5df-ee3e7b098b6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77681ba-7771-496a-b5df-ee3e7b098b6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8504ECB-33F6-4D3E-A236-8EE290015B6B}"/>
</file>

<file path=customXml/itemProps2.xml><?xml version="1.0" encoding="utf-8"?>
<ds:datastoreItem xmlns:ds="http://schemas.openxmlformats.org/officeDocument/2006/customXml" ds:itemID="{A7B68DFC-3DFF-4D05-9A24-0B336979AEFC}"/>
</file>

<file path=customXml/itemProps3.xml><?xml version="1.0" encoding="utf-8"?>
<ds:datastoreItem xmlns:ds="http://schemas.openxmlformats.org/officeDocument/2006/customXml" ds:itemID="{23A22B95-EB81-4EA6-B98F-5F2DF8C04084}"/>
</file>

<file path=docProps/app.xml><?xml version="1.0" encoding="utf-8"?>
<Properties xmlns="http://schemas.openxmlformats.org/officeDocument/2006/extended-properties" xmlns:vt="http://schemas.openxmlformats.org/officeDocument/2006/docPropsVTypes">
  <TotalTime>1793</TotalTime>
  <Words>1931</Words>
  <Application>Microsoft Office PowerPoint</Application>
  <PresentationFormat>Presentazione su schermo (4:3)</PresentationFormat>
  <Paragraphs>171</Paragraphs>
  <Slides>33</Slides>
  <Notes>1</Notes>
  <HiddenSlides>0</HiddenSlides>
  <MMClips>2</MMClips>
  <ScaleCrop>false</ScaleCrop>
  <HeadingPairs>
    <vt:vector size="6" baseType="variant">
      <vt:variant>
        <vt:lpstr>Caratteri utilizzati</vt:lpstr>
      </vt:variant>
      <vt:variant>
        <vt:i4>5</vt:i4>
      </vt:variant>
      <vt:variant>
        <vt:lpstr>Tema</vt:lpstr>
      </vt:variant>
      <vt:variant>
        <vt:i4>2</vt:i4>
      </vt:variant>
      <vt:variant>
        <vt:lpstr>Titoli diapositive</vt:lpstr>
      </vt:variant>
      <vt:variant>
        <vt:i4>33</vt:i4>
      </vt:variant>
    </vt:vector>
  </HeadingPairs>
  <TitlesOfParts>
    <vt:vector size="40" baseType="lpstr">
      <vt:lpstr>Poppins SemiBold</vt:lpstr>
      <vt:lpstr>Calibri Light</vt:lpstr>
      <vt:lpstr>Poppins</vt:lpstr>
      <vt:lpstr>Arial</vt:lpstr>
      <vt:lpstr>Calibri</vt:lpstr>
      <vt:lpstr>Tema di Office</vt:lpstr>
      <vt:lpstr>1_Office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 I partecipanti alla vita  dell’impresa: l’imprenditore e gli «stakeholder»</dc:title>
  <dc:creator>Carla Rossi</dc:creator>
  <cp:lastModifiedBy>Piccirillo Giuseppe</cp:lastModifiedBy>
  <cp:revision>98</cp:revision>
  <dcterms:created xsi:type="dcterms:W3CDTF">2020-02-20T05:20:26Z</dcterms:created>
  <dcterms:modified xsi:type="dcterms:W3CDTF">2026-04-07T07:03:16Z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2017-03-20T00:00:00Z</vt:filetime>
  </property>
  <property fmtid="{D5CDD505-2E9C-101B-9397-08002B2CF9AE}" pid="3" name="Creator">
    <vt:lpwstr>Microsoft® PowerPoint® 2016</vt:lpwstr>
  </property>
  <property fmtid="{D5CDD505-2E9C-101B-9397-08002B2CF9AE}" pid="4" name="LastSaved">
    <vt:filetime>2020-02-20T00:00:00Z</vt:filetime>
  </property>
  <property fmtid="{D5CDD505-2E9C-101B-9397-08002B2CF9AE}" pid="5" name="ContentTypeId">
    <vt:lpwstr>0x010100CEADD803C0F48442AB4649F39F36D470</vt:lpwstr>
  </property>
</Properties>
</file>