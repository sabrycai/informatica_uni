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75" r:id="rId6"/>
  </p:sldMasterIdLst>
  <p:notesMasterIdLst>
    <p:notesMasterId r:id="rId56"/>
  </p:notesMasterIdLst>
  <p:sldIdLst>
    <p:sldId id="345" r:id="rId7"/>
    <p:sldId id="346" r:id="rId8"/>
    <p:sldId id="304" r:id="rId9"/>
    <p:sldId id="329" r:id="rId10"/>
    <p:sldId id="330" r:id="rId11"/>
    <p:sldId id="339" r:id="rId12"/>
    <p:sldId id="258" r:id="rId13"/>
    <p:sldId id="340" r:id="rId14"/>
    <p:sldId id="265" r:id="rId15"/>
    <p:sldId id="341" r:id="rId16"/>
    <p:sldId id="334" r:id="rId17"/>
    <p:sldId id="342" r:id="rId18"/>
    <p:sldId id="343" r:id="rId19"/>
    <p:sldId id="344" r:id="rId20"/>
    <p:sldId id="269" r:id="rId21"/>
    <p:sldId id="284" r:id="rId22"/>
    <p:sldId id="286" r:id="rId23"/>
    <p:sldId id="347" r:id="rId24"/>
    <p:sldId id="267" r:id="rId25"/>
    <p:sldId id="285" r:id="rId26"/>
    <p:sldId id="278" r:id="rId27"/>
    <p:sldId id="268" r:id="rId28"/>
    <p:sldId id="279" r:id="rId29"/>
    <p:sldId id="280" r:id="rId30"/>
    <p:sldId id="297" r:id="rId31"/>
    <p:sldId id="288" r:id="rId32"/>
    <p:sldId id="296" r:id="rId33"/>
    <p:sldId id="270" r:id="rId34"/>
    <p:sldId id="271" r:id="rId35"/>
    <p:sldId id="273" r:id="rId36"/>
    <p:sldId id="312" r:id="rId37"/>
    <p:sldId id="290" r:id="rId38"/>
    <p:sldId id="313" r:id="rId39"/>
    <p:sldId id="292" r:id="rId40"/>
    <p:sldId id="314" r:id="rId41"/>
    <p:sldId id="274" r:id="rId42"/>
    <p:sldId id="315" r:id="rId43"/>
    <p:sldId id="275" r:id="rId44"/>
    <p:sldId id="300" r:id="rId45"/>
    <p:sldId id="294" r:id="rId46"/>
    <p:sldId id="309" r:id="rId47"/>
    <p:sldId id="301" r:id="rId48"/>
    <p:sldId id="276" r:id="rId49"/>
    <p:sldId id="302" r:id="rId50"/>
    <p:sldId id="283" r:id="rId51"/>
    <p:sldId id="316" r:id="rId52"/>
    <p:sldId id="305" r:id="rId53"/>
    <p:sldId id="311" r:id="rId54"/>
    <p:sldId id="282" r:id="rId5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sare Laddaga" initials="CL" lastIdx="1" clrIdx="0">
    <p:extLst>
      <p:ext uri="{19B8F6BF-5375-455C-9EA6-DF929625EA0E}">
        <p15:presenceInfo xmlns:p15="http://schemas.microsoft.com/office/powerpoint/2012/main" userId="572a9a1ec69dc2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DA518-3191-4EB6-B510-07454592EF17}" v="2" dt="2023-02-24T15:24:51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87894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commentAuthors" Target="commentAuthor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ROSALBA ANGRISANI" userId="478df574-db9e-4150-8747-be9b561b464a" providerId="ADAL" clId="{C4BDA518-3191-4EB6-B510-07454592EF17}"/>
    <pc:docChg chg="undo custSel addSld delSld modSld">
      <pc:chgData name="MARIAROSALBA ANGRISANI" userId="478df574-db9e-4150-8747-be9b561b464a" providerId="ADAL" clId="{C4BDA518-3191-4EB6-B510-07454592EF17}" dt="2023-02-24T15:25:20.865" v="22" actId="114"/>
      <pc:docMkLst>
        <pc:docMk/>
      </pc:docMkLst>
      <pc:sldChg chg="del">
        <pc:chgData name="MARIAROSALBA ANGRISANI" userId="478df574-db9e-4150-8747-be9b561b464a" providerId="ADAL" clId="{C4BDA518-3191-4EB6-B510-07454592EF17}" dt="2023-02-24T15:25:00.627" v="8" actId="47"/>
        <pc:sldMkLst>
          <pc:docMk/>
          <pc:sldMk cId="1921476311" sldId="256"/>
        </pc:sldMkLst>
      </pc:sldChg>
      <pc:sldChg chg="new add del">
        <pc:chgData name="MARIAROSALBA ANGRISANI" userId="478df574-db9e-4150-8747-be9b561b464a" providerId="ADAL" clId="{C4BDA518-3191-4EB6-B510-07454592EF17}" dt="2023-02-24T15:24:58.220" v="7" actId="47"/>
        <pc:sldMkLst>
          <pc:docMk/>
          <pc:sldMk cId="2951794973" sldId="317"/>
        </pc:sldMkLst>
      </pc:sldChg>
      <pc:sldChg chg="delSp add del setBg delDesignElem">
        <pc:chgData name="MARIAROSALBA ANGRISANI" userId="478df574-db9e-4150-8747-be9b561b464a" providerId="ADAL" clId="{C4BDA518-3191-4EB6-B510-07454592EF17}" dt="2023-02-24T15:24:54.350" v="6" actId="47"/>
        <pc:sldMkLst>
          <pc:docMk/>
          <pc:sldMk cId="2675685364" sldId="326"/>
        </pc:sldMkLst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4" creationId="{49B447FE-DDA9-4B30-828A-59FC569124E2}"/>
          </ac:spMkLst>
        </pc:spChg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5" creationId="{C3D487F7-9050-4871-B351-34A72ADB296C}"/>
          </ac:spMkLst>
        </pc:spChg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6" creationId="{F43C27DD-EF6A-4C48-9669-C2970E71A814}"/>
          </ac:spMkLst>
        </pc:spChg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7" creationId="{05A1AA86-B7E6-4C02-AA34-F1A25CD4CCBD}"/>
          </ac:spMkLst>
        </pc:spChg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8" creationId="{86C3B9CB-4E48-4726-B7B9-9E02F71B150F}"/>
          </ac:spMkLst>
        </pc:spChg>
        <pc:spChg chg="del">
          <ac:chgData name="MARIAROSALBA ANGRISANI" userId="478df574-db9e-4150-8747-be9b561b464a" providerId="ADAL" clId="{C4BDA518-3191-4EB6-B510-07454592EF17}" dt="2023-02-24T15:24:43.481" v="2"/>
          <ac:spMkLst>
            <pc:docMk/>
            <pc:sldMk cId="2675685364" sldId="326"/>
            <ac:spMk id="29" creationId="{C84384FE-1C88-4CAA-8FB8-2313A3AE734D}"/>
          </ac:spMkLst>
        </pc:spChg>
      </pc:sldChg>
      <pc:sldChg chg="modSp add mod">
        <pc:chgData name="MARIAROSALBA ANGRISANI" userId="478df574-db9e-4150-8747-be9b561b464a" providerId="ADAL" clId="{C4BDA518-3191-4EB6-B510-07454592EF17}" dt="2023-02-24T15:25:20.865" v="22" actId="114"/>
        <pc:sldMkLst>
          <pc:docMk/>
          <pc:sldMk cId="294199421" sldId="327"/>
        </pc:sldMkLst>
        <pc:spChg chg="mod">
          <ac:chgData name="MARIAROSALBA ANGRISANI" userId="478df574-db9e-4150-8747-be9b561b464a" providerId="ADAL" clId="{C4BDA518-3191-4EB6-B510-07454592EF17}" dt="2023-02-24T15:25:20.865" v="22" actId="114"/>
          <ac:spMkLst>
            <pc:docMk/>
            <pc:sldMk cId="294199421" sldId="327"/>
            <ac:spMk id="3" creationId="{00000000-0000-0000-0000-000000000000}"/>
          </ac:spMkLst>
        </pc:spChg>
      </pc:sldChg>
      <pc:sldMasterChg chg="delSldLayout">
        <pc:chgData name="MARIAROSALBA ANGRISANI" userId="478df574-db9e-4150-8747-be9b561b464a" providerId="ADAL" clId="{C4BDA518-3191-4EB6-B510-07454592EF17}" dt="2023-02-24T15:24:54.350" v="6" actId="47"/>
        <pc:sldMasterMkLst>
          <pc:docMk/>
          <pc:sldMasterMk cId="70704049" sldId="2147483648"/>
        </pc:sldMasterMkLst>
        <pc:sldLayoutChg chg="del">
          <pc:chgData name="MARIAROSALBA ANGRISANI" userId="478df574-db9e-4150-8747-be9b561b464a" providerId="ADAL" clId="{C4BDA518-3191-4EB6-B510-07454592EF17}" dt="2023-02-24T15:24:54.350" v="6" actId="47"/>
          <pc:sldLayoutMkLst>
            <pc:docMk/>
            <pc:sldMasterMk cId="70704049" sldId="2147483648"/>
            <pc:sldLayoutMk cId="1209035542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78703-A616-4BE5-A118-ED2E2FAD9C4D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778AF-B306-44F9-B578-5A1079899F4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744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778AF-B306-44F9-B578-5A1079899F4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9354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778AF-B306-44F9-B578-5A1079899F42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304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778AF-B306-44F9-B578-5A1079899F42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9829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778AF-B306-44F9-B578-5A1079899F42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321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778AF-B306-44F9-B578-5A1079899F42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2129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5B6018-2155-4DD7-B4B7-105D57A10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5D36159-1F15-4E91-8163-DCC6335C6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FE8395-07F7-4578-8130-7FC1CDDA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45A91C-B983-40F9-A424-E271D9A6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8F9ABE-BED6-4716-911C-C52A8865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465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6D5212-044B-4053-9682-502BA471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D52DFF-97EA-4359-80B7-D0184CE6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83FD3F-C99F-4185-9192-6D30BA00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E5483A-882C-48E1-8AB1-AB793E09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EE8A41-30D9-4F87-AE34-F9D3C8A6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322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EEFF8D-4B7A-4BC6-A5D6-AF222F79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DC9B90-A29C-4648-9323-C9A88D8A8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DE5407-1530-4586-BE04-C8E91B9D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219291-0FD8-4266-BC18-3A58B6F0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9481A7-6D33-4058-B99B-F55347F5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776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F5B526-42A1-4C69-89EA-075839C1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975295-434E-4282-89D3-B21AE0727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F02D9AF-70DF-4B77-B613-9E7DDD49F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47AE4E-2363-43E0-8838-1C6BFA59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3825E1-5AA2-4BDD-BA83-3F8E1442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B78259-5BE1-47A6-B780-E9987AA2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73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514FE2-3BDC-4696-BBC2-6542B214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5A8B45C-0486-4E6F-8093-1AE1545C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8E2253E-BFB9-41BE-A1A9-B4992A612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22C597D-B5D0-49C7-A4E2-E78E566E0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A8D9E30-6826-4E88-A5FA-B75DB0DB7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22288F9-B1B6-4FB7-BCA7-5242CA23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117C583-E33F-498C-8EA1-1712A4CE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1ED62E-492D-4C97-8B28-1BE80B88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375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B121CE-A6A3-41B1-B4E4-1B15C9AA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4149A91-CD9F-40A5-A3E4-A4A91D6B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23C2E7D-09C5-441D-A88D-42380F13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1D280C2-B474-4564-8C14-B17C0F98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009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07863DB-F256-42DC-8A84-4DC18DAE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2141612-1889-47A7-9555-C8FADFF3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51C903D-36D0-4457-972C-F597BBF4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3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5B0CE4-BA95-4DBF-92D0-4D2D0970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4FFA9C-0ED3-4E54-A221-5B4B82F10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B5E3ED-4652-4637-B032-50B4D3EF4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D931B5-6B4A-4C26-A902-5F59957B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946EA5-E674-4D19-9E50-038BBD5B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FF0409-549A-44E0-8A13-C60B1044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58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8690FE-971A-4A0F-94DD-27EC2F0E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3A116F-F882-432A-8AF9-7822DBD77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D280B5E-EAEA-4377-B35C-3BC325FA0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247CDF-1FBC-4422-AAED-4D30E695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92F9358-F1F5-41FB-AC96-BA2812DD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F99F91-E119-411A-9427-277DCE8E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4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001FE-3BD1-4B39-81DA-04428AF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5EBFC1-FF0F-49AF-863B-21E565AC5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253E61-AEA6-4396-89D2-77DEBA13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C3A515-B2F6-4D69-A313-A5E822DA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4E9ED7-A7EB-4C6A-B5F8-F7AA4351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56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F8F1334-9556-497A-870E-313811AC6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D65F2A-DCB0-49FA-9E03-B47BD67EF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2E9469-8782-467E-AF81-902B343F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19B10C-AF62-437D-B114-97463F58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D3D80F-E415-4E48-87DA-049E7F7F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8216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367AC0-BB0E-EE45-B67E-6606AB89C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FF53AB7-2040-6A4E-B8ED-67778AF88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FF3A72-D704-1841-96AA-28EC3DD8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CA5FEA-D3F6-8D4F-BD4F-ECA68565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AAD52E-67DD-4B40-8F63-C3017CBE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718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6CF00-FD7E-3F4B-9F94-8678F6E8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2E0252-69EC-B644-974B-5C54AEBC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FA8D48-3180-EF46-9462-2E11F852B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8CBD3E-9CC2-AB4D-9F84-714C51B1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9A2179-0F5D-7A48-8EB5-044E5DCF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166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D9337D-EA32-C342-971D-6F706E94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38567C-11D6-3149-815B-596D4EE50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841DE1-40FA-5541-A83E-AFF6A60D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E33406-5847-C144-9808-ECE09FA3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DE7CB0-65E2-9D44-9CF8-6BF20321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69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A7A561-BA9A-1247-922E-6C11556B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522E11-E4F4-3542-8669-453F68FA8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F52616-68E6-BB4A-96A9-1B7ACBF51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CC6BDC-A9E5-AA42-A8A5-C1103F0C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F679D5-D7D6-4749-9054-BD128D89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9AA0E8-25D9-1E40-804D-997B6AEA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832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B8D5F3-5523-B347-8B04-827E78F8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603646-5E6A-2F41-B712-8E476B6A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8D5E67-11E2-1046-A296-1CC9171C7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30E96A8-2A9D-BA44-82AB-B82F09212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8018130-58EC-284C-A192-C371081C2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B29458A-6CF3-B94E-B727-939D1A47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9E19C0E-0F91-0940-9385-12ABA967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0768A48-068F-974D-98D6-0EC1DDB3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9449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ED85C5-357B-0E40-828C-67A5C373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3762B7-CE4C-5348-82D8-7D04F258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DB46E7-B21B-A941-B987-55316164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BEEB6E9-366B-B649-B905-E5A56D27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127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8D75B54-E12A-5442-8D55-468B050E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AB2A5C5-1808-2946-8DFE-67203370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6E26AB-A10A-934A-A0EC-30A1322A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5656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E5C40B-E968-214F-8001-CA7591B0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25A044-FBFB-9644-BF3A-2594AC04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B36071-4534-D54F-AFF1-F727D2DC2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641952-BC71-5A4B-BC34-62A2DD8C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0AA137-16A9-154E-87E2-05B30FB7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F91609-B2E7-2840-A72D-7EDA1C24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5856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F754E3-2D14-8F40-B464-14B90BB9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E2F00A2-A169-3647-A99A-786F0618B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CC0AB3-6414-2145-B265-67BDAB7EE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B4EDBE-6213-DF4D-A4EE-AAF863AD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BE1ECD-E8FF-E24F-9FBA-9BB14237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BF896D-807F-2149-A5ED-B820001F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60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EE0EDF-6CF5-A14C-99B4-55F664CB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6562458-A655-544A-A151-8A948B62E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AF6DD5-DF38-A143-851C-B8924309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74AE1-61D9-8F49-9F60-D7301C88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79509-6812-5346-836E-1B19A053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25884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E2465E9-337A-1545-8D0B-9B65F6A3D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430FEB-0602-2D4E-AF90-10E335830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C2387C-14AF-1547-87D4-20939D3E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5970C-D285-FC46-9BB1-94A16BE1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CA9C2E-F38A-3642-A45E-1F01AE95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6831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81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282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43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87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4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856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09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022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911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984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5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1000"/>
            <a:lum/>
          </a:blip>
          <a:srcRect/>
          <a:stretch>
            <a:fillRect l="20000" t="10000" r="2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0C75E90-04BB-4ABD-BB31-495A4206C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69C52F-8BC5-42EE-9693-B33E664B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54CE1F-1F44-4177-BAB3-C12010462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CA2F1-6885-4D57-8144-E6624F76CBD8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7AB20B-9B36-4EB4-ACAE-AFD83A3C3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9514B6-99DB-4CEF-AE40-44785BCE8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CA930-CB9A-4C5A-A3CB-4C953B604E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70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A82C02-2C4D-1F4D-851E-B56DA3E8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30BE5C-47B3-8640-86D1-69594D995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85972A-A66B-ED47-A758-27225C854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450D7-51B2-DC41-A285-84B90542AA55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CFA4B0-5065-6C44-81B0-58ACBBDA0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E9C76E-E86C-AF43-9FF0-BF8CC7B7D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E9258-7551-F54F-B974-076C20A398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487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497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3pidcpWHMM?feature=oembed" TargetMode="External"/><Relationship Id="rId6" Type="http://schemas.openxmlformats.org/officeDocument/2006/relationships/image" Target="../media/image18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4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2.png"/><Relationship Id="rId5" Type="http://schemas.microsoft.com/office/2007/relationships/hdphoto" Target="../media/hdphoto1.wdp"/><Relationship Id="rId15" Type="http://schemas.openxmlformats.org/officeDocument/2006/relationships/image" Target="../media/image26.png"/><Relationship Id="rId10" Type="http://schemas.microsoft.com/office/2007/relationships/hdphoto" Target="../media/hdphoto2.wdp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_pMBjWV9Rk?feature=oembed" TargetMode="Externa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png"/><Relationship Id="rId7" Type="http://schemas.openxmlformats.org/officeDocument/2006/relationships/image" Target="../media/image3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microsoft.com/office/2007/relationships/hdphoto" Target="../media/hdphoto1.wdp"/><Relationship Id="rId9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bgA8m1fXU0?feature=oembed" TargetMode="External"/><Relationship Id="rId6" Type="http://schemas.openxmlformats.org/officeDocument/2006/relationships/image" Target="../media/image31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sdaq.com/market-activity/stocks/aapl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lab24.ilsole24ore.com/aziende-to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estor.apple.com/investor-relations/default.aspx" TargetMode="External"/><Relationship Id="rId11" Type="http://schemas.openxmlformats.org/officeDocument/2006/relationships/image" Target="../media/image32.png"/><Relationship Id="rId5" Type="http://schemas.microsoft.com/office/2007/relationships/hdphoto" Target="../media/hdphoto1.wdp"/><Relationship Id="rId10" Type="http://schemas.openxmlformats.org/officeDocument/2006/relationships/image" Target="../media/image10.sv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19.png"/><Relationship Id="rId7" Type="http://schemas.openxmlformats.org/officeDocument/2006/relationships/image" Target="../media/image16.svg"/><Relationship Id="rId12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37.jpg"/><Relationship Id="rId5" Type="http://schemas.openxmlformats.org/officeDocument/2006/relationships/image" Target="../media/image33.jpg"/><Relationship Id="rId10" Type="http://schemas.openxmlformats.org/officeDocument/2006/relationships/image" Target="../media/image36.png"/><Relationship Id="rId4" Type="http://schemas.microsoft.com/office/2007/relationships/hdphoto" Target="../media/hdphoto1.wdp"/><Relationship Id="rId9" Type="http://schemas.openxmlformats.org/officeDocument/2006/relationships/image" Target="../media/image3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19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image" Target="../media/image17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16.svg"/><Relationship Id="rId5" Type="http://schemas.openxmlformats.org/officeDocument/2006/relationships/image" Target="../media/image39.png"/><Relationship Id="rId15" Type="http://schemas.microsoft.com/office/2007/relationships/hdphoto" Target="../media/hdphoto2.wdp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43.png"/><Relationship Id="rId1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video" Target="https://www.youtube.com/embed/IdDEVIfbGEA?feature=oembed" TargetMode="External"/><Relationship Id="rId1" Type="http://schemas.openxmlformats.org/officeDocument/2006/relationships/video" Target="https://www.youtube.com/embed/WPxv5TcwmGg?feature=oembed" TargetMode="Externa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10" Type="http://schemas.openxmlformats.org/officeDocument/2006/relationships/image" Target="../media/image48.jpeg"/><Relationship Id="rId4" Type="http://schemas.openxmlformats.org/officeDocument/2006/relationships/image" Target="../media/image17.png"/><Relationship Id="rId9" Type="http://schemas.openxmlformats.org/officeDocument/2006/relationships/image" Target="../media/image47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hyperlink" Target="https://www.raiplay.it/video/2017/03/Sar242-Franco-se-Steve-Jobs-fosse-nato-qui-b2cd97c5-8175-427c-b30d-c13e0d1e75c0.html" TargetMode="Externa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uters.com/article/us-oecd-tax/multinationals-face-heftier-tax-bills-under-oecd-proposals-idUSKBN1WO0VQ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wired.it/economia/business/2019/02/06/apple-tass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lsole24ore.com/art/apple-restituisce-all-irlanda-143-miliardi-ma-dublino-non-li-vuole-AEXPuKzF" TargetMode="External"/><Relationship Id="rId5" Type="http://schemas.openxmlformats.org/officeDocument/2006/relationships/hyperlink" Target="https://ec.europa.eu/commission/presscorner/detail/it/IP_16_2923" TargetMode="External"/><Relationship Id="rId10" Type="http://schemas.openxmlformats.org/officeDocument/2006/relationships/image" Target="../media/image50.svg"/><Relationship Id="rId4" Type="http://schemas.microsoft.com/office/2007/relationships/hdphoto" Target="../media/hdphoto1.wdp"/><Relationship Id="rId9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cointernazionale.com/2018/01/18/suicidi-sul-lavoro-foxconn-le-fabbriche-della-morte/" TargetMode="External"/><Relationship Id="rId4" Type="http://schemas.openxmlformats.org/officeDocument/2006/relationships/image" Target="../media/image5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rtN8sEQnWk?feature=oembed" TargetMode="External"/><Relationship Id="rId6" Type="http://schemas.openxmlformats.org/officeDocument/2006/relationships/image" Target="../media/image57.jpe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17.png"/><Relationship Id="rId7" Type="http://schemas.openxmlformats.org/officeDocument/2006/relationships/image" Target="../media/image52.sv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nrJzXM7a6o?feature=oembed" TargetMode="External"/><Relationship Id="rId6" Type="http://schemas.openxmlformats.org/officeDocument/2006/relationships/image" Target="../media/image51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3" Type="http://schemas.openxmlformats.org/officeDocument/2006/relationships/image" Target="../media/image51.png"/><Relationship Id="rId7" Type="http://schemas.openxmlformats.org/officeDocument/2006/relationships/image" Target="../media/image59.png"/><Relationship Id="rId12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63.png"/><Relationship Id="rId5" Type="http://schemas.openxmlformats.org/officeDocument/2006/relationships/image" Target="../media/image19.png"/><Relationship Id="rId10" Type="http://schemas.openxmlformats.org/officeDocument/2006/relationships/image" Target="../media/image62.png"/><Relationship Id="rId4" Type="http://schemas.openxmlformats.org/officeDocument/2006/relationships/image" Target="../media/image52.svg"/><Relationship Id="rId9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17.png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YrG4PfsfIs?feature=oembed" TargetMode="Externa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hyperlink" Target="https://www.startingfinance.com/approfondimenti/ascesa-e-caduta-blockbuster/" TargetMode="External"/><Relationship Id="rId9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publication/322665799_Polaroid_Kodak_e_la_digitalizzazione_il_fallimento_di_una_visione_ibrida_della_fotografia_digitale/link/5bbbf55892851c7fde34f0a0/download" TargetMode="External"/><Relationship Id="rId4" Type="http://schemas.openxmlformats.org/officeDocument/2006/relationships/image" Target="../media/image52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17.png"/><Relationship Id="rId7" Type="http://schemas.openxmlformats.org/officeDocument/2006/relationships/image" Target="../media/image56.sv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b2iPWsP9og?feature=oembed" TargetMode="External"/><Relationship Id="rId6" Type="http://schemas.openxmlformats.org/officeDocument/2006/relationships/image" Target="../media/image55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squire.com/it/lifestyle/tecnologia/a25748113/apple-gennaio-2019/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ilsole24ore.com/art/mercato-cinese-e-innovazione-lenta-tutte-nubi-cielo-apple-AEiPan8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microsoft.com/office/2007/relationships/hdphoto" Target="../media/hdphoto1.wdp"/><Relationship Id="rId9" Type="http://schemas.openxmlformats.org/officeDocument/2006/relationships/hyperlink" Target="https://www.ilsole24ore.com/art/guerra-dazi-due-anni-usa-e-cina-firmano-pace-ecco-che-cosa-prevede-l-accordo-ACkER5BB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I7Jum-VKqDw?feature=oembed" TargetMode="External"/><Relationship Id="rId4" Type="http://schemas.openxmlformats.org/officeDocument/2006/relationships/image" Target="../media/image67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endadigitale.eu/cultura-digitale/big-tech-e-antitrust-la-pacchia-e-finita-perche-siamo-alla-svolta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terbrand.com/best-brands/best-global-brands/2019/ranking/" TargetMode="External"/><Relationship Id="rId4" Type="http://schemas.openxmlformats.org/officeDocument/2006/relationships/hyperlink" Target="https://it.euronews.com/2019/10/09/ocse-revisione-delle-norme-fiscali-per-le-multinazionali-digitali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CFKWgu4u1g?feature=oembed" TargetMode="External"/><Relationship Id="rId4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79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834282"/>
            <a:ext cx="2706633" cy="962350"/>
          </a:xfrm>
          <a:custGeom>
            <a:avLst/>
            <a:gdLst/>
            <a:ahLst/>
            <a:cxnLst/>
            <a:rect l="l" t="t" r="r" b="b"/>
            <a:pathLst>
              <a:path w="4059950" h="1443525" extrusionOk="0">
                <a:moveTo>
                  <a:pt x="0" y="0"/>
                </a:moveTo>
                <a:lnTo>
                  <a:pt x="4059950" y="0"/>
                </a:lnTo>
                <a:lnTo>
                  <a:pt x="4059950" y="1443525"/>
                </a:lnTo>
                <a:lnTo>
                  <a:pt x="0" y="144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9"/>
            </a:stretch>
          </a:blipFill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7684" y="3048800"/>
            <a:ext cx="3738517" cy="297212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85800" y="3201627"/>
            <a:ext cx="483265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0"/>
              </a:lnSpc>
              <a:buClr>
                <a:srgbClr val="000000"/>
              </a:buClr>
            </a:pPr>
            <a:r>
              <a:rPr lang="en-US" sz="5600" b="1" kern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Corso EOA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85412" y="902380"/>
            <a:ext cx="315198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6103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LAUREA TRIENNALE IN INFORMATICA 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7679" y="4196240"/>
            <a:ext cx="447372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867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Giuseppe </a:t>
            </a:r>
            <a:r>
              <a:rPr lang="en-US" sz="1867" b="1" kern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Piccirillo</a:t>
            </a:r>
            <a:endParaRPr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endParaRPr sz="1333" b="1" kern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967489" y="959530"/>
            <a:ext cx="3694067" cy="49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CORSO II SEMESTRE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2025 - 2026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2453454"/>
            <a:ext cx="10124792" cy="36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6"/>
              </a:lnSpc>
              <a:buClr>
                <a:srgbClr val="000000"/>
              </a:buClr>
            </a:pPr>
            <a:r>
              <a:rPr lang="en-US" sz="1999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LEZIONE. 1 -  L’IMPRESA QUALE SISTEMA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2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527"/>
            <a:r>
              <a:rPr lang="en-US" spc="-5" dirty="0">
                <a:solidFill>
                  <a:srgbClr val="FFFFFF"/>
                </a:solidFill>
                <a:latin typeface="Poppins" panose="020B0604020202020204"/>
              </a:rPr>
              <a:t>I</a:t>
            </a:r>
            <a:r>
              <a:rPr lang="en-US" kern="1200" spc="-5" dirty="0">
                <a:solidFill>
                  <a:srgbClr val="FFFFFF"/>
                </a:solidFill>
                <a:latin typeface="Poppins" panose="020B0604020202020204"/>
              </a:rPr>
              <a:t>mpresa</a:t>
            </a:r>
            <a:endParaRPr lang="en-US" kern="1200" spc="-9" dirty="0">
              <a:solidFill>
                <a:srgbClr val="FFFFFF"/>
              </a:solidFill>
              <a:latin typeface="Poppins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4330" y="678730"/>
            <a:ext cx="6013442" cy="5683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97881" marR="4611" lvl="0" algn="l" defTabSz="914400" rtl="0" eaLnBrk="1" fontAlgn="auto" latinLnBrk="0" hangingPunct="1">
              <a:lnSpc>
                <a:spcPct val="90000"/>
              </a:lnSpc>
              <a:spcBef>
                <a:spcPts val="91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kumimoji="0" lang="en-US" sz="1700" b="0" i="0" u="none" strike="noStrike" kern="120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27" marR="4611" lvl="0" indent="-228600" algn="l" defTabSz="914400" rtl="0" eaLnBrk="1" fontAlgn="auto" latinLnBrk="0" hangingPunct="1">
              <a:lnSpc>
                <a:spcPct val="90000"/>
              </a:lnSpc>
              <a:spcBef>
                <a:spcPts val="91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DCFEAD2-4B93-453F-91DD-F29E8799C6D9}"/>
              </a:ext>
            </a:extLst>
          </p:cNvPr>
          <p:cNvSpPr/>
          <p:nvPr/>
        </p:nvSpPr>
        <p:spPr>
          <a:xfrm>
            <a:off x="5977274" y="383264"/>
            <a:ext cx="557464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611" lvl="0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r>
              <a:rPr lang="en-US" b="1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OrganizzAZIONE DI PERSONE E BENI RIVOLTE AD UNO SCOPO PRODUTTIVO 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E756AE5-3682-4B52-8B8C-EFBC36BFF2D5}"/>
              </a:ext>
            </a:extLst>
          </p:cNvPr>
          <p:cNvSpPr/>
          <p:nvPr/>
        </p:nvSpPr>
        <p:spPr>
          <a:xfrm>
            <a:off x="5977274" y="1187226"/>
            <a:ext cx="5574647" cy="5245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611" lvl="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Elementi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costitutivi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:</a:t>
            </a:r>
          </a:p>
          <a:p>
            <a:pPr marL="285750" marR="4611" lvl="0" indent="-28575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Contenuto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economico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delle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attività</a:t>
            </a: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R="4611" lvl="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marR="4611" lvl="0" indent="-28575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Utilizzo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di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risorse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: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Uomini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(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conoscenza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),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capitali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,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impianti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,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materiali</a:t>
            </a: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R="4611" lvl="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marR="4611" lvl="0" indent="-28575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Obiettivi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economici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: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messa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a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frutto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di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risorse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scarse</a:t>
            </a: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R="4611" lvl="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marR="4611" lvl="0" indent="-28575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Creare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cap="all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ricchezza</a:t>
            </a:r>
            <a:r>
              <a:rPr lang="en-US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: </a:t>
            </a:r>
            <a:r>
              <a:rPr lang="it-IT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accrescere attraverso operazioni di trasformazione il valore delle risorse utilizzate</a:t>
            </a:r>
          </a:p>
          <a:p>
            <a:pPr marR="4611" lvl="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endParaRPr lang="it-IT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marR="4611" lvl="0" indent="-28575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it-IT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Produrre «utile» dallo scambio per:</a:t>
            </a:r>
          </a:p>
          <a:p>
            <a:pPr marL="342900" marR="4611" lvl="0" indent="-34290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+mj-lt"/>
              <a:buAutoNum type="arabicPeriod"/>
              <a:defRPr/>
            </a:pPr>
            <a:r>
              <a:rPr lang="it-IT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Coprire il costo delle risorse impiegate</a:t>
            </a:r>
          </a:p>
          <a:p>
            <a:pPr marL="342900" marR="4611" lvl="0" indent="-34290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+mj-lt"/>
              <a:buAutoNum type="arabicPeriod"/>
              <a:defRPr/>
            </a:pPr>
            <a:r>
              <a:rPr lang="it-IT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Ripagare chi ha investito capitali</a:t>
            </a:r>
          </a:p>
          <a:p>
            <a:pPr marL="342900" marR="4611" lvl="0" indent="-342900" algn="just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buFont typeface="+mj-lt"/>
              <a:buAutoNum type="arabicPeriod"/>
              <a:defRPr/>
            </a:pPr>
            <a:r>
              <a:rPr lang="it-IT" cap="all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creare le condizioni la sviluppo delle attività d’impresa in linea con le evoluzioni dell’ambiente in cui opera</a:t>
            </a: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R="4611" lvl="0">
              <a:lnSpc>
                <a:spcPct val="90000"/>
              </a:lnSpc>
              <a:spcBef>
                <a:spcPts val="91"/>
              </a:spcBef>
              <a:buClr>
                <a:srgbClr val="0070C0"/>
              </a:buClr>
              <a:defRPr/>
            </a:pPr>
            <a:endParaRPr lang="en-US" cap="all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31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527" algn="ctr"/>
            <a:r>
              <a:rPr lang="en-US" sz="4000" kern="1200" spc="-5" dirty="0">
                <a:solidFill>
                  <a:srgbClr val="FFFFFF"/>
                </a:solidFill>
                <a:latin typeface="Poppins" panose="020B0604020202020204"/>
              </a:rPr>
              <a:t>Impresa</a:t>
            </a:r>
            <a:endParaRPr lang="en-US" sz="4000" kern="1200" spc="-9" dirty="0">
              <a:solidFill>
                <a:srgbClr val="FFFFFF"/>
              </a:solidFill>
              <a:latin typeface="Poppins" panose="020B0604020202020204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EBCF150-3EC4-AA47-B148-2369F3EE9ED1}"/>
              </a:ext>
            </a:extLst>
          </p:cNvPr>
          <p:cNvSpPr/>
          <p:nvPr/>
        </p:nvSpPr>
        <p:spPr>
          <a:xfrm>
            <a:off x="1179226" y="3092970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4611" lvl="0" algn="just" defTabSz="914400" rtl="0" eaLnBrk="1" fontAlgn="auto" latinLnBrk="0" hangingPunct="1">
              <a:lnSpc>
                <a:spcPct val="90000"/>
              </a:lnSpc>
              <a:spcBef>
                <a:spcPts val="91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Organizzazione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economica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mediante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l’impiego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un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complesso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differenziato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</a:t>
            </a: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risorse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,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svolge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processi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</a:t>
            </a: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acquisizione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, e di </a:t>
            </a: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produzione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beni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o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servizi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da </a:t>
            </a: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scambiare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con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entità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esterne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al fine di </a:t>
            </a:r>
            <a:r>
              <a:rPr kumimoji="0" lang="en-US" sz="3200" b="0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conseguire</a:t>
            </a:r>
            <a:r>
              <a:rPr kumimoji="0" lang="en-US" sz="3200" b="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un </a:t>
            </a:r>
            <a:r>
              <a:rPr kumimoji="0" lang="en-US" sz="3200" b="1" i="1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reddito</a:t>
            </a:r>
            <a:r>
              <a:rPr kumimoji="0" lang="en-US" sz="3200" i="1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.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9500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0"/>
            <a:ext cx="10910292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C11A00-A2A3-417C-B33D-DC753ED7C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t="3964" r="3964" b="3964"/>
          <a:stretch>
            <a:fillRect/>
          </a:stretch>
        </p:blipFill>
        <p:spPr>
          <a:xfrm>
            <a:off x="0" y="1"/>
            <a:ext cx="12192000" cy="6857998"/>
          </a:xfrm>
          <a:custGeom>
            <a:avLst/>
            <a:gdLst>
              <a:gd name="connsiteX0" fmla="*/ 0 w 12192000"/>
              <a:gd name="connsiteY0" fmla="*/ 0 h 6857998"/>
              <a:gd name="connsiteX1" fmla="*/ 12192000 w 12192000"/>
              <a:gd name="connsiteY1" fmla="*/ 0 h 6857998"/>
              <a:gd name="connsiteX2" fmla="*/ 12192000 w 12192000"/>
              <a:gd name="connsiteY2" fmla="*/ 6857998 h 6857998"/>
              <a:gd name="connsiteX3" fmla="*/ 0 w 12192000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8">
                <a:moveTo>
                  <a:pt x="0" y="0"/>
                </a:moveTo>
                <a:lnTo>
                  <a:pt x="12192000" y="0"/>
                </a:lnTo>
                <a:lnTo>
                  <a:pt x="12192000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751573" y="934702"/>
            <a:ext cx="2688854" cy="1066802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solidFill>
                  <a:srgbClr val="FFFFFF"/>
                </a:solidFill>
                <a:latin typeface="Poppins" panose="020B0604020202020204"/>
              </a:rPr>
              <a:t>SISTEMA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98969" y="2164335"/>
            <a:ext cx="7621724" cy="3038475"/>
          </a:xfrm>
        </p:spPr>
        <p:txBody>
          <a:bodyPr anchor="t">
            <a:normAutofit fontScale="92500"/>
          </a:bodyPr>
          <a:lstStyle/>
          <a:p>
            <a:pPr marL="0" indent="0" algn="ctr">
              <a:buNone/>
            </a:pP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Un </a:t>
            </a:r>
            <a:r>
              <a:rPr lang="it-IT" b="1" dirty="0">
                <a:solidFill>
                  <a:srgbClr val="FFFFFF"/>
                </a:solidFill>
                <a:latin typeface="Poppins" panose="020B0604020202020204"/>
              </a:rPr>
              <a:t>sistema</a:t>
            </a: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 è una totalità nella quale diverse parti sono in relazione reciproca; nessuna di queste può mancare, pena l'annullamento del carattere del sistema .</a:t>
            </a:r>
            <a:br>
              <a:rPr lang="it-IT" dirty="0">
                <a:solidFill>
                  <a:srgbClr val="FFFFFF"/>
                </a:solidFill>
                <a:latin typeface="Poppins" panose="020B0604020202020204"/>
              </a:rPr>
            </a:b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Un sistema si caratterizza per la </a:t>
            </a:r>
            <a:r>
              <a:rPr lang="it-IT" i="1" dirty="0">
                <a:solidFill>
                  <a:srgbClr val="FFFFFF"/>
                </a:solidFill>
                <a:latin typeface="Poppins" panose="020B0604020202020204"/>
              </a:rPr>
              <a:t>molteplicità di parti componenti</a:t>
            </a: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, per </a:t>
            </a:r>
            <a:r>
              <a:rPr lang="it-IT" i="1" dirty="0">
                <a:solidFill>
                  <a:srgbClr val="FFFFFF"/>
                </a:solidFill>
                <a:latin typeface="Poppins" panose="020B0604020202020204"/>
              </a:rPr>
              <a:t>l’interrelazione delle parti</a:t>
            </a: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 rispetto all’obiettivo da raggiungere, per il </a:t>
            </a:r>
            <a:r>
              <a:rPr lang="it-IT" i="1" dirty="0">
                <a:solidFill>
                  <a:srgbClr val="FFFFFF"/>
                </a:solidFill>
                <a:latin typeface="Poppins" panose="020B0604020202020204"/>
              </a:rPr>
              <a:t>legame funzionale</a:t>
            </a: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 con un ambiente esterno e per il </a:t>
            </a:r>
            <a:r>
              <a:rPr lang="it-IT" i="1" dirty="0">
                <a:solidFill>
                  <a:srgbClr val="FFFFFF"/>
                </a:solidFill>
                <a:latin typeface="Poppins" panose="020B0604020202020204"/>
              </a:rPr>
              <a:t>dinamismo</a:t>
            </a:r>
            <a:r>
              <a:rPr lang="it-IT" dirty="0">
                <a:solidFill>
                  <a:srgbClr val="FFFFFF"/>
                </a:solidFill>
                <a:latin typeface="Poppins" panose="020B0604020202020204"/>
              </a:rPr>
              <a:t> che deve contraddistinguere il suo funzionamento.</a:t>
            </a:r>
          </a:p>
        </p:txBody>
      </p:sp>
    </p:spTree>
    <p:extLst>
      <p:ext uri="{BB962C8B-B14F-4D97-AF65-F5344CB8AC3E}">
        <p14:creationId xmlns:p14="http://schemas.microsoft.com/office/powerpoint/2010/main" val="3134540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1E8213A9-62E1-F740-9E4B-0663FDD996CF}"/>
              </a:ext>
            </a:extLst>
          </p:cNvPr>
          <p:cNvSpPr txBox="1">
            <a:spLocks/>
          </p:cNvSpPr>
          <p:nvPr/>
        </p:nvSpPr>
        <p:spPr>
          <a:xfrm>
            <a:off x="7063665" y="2149311"/>
            <a:ext cx="4805691" cy="345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4611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spc="-9" dirty="0">
                <a:solidFill>
                  <a:srgbClr val="0070C0"/>
                </a:solidFill>
                <a:latin typeface="Poppins" panose="020B0604020202020204"/>
              </a:rPr>
              <a:t>O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biettivi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noti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e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definiti</a:t>
            </a:r>
            <a:endParaRPr kumimoji="0" lang="en-US" sz="2000" b="0" i="0" u="none" strike="noStrike" kern="120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  <a:p>
            <a:pPr marL="0" marR="4611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Identificazione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delle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singole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parti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compongono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il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</a:t>
            </a:r>
            <a:endParaRPr kumimoji="0" lang="en-US" sz="2000" b="0" i="0" u="none" strike="noStrike" kern="120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  <a:p>
            <a:pPr marL="0" marR="4611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spc="-9" dirty="0">
                <a:solidFill>
                  <a:srgbClr val="0070C0"/>
                </a:solidFill>
                <a:latin typeface="Poppins" panose="020B0604020202020204"/>
              </a:rPr>
              <a:t>R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elazioni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descrivono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rapporti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esistono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tra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le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varie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parti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componenti</a:t>
            </a:r>
            <a:endParaRPr kumimoji="0" lang="en-US" sz="2000" b="0" i="0" u="none" strike="noStrike" kern="120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  <a:p>
            <a:pPr marL="0" marR="4611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Interazione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con il mondo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esterno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(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relazioni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in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ingresso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e in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uscita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).</a:t>
            </a:r>
          </a:p>
          <a:p>
            <a:pPr marL="0" marR="4611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Variazione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quali-quantitativa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delle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parti e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delle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risorse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lo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caratterizzano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(carattere di </a:t>
            </a:r>
            <a:r>
              <a:rPr kumimoji="0" lang="en-US" sz="2000" b="0" i="0" u="none" strike="noStrike" kern="1200" cap="none" spc="-9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dinamismo</a:t>
            </a:r>
            <a:r>
              <a:rPr kumimoji="0" lang="en-US" sz="2000" b="0" i="0" u="none" strike="noStrike" kern="1200" cap="none" spc="-9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)</a:t>
            </a:r>
          </a:p>
        </p:txBody>
      </p:sp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B436DC-2496-6441-A740-1546E0294ACF}"/>
              </a:ext>
            </a:extLst>
          </p:cNvPr>
          <p:cNvSpPr txBox="1">
            <a:spLocks/>
          </p:cNvSpPr>
          <p:nvPr/>
        </p:nvSpPr>
        <p:spPr>
          <a:xfrm>
            <a:off x="7258739" y="123185"/>
            <a:ext cx="3855464" cy="45797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904" b="1" i="0" u="none" strike="noStrike" kern="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L’impresa come sistema</a:t>
            </a:r>
            <a:endParaRPr kumimoji="0" lang="it-IT" sz="2904" b="1" i="0" u="none" strike="noStrike" kern="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740" y="3149714"/>
            <a:ext cx="5081201" cy="8189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11527" marR="4611" algn="ctr"/>
            <a:r>
              <a:rPr lang="en-US" sz="2904" b="1" kern="0" spc="-5" dirty="0">
                <a:solidFill>
                  <a:srgbClr val="0070C0"/>
                </a:solidFill>
                <a:latin typeface="Poppins" panose="020B0604020202020204"/>
                <a:cs typeface="Arial"/>
              </a:rPr>
              <a:t>Impresa è un </a:t>
            </a:r>
            <a:r>
              <a:rPr lang="en-US" sz="2904" b="1" kern="0" spc="-5" dirty="0" err="1">
                <a:solidFill>
                  <a:srgbClr val="0070C0"/>
                </a:solidFill>
                <a:latin typeface="Poppins" panose="020B0604020202020204"/>
                <a:cs typeface="Arial"/>
              </a:rPr>
              <a:t>sistema</a:t>
            </a:r>
            <a:r>
              <a:rPr lang="en-US" sz="2904" b="1" kern="0" spc="-5" dirty="0">
                <a:solidFill>
                  <a:srgbClr val="0070C0"/>
                </a:solidFill>
                <a:latin typeface="Poppins" panose="020B0604020202020204"/>
                <a:cs typeface="Arial"/>
              </a:rPr>
              <a:t> </a:t>
            </a:r>
            <a:r>
              <a:rPr lang="en-US" sz="2904" b="1" kern="0" spc="-5" dirty="0" err="1">
                <a:solidFill>
                  <a:srgbClr val="0070C0"/>
                </a:solidFill>
                <a:latin typeface="Poppins" panose="020B0604020202020204"/>
                <a:cs typeface="Arial"/>
              </a:rPr>
              <a:t>inserito</a:t>
            </a:r>
            <a:r>
              <a:rPr lang="en-US" sz="2904" b="1" kern="0" spc="-5" dirty="0">
                <a:solidFill>
                  <a:srgbClr val="0070C0"/>
                </a:solidFill>
                <a:latin typeface="Poppins" panose="020B0604020202020204"/>
                <a:cs typeface="Arial"/>
              </a:rPr>
              <a:t> in </a:t>
            </a:r>
            <a:r>
              <a:rPr lang="en-US" sz="2904" b="1" kern="0" spc="-5" dirty="0" err="1">
                <a:solidFill>
                  <a:srgbClr val="0070C0"/>
                </a:solidFill>
                <a:latin typeface="Poppins" panose="020B0604020202020204"/>
                <a:cs typeface="Arial"/>
              </a:rPr>
              <a:t>sistemi</a:t>
            </a:r>
            <a:r>
              <a:rPr lang="en-US" sz="2904" b="1" kern="0" spc="-5" dirty="0">
                <a:solidFill>
                  <a:srgbClr val="0070C0"/>
                </a:solidFill>
                <a:latin typeface="Poppins" panose="020B0604020202020204"/>
                <a:cs typeface="Arial"/>
              </a:rPr>
              <a:t> </a:t>
            </a:r>
            <a:r>
              <a:rPr lang="en-US" sz="2904" b="1" kern="0" spc="-5" dirty="0" err="1">
                <a:solidFill>
                  <a:srgbClr val="0070C0"/>
                </a:solidFill>
                <a:latin typeface="Poppins" panose="020B0604020202020204"/>
                <a:cs typeface="Arial"/>
              </a:rPr>
              <a:t>più</a:t>
            </a:r>
            <a:r>
              <a:rPr lang="en-US" sz="2904" b="1" kern="0" spc="-5" dirty="0">
                <a:solidFill>
                  <a:srgbClr val="0070C0"/>
                </a:solidFill>
                <a:latin typeface="Poppins" panose="020B0604020202020204"/>
                <a:cs typeface="Arial"/>
              </a:rPr>
              <a:t> </a:t>
            </a:r>
            <a:r>
              <a:rPr lang="en-US" sz="2904" b="1" kern="0" spc="-5" dirty="0" err="1">
                <a:solidFill>
                  <a:srgbClr val="0070C0"/>
                </a:solidFill>
                <a:latin typeface="Poppins" panose="020B0604020202020204"/>
                <a:cs typeface="Arial"/>
              </a:rPr>
              <a:t>ampi</a:t>
            </a:r>
            <a:br>
              <a:rPr lang="en-US" sz="2400" b="1" kern="1200" spc="-9" dirty="0">
                <a:latin typeface="+mj-lt"/>
                <a:ea typeface="+mj-ea"/>
                <a:cs typeface="+mj-cs"/>
              </a:rPr>
            </a:br>
            <a:br>
              <a:rPr lang="en-US" sz="2400" b="1" kern="1200" spc="-9" dirty="0">
                <a:latin typeface="+mj-lt"/>
                <a:ea typeface="+mj-ea"/>
                <a:cs typeface="+mj-cs"/>
              </a:rPr>
            </a:br>
            <a:br>
              <a:rPr lang="en-US" sz="2400" b="1" kern="1200" spc="-9" dirty="0">
                <a:latin typeface="+mj-lt"/>
                <a:ea typeface="+mj-ea"/>
                <a:cs typeface="+mj-cs"/>
              </a:rPr>
            </a:br>
            <a:br>
              <a:rPr lang="en-US" sz="2400" b="1" kern="1200" spc="-9" dirty="0">
                <a:latin typeface="+mj-lt"/>
                <a:ea typeface="+mj-ea"/>
                <a:cs typeface="+mj-cs"/>
              </a:rPr>
            </a:br>
            <a:endParaRPr lang="en-US" sz="2400" b="1" kern="1200" spc="-9" dirty="0">
              <a:latin typeface="+mj-lt"/>
              <a:ea typeface="+mj-ea"/>
              <a:cs typeface="+mj-cs"/>
            </a:endParaRPr>
          </a:p>
        </p:txBody>
      </p:sp>
      <p:sp>
        <p:nvSpPr>
          <p:cNvPr id="3" name="Freccia destra 2">
            <a:extLst>
              <a:ext uri="{FF2B5EF4-FFF2-40B4-BE49-F238E27FC236}">
                <a16:creationId xmlns:a16="http://schemas.microsoft.com/office/drawing/2014/main" id="{4E5C7B2F-9718-294E-8223-6A850728117A}"/>
              </a:ext>
            </a:extLst>
          </p:cNvPr>
          <p:cNvSpPr/>
          <p:nvPr/>
        </p:nvSpPr>
        <p:spPr>
          <a:xfrm>
            <a:off x="5947020" y="3719579"/>
            <a:ext cx="956842" cy="6466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62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B436DC-2496-6441-A740-1546E0294ACF}"/>
              </a:ext>
            </a:extLst>
          </p:cNvPr>
          <p:cNvSpPr txBox="1">
            <a:spLocks/>
          </p:cNvSpPr>
          <p:nvPr/>
        </p:nvSpPr>
        <p:spPr>
          <a:xfrm>
            <a:off x="45486" y="3488259"/>
            <a:ext cx="5373905" cy="45797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1527" marR="0" lvl="0" indent="0" algn="ctr" defTabSz="9144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904" b="1" i="0" u="none" strike="noStrike" kern="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L’impresa come sistema</a:t>
            </a:r>
            <a:endParaRPr kumimoji="0" lang="it-IT" sz="2904" b="1" i="0" u="none" strike="noStrike" kern="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3" name="Freccia destra 2">
            <a:extLst>
              <a:ext uri="{FF2B5EF4-FFF2-40B4-BE49-F238E27FC236}">
                <a16:creationId xmlns:a16="http://schemas.microsoft.com/office/drawing/2014/main" id="{4E5C7B2F-9718-294E-8223-6A850728117A}"/>
              </a:ext>
            </a:extLst>
          </p:cNvPr>
          <p:cNvSpPr/>
          <p:nvPr/>
        </p:nvSpPr>
        <p:spPr>
          <a:xfrm>
            <a:off x="5947020" y="3719579"/>
            <a:ext cx="956842" cy="6466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8E6D054-6843-4D71-91B8-D0904F8E7B9C}"/>
              </a:ext>
            </a:extLst>
          </p:cNvPr>
          <p:cNvSpPr/>
          <p:nvPr/>
        </p:nvSpPr>
        <p:spPr>
          <a:xfrm>
            <a:off x="7216573" y="1004812"/>
            <a:ext cx="4632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Insieme di elementi interagenti che acquisiscono input dall’ambiente esterno, li trasformano e restituiscono output all’ambiente stesso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EFE1D92-D990-4A69-B622-33354F70184F}"/>
              </a:ext>
            </a:extLst>
          </p:cNvPr>
          <p:cNvSpPr/>
          <p:nvPr/>
        </p:nvSpPr>
        <p:spPr>
          <a:xfrm>
            <a:off x="7216572" y="2522646"/>
            <a:ext cx="46329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Componenti (macchine = conoscenza statiche; uomini = conoscenza dinamiche) e relazioni fra le parti (fra componenti)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628DFA8-CABE-4844-AD18-66AB3DECC83F}"/>
              </a:ext>
            </a:extLst>
          </p:cNvPr>
          <p:cNvSpPr/>
          <p:nvPr/>
        </p:nvSpPr>
        <p:spPr>
          <a:xfrm>
            <a:off x="7303524" y="3882907"/>
            <a:ext cx="4545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Le funzioni: vitali vs organizzative </a:t>
            </a:r>
          </a:p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(“luoghi” di accumulazione ed evoluzione delle conoscenze)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737AF51-408E-4A03-BA8A-18681B212A76}"/>
              </a:ext>
            </a:extLst>
          </p:cNvPr>
          <p:cNvSpPr/>
          <p:nvPr/>
        </p:nvSpPr>
        <p:spPr>
          <a:xfrm>
            <a:off x="7303524" y="5123742"/>
            <a:ext cx="4545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Impresa quale insieme di funzioni connesse fra loro in processi</a:t>
            </a:r>
          </a:p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(sequenze di attività specialistiche e loro combinazioni)</a:t>
            </a:r>
          </a:p>
        </p:txBody>
      </p:sp>
    </p:spTree>
    <p:extLst>
      <p:ext uri="{BB962C8B-B14F-4D97-AF65-F5344CB8AC3E}">
        <p14:creationId xmlns:p14="http://schemas.microsoft.com/office/powerpoint/2010/main" val="258716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71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486" name="Picture 73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697584" y="3092969"/>
            <a:ext cx="10699422" cy="3128721"/>
          </a:xfrm>
          <a:prstGeom prst="rect">
            <a:avLst/>
          </a:prstGeom>
        </p:spPr>
        <p:txBody>
          <a:bodyPr vert="horz" lIns="91440" tIns="45720" rIns="91440" bIns="45720" rtlCol="0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L’impresa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dunque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è 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insieme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individui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interagiscono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(è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pertanto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sociale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) con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l’esterno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(acquisendo input 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offrendo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output – 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quindi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con 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qualche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grado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apertura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)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Le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macchine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e le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tecnologie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sono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parti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irrinunciabili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del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pertanto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socio-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tecnico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), le cui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relazioni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interne 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esterne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assumono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senso 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significati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variabili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evolutivi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funzione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delle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finalità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delle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singole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parti e del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nella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sua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interezza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6F31F36-33AE-D344-8AC8-3945AF4FE280}"/>
              </a:ext>
            </a:extLst>
          </p:cNvPr>
          <p:cNvSpPr/>
          <p:nvPr/>
        </p:nvSpPr>
        <p:spPr>
          <a:xfrm>
            <a:off x="3165613" y="1248231"/>
            <a:ext cx="660830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B0604020202020204"/>
              </a:rPr>
              <a:t>La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B0604020202020204"/>
              </a:rPr>
              <a:t>Concezione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B0604020202020204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B0604020202020204"/>
              </a:rPr>
              <a:t>Sistemica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47601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B436DC-2496-6441-A740-1546E0294ACF}"/>
              </a:ext>
            </a:extLst>
          </p:cNvPr>
          <p:cNvSpPr txBox="1">
            <a:spLocks/>
          </p:cNvSpPr>
          <p:nvPr/>
        </p:nvSpPr>
        <p:spPr>
          <a:xfrm>
            <a:off x="335264" y="3161220"/>
            <a:ext cx="4644014" cy="995942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1527" marR="0" lvl="0" indent="0" algn="ctr" defTabSz="9144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Caratteristiche definitorie di Impresa</a:t>
            </a:r>
            <a:endParaRPr kumimoji="0" lang="it-IT" b="1" i="0" u="none" strike="noStrike" kern="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3" name="Freccia destra 2">
            <a:extLst>
              <a:ext uri="{FF2B5EF4-FFF2-40B4-BE49-F238E27FC236}">
                <a16:creationId xmlns:a16="http://schemas.microsoft.com/office/drawing/2014/main" id="{4E5C7B2F-9718-294E-8223-6A850728117A}"/>
              </a:ext>
            </a:extLst>
          </p:cNvPr>
          <p:cNvSpPr/>
          <p:nvPr/>
        </p:nvSpPr>
        <p:spPr>
          <a:xfrm>
            <a:off x="5947020" y="3719579"/>
            <a:ext cx="956842" cy="6466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8E6D054-6843-4D71-91B8-D0904F8E7B9C}"/>
              </a:ext>
            </a:extLst>
          </p:cNvPr>
          <p:cNvSpPr/>
          <p:nvPr/>
        </p:nvSpPr>
        <p:spPr>
          <a:xfrm>
            <a:off x="7216571" y="1004812"/>
            <a:ext cx="4048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 SOCIO – TECNICO APERTO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2E301F3-A370-4904-9289-ED320A149380}"/>
              </a:ext>
            </a:extLst>
          </p:cNvPr>
          <p:cNvSpPr/>
          <p:nvPr/>
        </p:nvSpPr>
        <p:spPr>
          <a:xfrm>
            <a:off x="7216566" y="2309239"/>
            <a:ext cx="3256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 CONOSCITIVO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523D82A-410F-4B70-95DF-81C7D9A095A8}"/>
              </a:ext>
            </a:extLst>
          </p:cNvPr>
          <p:cNvSpPr/>
          <p:nvPr/>
        </p:nvSpPr>
        <p:spPr>
          <a:xfrm>
            <a:off x="7216567" y="3613666"/>
            <a:ext cx="3256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 VITALE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AA4D1AE-E145-41B7-91B6-180277A099E3}"/>
              </a:ext>
            </a:extLst>
          </p:cNvPr>
          <p:cNvSpPr/>
          <p:nvPr/>
        </p:nvSpPr>
        <p:spPr>
          <a:xfrm>
            <a:off x="7216569" y="5051167"/>
            <a:ext cx="3256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 COMPLESSO</a:t>
            </a:r>
          </a:p>
        </p:txBody>
      </p:sp>
    </p:spTree>
    <p:extLst>
      <p:ext uri="{BB962C8B-B14F-4D97-AF65-F5344CB8AC3E}">
        <p14:creationId xmlns:p14="http://schemas.microsoft.com/office/powerpoint/2010/main" val="225355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527"/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L’impresa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quale 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sistema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socio-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tecnico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,</a:t>
            </a:r>
            <a:r>
              <a:rPr lang="en-US" kern="1200" spc="68" dirty="0">
                <a:solidFill>
                  <a:srgbClr val="FFFFFF"/>
                </a:solidFill>
                <a:latin typeface="Poppins" panose="020B0604020202020204"/>
              </a:rPr>
              <a:t> 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aperto</a:t>
            </a:r>
            <a:endParaRPr lang="en-US" kern="1200" spc="-9" dirty="0">
              <a:solidFill>
                <a:srgbClr val="FFFFFF"/>
              </a:solidFill>
              <a:latin typeface="Poppins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7269" y="1003087"/>
            <a:ext cx="5710821" cy="4851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4611" algn="just">
              <a:lnSpc>
                <a:spcPct val="90000"/>
              </a:lnSpc>
              <a:defRPr/>
            </a:pPr>
            <a:r>
              <a:rPr lang="en-US" sz="1900" dirty="0">
                <a:solidFill>
                  <a:srgbClr val="0070C0"/>
                </a:solidFill>
                <a:latin typeface="Poppins" panose="020B0604020202020204"/>
              </a:rPr>
              <a:t>È 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un </a:t>
            </a:r>
            <a:r>
              <a:rPr lang="en-US" sz="1900" b="1" spc="-5" dirty="0" err="1">
                <a:solidFill>
                  <a:srgbClr val="0070C0"/>
                </a:solidFill>
                <a:latin typeface="Poppins" panose="020B0604020202020204"/>
              </a:rPr>
              <a:t>sistema</a:t>
            </a:r>
            <a:r>
              <a:rPr lang="en-US" sz="1900" b="1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b="1" spc="-5" dirty="0" err="1">
                <a:solidFill>
                  <a:srgbClr val="0070C0"/>
                </a:solidFill>
                <a:latin typeface="Poppins" panose="020B0604020202020204"/>
              </a:rPr>
              <a:t>sociale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poiché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Poppins" panose="020B0604020202020204"/>
              </a:rPr>
              <a:t>il</a:t>
            </a:r>
            <a:r>
              <a:rPr lang="en-US" sz="1900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suo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funzionamento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dipende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dall’operare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coordinato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di una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molteplicità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di 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gruppi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,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interni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dirty="0">
                <a:solidFill>
                  <a:srgbClr val="0070C0"/>
                </a:solidFill>
                <a:latin typeface="Poppins" panose="020B0604020202020204"/>
              </a:rPr>
              <a:t>o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esterni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all’organizzazione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(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tra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dirty="0" err="1">
                <a:solidFill>
                  <a:srgbClr val="0070C0"/>
                </a:solidFill>
                <a:latin typeface="Poppins" panose="020B0604020202020204"/>
              </a:rPr>
              <a:t>i</a:t>
            </a:r>
            <a:r>
              <a:rPr lang="en-US" sz="1900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quali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9" dirty="0" err="1">
                <a:solidFill>
                  <a:srgbClr val="0070C0"/>
                </a:solidFill>
                <a:latin typeface="Poppins" panose="020B0604020202020204"/>
              </a:rPr>
              <a:t>si</a:t>
            </a:r>
            <a:r>
              <a:rPr lang="en-US" sz="1900" spc="-9" dirty="0">
                <a:solidFill>
                  <a:srgbClr val="0070C0"/>
                </a:solidFill>
                <a:latin typeface="Poppins" panose="020B0604020202020204"/>
              </a:rPr>
              <a:t> 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possono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stabilire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relazioni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di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cooperazione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e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conflitto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). </a:t>
            </a:r>
          </a:p>
          <a:p>
            <a:pPr marR="4611" algn="just">
              <a:lnSpc>
                <a:spcPct val="90000"/>
              </a:lnSpc>
              <a:defRPr/>
            </a:pPr>
            <a:endParaRPr lang="en-US" sz="1900" dirty="0">
              <a:solidFill>
                <a:srgbClr val="0070C0"/>
              </a:solidFill>
              <a:latin typeface="Poppins" panose="020B0604020202020204"/>
            </a:endParaRPr>
          </a:p>
          <a:p>
            <a:pPr marR="4611" algn="just">
              <a:lnSpc>
                <a:spcPct val="90000"/>
              </a:lnSpc>
              <a:defRPr/>
            </a:pPr>
            <a:r>
              <a:rPr lang="en-US" sz="1900" dirty="0">
                <a:solidFill>
                  <a:srgbClr val="0070C0"/>
                </a:solidFill>
                <a:latin typeface="Poppins" panose="020B0604020202020204"/>
              </a:rPr>
              <a:t>È 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un </a:t>
            </a:r>
            <a:r>
              <a:rPr lang="en-US" sz="1900" b="1" spc="-5" dirty="0" err="1">
                <a:solidFill>
                  <a:srgbClr val="0070C0"/>
                </a:solidFill>
                <a:latin typeface="Poppins" panose="020B0604020202020204"/>
              </a:rPr>
              <a:t>sistema</a:t>
            </a:r>
            <a:r>
              <a:rPr lang="en-US" sz="1900" b="1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b="1" spc="-5" dirty="0" err="1">
                <a:solidFill>
                  <a:srgbClr val="0070C0"/>
                </a:solidFill>
                <a:latin typeface="Poppins" panose="020B0604020202020204"/>
              </a:rPr>
              <a:t>tecnico</a:t>
            </a:r>
            <a:r>
              <a:rPr lang="en-US" sz="1900" b="1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poiché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, per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il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suo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funzionamento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, 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necessita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di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strumenti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(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impianti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,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attrezzature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,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ecc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.)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che</a:t>
            </a:r>
            <a:r>
              <a:rPr lang="en-US" sz="1900" spc="-5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incorporano</a:t>
            </a:r>
            <a:r>
              <a:rPr lang="en-US" sz="1900" spc="-36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en-US" sz="1900" spc="-5" dirty="0" err="1">
                <a:solidFill>
                  <a:srgbClr val="0070C0"/>
                </a:solidFill>
                <a:latin typeface="Poppins" panose="020B0604020202020204"/>
              </a:rPr>
              <a:t>tecnologie</a:t>
            </a:r>
            <a:endParaRPr lang="en-US" sz="1900" dirty="0">
              <a:solidFill>
                <a:srgbClr val="0070C0"/>
              </a:solidFill>
              <a:latin typeface="Poppins" panose="020B0604020202020204"/>
            </a:endParaRPr>
          </a:p>
          <a:p>
            <a:pPr marR="4611" algn="just">
              <a:lnSpc>
                <a:spcPct val="90000"/>
              </a:lnSpc>
              <a:defRPr/>
            </a:pPr>
            <a:endParaRPr lang="it-IT" sz="1900" dirty="0">
              <a:solidFill>
                <a:srgbClr val="0070C0"/>
              </a:solidFill>
              <a:latin typeface="Poppins" panose="020B0604020202020204"/>
            </a:endParaRPr>
          </a:p>
          <a:p>
            <a:pPr marR="4611" algn="just">
              <a:lnSpc>
                <a:spcPct val="90000"/>
              </a:lnSpc>
              <a:defRPr/>
            </a:pPr>
            <a:r>
              <a:rPr lang="it-IT" sz="1900" dirty="0">
                <a:solidFill>
                  <a:srgbClr val="0070C0"/>
                </a:solidFill>
                <a:latin typeface="Poppins" panose="020B0604020202020204"/>
              </a:rPr>
              <a:t>È un </a:t>
            </a:r>
            <a:r>
              <a:rPr lang="it-IT" sz="1900" b="1" dirty="0">
                <a:solidFill>
                  <a:srgbClr val="0070C0"/>
                </a:solidFill>
                <a:latin typeface="Poppins" panose="020B0604020202020204"/>
              </a:rPr>
              <a:t>sistema di tipo aperto</a:t>
            </a:r>
            <a:r>
              <a:rPr lang="it-IT" sz="1900" dirty="0">
                <a:solidFill>
                  <a:srgbClr val="0070C0"/>
                </a:solidFill>
                <a:latin typeface="Poppins" panose="020B0604020202020204"/>
              </a:rPr>
              <a:t> poiché per vivere deve intrattenere continue relazioni di scambio con altri sistemi o entità esterne: queste relazioni sono del tipo input (ingresso) cioè approvvigionamento di risorse necessarie per la sua alimentazione, e del tipo output (uscita) ossia cessione a terzi del prodotto del suo funzionamento.</a:t>
            </a:r>
            <a:endParaRPr kumimoji="0" lang="en-US" sz="1900" i="0" u="none" strike="noStrike" kern="1200" cap="none" spc="-5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6172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527"/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L’impresa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quale 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sistema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</a:t>
            </a:r>
            <a:r>
              <a:rPr lang="en-US" spc="-9" dirty="0" err="1">
                <a:solidFill>
                  <a:srgbClr val="FFFFFF"/>
                </a:solidFill>
                <a:latin typeface="Poppins" panose="020B0604020202020204"/>
              </a:rPr>
              <a:t>c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ognitivo</a:t>
            </a:r>
            <a:endParaRPr lang="en-US" kern="1200" spc="-9" dirty="0">
              <a:solidFill>
                <a:srgbClr val="FFFFFF"/>
              </a:solidFill>
              <a:latin typeface="Poppins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9891" y="952695"/>
            <a:ext cx="5249408" cy="2978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348101" lvl="0" algn="just">
              <a:lnSpc>
                <a:spcPct val="90000"/>
              </a:lnSpc>
              <a:spcBef>
                <a:spcPts val="91"/>
              </a:spcBef>
              <a:defRPr/>
            </a:pPr>
            <a:r>
              <a:rPr lang="it-IT" sz="2000" spc="-5" dirty="0">
                <a:solidFill>
                  <a:srgbClr val="0070C0"/>
                </a:solidFill>
                <a:latin typeface="Poppins" panose="020B0604020202020204"/>
              </a:rPr>
              <a:t>La vera ricchezza dell’impresa non è costituita solo dal suo patrimonio materiale o tangibile (impianti, attrezzature, fabbricati, </a:t>
            </a:r>
            <a:r>
              <a:rPr lang="it-IT" sz="2000" spc="-5" dirty="0" err="1">
                <a:solidFill>
                  <a:srgbClr val="0070C0"/>
                </a:solidFill>
                <a:latin typeface="Poppins" panose="020B0604020202020204"/>
              </a:rPr>
              <a:t>ecc</a:t>
            </a:r>
            <a:r>
              <a:rPr lang="it-IT" sz="2000" spc="-5" dirty="0">
                <a:solidFill>
                  <a:srgbClr val="0070C0"/>
                </a:solidFill>
                <a:latin typeface="Poppins" panose="020B0604020202020204"/>
              </a:rPr>
              <a:t>…) ma anche dalle risorse immateriali, in particolare quelle della </a:t>
            </a:r>
            <a:r>
              <a:rPr lang="it-IT" sz="2000" b="1" spc="-5" dirty="0">
                <a:solidFill>
                  <a:srgbClr val="0070C0"/>
                </a:solidFill>
                <a:latin typeface="Poppins" panose="020B0604020202020204"/>
              </a:rPr>
              <a:t>CONOSCENZA</a:t>
            </a:r>
            <a:r>
              <a:rPr lang="it-IT" sz="2000" spc="-5" dirty="0">
                <a:solidFill>
                  <a:srgbClr val="0070C0"/>
                </a:solidFill>
                <a:latin typeface="Poppins" panose="020B0604020202020204"/>
              </a:rPr>
              <a:t>, che si sono sedimentate nell’organizzazione o che  comunque giacciono nella mente di  coloro che operano nell’organizzazione. </a:t>
            </a:r>
            <a:endParaRPr lang="it-IT" sz="1900" b="1" dirty="0">
              <a:solidFill>
                <a:srgbClr val="000000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2EFF7FE-55A2-47B8-97E2-93ADB1E1999A}"/>
              </a:ext>
            </a:extLst>
          </p:cNvPr>
          <p:cNvSpPr/>
          <p:nvPr/>
        </p:nvSpPr>
        <p:spPr>
          <a:xfrm>
            <a:off x="6109891" y="4098842"/>
            <a:ext cx="49571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b="1" dirty="0">
                <a:solidFill>
                  <a:srgbClr val="0070C0"/>
                </a:solidFill>
                <a:latin typeface="Poppins" panose="020B0604020202020204"/>
              </a:rPr>
              <a:t>L’impresa è un insieme di conoscenze atte a produrre nuova conoscenza!</a:t>
            </a:r>
          </a:p>
        </p:txBody>
      </p:sp>
    </p:spTree>
    <p:extLst>
      <p:ext uri="{BB962C8B-B14F-4D97-AF65-F5344CB8AC3E}">
        <p14:creationId xmlns:p14="http://schemas.microsoft.com/office/powerpoint/2010/main" val="21001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531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120142" y="3152649"/>
            <a:ext cx="9951411" cy="2607129"/>
          </a:xfrm>
        </p:spPr>
        <p:txBody>
          <a:bodyPr>
            <a:noAutofit/>
          </a:bodyPr>
          <a:lstStyle/>
          <a:p>
            <a:pPr lvl="1" algn="just" eaLnBrk="1" hangingPunct="1">
              <a:buFont typeface="Wingdings" charset="2"/>
              <a:buChar char="Ø"/>
            </a:pP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La metafora biologica corpo e mente: un sistema di conoscenze atto a produrre nuova conoscenza (risorse </a:t>
            </a:r>
            <a:r>
              <a:rPr lang="it-IT" sz="2000" dirty="0">
                <a:solidFill>
                  <a:srgbClr val="0070C0"/>
                </a:solidFill>
                <a:latin typeface="Poppins" panose="020B0604020202020204"/>
                <a:sym typeface="Wingdings" charset="2"/>
              </a:rPr>
              <a:t> </a:t>
            </a: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risultati </a:t>
            </a:r>
            <a:r>
              <a:rPr lang="it-IT" sz="2000" dirty="0">
                <a:solidFill>
                  <a:srgbClr val="0070C0"/>
                </a:solidFill>
                <a:latin typeface="Poppins" panose="020B0604020202020204"/>
                <a:sym typeface="Wingdings" charset="2"/>
              </a:rPr>
              <a:t> </a:t>
            </a: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risorse)</a:t>
            </a:r>
          </a:p>
          <a:p>
            <a:pPr lvl="1" algn="just" eaLnBrk="1" hangingPunct="1">
              <a:buFont typeface="Wingdings" charset="2"/>
              <a:buNone/>
            </a:pPr>
            <a:endParaRPr lang="it-IT" sz="2000" dirty="0">
              <a:solidFill>
                <a:srgbClr val="0070C0"/>
              </a:solidFill>
              <a:latin typeface="Poppins" panose="020B0604020202020204"/>
            </a:endParaRPr>
          </a:p>
          <a:p>
            <a:pPr lvl="1" algn="just" eaLnBrk="1" hangingPunct="1">
              <a:buFont typeface="Wingdings" charset="2"/>
              <a:buChar char="Ø"/>
            </a:pP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La metafora </a:t>
            </a:r>
            <a:r>
              <a:rPr lang="it-IT" sz="2000" dirty="0" err="1">
                <a:solidFill>
                  <a:srgbClr val="0070C0"/>
                </a:solidFill>
                <a:latin typeface="Poppins" panose="020B0604020202020204"/>
              </a:rPr>
              <a:t>connessionista</a:t>
            </a: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 (hardware, software; conoscenze codificate e/o esplicite; conoscenza tacite e/o implicite) – contesto per l’auto-organizzazione</a:t>
            </a:r>
          </a:p>
          <a:p>
            <a:pPr lvl="1" algn="just" eaLnBrk="1" hangingPunct="1">
              <a:buFont typeface="Wingdings" charset="2"/>
              <a:buNone/>
            </a:pPr>
            <a:endParaRPr lang="it-IT" sz="2000" dirty="0">
              <a:solidFill>
                <a:srgbClr val="0070C0"/>
              </a:solidFill>
              <a:latin typeface="Poppins" panose="020B0604020202020204"/>
            </a:endParaRPr>
          </a:p>
          <a:p>
            <a:pPr lvl="1" algn="just" eaLnBrk="1" hangingPunct="1">
              <a:buFont typeface="Wingdings" charset="2"/>
              <a:buChar char="Ø"/>
            </a:pPr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La struttura evolve per effetto dell’apprendimento (centralità di esperienza e sperimentazione)</a:t>
            </a:r>
          </a:p>
          <a:p>
            <a:pPr lvl="1" eaLnBrk="1" hangingPunct="1">
              <a:buFont typeface="Wingdings" charset="2"/>
              <a:buChar char="Ø"/>
            </a:pPr>
            <a:endParaRPr lang="it-IT" sz="2000" dirty="0">
              <a:solidFill>
                <a:srgbClr val="000000"/>
              </a:solidFill>
            </a:endParaRPr>
          </a:p>
          <a:p>
            <a:pPr lvl="1" eaLnBrk="1" hangingPunct="1">
              <a:buFont typeface="Wingdings" charset="2"/>
              <a:buChar char="Ø"/>
            </a:pPr>
            <a:endParaRPr lang="it-IT" sz="2000" dirty="0">
              <a:solidFill>
                <a:srgbClr val="000000"/>
              </a:solidFill>
              <a:latin typeface="Comic Sans MS" charset="0"/>
            </a:endParaRPr>
          </a:p>
          <a:p>
            <a:pPr lvl="1" eaLnBrk="1" hangingPunct="1">
              <a:buFont typeface="Wingdings" charset="2"/>
              <a:buNone/>
            </a:pPr>
            <a:endParaRPr lang="en-GB" sz="200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6DAAC65-BC25-CC42-B545-9A8DC4695167}"/>
              </a:ext>
            </a:extLst>
          </p:cNvPr>
          <p:cNvSpPr/>
          <p:nvPr/>
        </p:nvSpPr>
        <p:spPr>
          <a:xfrm>
            <a:off x="2982899" y="1130746"/>
            <a:ext cx="488127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B0604020202020204"/>
              </a:rPr>
              <a:t>L’Impresa come Sistema Cognitivo</a:t>
            </a:r>
          </a:p>
        </p:txBody>
      </p:sp>
    </p:spTree>
    <p:extLst>
      <p:ext uri="{BB962C8B-B14F-4D97-AF65-F5344CB8AC3E}">
        <p14:creationId xmlns:p14="http://schemas.microsoft.com/office/powerpoint/2010/main" val="10917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B436DC-2496-6441-A740-1546E0294ACF}"/>
              </a:ext>
            </a:extLst>
          </p:cNvPr>
          <p:cNvSpPr txBox="1">
            <a:spLocks/>
          </p:cNvSpPr>
          <p:nvPr/>
        </p:nvSpPr>
        <p:spPr>
          <a:xfrm>
            <a:off x="796890" y="3490592"/>
            <a:ext cx="3430940" cy="503499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1527" marR="0" lvl="0" indent="0" algn="ctr" defTabSz="9144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anose="020B0604020202020204"/>
              </a:rPr>
              <a:t>Sistema Cognitivo</a:t>
            </a:r>
            <a:endParaRPr kumimoji="0" lang="it-IT" b="1" i="0" u="none" strike="noStrike" kern="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3" name="Freccia destra 2">
            <a:extLst>
              <a:ext uri="{FF2B5EF4-FFF2-40B4-BE49-F238E27FC236}">
                <a16:creationId xmlns:a16="http://schemas.microsoft.com/office/drawing/2014/main" id="{4E5C7B2F-9718-294E-8223-6A850728117A}"/>
              </a:ext>
            </a:extLst>
          </p:cNvPr>
          <p:cNvSpPr/>
          <p:nvPr/>
        </p:nvSpPr>
        <p:spPr>
          <a:xfrm>
            <a:off x="5947020" y="3719579"/>
            <a:ext cx="956842" cy="6466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8E6D054-6843-4D71-91B8-D0904F8E7B9C}"/>
              </a:ext>
            </a:extLst>
          </p:cNvPr>
          <p:cNvSpPr/>
          <p:nvPr/>
        </p:nvSpPr>
        <p:spPr>
          <a:xfrm>
            <a:off x="7216572" y="1004812"/>
            <a:ext cx="3709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Impresa quale sistema di conoscenze atto a produrre nuova conoscenza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2E301F3-A370-4904-9289-ED320A149380}"/>
              </a:ext>
            </a:extLst>
          </p:cNvPr>
          <p:cNvSpPr/>
          <p:nvPr/>
        </p:nvSpPr>
        <p:spPr>
          <a:xfrm>
            <a:off x="7216566" y="2309239"/>
            <a:ext cx="3256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Accumulo di conoscenza</a:t>
            </a:r>
            <a:endParaRPr lang="en-US" dirty="0">
              <a:solidFill>
                <a:srgbClr val="0070C0"/>
              </a:solidFill>
              <a:latin typeface="Poppins" panose="020B0604020202020204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523D82A-410F-4B70-95DF-81C7D9A095A8}"/>
              </a:ext>
            </a:extLst>
          </p:cNvPr>
          <p:cNvSpPr/>
          <p:nvPr/>
        </p:nvSpPr>
        <p:spPr>
          <a:xfrm>
            <a:off x="7216567" y="3472986"/>
            <a:ext cx="3256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Learning by </a:t>
            </a:r>
            <a:r>
              <a:rPr lang="it-IT" dirty="0" err="1">
                <a:solidFill>
                  <a:srgbClr val="0070C0"/>
                </a:solidFill>
                <a:latin typeface="Poppins" panose="020B0604020202020204"/>
              </a:rPr>
              <a:t>doing</a:t>
            </a:r>
            <a:endParaRPr lang="en-US" dirty="0">
              <a:solidFill>
                <a:srgbClr val="0070C0"/>
              </a:solidFill>
              <a:latin typeface="Poppins" panose="020B0604020202020204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AA4D1AE-E145-41B7-91B6-180277A099E3}"/>
              </a:ext>
            </a:extLst>
          </p:cNvPr>
          <p:cNvSpPr/>
          <p:nvPr/>
        </p:nvSpPr>
        <p:spPr>
          <a:xfrm>
            <a:off x="7216566" y="4641094"/>
            <a:ext cx="3256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Routine</a:t>
            </a:r>
            <a:endParaRPr lang="en-US" dirty="0">
              <a:solidFill>
                <a:srgbClr val="0070C0"/>
              </a:solidFill>
              <a:latin typeface="Poppins" panose="020B0604020202020204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F590B81-D186-493C-BB01-3D7F23846B6A}"/>
              </a:ext>
            </a:extLst>
          </p:cNvPr>
          <p:cNvSpPr/>
          <p:nvPr/>
        </p:nvSpPr>
        <p:spPr>
          <a:xfrm>
            <a:off x="7216566" y="5832900"/>
            <a:ext cx="3256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Sapere individuale e condiviso</a:t>
            </a:r>
            <a:endParaRPr lang="en-US" dirty="0">
              <a:solidFill>
                <a:srgbClr val="0070C0"/>
              </a:solidFill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8483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B436DC-2496-6441-A740-1546E0294ACF}"/>
              </a:ext>
            </a:extLst>
          </p:cNvPr>
          <p:cNvSpPr txBox="1">
            <a:spLocks/>
          </p:cNvSpPr>
          <p:nvPr/>
        </p:nvSpPr>
        <p:spPr>
          <a:xfrm>
            <a:off x="796889" y="3490592"/>
            <a:ext cx="3803245" cy="503499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>
            <a:lvl1pPr>
              <a:defRPr sz="3200" b="1" i="0">
                <a:solidFill>
                  <a:srgbClr val="33006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kern="0" spc="-5" dirty="0">
                <a:solidFill>
                  <a:srgbClr val="0070C0"/>
                </a:solidFill>
                <a:latin typeface="Poppins" panose="020B0604020202020204"/>
              </a:rPr>
              <a:t>Le Parti dell’Impresa</a:t>
            </a:r>
            <a:endParaRPr kumimoji="0" lang="it-IT" b="1" i="0" u="none" strike="noStrike" kern="0" cap="none" spc="-9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anose="020B0604020202020204"/>
            </a:endParaRPr>
          </a:p>
        </p:txBody>
      </p:sp>
      <p:sp>
        <p:nvSpPr>
          <p:cNvPr id="3" name="Freccia destra 2">
            <a:extLst>
              <a:ext uri="{FF2B5EF4-FFF2-40B4-BE49-F238E27FC236}">
                <a16:creationId xmlns:a16="http://schemas.microsoft.com/office/drawing/2014/main" id="{4E5C7B2F-9718-294E-8223-6A850728117A}"/>
              </a:ext>
            </a:extLst>
          </p:cNvPr>
          <p:cNvSpPr/>
          <p:nvPr/>
        </p:nvSpPr>
        <p:spPr>
          <a:xfrm>
            <a:off x="5947020" y="3719579"/>
            <a:ext cx="956842" cy="6466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8E6D054-6843-4D71-91B8-D0904F8E7B9C}"/>
              </a:ext>
            </a:extLst>
          </p:cNvPr>
          <p:cNvSpPr/>
          <p:nvPr/>
        </p:nvSpPr>
        <p:spPr>
          <a:xfrm>
            <a:off x="7018609" y="1151141"/>
            <a:ext cx="46424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Conoscenze inglobate nelle macchine (che in genere non apprendono - statiche) e uomini (sistemi in apprendimento costante - dinamiche)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2E301F3-A370-4904-9289-ED320A149380}"/>
              </a:ext>
            </a:extLst>
          </p:cNvPr>
          <p:cNvSpPr/>
          <p:nvPr/>
        </p:nvSpPr>
        <p:spPr>
          <a:xfrm>
            <a:off x="7018609" y="2415251"/>
            <a:ext cx="46424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L’organizzazione delle parti (le relazioni che mettono “a sistema” le parti) avviene secondo due criteri: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523D82A-410F-4B70-95DF-81C7D9A095A8}"/>
              </a:ext>
            </a:extLst>
          </p:cNvPr>
          <p:cNvSpPr/>
          <p:nvPr/>
        </p:nvSpPr>
        <p:spPr>
          <a:xfrm>
            <a:off x="7186870" y="3326190"/>
            <a:ext cx="44742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a) per favorire l’apprendimento </a:t>
            </a:r>
            <a:r>
              <a:rPr lang="it-IT" dirty="0">
                <a:solidFill>
                  <a:srgbClr val="0070C0"/>
                </a:solidFill>
                <a:latin typeface="Poppins" panose="020B0604020202020204"/>
                <a:sym typeface="Wingdings" panose="05000000000000000000" pitchFamily="2" charset="2"/>
              </a:rPr>
              <a:t></a:t>
            </a:r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 specializzazione in funzioni di gestione (combinazioni di conoscenze simili o “contigue” sotto il profilo logico-concettuale)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991986D-88CA-4DC1-9998-5C0498CFE7C5}"/>
              </a:ext>
            </a:extLst>
          </p:cNvPr>
          <p:cNvSpPr txBox="1"/>
          <p:nvPr/>
        </p:nvSpPr>
        <p:spPr>
          <a:xfrm>
            <a:off x="7186870" y="4975793"/>
            <a:ext cx="44742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b) per favorire il funzionamento </a:t>
            </a:r>
            <a:r>
              <a:rPr lang="it-IT" dirty="0">
                <a:solidFill>
                  <a:srgbClr val="0070C0"/>
                </a:solidFill>
                <a:latin typeface="Poppins" panose="020B0604020202020204"/>
                <a:sym typeface="Wingdings" panose="05000000000000000000" pitchFamily="2" charset="2"/>
              </a:rPr>
              <a:t></a:t>
            </a:r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 combinazione in processi che si configurano per contiguità temporale e operativa</a:t>
            </a:r>
          </a:p>
        </p:txBody>
      </p:sp>
    </p:spTree>
    <p:extLst>
      <p:ext uri="{BB962C8B-B14F-4D97-AF65-F5344CB8AC3E}">
        <p14:creationId xmlns:p14="http://schemas.microsoft.com/office/powerpoint/2010/main" val="95476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527"/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L’impresa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quale </a:t>
            </a:r>
            <a:r>
              <a:rPr lang="en-US" kern="1200" spc="-9" dirty="0" err="1">
                <a:solidFill>
                  <a:srgbClr val="FFFFFF"/>
                </a:solidFill>
                <a:latin typeface="Poppins" panose="020B0604020202020204"/>
              </a:rPr>
              <a:t>sistema</a:t>
            </a:r>
            <a:r>
              <a:rPr lang="en-US" kern="1200" spc="-9" dirty="0">
                <a:solidFill>
                  <a:srgbClr val="FFFFFF"/>
                </a:solidFill>
                <a:latin typeface="Poppins" panose="020B0604020202020204"/>
              </a:rPr>
              <a:t> </a:t>
            </a:r>
            <a:r>
              <a:rPr lang="en-US" spc="-9" dirty="0" err="1">
                <a:solidFill>
                  <a:srgbClr val="FFFFFF"/>
                </a:solidFill>
                <a:latin typeface="Poppins" panose="020B0604020202020204"/>
              </a:rPr>
              <a:t>complesso</a:t>
            </a:r>
            <a:endParaRPr lang="en-US" kern="1200" spc="-9" dirty="0">
              <a:solidFill>
                <a:srgbClr val="FFFFFF"/>
              </a:solidFill>
              <a:latin typeface="Poppins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9891" y="1726417"/>
            <a:ext cx="5551066" cy="3628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348101" lvl="0" algn="just">
              <a:lnSpc>
                <a:spcPct val="90000"/>
              </a:lnSpc>
              <a:spcBef>
                <a:spcPts val="91"/>
              </a:spcBef>
              <a:defRPr/>
            </a:pPr>
            <a:r>
              <a:rPr lang="it-IT" sz="2800" spc="-5" dirty="0">
                <a:solidFill>
                  <a:srgbClr val="0070C0"/>
                </a:solidFill>
                <a:latin typeface="Poppins" panose="020B0604020202020204"/>
              </a:rPr>
              <a:t>L’impresa è un </a:t>
            </a:r>
            <a:r>
              <a:rPr lang="it-IT" sz="2800" b="1" spc="-5" dirty="0">
                <a:solidFill>
                  <a:srgbClr val="0070C0"/>
                </a:solidFill>
                <a:latin typeface="Poppins" panose="020B0604020202020204"/>
              </a:rPr>
              <a:t>sistema complesso </a:t>
            </a:r>
            <a:r>
              <a:rPr lang="it-IT" sz="2800" spc="-5" dirty="0">
                <a:solidFill>
                  <a:srgbClr val="0070C0"/>
                </a:solidFill>
                <a:latin typeface="Poppins" panose="020B0604020202020204"/>
              </a:rPr>
              <a:t>all’interno del quale si intrecciano elementi tangibili e intangibili (immobilizzazioni materiali ed immateriali, mezzi tecnici ed intelligenze, risorse finanziarie ed umane) secondo un disegno finalizzato, in ogni caso, alla produzione e diffusione di valore.</a:t>
            </a:r>
            <a:endParaRPr lang="it-IT" sz="2800" b="1" dirty="0">
              <a:solidFill>
                <a:srgbClr val="0070C0"/>
              </a:solidFill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6663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426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Freeform: Shape 13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F372534-63F2-434D-ADCD-99F94A223169}"/>
              </a:ext>
            </a:extLst>
          </p:cNvPr>
          <p:cNvSpPr txBox="1">
            <a:spLocks/>
          </p:cNvSpPr>
          <p:nvPr/>
        </p:nvSpPr>
        <p:spPr>
          <a:xfrm>
            <a:off x="3502875" y="80355"/>
            <a:ext cx="4977976" cy="1306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Sistema degli scambi nell’impresa</a:t>
            </a:r>
          </a:p>
        </p:txBody>
      </p:sp>
      <p:pic>
        <p:nvPicPr>
          <p:cNvPr id="9" name="Immagine 8" descr="Impresa">
            <a:extLst>
              <a:ext uri="{FF2B5EF4-FFF2-40B4-BE49-F238E27FC236}">
                <a16:creationId xmlns:a16="http://schemas.microsoft.com/office/drawing/2014/main" id="{4DEFFC52-9060-4593-BBCD-A66BF4C0AC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875" y="1567689"/>
            <a:ext cx="5120933" cy="4114405"/>
          </a:xfrm>
          <a:prstGeom prst="rect">
            <a:avLst/>
          </a:prstGeom>
        </p:spPr>
      </p:pic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BB7E67EA-6146-43AA-9094-E58D713FAAD6}"/>
              </a:ext>
            </a:extLst>
          </p:cNvPr>
          <p:cNvSpPr/>
          <p:nvPr/>
        </p:nvSpPr>
        <p:spPr>
          <a:xfrm>
            <a:off x="689317" y="1716258"/>
            <a:ext cx="2813558" cy="661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9386AC70-77B9-425B-9758-6C907C19ECE3}"/>
              </a:ext>
            </a:extLst>
          </p:cNvPr>
          <p:cNvSpPr/>
          <p:nvPr/>
        </p:nvSpPr>
        <p:spPr>
          <a:xfrm>
            <a:off x="689317" y="5020912"/>
            <a:ext cx="2813558" cy="661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CBEF28E8-7A45-4DCE-8165-79E32D58A276}"/>
              </a:ext>
            </a:extLst>
          </p:cNvPr>
          <p:cNvSpPr/>
          <p:nvPr/>
        </p:nvSpPr>
        <p:spPr>
          <a:xfrm>
            <a:off x="689317" y="3294300"/>
            <a:ext cx="2813558" cy="661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1927D9BB-696F-4B5C-B760-511BA040D1D9}"/>
              </a:ext>
            </a:extLst>
          </p:cNvPr>
          <p:cNvSpPr/>
          <p:nvPr/>
        </p:nvSpPr>
        <p:spPr>
          <a:xfrm>
            <a:off x="8905833" y="3294300"/>
            <a:ext cx="2813558" cy="661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D2C8E5D-209C-4D8E-B5B0-9AC13E1173CC}"/>
              </a:ext>
            </a:extLst>
          </p:cNvPr>
          <p:cNvSpPr txBox="1"/>
          <p:nvPr/>
        </p:nvSpPr>
        <p:spPr>
          <a:xfrm>
            <a:off x="4673600" y="2209178"/>
            <a:ext cx="2019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IMPRESA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0CE2075-89F0-46FB-B1CF-B6E3F4AA4DE2}"/>
              </a:ext>
            </a:extLst>
          </p:cNvPr>
          <p:cNvSpPr txBox="1"/>
          <p:nvPr/>
        </p:nvSpPr>
        <p:spPr>
          <a:xfrm>
            <a:off x="689317" y="1870624"/>
            <a:ext cx="3431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della produzione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1275BC8-722B-4201-AF21-5F0B456BFD31}"/>
              </a:ext>
            </a:extLst>
          </p:cNvPr>
          <p:cNvSpPr txBox="1"/>
          <p:nvPr/>
        </p:nvSpPr>
        <p:spPr>
          <a:xfrm>
            <a:off x="790112" y="3433038"/>
            <a:ext cx="272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 lavoro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A366250-AF76-438C-B9FB-43460F802AC7}"/>
              </a:ext>
            </a:extLst>
          </p:cNvPr>
          <p:cNvSpPr txBox="1"/>
          <p:nvPr/>
        </p:nvSpPr>
        <p:spPr>
          <a:xfrm>
            <a:off x="736601" y="5159484"/>
            <a:ext cx="27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dei capitali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9378EAD-10EA-462C-AF4C-C6507916502E}"/>
              </a:ext>
            </a:extLst>
          </p:cNvPr>
          <p:cNvSpPr txBox="1"/>
          <p:nvPr/>
        </p:nvSpPr>
        <p:spPr>
          <a:xfrm>
            <a:off x="9101927" y="3422941"/>
            <a:ext cx="261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pic>
        <p:nvPicPr>
          <p:cNvPr id="15" name="Elemento grafico 14" descr="Dollaro">
            <a:extLst>
              <a:ext uri="{FF2B5EF4-FFF2-40B4-BE49-F238E27FC236}">
                <a16:creationId xmlns:a16="http://schemas.microsoft.com/office/drawing/2014/main" id="{431DF659-8144-4DEF-AB22-72E2DA7F8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45" y="4821901"/>
            <a:ext cx="914400" cy="914400"/>
          </a:xfrm>
          <a:prstGeom prst="rect">
            <a:avLst/>
          </a:prstGeom>
        </p:spPr>
      </p:pic>
      <p:pic>
        <p:nvPicPr>
          <p:cNvPr id="20" name="Elemento grafico 19" descr="Programmatore">
            <a:extLst>
              <a:ext uri="{FF2B5EF4-FFF2-40B4-BE49-F238E27FC236}">
                <a16:creationId xmlns:a16="http://schemas.microsoft.com/office/drawing/2014/main" id="{9EF986F9-DB26-4A06-8372-6F8D07C757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72" y="2955203"/>
            <a:ext cx="914400" cy="914400"/>
          </a:xfrm>
          <a:prstGeom prst="rect">
            <a:avLst/>
          </a:prstGeom>
        </p:spPr>
      </p:pic>
      <p:pic>
        <p:nvPicPr>
          <p:cNvPr id="27" name="Elemento grafico 26" descr="Diagramma di flusso circolare">
            <a:extLst>
              <a:ext uri="{FF2B5EF4-FFF2-40B4-BE49-F238E27FC236}">
                <a16:creationId xmlns:a16="http://schemas.microsoft.com/office/drawing/2014/main" id="{23FD7D61-B2DC-4704-87DB-F4E309508C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0" y="1540036"/>
            <a:ext cx="914400" cy="914400"/>
          </a:xfrm>
          <a:prstGeom prst="rect">
            <a:avLst/>
          </a:prstGeom>
        </p:spPr>
      </p:pic>
      <p:pic>
        <p:nvPicPr>
          <p:cNvPr id="29" name="Elemento grafico 28" descr="Carrello portapacchi">
            <a:extLst>
              <a:ext uri="{FF2B5EF4-FFF2-40B4-BE49-F238E27FC236}">
                <a16:creationId xmlns:a16="http://schemas.microsoft.com/office/drawing/2014/main" id="{A20214C5-DC6C-47C6-BA0B-A1D1FB50B5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14631" y="31025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9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della produzione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pic>
        <p:nvPicPr>
          <p:cNvPr id="18" name="Elemento grafico 17" descr="Diagramma di flusso circolare">
            <a:extLst>
              <a:ext uri="{FF2B5EF4-FFF2-40B4-BE49-F238E27FC236}">
                <a16:creationId xmlns:a16="http://schemas.microsoft.com/office/drawing/2014/main" id="{37E7C53B-48CB-4274-807B-2C9C3ABD5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875" y="1078914"/>
            <a:ext cx="914400" cy="914400"/>
          </a:xfrm>
          <a:prstGeom prst="rect">
            <a:avLst/>
          </a:prstGeom>
        </p:spPr>
      </p:pic>
      <p:pic>
        <p:nvPicPr>
          <p:cNvPr id="5" name="Elementi multimediali online 4" title="Cosa sono le materie prime?">
            <a:hlinkClick r:id="" action="ppaction://media"/>
            <a:extLst>
              <a:ext uri="{FF2B5EF4-FFF2-40B4-BE49-F238E27FC236}">
                <a16:creationId xmlns:a16="http://schemas.microsoft.com/office/drawing/2014/main" id="{373017BC-5D03-443C-A0E3-3A3C612F99C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5696075" y="2967049"/>
            <a:ext cx="6096000" cy="3429000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C9B223D8-FD91-4718-85CB-42825D1509A0}"/>
              </a:ext>
            </a:extLst>
          </p:cNvPr>
          <p:cNvSpPr txBox="1">
            <a:spLocks/>
          </p:cNvSpPr>
          <p:nvPr/>
        </p:nvSpPr>
        <p:spPr>
          <a:xfrm>
            <a:off x="6249342" y="2103620"/>
            <a:ext cx="4660042" cy="802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Le materie prime</a:t>
            </a:r>
          </a:p>
        </p:txBody>
      </p:sp>
    </p:spTree>
    <p:extLst>
      <p:ext uri="{BB962C8B-B14F-4D97-AF65-F5344CB8AC3E}">
        <p14:creationId xmlns:p14="http://schemas.microsoft.com/office/powerpoint/2010/main" val="96865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della produzione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pic>
        <p:nvPicPr>
          <p:cNvPr id="18" name="Elemento grafico 17" descr="Diagramma di flusso circolare">
            <a:extLst>
              <a:ext uri="{FF2B5EF4-FFF2-40B4-BE49-F238E27FC236}">
                <a16:creationId xmlns:a16="http://schemas.microsoft.com/office/drawing/2014/main" id="{37E7C53B-48CB-4274-807B-2C9C3ABD5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8875" y="1078914"/>
            <a:ext cx="914400" cy="914400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A083BB08-5B9F-497C-AA3C-2A8AF0C0ABCA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Individuare i principali attori del mercato della produzione di Apple</a:t>
            </a:r>
          </a:p>
        </p:txBody>
      </p:sp>
    </p:spTree>
    <p:extLst>
      <p:ext uri="{BB962C8B-B14F-4D97-AF65-F5344CB8AC3E}">
        <p14:creationId xmlns:p14="http://schemas.microsoft.com/office/powerpoint/2010/main" val="2484860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della produzione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Elemento grafico 17" descr="Diagramma di flusso circolare">
            <a:extLst>
              <a:ext uri="{FF2B5EF4-FFF2-40B4-BE49-F238E27FC236}">
                <a16:creationId xmlns:a16="http://schemas.microsoft.com/office/drawing/2014/main" id="{37E7C53B-48CB-4274-807B-2C9C3ABD54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8875" y="1078914"/>
            <a:ext cx="914400" cy="914400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A083BB08-5B9F-497C-AA3C-2A8AF0C0ABCA}"/>
              </a:ext>
            </a:extLst>
          </p:cNvPr>
          <p:cNvSpPr txBox="1">
            <a:spLocks/>
          </p:cNvSpPr>
          <p:nvPr/>
        </p:nvSpPr>
        <p:spPr>
          <a:xfrm>
            <a:off x="5886788" y="2266603"/>
            <a:ext cx="4660042" cy="802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800" dirty="0">
                <a:solidFill>
                  <a:srgbClr val="0070C0"/>
                </a:solidFill>
                <a:latin typeface="Poppins" panose="020B0604020202020204"/>
              </a:rPr>
              <a:t>Fornitori, materie prime e materiali</a:t>
            </a:r>
          </a:p>
        </p:txBody>
      </p:sp>
      <p:pic>
        <p:nvPicPr>
          <p:cNvPr id="11" name="Picture 6" descr="Risultato immagini per intel logo">
            <a:extLst>
              <a:ext uri="{FF2B5EF4-FFF2-40B4-BE49-F238E27FC236}">
                <a16:creationId xmlns:a16="http://schemas.microsoft.com/office/drawing/2014/main" id="{3205DBBF-327F-4093-971C-EA2ABB715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1" t="15403" r="11819" b="16997"/>
          <a:stretch/>
        </p:blipFill>
        <p:spPr bwMode="auto">
          <a:xfrm>
            <a:off x="5563657" y="3059961"/>
            <a:ext cx="2153656" cy="146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isultato immagini per samsung logo">
            <a:extLst>
              <a:ext uri="{FF2B5EF4-FFF2-40B4-BE49-F238E27FC236}">
                <a16:creationId xmlns:a16="http://schemas.microsoft.com/office/drawing/2014/main" id="{02AB5A2C-0A91-4A8F-9C5C-53EAB71CF7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24" b="89981" l="5344" r="98282">
                        <a14:foregroundMark x1="5344" y1="53912" x2="5344" y2="53912"/>
                        <a14:foregroundMark x1="93893" y1="37500" x2="93893" y2="37500"/>
                        <a14:foregroundMark x1="98282" y1="37691" x2="98282" y2="37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581" t="29806" b="35981"/>
          <a:stretch/>
        </p:blipFill>
        <p:spPr bwMode="auto">
          <a:xfrm>
            <a:off x="7989226" y="3309387"/>
            <a:ext cx="2494824" cy="83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BC5D468-6540-4356-87B3-2FB6EE04F0B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25118" b="28056"/>
          <a:stretch/>
        </p:blipFill>
        <p:spPr>
          <a:xfrm>
            <a:off x="5878583" y="4586742"/>
            <a:ext cx="2857500" cy="74932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4040AB68-B373-42E9-8A97-52E5450843DF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36563" b="32153"/>
          <a:stretch/>
        </p:blipFill>
        <p:spPr>
          <a:xfrm>
            <a:off x="8642983" y="5888178"/>
            <a:ext cx="2143125" cy="670450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63514D3F-2C9C-4C6F-A20F-076C779C7569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9685" t="38376" r="8653" b="38913"/>
          <a:stretch/>
        </p:blipFill>
        <p:spPr>
          <a:xfrm>
            <a:off x="5906011" y="5706481"/>
            <a:ext cx="2333482" cy="36339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6889FDF-9D05-4B13-A4EA-682725D91E5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5316" t="20134" r="12607" b="25896"/>
          <a:stretch/>
        </p:blipFill>
        <p:spPr>
          <a:xfrm>
            <a:off x="10358935" y="3771337"/>
            <a:ext cx="1833045" cy="97156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259149BB-8D86-464C-B3ED-352D625E03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7803" y="4440168"/>
            <a:ext cx="1526954" cy="120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95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 lavoro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Elementi multimediali online 3" title="il mercato del lavoro">
            <a:hlinkClick r:id="" action="ppaction://media"/>
            <a:extLst>
              <a:ext uri="{FF2B5EF4-FFF2-40B4-BE49-F238E27FC236}">
                <a16:creationId xmlns:a16="http://schemas.microsoft.com/office/drawing/2014/main" id="{E646D42B-5DC8-4271-98B4-65FEA90A8C6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149975" y="2420938"/>
            <a:ext cx="4857750" cy="3640137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30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4" name="Elemento grafico 13" descr="Programmatore">
            <a:extLst>
              <a:ext uri="{FF2B5EF4-FFF2-40B4-BE49-F238E27FC236}">
                <a16:creationId xmlns:a16="http://schemas.microsoft.com/office/drawing/2014/main" id="{6D4885AC-ACB8-4FF9-AB31-0AC4B6939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5525" y="1072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6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 lavoro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30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4" name="Elemento grafico 13" descr="Programmatore">
            <a:extLst>
              <a:ext uri="{FF2B5EF4-FFF2-40B4-BE49-F238E27FC236}">
                <a16:creationId xmlns:a16="http://schemas.microsoft.com/office/drawing/2014/main" id="{6D4885AC-ACB8-4FF9-AB31-0AC4B6939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5525" y="1072780"/>
            <a:ext cx="914400" cy="9144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350D7481-BB0B-44A8-87C6-14899CE2507E}"/>
              </a:ext>
            </a:extLst>
          </p:cNvPr>
          <p:cNvSpPr txBox="1">
            <a:spLocks/>
          </p:cNvSpPr>
          <p:nvPr/>
        </p:nvSpPr>
        <p:spPr>
          <a:xfrm>
            <a:off x="6338549" y="24094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Individuare i principali attori del mercato del lavoro di Apple.</a:t>
            </a:r>
          </a:p>
        </p:txBody>
      </p:sp>
    </p:spTree>
    <p:extLst>
      <p:ext uri="{BB962C8B-B14F-4D97-AF65-F5344CB8AC3E}">
        <p14:creationId xmlns:p14="http://schemas.microsoft.com/office/powerpoint/2010/main" val="4185489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85357"/>
            <a:ext cx="552893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del lavoro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990584" y="1818678"/>
            <a:ext cx="3148767" cy="600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Il personale</a:t>
            </a:r>
          </a:p>
        </p:txBody>
      </p:sp>
      <p:pic>
        <p:nvPicPr>
          <p:cNvPr id="7" name="Immagine 6" descr="Immagine che contiene portatile, persona, computer, sedendo&#10;&#10;Descrizione generata automaticamente">
            <a:extLst>
              <a:ext uri="{FF2B5EF4-FFF2-40B4-BE49-F238E27FC236}">
                <a16:creationId xmlns:a16="http://schemas.microsoft.com/office/drawing/2014/main" id="{A2945CA4-3805-45E5-9F27-B3A1413BC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412" y="2725089"/>
            <a:ext cx="2462877" cy="1558582"/>
          </a:xfrm>
          <a:prstGeom prst="rect">
            <a:avLst/>
          </a:prstGeom>
        </p:spPr>
      </p:pic>
      <p:pic>
        <p:nvPicPr>
          <p:cNvPr id="13" name="Immagine 12" descr="Immagine che contiene persona, interni, tavolo, cibo&#10;&#10;Descrizione generata automaticamente">
            <a:extLst>
              <a:ext uri="{FF2B5EF4-FFF2-40B4-BE49-F238E27FC236}">
                <a16:creationId xmlns:a16="http://schemas.microsoft.com/office/drawing/2014/main" id="{8DD83617-4BF0-4223-A652-CD420D9021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10" y="2667711"/>
            <a:ext cx="2338200" cy="1558800"/>
          </a:xfrm>
          <a:prstGeom prst="rect">
            <a:avLst/>
          </a:prstGeom>
        </p:spPr>
      </p:pic>
      <p:pic>
        <p:nvPicPr>
          <p:cNvPr id="16" name="Immagine 15" descr="Immagine che contiene persona, inpiedi, posando, racchetta&#10;&#10;Descrizione generata automaticamente">
            <a:extLst>
              <a:ext uri="{FF2B5EF4-FFF2-40B4-BE49-F238E27FC236}">
                <a16:creationId xmlns:a16="http://schemas.microsoft.com/office/drawing/2014/main" id="{BEABCF37-76B6-4ABB-BC1F-693F8C25FB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850" y="4676775"/>
            <a:ext cx="3228234" cy="1922357"/>
          </a:xfrm>
          <a:prstGeom prst="rect">
            <a:avLst/>
          </a:prstGeom>
        </p:spPr>
      </p:pic>
      <p:pic>
        <p:nvPicPr>
          <p:cNvPr id="18" name="Elemento grafico 17" descr="Programmatore">
            <a:extLst>
              <a:ext uri="{FF2B5EF4-FFF2-40B4-BE49-F238E27FC236}">
                <a16:creationId xmlns:a16="http://schemas.microsoft.com/office/drawing/2014/main" id="{C4C1697A-1FCF-4D3D-BCCC-ABA6ADB46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2882" y="655182"/>
            <a:ext cx="914400" cy="9144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B4EBDF-EA32-4455-884E-7BCCB2D81A7F}"/>
              </a:ext>
            </a:extLst>
          </p:cNvPr>
          <p:cNvSpPr txBox="1"/>
          <p:nvPr/>
        </p:nvSpPr>
        <p:spPr>
          <a:xfrm>
            <a:off x="5994049" y="2280778"/>
            <a:ext cx="156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Informatici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06F911C-42A8-45E5-B370-C636E3F6B265}"/>
              </a:ext>
            </a:extLst>
          </p:cNvPr>
          <p:cNvSpPr txBox="1"/>
          <p:nvPr/>
        </p:nvSpPr>
        <p:spPr>
          <a:xfrm>
            <a:off x="9944211" y="2238112"/>
            <a:ext cx="108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Tecnici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A4F32C4-004B-4FB6-84E2-7215F4E97170}"/>
              </a:ext>
            </a:extLst>
          </p:cNvPr>
          <p:cNvSpPr txBox="1"/>
          <p:nvPr/>
        </p:nvSpPr>
        <p:spPr>
          <a:xfrm>
            <a:off x="7683772" y="4347442"/>
            <a:ext cx="1937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Commerciali</a:t>
            </a:r>
          </a:p>
        </p:txBody>
      </p:sp>
    </p:spTree>
    <p:extLst>
      <p:ext uri="{BB962C8B-B14F-4D97-AF65-F5344CB8AC3E}">
        <p14:creationId xmlns:p14="http://schemas.microsoft.com/office/powerpoint/2010/main" val="1333366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dei capitali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Elemento grafico 12" descr="Dollaro">
            <a:extLst>
              <a:ext uri="{FF2B5EF4-FFF2-40B4-BE49-F238E27FC236}">
                <a16:creationId xmlns:a16="http://schemas.microsoft.com/office/drawing/2014/main" id="{514C355C-34B9-4A63-A28C-B8302F418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5525" y="1002777"/>
            <a:ext cx="914400" cy="914400"/>
          </a:xfrm>
          <a:prstGeom prst="rect">
            <a:avLst/>
          </a:prstGeom>
        </p:spPr>
      </p:pic>
      <p:pic>
        <p:nvPicPr>
          <p:cNvPr id="5" name="Elementi multimediali online 4" title="Le fonti di finanziamento dell'impresa">
            <a:hlinkClick r:id="" action="ppaction://media"/>
            <a:extLst>
              <a:ext uri="{FF2B5EF4-FFF2-40B4-BE49-F238E27FC236}">
                <a16:creationId xmlns:a16="http://schemas.microsoft.com/office/drawing/2014/main" id="{AF27E4EB-41A7-4BC4-B49C-0ECDF2E54AF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5614876" y="3012917"/>
            <a:ext cx="6096000" cy="3429000"/>
          </a:xfrm>
          <a:prstGeom prst="rect">
            <a:avLst/>
          </a:prstGeom>
        </p:spPr>
      </p:pic>
      <p:sp>
        <p:nvSpPr>
          <p:cNvPr id="14" name="Titolo 1">
            <a:extLst>
              <a:ext uri="{FF2B5EF4-FFF2-40B4-BE49-F238E27FC236}">
                <a16:creationId xmlns:a16="http://schemas.microsoft.com/office/drawing/2014/main" id="{429441B0-2EFA-46D3-B5FB-B8AE24FC20B2}"/>
              </a:ext>
            </a:extLst>
          </p:cNvPr>
          <p:cNvSpPr txBox="1">
            <a:spLocks/>
          </p:cNvSpPr>
          <p:nvPr/>
        </p:nvSpPr>
        <p:spPr>
          <a:xfrm>
            <a:off x="6918947" y="2069630"/>
            <a:ext cx="3328291" cy="527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Le fonti</a:t>
            </a:r>
          </a:p>
        </p:txBody>
      </p:sp>
    </p:spTree>
    <p:extLst>
      <p:ext uri="{BB962C8B-B14F-4D97-AF65-F5344CB8AC3E}">
        <p14:creationId xmlns:p14="http://schemas.microsoft.com/office/powerpoint/2010/main" val="216843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503" y="1039479"/>
            <a:ext cx="4977976" cy="818455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dei capitali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503" y="2919954"/>
            <a:ext cx="4977578" cy="2515361"/>
          </a:xfrm>
        </p:spPr>
        <p:txBody>
          <a:bodyPr anchor="ctr">
            <a:normAutofit fontScale="92500" lnSpcReduction="20000"/>
          </a:bodyPr>
          <a:lstStyle/>
          <a:p>
            <a:endParaRPr lang="it-IT" sz="20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it-IT" sz="2000" dirty="0">
                <a:latin typeface="Garamond" panose="02020404030301010803" pitchFamily="18" charset="0"/>
              </a:rPr>
              <a:t>Pagina istituzionale Apple</a:t>
            </a:r>
            <a:r>
              <a:rPr lang="it-IT" sz="2000" dirty="0">
                <a:latin typeface="Garamond" panose="02020404030301010803" pitchFamily="18" charset="0"/>
                <a:hlinkClick r:id="rId6"/>
              </a:rPr>
              <a:t> https://investor.apple.com/investor-relations/default.aspx</a:t>
            </a:r>
            <a:endParaRPr lang="it-IT" sz="2000" dirty="0">
              <a:latin typeface="Garamond" panose="02020404030301010803" pitchFamily="18" charset="0"/>
            </a:endParaRPr>
          </a:p>
          <a:p>
            <a:r>
              <a:rPr lang="it-IT" sz="2000" dirty="0">
                <a:latin typeface="Garamond" panose="02020404030301010803" pitchFamily="18" charset="0"/>
              </a:rPr>
              <a:t>Le prime 10 aziende negli ultimi 25 anni</a:t>
            </a:r>
            <a:br>
              <a:rPr lang="it-IT" sz="2000" dirty="0">
                <a:latin typeface="Garamond" panose="02020404030301010803" pitchFamily="18" charset="0"/>
              </a:rPr>
            </a:br>
            <a:r>
              <a:rPr lang="it-IT" sz="2000" dirty="0">
                <a:latin typeface="Garamond" panose="02020404030301010803" pitchFamily="18" charset="0"/>
                <a:hlinkClick r:id="rId7"/>
              </a:rPr>
              <a:t>https://lab24.ilsole24ore.com/aziende-top/</a:t>
            </a:r>
            <a:r>
              <a:rPr lang="it-IT" sz="2000" dirty="0">
                <a:latin typeface="Garamond" panose="02020404030301010803" pitchFamily="18" charset="0"/>
              </a:rPr>
              <a:t> </a:t>
            </a:r>
          </a:p>
          <a:p>
            <a:r>
              <a:rPr lang="it-IT" sz="2000" dirty="0">
                <a:solidFill>
                  <a:srgbClr val="000000"/>
                </a:solidFill>
                <a:latin typeface="Garamond" panose="02020404030301010803" pitchFamily="18" charset="0"/>
              </a:rPr>
              <a:t>Indice Nasdaq AAPL</a:t>
            </a:r>
            <a:br>
              <a:rPr lang="it-IT" sz="200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it-IT" sz="2000" dirty="0">
                <a:latin typeface="Garamond" panose="02020404030301010803" pitchFamily="18" charset="0"/>
                <a:hlinkClick r:id="rId8"/>
              </a:rPr>
              <a:t>https://www.nasdaq.com/market-activity/stocks/aapl</a:t>
            </a:r>
            <a:endParaRPr lang="it-IT" sz="20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endParaRPr lang="it-IT" sz="2000" dirty="0">
              <a:latin typeface="Garamond" panose="02020404030301010803" pitchFamily="18" charset="0"/>
            </a:endParaRPr>
          </a:p>
          <a:p>
            <a:endParaRPr lang="it-IT" sz="20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253271" y="1966690"/>
            <a:ext cx="4660042" cy="662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dirty="0">
                <a:solidFill>
                  <a:srgbClr val="0070C0"/>
                </a:solidFill>
                <a:latin typeface="Poppins" panose="020B0604020202020204"/>
              </a:rPr>
              <a:t>Approfondimenti</a:t>
            </a:r>
            <a:endParaRPr lang="it-IT" sz="3000" dirty="0">
              <a:solidFill>
                <a:srgbClr val="0070C0"/>
              </a:solidFill>
              <a:latin typeface="Poppins" panose="020B0604020202020204"/>
            </a:endParaRPr>
          </a:p>
        </p:txBody>
      </p:sp>
      <p:pic>
        <p:nvPicPr>
          <p:cNvPr id="13" name="Elemento grafico 12" descr="Dollaro">
            <a:extLst>
              <a:ext uri="{FF2B5EF4-FFF2-40B4-BE49-F238E27FC236}">
                <a16:creationId xmlns:a16="http://schemas.microsoft.com/office/drawing/2014/main" id="{9C4984CC-5502-460A-A827-1135440455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5525" y="1002777"/>
            <a:ext cx="914400" cy="914400"/>
          </a:xfrm>
          <a:prstGeom prst="rect">
            <a:avLst/>
          </a:prstGeom>
        </p:spPr>
      </p:pic>
      <p:pic>
        <p:nvPicPr>
          <p:cNvPr id="14" name="Immagine 13" descr="https://www.nasdaq.com/market-activity/stocks/aapl">
            <a:hlinkClick r:id="rId8"/>
            <a:extLst>
              <a:ext uri="{FF2B5EF4-FFF2-40B4-BE49-F238E27FC236}">
                <a16:creationId xmlns:a16="http://schemas.microsoft.com/office/drawing/2014/main" id="{001CF29F-C18A-48B1-8EF7-7E661A32A8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444" y="5276212"/>
            <a:ext cx="4162452" cy="140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00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149" y="638253"/>
            <a:ext cx="5614874" cy="89172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915876" y="1811142"/>
            <a:ext cx="3334433" cy="891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I prodotti/servizi</a:t>
            </a:r>
          </a:p>
        </p:txBody>
      </p:sp>
      <p:pic>
        <p:nvPicPr>
          <p:cNvPr id="16" name="Elemento grafico 15" descr="Carrello portapacchi">
            <a:extLst>
              <a:ext uri="{FF2B5EF4-FFF2-40B4-BE49-F238E27FC236}">
                <a16:creationId xmlns:a16="http://schemas.microsoft.com/office/drawing/2014/main" id="{1E29281D-2B00-45D5-8405-AC460C229A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738" y="638253"/>
            <a:ext cx="914400" cy="914400"/>
          </a:xfrm>
          <a:prstGeom prst="rect">
            <a:avLst/>
          </a:prstGeom>
        </p:spPr>
      </p:pic>
      <p:sp>
        <p:nvSpPr>
          <p:cNvPr id="27" name="Titolo 1">
            <a:extLst>
              <a:ext uri="{FF2B5EF4-FFF2-40B4-BE49-F238E27FC236}">
                <a16:creationId xmlns:a16="http://schemas.microsoft.com/office/drawing/2014/main" id="{17E36548-E756-477A-A2A0-4F74F5E2EA87}"/>
              </a:ext>
            </a:extLst>
          </p:cNvPr>
          <p:cNvSpPr txBox="1">
            <a:spLocks/>
          </p:cNvSpPr>
          <p:nvPr/>
        </p:nvSpPr>
        <p:spPr>
          <a:xfrm>
            <a:off x="6186149" y="2819330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Indicare i principali prodotti/servizi di Apple</a:t>
            </a:r>
          </a:p>
        </p:txBody>
      </p:sp>
    </p:spTree>
    <p:extLst>
      <p:ext uri="{BB962C8B-B14F-4D97-AF65-F5344CB8AC3E}">
        <p14:creationId xmlns:p14="http://schemas.microsoft.com/office/powerpoint/2010/main" val="1981802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149" y="586164"/>
            <a:ext cx="5614874" cy="773732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7006405" y="1776188"/>
            <a:ext cx="3366955" cy="692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 prodotti/servizi</a:t>
            </a:r>
          </a:p>
        </p:txBody>
      </p:sp>
      <p:pic>
        <p:nvPicPr>
          <p:cNvPr id="13" name="Immagine 12" descr="Immagine che contiene computer&#10;&#10;Descrizione generata automaticamente">
            <a:extLst>
              <a:ext uri="{FF2B5EF4-FFF2-40B4-BE49-F238E27FC236}">
                <a16:creationId xmlns:a16="http://schemas.microsoft.com/office/drawing/2014/main" id="{C5011878-A2B1-4F84-9ABF-216D8A135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1"/>
          <a:stretch/>
        </p:blipFill>
        <p:spPr>
          <a:xfrm>
            <a:off x="6593107" y="2683247"/>
            <a:ext cx="1534060" cy="1487399"/>
          </a:xfrm>
          <a:prstGeom prst="rect">
            <a:avLst/>
          </a:prstGeom>
        </p:spPr>
      </p:pic>
      <p:pic>
        <p:nvPicPr>
          <p:cNvPr id="16" name="Elemento grafico 15" descr="Carrello portapacchi">
            <a:extLst>
              <a:ext uri="{FF2B5EF4-FFF2-40B4-BE49-F238E27FC236}">
                <a16:creationId xmlns:a16="http://schemas.microsoft.com/office/drawing/2014/main" id="{1E29281D-2B00-45D5-8405-AC460C229A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0007" y="450031"/>
            <a:ext cx="914400" cy="914400"/>
          </a:xfrm>
          <a:prstGeom prst="rect">
            <a:avLst/>
          </a:prstGeom>
        </p:spPr>
      </p:pic>
      <p:pic>
        <p:nvPicPr>
          <p:cNvPr id="5" name="Immagine 4" descr="Immagine che contiene monitor, schermo, computer, nero&#10;&#10;Descrizione generata automaticamente">
            <a:extLst>
              <a:ext uri="{FF2B5EF4-FFF2-40B4-BE49-F238E27FC236}">
                <a16:creationId xmlns:a16="http://schemas.microsoft.com/office/drawing/2014/main" id="{6D5B0536-4AFE-4D57-8B68-01583ACDD0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914" y="2620127"/>
            <a:ext cx="1635834" cy="1768865"/>
          </a:xfrm>
          <a:prstGeom prst="rect">
            <a:avLst/>
          </a:prstGeom>
        </p:spPr>
      </p:pic>
      <p:pic>
        <p:nvPicPr>
          <p:cNvPr id="8" name="Immagine 7" descr="Immagine che contiene monitor, schermo, computer, tastiera&#10;&#10;Descrizione generata automaticamente">
            <a:extLst>
              <a:ext uri="{FF2B5EF4-FFF2-40B4-BE49-F238E27FC236}">
                <a16:creationId xmlns:a16="http://schemas.microsoft.com/office/drawing/2014/main" id="{1398BFD3-01D3-4A3F-8A3A-F53A8A739E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290" y="4455303"/>
            <a:ext cx="1395034" cy="1902319"/>
          </a:xfrm>
          <a:prstGeom prst="rect">
            <a:avLst/>
          </a:prstGeom>
        </p:spPr>
      </p:pic>
      <p:pic>
        <p:nvPicPr>
          <p:cNvPr id="10" name="Immagine 9" descr="Immagine che contiene sedendo, nero, computer, piccolo&#10;&#10;Descrizione generata automaticamente">
            <a:extLst>
              <a:ext uri="{FF2B5EF4-FFF2-40B4-BE49-F238E27FC236}">
                <a16:creationId xmlns:a16="http://schemas.microsoft.com/office/drawing/2014/main" id="{E1A8DA3D-E5D3-4173-AFEC-41628464B8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84" y="4623582"/>
            <a:ext cx="1495264" cy="1768865"/>
          </a:xfrm>
          <a:prstGeom prst="rect">
            <a:avLst/>
          </a:prstGeom>
        </p:spPr>
      </p:pic>
      <p:pic>
        <p:nvPicPr>
          <p:cNvPr id="20" name="Immagine 19" descr="Immagine che contiene nero, cellulare, orologio&#10;&#10;Descrizione generata automaticamente">
            <a:extLst>
              <a:ext uri="{FF2B5EF4-FFF2-40B4-BE49-F238E27FC236}">
                <a16:creationId xmlns:a16="http://schemas.microsoft.com/office/drawing/2014/main" id="{5E7E5820-34CD-4552-BD5C-70D9A0A534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822" y="4983635"/>
            <a:ext cx="845654" cy="8456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131F2A6-31FD-4370-906F-4AFC602208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615" y="3831634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6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614874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Quali sono i principali competitors di Apple?</a:t>
            </a:r>
          </a:p>
        </p:txBody>
      </p:sp>
      <p:pic>
        <p:nvPicPr>
          <p:cNvPr id="16" name="Elemento grafico 15" descr="Carrello portapacchi">
            <a:extLst>
              <a:ext uri="{FF2B5EF4-FFF2-40B4-BE49-F238E27FC236}">
                <a16:creationId xmlns:a16="http://schemas.microsoft.com/office/drawing/2014/main" id="{EA516CBD-FA0F-403B-BFB3-0F82DB24C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1749" y="1072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15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921" y="748617"/>
            <a:ext cx="5614874" cy="758938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7139296" y="1864826"/>
            <a:ext cx="3122304" cy="491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 Competitors</a:t>
            </a:r>
          </a:p>
        </p:txBody>
      </p:sp>
      <p:pic>
        <p:nvPicPr>
          <p:cNvPr id="28" name="Immagine 27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FCCED29B-16E9-40AE-817F-283F74829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211" y="3466104"/>
            <a:ext cx="1411884" cy="1386521"/>
          </a:xfrm>
          <a:prstGeom prst="rect">
            <a:avLst/>
          </a:prstGeom>
        </p:spPr>
      </p:pic>
      <p:pic>
        <p:nvPicPr>
          <p:cNvPr id="30" name="Immagine 29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036918DE-E75C-4C88-9492-512122B2E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599" y="3679198"/>
            <a:ext cx="1144565" cy="1144565"/>
          </a:xfrm>
          <a:prstGeom prst="rect">
            <a:avLst/>
          </a:prstGeom>
        </p:spPr>
      </p:pic>
      <p:pic>
        <p:nvPicPr>
          <p:cNvPr id="32" name="Immagine 31" descr="Immagine che contiene disegnando, luce&#10;&#10;Descrizione generata automaticamente">
            <a:extLst>
              <a:ext uri="{FF2B5EF4-FFF2-40B4-BE49-F238E27FC236}">
                <a16:creationId xmlns:a16="http://schemas.microsoft.com/office/drawing/2014/main" id="{2A5BCBCB-8CFC-4C2B-854C-8083911986F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7" r="29267"/>
          <a:stretch/>
        </p:blipFill>
        <p:spPr>
          <a:xfrm>
            <a:off x="6466201" y="5272245"/>
            <a:ext cx="1593969" cy="1321896"/>
          </a:xfrm>
          <a:prstGeom prst="rect">
            <a:avLst/>
          </a:prstGeom>
        </p:spPr>
      </p:pic>
      <p:pic>
        <p:nvPicPr>
          <p:cNvPr id="34" name="Immagine 33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34316CD0-0132-42E9-A26A-2A5DA27A752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9" r="10564"/>
          <a:stretch/>
        </p:blipFill>
        <p:spPr>
          <a:xfrm>
            <a:off x="6496412" y="3640506"/>
            <a:ext cx="1593968" cy="1454051"/>
          </a:xfrm>
          <a:prstGeom prst="rect">
            <a:avLst/>
          </a:prstGeom>
        </p:spPr>
      </p:pic>
      <p:pic>
        <p:nvPicPr>
          <p:cNvPr id="38" name="Immagine 37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7228CCD4-2BAA-4432-9AC8-F356391247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600" y="5370744"/>
            <a:ext cx="1676948" cy="969136"/>
          </a:xfrm>
          <a:prstGeom prst="rect">
            <a:avLst/>
          </a:prstGeom>
        </p:spPr>
      </p:pic>
      <p:pic>
        <p:nvPicPr>
          <p:cNvPr id="16" name="Elemento grafico 15" descr="Carrello portapacchi">
            <a:extLst>
              <a:ext uri="{FF2B5EF4-FFF2-40B4-BE49-F238E27FC236}">
                <a16:creationId xmlns:a16="http://schemas.microsoft.com/office/drawing/2014/main" id="{1E29281D-2B00-45D5-8405-AC460C229A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13667" y="593019"/>
            <a:ext cx="914400" cy="914400"/>
          </a:xfrm>
          <a:prstGeom prst="rect">
            <a:avLst/>
          </a:prstGeom>
        </p:spPr>
      </p:pic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C61A13EB-FB0D-4319-A42B-23EE3EDCED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241" y="5296793"/>
            <a:ext cx="1020920" cy="1198680"/>
          </a:xfrm>
          <a:prstGeom prst="rect">
            <a:avLst/>
          </a:prstGeom>
        </p:spPr>
      </p:pic>
      <p:pic>
        <p:nvPicPr>
          <p:cNvPr id="8" name="Immagine 7" descr="Immagine che contiene disegnando, tazza, piatto, cibo&#10;&#10;Descrizione generata automaticamente">
            <a:extLst>
              <a:ext uri="{FF2B5EF4-FFF2-40B4-BE49-F238E27FC236}">
                <a16:creationId xmlns:a16="http://schemas.microsoft.com/office/drawing/2014/main" id="{FBCEEED2-2423-43BD-8E44-165664015A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778" y="2630239"/>
            <a:ext cx="1957369" cy="733886"/>
          </a:xfrm>
          <a:prstGeom prst="rect">
            <a:avLst/>
          </a:prstGeom>
        </p:spPr>
      </p:pic>
      <p:pic>
        <p:nvPicPr>
          <p:cNvPr id="18" name="Picture 8" descr="Risultato immagini per samsung logo">
            <a:extLst>
              <a:ext uri="{FF2B5EF4-FFF2-40B4-BE49-F238E27FC236}">
                <a16:creationId xmlns:a16="http://schemas.microsoft.com/office/drawing/2014/main" id="{0D3EF942-8108-4508-8401-E6D1F4960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24" b="89981" l="5344" r="98282">
                        <a14:foregroundMark x1="5344" y1="53912" x2="5344" y2="53912"/>
                        <a14:foregroundMark x1="93893" y1="37500" x2="93893" y2="37500"/>
                        <a14:foregroundMark x1="98282" y1="37691" x2="98282" y2="376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051" b="33919"/>
          <a:stretch/>
        </p:blipFill>
        <p:spPr bwMode="auto">
          <a:xfrm>
            <a:off x="5839577" y="2633463"/>
            <a:ext cx="2342799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C44FDDE-5972-4B35-A696-5D4A8CB476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33096" y="5932204"/>
            <a:ext cx="2161143" cy="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94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614874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Mercato di vendita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0000"/>
                </a:solidFill>
                <a:latin typeface="Garamond" panose="02020404030301010803" pitchFamily="18" charset="0"/>
              </a:rPr>
              <a:t>I Competitors</a:t>
            </a:r>
          </a:p>
        </p:txBody>
      </p:sp>
      <p:pic>
        <p:nvPicPr>
          <p:cNvPr id="16" name="Elemento grafico 15" descr="Carrello portapacchi">
            <a:extLst>
              <a:ext uri="{FF2B5EF4-FFF2-40B4-BE49-F238E27FC236}">
                <a16:creationId xmlns:a16="http://schemas.microsoft.com/office/drawing/2014/main" id="{EA516CBD-FA0F-403B-BFB3-0F82DB24C2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1749" y="1072780"/>
            <a:ext cx="914400" cy="914400"/>
          </a:xfrm>
          <a:prstGeom prst="rect">
            <a:avLst/>
          </a:prstGeom>
        </p:spPr>
      </p:pic>
      <p:pic>
        <p:nvPicPr>
          <p:cNvPr id="5" name="Elementi multimediali online 4" title="Best-Selling Computer Brands 1996 - 2019">
            <a:hlinkClick r:id="" action="ppaction://media"/>
            <a:extLst>
              <a:ext uri="{FF2B5EF4-FFF2-40B4-BE49-F238E27FC236}">
                <a16:creationId xmlns:a16="http://schemas.microsoft.com/office/drawing/2014/main" id="{98984B07-96E5-4125-95A8-566FAF492EC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9"/>
          <a:stretch>
            <a:fillRect/>
          </a:stretch>
        </p:blipFill>
        <p:spPr>
          <a:xfrm>
            <a:off x="6104900" y="1985752"/>
            <a:ext cx="5597075" cy="1996557"/>
          </a:xfrm>
          <a:prstGeom prst="rect">
            <a:avLst/>
          </a:prstGeom>
        </p:spPr>
      </p:pic>
      <p:pic>
        <p:nvPicPr>
          <p:cNvPr id="7" name="Elementi multimediali online 6" title="Most Popular Mobile Phone Brands 1993 - 2019">
            <a:hlinkClick r:id="" action="ppaction://media"/>
            <a:extLst>
              <a:ext uri="{FF2B5EF4-FFF2-40B4-BE49-F238E27FC236}">
                <a16:creationId xmlns:a16="http://schemas.microsoft.com/office/drawing/2014/main" id="{0E2307AC-1CFB-481C-B87B-947ABE8F3815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10"/>
          <a:stretch>
            <a:fillRect/>
          </a:stretch>
        </p:blipFill>
        <p:spPr>
          <a:xfrm>
            <a:off x="6104900" y="4252135"/>
            <a:ext cx="5597075" cy="194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6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426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Freeform: Shape 13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F372534-63F2-434D-ADCD-99F94A223169}"/>
              </a:ext>
            </a:extLst>
          </p:cNvPr>
          <p:cNvSpPr txBox="1">
            <a:spLocks/>
          </p:cNvSpPr>
          <p:nvPr/>
        </p:nvSpPr>
        <p:spPr>
          <a:xfrm>
            <a:off x="3780611" y="89796"/>
            <a:ext cx="4650723" cy="12674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I rapporti impresa-ambiente</a:t>
            </a:r>
          </a:p>
        </p:txBody>
      </p:sp>
      <p:sp>
        <p:nvSpPr>
          <p:cNvPr id="2" name="Somma 1">
            <a:extLst>
              <a:ext uri="{FF2B5EF4-FFF2-40B4-BE49-F238E27FC236}">
                <a16:creationId xmlns:a16="http://schemas.microsoft.com/office/drawing/2014/main" id="{67A02122-B25A-445F-B92B-0162E34D015C}"/>
              </a:ext>
            </a:extLst>
          </p:cNvPr>
          <p:cNvSpPr/>
          <p:nvPr/>
        </p:nvSpPr>
        <p:spPr>
          <a:xfrm>
            <a:off x="3574354" y="1567689"/>
            <a:ext cx="4977976" cy="4676411"/>
          </a:xfrm>
          <a:prstGeom prst="flowChartSummingJunction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42E88F-5556-4333-9D2C-0ECE2755F822}"/>
              </a:ext>
            </a:extLst>
          </p:cNvPr>
          <p:cNvSpPr txBox="1"/>
          <p:nvPr/>
        </p:nvSpPr>
        <p:spPr>
          <a:xfrm>
            <a:off x="4818435" y="1714748"/>
            <a:ext cx="2489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solidFill>
                  <a:srgbClr val="0070C0"/>
                </a:solidFill>
                <a:latin typeface="Poppins" panose="020B0604020202020204"/>
              </a:rPr>
              <a:t>Sistema</a:t>
            </a:r>
          </a:p>
          <a:p>
            <a:pPr algn="ctr"/>
            <a:r>
              <a:rPr lang="it-IT" sz="2200" dirty="0">
                <a:solidFill>
                  <a:srgbClr val="0070C0"/>
                </a:solidFill>
                <a:latin typeface="Poppins" panose="020B0604020202020204"/>
              </a:rPr>
              <a:t>Politico-istituzionale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7245511-8700-4F88-9D51-0D88D2214471}"/>
              </a:ext>
            </a:extLst>
          </p:cNvPr>
          <p:cNvSpPr txBox="1"/>
          <p:nvPr/>
        </p:nvSpPr>
        <p:spPr>
          <a:xfrm>
            <a:off x="4890082" y="4952048"/>
            <a:ext cx="2489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solidFill>
                  <a:srgbClr val="0070C0"/>
                </a:solidFill>
                <a:latin typeface="Poppins" panose="020B0604020202020204"/>
              </a:rPr>
              <a:t>Sistema</a:t>
            </a:r>
          </a:p>
          <a:p>
            <a:pPr algn="ctr"/>
            <a:r>
              <a:rPr lang="it-IT" sz="2200" dirty="0">
                <a:solidFill>
                  <a:srgbClr val="0070C0"/>
                </a:solidFill>
                <a:latin typeface="Poppins" panose="020B0604020202020204"/>
              </a:rPr>
              <a:t>Economico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E396ABB-5DC1-410E-8CC7-15D5E5062DE4}"/>
              </a:ext>
            </a:extLst>
          </p:cNvPr>
          <p:cNvSpPr txBox="1"/>
          <p:nvPr/>
        </p:nvSpPr>
        <p:spPr>
          <a:xfrm>
            <a:off x="3620602" y="3384969"/>
            <a:ext cx="18747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</a:t>
            </a:r>
          </a:p>
          <a:p>
            <a:pPr algn="ctr"/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Socio demografico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48451F3-BD8F-4F4E-A496-202818D1929F}"/>
              </a:ext>
            </a:extLst>
          </p:cNvPr>
          <p:cNvSpPr txBox="1"/>
          <p:nvPr/>
        </p:nvSpPr>
        <p:spPr>
          <a:xfrm>
            <a:off x="6635533" y="3431135"/>
            <a:ext cx="21680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Sistema</a:t>
            </a:r>
          </a:p>
          <a:p>
            <a:pPr algn="ctr"/>
            <a:r>
              <a:rPr lang="it-IT" sz="2000" dirty="0">
                <a:solidFill>
                  <a:srgbClr val="0070C0"/>
                </a:solidFill>
                <a:latin typeface="Poppins" panose="020B0604020202020204"/>
              </a:rPr>
              <a:t>culturale e tecnologico</a:t>
            </a:r>
          </a:p>
        </p:txBody>
      </p:sp>
      <p:pic>
        <p:nvPicPr>
          <p:cNvPr id="30" name="Elemento grafico 29" descr="Martelletto">
            <a:extLst>
              <a:ext uri="{FF2B5EF4-FFF2-40B4-BE49-F238E27FC236}">
                <a16:creationId xmlns:a16="http://schemas.microsoft.com/office/drawing/2014/main" id="{EF579A19-513A-455E-AF0F-10ED14F39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7194" y="2754947"/>
            <a:ext cx="830998" cy="830998"/>
          </a:xfrm>
          <a:prstGeom prst="rect">
            <a:avLst/>
          </a:prstGeom>
        </p:spPr>
      </p:pic>
      <p:pic>
        <p:nvPicPr>
          <p:cNvPr id="31" name="Elemento grafico 30" descr="Robot">
            <a:extLst>
              <a:ext uri="{FF2B5EF4-FFF2-40B4-BE49-F238E27FC236}">
                <a16:creationId xmlns:a16="http://schemas.microsoft.com/office/drawing/2014/main" id="{A453FBFE-C536-4ECA-9FF5-C1A7C2E4F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0978" y="3497206"/>
            <a:ext cx="845474" cy="845474"/>
          </a:xfrm>
          <a:prstGeom prst="rect">
            <a:avLst/>
          </a:prstGeom>
        </p:spPr>
      </p:pic>
      <p:pic>
        <p:nvPicPr>
          <p:cNvPr id="32" name="Elemento grafico 31" descr="Famiglia con figlia">
            <a:extLst>
              <a:ext uri="{FF2B5EF4-FFF2-40B4-BE49-F238E27FC236}">
                <a16:creationId xmlns:a16="http://schemas.microsoft.com/office/drawing/2014/main" id="{BF3129BA-53F0-4784-BA66-B8C7AEAF3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2578" y="3483063"/>
            <a:ext cx="626722" cy="626722"/>
          </a:xfrm>
          <a:prstGeom prst="rect">
            <a:avLst/>
          </a:prstGeom>
        </p:spPr>
      </p:pic>
      <p:pic>
        <p:nvPicPr>
          <p:cNvPr id="33" name="Elemento grafico 32" descr="Monete">
            <a:extLst>
              <a:ext uri="{FF2B5EF4-FFF2-40B4-BE49-F238E27FC236}">
                <a16:creationId xmlns:a16="http://schemas.microsoft.com/office/drawing/2014/main" id="{534D6D9F-97F5-4C30-93E3-C16C41BEEA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8333" y="4160888"/>
            <a:ext cx="755280" cy="7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71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politico-istituzionale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006" y="2213737"/>
            <a:ext cx="4977578" cy="3639289"/>
          </a:xfrm>
        </p:spPr>
        <p:txBody>
          <a:bodyPr anchor="ctr">
            <a:normAutofit/>
          </a:bodyPr>
          <a:lstStyle/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/>
            </a:endParaRPr>
          </a:p>
          <a:p>
            <a:pPr marL="0" indent="0">
              <a:buNone/>
            </a:pPr>
            <a:r>
              <a:rPr lang="it-IT" sz="2400" dirty="0">
                <a:solidFill>
                  <a:srgbClr val="0070C0"/>
                </a:solidFill>
                <a:latin typeface="Poppins" panose="020B0604020202020204"/>
              </a:rPr>
              <a:t>Quanto conta il sistema politico-istituzionale di riferimento?</a:t>
            </a:r>
            <a:br>
              <a:rPr lang="it-IT" sz="2400" dirty="0">
                <a:solidFill>
                  <a:srgbClr val="0070C0"/>
                </a:solidFill>
                <a:latin typeface="Poppins" panose="020B0604020202020204"/>
              </a:rPr>
            </a:br>
            <a:r>
              <a:rPr lang="it-IT" sz="2400" dirty="0">
                <a:solidFill>
                  <a:srgbClr val="0070C0"/>
                </a:solidFill>
                <a:latin typeface="Poppins" panose="020B0604020202020204"/>
              </a:rPr>
              <a:t>Se Steve Jobs fosse nato a Napoli, sarebbe riuscito a costruire Apple come la conosciamo?</a:t>
            </a:r>
          </a:p>
          <a:p>
            <a:endParaRPr lang="it-IT" sz="24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4" name="Elemento grafico 13" descr="Martelletto">
            <a:extLst>
              <a:ext uri="{FF2B5EF4-FFF2-40B4-BE49-F238E27FC236}">
                <a16:creationId xmlns:a16="http://schemas.microsoft.com/office/drawing/2014/main" id="{43924A90-7286-4D6E-8B1C-C70F7DDC3C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008" y="1092847"/>
            <a:ext cx="830998" cy="8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17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politico-istituzionale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105" y="2737858"/>
            <a:ext cx="4977578" cy="3639289"/>
          </a:xfrm>
        </p:spPr>
        <p:txBody>
          <a:bodyPr anchor="ctr">
            <a:normAutofit/>
          </a:bodyPr>
          <a:lstStyle/>
          <a:p>
            <a:endParaRPr lang="it-IT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it-IT" sz="2400" dirty="0">
                <a:solidFill>
                  <a:srgbClr val="000000"/>
                </a:solidFill>
                <a:latin typeface="Poppins" panose="020B0604020202020204"/>
              </a:rPr>
              <a:t>Se Steve Jobs fosse nato a Napoli, commento di Franco Di Mare, </a:t>
            </a:r>
            <a:r>
              <a:rPr lang="it-IT" sz="2400" dirty="0" err="1">
                <a:solidFill>
                  <a:srgbClr val="000000"/>
                </a:solidFill>
                <a:latin typeface="Poppins" panose="020B0604020202020204"/>
              </a:rPr>
              <a:t>Unomattina</a:t>
            </a:r>
            <a:r>
              <a:rPr lang="it-IT" sz="2400" dirty="0">
                <a:solidFill>
                  <a:srgbClr val="000000"/>
                </a:solidFill>
                <a:latin typeface="Poppins" panose="020B0604020202020204"/>
              </a:rPr>
              <a:t>: </a:t>
            </a:r>
            <a:r>
              <a:rPr lang="it-IT" sz="2400" dirty="0">
                <a:latin typeface="Poppins" panose="020B0604020202020204"/>
                <a:hlinkClick r:id="rId5"/>
              </a:rPr>
              <a:t>https://www.raiplay.it/video/2017/03/Sar242-Franco-se-Steve-Jobs-fosse-nato-qui-b2cd97c5-8175-427c-b30d-c13e0d1e75c0.html</a:t>
            </a:r>
            <a:endParaRPr lang="it-IT" sz="2400" dirty="0">
              <a:latin typeface="Poppins" panose="020B0604020202020204"/>
            </a:endParaRPr>
          </a:p>
          <a:p>
            <a:endParaRPr lang="it-IT" sz="24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252873" y="1966275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Approfondimenti </a:t>
            </a:r>
          </a:p>
        </p:txBody>
      </p:sp>
      <p:pic>
        <p:nvPicPr>
          <p:cNvPr id="14" name="Elemento grafico 13" descr="Martelletto">
            <a:extLst>
              <a:ext uri="{FF2B5EF4-FFF2-40B4-BE49-F238E27FC236}">
                <a16:creationId xmlns:a16="http://schemas.microsoft.com/office/drawing/2014/main" id="{43924A90-7286-4D6E-8B1C-C70F7DDC3C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0008" y="1092847"/>
            <a:ext cx="830998" cy="8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2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politico-istituzionale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551" y="2690553"/>
            <a:ext cx="6119445" cy="3364492"/>
          </a:xfrm>
        </p:spPr>
        <p:txBody>
          <a:bodyPr anchor="ctr">
            <a:normAutofit lnSpcReduction="10000"/>
          </a:bodyPr>
          <a:lstStyle/>
          <a:p>
            <a:r>
              <a:rPr lang="it-IT" sz="2000" dirty="0">
                <a:solidFill>
                  <a:srgbClr val="000000"/>
                </a:solidFill>
                <a:latin typeface="Poppins" panose="020B0604020202020204"/>
              </a:rPr>
              <a:t>Apple ed il sistema fiscale:</a:t>
            </a:r>
            <a:br>
              <a:rPr lang="it-IT" sz="2000" dirty="0">
                <a:solidFill>
                  <a:srgbClr val="000000"/>
                </a:solidFill>
                <a:latin typeface="Poppins" panose="020B0604020202020204"/>
              </a:rPr>
            </a:br>
            <a:r>
              <a:rPr lang="it-IT" sz="2000" dirty="0">
                <a:latin typeface="Poppins" panose="020B0604020202020204"/>
                <a:hlinkClick r:id="rId5"/>
              </a:rPr>
              <a:t>https://ec.europa.eu/commission/presscorner/detail/it/IP_16_2923</a:t>
            </a:r>
            <a:endParaRPr lang="it-IT" sz="2000" dirty="0">
              <a:latin typeface="Poppins" panose="020B0604020202020204"/>
            </a:endParaRPr>
          </a:p>
          <a:p>
            <a:r>
              <a:rPr lang="it-IT" sz="2000" dirty="0">
                <a:latin typeface="Poppins" panose="020B0604020202020204"/>
                <a:hlinkClick r:id="rId6"/>
              </a:rPr>
              <a:t>https://www.ilsole24ore.com/art/apple-restituisce-all-irlanda-143-miliardi-ma-dublino-non-li-vuole-AEXPuKzF</a:t>
            </a:r>
            <a:endParaRPr lang="it-IT" sz="2000" dirty="0">
              <a:latin typeface="Poppins" panose="020B0604020202020204"/>
            </a:endParaRPr>
          </a:p>
          <a:p>
            <a:r>
              <a:rPr lang="it-IT" sz="2000" dirty="0">
                <a:latin typeface="Poppins" panose="020B0604020202020204"/>
                <a:hlinkClick r:id="rId7"/>
              </a:rPr>
              <a:t>https://www.wired.it/economia/business/2019/02/06/apple-tasse/</a:t>
            </a:r>
            <a:endParaRPr lang="it-IT" sz="2000" dirty="0">
              <a:latin typeface="Poppins" panose="020B0604020202020204"/>
            </a:endParaRPr>
          </a:p>
          <a:p>
            <a:r>
              <a:rPr lang="it-IT" sz="2000" dirty="0">
                <a:latin typeface="Poppins" panose="020B0604020202020204"/>
              </a:rPr>
              <a:t> </a:t>
            </a:r>
            <a:r>
              <a:rPr lang="it-IT" sz="2000" dirty="0">
                <a:latin typeface="Poppins" panose="020B0604020202020204"/>
                <a:hlinkClick r:id="rId8"/>
              </a:rPr>
              <a:t>https://www.reuters.com/article/us-oecd-tax/multinationals-face-heftier-tax-bills-under-oecd-proposals-idUSKBN1WO0VQ</a:t>
            </a:r>
            <a:endParaRPr lang="it-IT" sz="2000" dirty="0">
              <a:solidFill>
                <a:srgbClr val="000000"/>
              </a:solidFill>
              <a:latin typeface="Poppins" panose="020B0604020202020204"/>
            </a:endParaRPr>
          </a:p>
        </p:txBody>
      </p:sp>
      <p:pic>
        <p:nvPicPr>
          <p:cNvPr id="14" name="Elemento grafico 13" descr="Martelletto">
            <a:extLst>
              <a:ext uri="{FF2B5EF4-FFF2-40B4-BE49-F238E27FC236}">
                <a16:creationId xmlns:a16="http://schemas.microsoft.com/office/drawing/2014/main" id="{43924A90-7286-4D6E-8B1C-C70F7DDC3C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0008" y="1092847"/>
            <a:ext cx="830998" cy="830998"/>
          </a:xfrm>
          <a:prstGeom prst="rect">
            <a:avLst/>
          </a:prstGeom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1C76581A-9AFD-4630-BE87-03675AFCABB3}"/>
              </a:ext>
            </a:extLst>
          </p:cNvPr>
          <p:cNvSpPr txBox="1">
            <a:spLocks/>
          </p:cNvSpPr>
          <p:nvPr/>
        </p:nvSpPr>
        <p:spPr>
          <a:xfrm>
            <a:off x="6211681" y="1605910"/>
            <a:ext cx="535826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Garamond" panose="02020404030301010803" pitchFamily="18" charset="0"/>
              </a:rPr>
              <a:t>Approfondimenti</a:t>
            </a:r>
          </a:p>
        </p:txBody>
      </p:sp>
    </p:spTree>
    <p:extLst>
      <p:ext uri="{BB962C8B-B14F-4D97-AF65-F5344CB8AC3E}">
        <p14:creationId xmlns:p14="http://schemas.microsoft.com/office/powerpoint/2010/main" val="931932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socio-demografico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74835" y="2489411"/>
            <a:ext cx="4660042" cy="2085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Il lavoro ha sempre un impatto positivo sull’ambiente?</a:t>
            </a:r>
          </a:p>
        </p:txBody>
      </p:sp>
      <p:pic>
        <p:nvPicPr>
          <p:cNvPr id="10" name="Elemento grafico 9" descr="Famiglia con figlia">
            <a:extLst>
              <a:ext uri="{FF2B5EF4-FFF2-40B4-BE49-F238E27FC236}">
                <a16:creationId xmlns:a16="http://schemas.microsoft.com/office/drawing/2014/main" id="{96363555-BF47-4862-A396-2A2D8CA73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6838" y="1035360"/>
            <a:ext cx="717997" cy="7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14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4" y="802955"/>
            <a:ext cx="579309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socio-demografico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74835" y="202707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Il caso </a:t>
            </a:r>
            <a:r>
              <a:rPr lang="it-IT" sz="3000" dirty="0" err="1">
                <a:solidFill>
                  <a:srgbClr val="0070C0"/>
                </a:solidFill>
                <a:latin typeface="Poppins" panose="020B0604020202020204"/>
              </a:rPr>
              <a:t>Foxconn</a:t>
            </a:r>
            <a:endParaRPr lang="it-IT" sz="3000" dirty="0">
              <a:solidFill>
                <a:srgbClr val="0070C0"/>
              </a:solidFill>
              <a:latin typeface="Poppins" panose="020B0604020202020204"/>
            </a:endParaRPr>
          </a:p>
        </p:txBody>
      </p:sp>
      <p:pic>
        <p:nvPicPr>
          <p:cNvPr id="10" name="Elemento grafico 9" descr="Famiglia con figlia">
            <a:extLst>
              <a:ext uri="{FF2B5EF4-FFF2-40B4-BE49-F238E27FC236}">
                <a16:creationId xmlns:a16="http://schemas.microsoft.com/office/drawing/2014/main" id="{96363555-BF47-4862-A396-2A2D8CA73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6838" y="1035360"/>
            <a:ext cx="717997" cy="71799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CE32F9-1380-4ED1-8E5F-FE607AB9CB76}"/>
              </a:ext>
            </a:extLst>
          </p:cNvPr>
          <p:cNvSpPr txBox="1"/>
          <p:nvPr/>
        </p:nvSpPr>
        <p:spPr>
          <a:xfrm>
            <a:off x="6338384" y="3307515"/>
            <a:ext cx="457722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300" dirty="0">
                <a:latin typeface="Poppins" panose="020B0604020202020204"/>
              </a:rPr>
              <a:t>Numerosi casi di suicidio. </a:t>
            </a:r>
            <a:r>
              <a:rPr lang="it-IT" sz="2300" dirty="0" err="1">
                <a:latin typeface="Poppins" panose="020B0604020202020204"/>
              </a:rPr>
              <a:t>Foxconn</a:t>
            </a:r>
            <a:r>
              <a:rPr lang="it-IT" sz="2300" dirty="0">
                <a:latin typeface="Poppins" panose="020B0604020202020204"/>
              </a:rPr>
              <a:t>, la fabbrica della morte: </a:t>
            </a:r>
            <a:r>
              <a:rPr lang="it-IT" sz="2300" dirty="0">
                <a:latin typeface="Poppins" panose="020B0604020202020204"/>
                <a:hlinkClick r:id="rId5"/>
              </a:rPr>
              <a:t>https://ecointernazionale.com/2018/01/18/suicidi-sul-lavoro-foxconn-le-fabbriche-della-morte/</a:t>
            </a:r>
            <a:endParaRPr lang="it-IT" sz="2300" dirty="0"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94277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socio-demografico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74835" y="2489411"/>
            <a:ext cx="4660042" cy="2085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Indicare come cambiano i consumatori.</a:t>
            </a:r>
          </a:p>
        </p:txBody>
      </p:sp>
      <p:pic>
        <p:nvPicPr>
          <p:cNvPr id="10" name="Elemento grafico 9" descr="Famiglia con figlia">
            <a:extLst>
              <a:ext uri="{FF2B5EF4-FFF2-40B4-BE49-F238E27FC236}">
                <a16:creationId xmlns:a16="http://schemas.microsoft.com/office/drawing/2014/main" id="{96363555-BF47-4862-A396-2A2D8CA73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6838" y="1035360"/>
            <a:ext cx="717997" cy="7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35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socio-demografico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249342" y="1744835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30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" name="Elemento grafico 9" descr="Famiglia con figlia">
            <a:extLst>
              <a:ext uri="{FF2B5EF4-FFF2-40B4-BE49-F238E27FC236}">
                <a16:creationId xmlns:a16="http://schemas.microsoft.com/office/drawing/2014/main" id="{96363555-BF47-4862-A396-2A2D8CA73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6838" y="1035360"/>
            <a:ext cx="717997" cy="71799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E2FDFF3E-7687-4965-BBEF-7FD757B2F07E}"/>
              </a:ext>
            </a:extLst>
          </p:cNvPr>
          <p:cNvSpPr/>
          <p:nvPr/>
        </p:nvSpPr>
        <p:spPr>
          <a:xfrm>
            <a:off x="6467122" y="319888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it-IT" dirty="0"/>
          </a:p>
        </p:txBody>
      </p:sp>
      <p:pic>
        <p:nvPicPr>
          <p:cNvPr id="3" name="Elementi multimediali online 2" title="La popolazione mondiale ￃﾨ in aumento ma ￃﾨ veramente un problema?">
            <a:hlinkClick r:id="" action="ppaction://media"/>
            <a:extLst>
              <a:ext uri="{FF2B5EF4-FFF2-40B4-BE49-F238E27FC236}">
                <a16:creationId xmlns:a16="http://schemas.microsoft.com/office/drawing/2014/main" id="{172EBBE2-DE4F-4570-8AFE-E57E235F9F3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5456838" y="2695237"/>
            <a:ext cx="6371873" cy="360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2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4" y="802955"/>
            <a:ext cx="550861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249342" y="2421682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Un momento di rottura tecnologica che ha coinvolto Apple.</a:t>
            </a: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7270" y="1072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74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170" y="327757"/>
            <a:ext cx="537653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229314" y="1799805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Presentazione iPhone 2007</a:t>
            </a: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5525" y="565468"/>
            <a:ext cx="914400" cy="914400"/>
          </a:xfrm>
          <a:prstGeom prst="rect">
            <a:avLst/>
          </a:prstGeom>
        </p:spPr>
      </p:pic>
      <p:pic>
        <p:nvPicPr>
          <p:cNvPr id="4" name="Elementi multimediali online 3" title="Steve Jobs introduces iPhone in 2007">
            <a:hlinkClick r:id="" action="ppaction://media"/>
            <a:extLst>
              <a:ext uri="{FF2B5EF4-FFF2-40B4-BE49-F238E27FC236}">
                <a16:creationId xmlns:a16="http://schemas.microsoft.com/office/drawing/2014/main" id="{E3F6BA41-BC86-45B4-A199-381662E6D5B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5614876" y="303048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3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4" y="802955"/>
            <a:ext cx="561487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3065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Chi ha seguito il passo di Apple e chi no?</a:t>
            </a:r>
          </a:p>
          <a:p>
            <a:pPr algn="ctr"/>
            <a:endParaRPr lang="it-IT" sz="3000" i="1" dirty="0">
              <a:solidFill>
                <a:srgbClr val="0070C0"/>
              </a:solidFill>
              <a:latin typeface="Poppins" panose="020B0604020202020204"/>
            </a:endParaRPr>
          </a:p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Altri casi di innovazione?</a:t>
            </a: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7270" y="1072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2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0842" y="232185"/>
            <a:ext cx="561487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0BF22E-6CF0-4FA2-9D5D-D39B01C1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2239" y="3109701"/>
            <a:ext cx="4977578" cy="3639289"/>
          </a:xfrm>
        </p:spPr>
        <p:txBody>
          <a:bodyPr anchor="ctr">
            <a:normAutofit/>
          </a:bodyPr>
          <a:lstStyle/>
          <a:p>
            <a:endParaRPr lang="it-IT" sz="2000" dirty="0">
              <a:solidFill>
                <a:srgbClr val="000000"/>
              </a:solidFill>
            </a:endParaRPr>
          </a:p>
          <a:p>
            <a:endParaRPr lang="it-IT" sz="2000" dirty="0">
              <a:solidFill>
                <a:srgbClr val="000000"/>
              </a:solidFill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5738860" y="1770474"/>
            <a:ext cx="5986857" cy="125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Innovazione come opportunità e come minaccia</a:t>
            </a: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614" y="639499"/>
            <a:ext cx="914400" cy="914400"/>
          </a:xfrm>
          <a:prstGeom prst="rect">
            <a:avLst/>
          </a:prstGeom>
        </p:spPr>
      </p:pic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D4AD2EBA-B968-4C9E-8873-1C128EE17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453430"/>
              </p:ext>
            </p:extLst>
          </p:nvPr>
        </p:nvGraphicFramePr>
        <p:xfrm>
          <a:off x="5372146" y="3055826"/>
          <a:ext cx="6414831" cy="33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277">
                  <a:extLst>
                    <a:ext uri="{9D8B030D-6E8A-4147-A177-3AD203B41FA5}">
                      <a16:colId xmlns:a16="http://schemas.microsoft.com/office/drawing/2014/main" val="1799134475"/>
                    </a:ext>
                  </a:extLst>
                </a:gridCol>
                <a:gridCol w="2138277">
                  <a:extLst>
                    <a:ext uri="{9D8B030D-6E8A-4147-A177-3AD203B41FA5}">
                      <a16:colId xmlns:a16="http://schemas.microsoft.com/office/drawing/2014/main" val="2892658337"/>
                    </a:ext>
                  </a:extLst>
                </a:gridCol>
                <a:gridCol w="2138277">
                  <a:extLst>
                    <a:ext uri="{9D8B030D-6E8A-4147-A177-3AD203B41FA5}">
                      <a16:colId xmlns:a16="http://schemas.microsoft.com/office/drawing/2014/main" val="76773319"/>
                    </a:ext>
                  </a:extLst>
                </a:gridCol>
              </a:tblGrid>
              <a:tr h="661440">
                <a:tc>
                  <a:txBody>
                    <a:bodyPr/>
                    <a:lstStyle/>
                    <a:p>
                      <a:pPr algn="ctr"/>
                      <a:r>
                        <a:rPr lang="it-IT" sz="2200" dirty="0">
                          <a:latin typeface="Garamond" panose="02020404030301010803" pitchFamily="18" charset="0"/>
                        </a:rPr>
                        <a:t>Passato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>
                          <a:latin typeface="Garamond" panose="02020404030301010803" pitchFamily="18" charset="0"/>
                        </a:rPr>
                        <a:t>Tecnologia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dirty="0">
                          <a:latin typeface="Garamond" panose="02020404030301010803" pitchFamily="18" charset="0"/>
                        </a:rPr>
                        <a:t>Presente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14095"/>
                  </a:ext>
                </a:extLst>
              </a:tr>
              <a:tr h="661440">
                <a:tc>
                  <a:txBody>
                    <a:bodyPr/>
                    <a:lstStyle/>
                    <a:p>
                      <a:r>
                        <a:rPr lang="it-IT" dirty="0">
                          <a:latin typeface="Garamond" panose="02020404030301010803" pitchFamily="18" charset="0"/>
                        </a:rPr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aramond" panose="02020404030301010803" pitchFamily="18" charset="0"/>
                        </a:rPr>
                        <a:t>Smartphone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06758"/>
                  </a:ext>
                </a:extLst>
              </a:tr>
              <a:tr h="661440">
                <a:tc>
                  <a:txBody>
                    <a:bodyPr/>
                    <a:lstStyle/>
                    <a:p>
                      <a:endParaRPr lang="it-IT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aramond" panose="02020404030301010803" pitchFamily="18" charset="0"/>
                        </a:rPr>
                        <a:t>Internet, 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120878"/>
                  </a:ext>
                </a:extLst>
              </a:tr>
              <a:tr h="661440">
                <a:tc>
                  <a:txBody>
                    <a:bodyPr/>
                    <a:lstStyle/>
                    <a:p>
                      <a:endParaRPr lang="it-IT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aramond" panose="02020404030301010803" pitchFamily="18" charset="0"/>
                        </a:rPr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242384"/>
                  </a:ext>
                </a:extLst>
              </a:tr>
              <a:tr h="661440">
                <a:tc>
                  <a:txBody>
                    <a:bodyPr/>
                    <a:lstStyle/>
                    <a:p>
                      <a:endParaRPr lang="it-IT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aramond" panose="02020404030301010803" pitchFamily="18" charset="0"/>
                        </a:rPr>
                        <a:t>E-commerce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68635"/>
                  </a:ext>
                </a:extLst>
              </a:tr>
            </a:tbl>
          </a:graphicData>
        </a:graphic>
      </p:graphicFrame>
      <p:pic>
        <p:nvPicPr>
          <p:cNvPr id="13" name="Picture 2" descr="Risultato immagini per apple logo">
            <a:extLst>
              <a:ext uri="{FF2B5EF4-FFF2-40B4-BE49-F238E27FC236}">
                <a16:creationId xmlns:a16="http://schemas.microsoft.com/office/drawing/2014/main" id="{90F7250C-EFC6-410C-84FE-FCB3469C33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10049820" y="3368961"/>
            <a:ext cx="1227746" cy="1285026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 descr="Immagine che contiene portatile, computer, interni, monitor&#10;&#10;Descrizione generata automaticamente">
            <a:extLst>
              <a:ext uri="{FF2B5EF4-FFF2-40B4-BE49-F238E27FC236}">
                <a16:creationId xmlns:a16="http://schemas.microsoft.com/office/drawing/2014/main" id="{C18312AB-8884-4060-B7CE-5BB30FB645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196" y="3811930"/>
            <a:ext cx="1303994" cy="429219"/>
          </a:xfrm>
          <a:prstGeom prst="rect">
            <a:avLst/>
          </a:prstGeom>
        </p:spPr>
      </p:pic>
      <p:pic>
        <p:nvPicPr>
          <p:cNvPr id="14" name="Immagine 13" descr="Immagine che contiene segnale&#10;&#10;Descrizione generata automaticamente">
            <a:extLst>
              <a:ext uri="{FF2B5EF4-FFF2-40B4-BE49-F238E27FC236}">
                <a16:creationId xmlns:a16="http://schemas.microsoft.com/office/drawing/2014/main" id="{41C56A67-F80D-4D32-819D-B922BE3A9B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84" y="4299026"/>
            <a:ext cx="1113333" cy="667130"/>
          </a:xfrm>
          <a:prstGeom prst="rect">
            <a:avLst/>
          </a:prstGeom>
        </p:spPr>
      </p:pic>
      <p:pic>
        <p:nvPicPr>
          <p:cNvPr id="18" name="Immagine 17" descr="Immagine che contiene segnale&#10;&#10;Descrizione generata automaticamente">
            <a:extLst>
              <a:ext uri="{FF2B5EF4-FFF2-40B4-BE49-F238E27FC236}">
                <a16:creationId xmlns:a16="http://schemas.microsoft.com/office/drawing/2014/main" id="{D9A29E40-3093-4D10-9310-57D961D647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516" y="4278257"/>
            <a:ext cx="1627344" cy="915381"/>
          </a:xfrm>
          <a:prstGeom prst="rect">
            <a:avLst/>
          </a:prstGeom>
        </p:spPr>
      </p:pic>
      <p:pic>
        <p:nvPicPr>
          <p:cNvPr id="21" name="Immagine 20" descr="Immagine che contiene coltello&#10;&#10;Descrizione generata automaticamente">
            <a:extLst>
              <a:ext uri="{FF2B5EF4-FFF2-40B4-BE49-F238E27FC236}">
                <a16:creationId xmlns:a16="http://schemas.microsoft.com/office/drawing/2014/main" id="{933B4DF8-11B1-422F-9B32-92F8FEAA47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890" y="5040146"/>
            <a:ext cx="980645" cy="667130"/>
          </a:xfrm>
          <a:prstGeom prst="rect">
            <a:avLst/>
          </a:prstGeom>
        </p:spPr>
      </p:pic>
      <p:pic>
        <p:nvPicPr>
          <p:cNvPr id="23" name="Immagine 22" descr="Immagine che contiene oggetto, nero&#10;&#10;Descrizione generata automaticamente">
            <a:extLst>
              <a:ext uri="{FF2B5EF4-FFF2-40B4-BE49-F238E27FC236}">
                <a16:creationId xmlns:a16="http://schemas.microsoft.com/office/drawing/2014/main" id="{060DF840-39E4-42C2-A76B-749FF918BF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05" y="4908942"/>
            <a:ext cx="932178" cy="850613"/>
          </a:xfrm>
          <a:prstGeom prst="rect">
            <a:avLst/>
          </a:prstGeom>
        </p:spPr>
      </p:pic>
      <p:pic>
        <p:nvPicPr>
          <p:cNvPr id="25" name="Immagine 24" descr="Immagine che contiene disegnando, tazza, piatto, cibo&#10;&#10;Descrizione generata automaticamente">
            <a:extLst>
              <a:ext uri="{FF2B5EF4-FFF2-40B4-BE49-F238E27FC236}">
                <a16:creationId xmlns:a16="http://schemas.microsoft.com/office/drawing/2014/main" id="{22151598-E9FB-4925-BCC8-6085CDC788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1" y="5818587"/>
            <a:ext cx="1807044" cy="610583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9FAD4720-3787-4A11-BEA8-8A0C36900C5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605" y="5848880"/>
            <a:ext cx="1730804" cy="43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37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052" y="380713"/>
            <a:ext cx="5852267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4052" y="1662606"/>
            <a:ext cx="4660042" cy="125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Approfondimento:</a:t>
            </a:r>
            <a:br>
              <a:rPr lang="it-IT" sz="3000" dirty="0">
                <a:solidFill>
                  <a:srgbClr val="0070C0"/>
                </a:solidFill>
                <a:latin typeface="Poppins" panose="020B0604020202020204"/>
              </a:rPr>
            </a:br>
            <a:r>
              <a:rPr lang="it-IT" sz="3000" dirty="0">
                <a:solidFill>
                  <a:srgbClr val="0070C0"/>
                </a:solidFill>
                <a:latin typeface="Poppins" panose="020B06040202020202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Blockbuster</a:t>
            </a:r>
            <a:endParaRPr lang="it-IT" sz="3000" dirty="0">
              <a:solidFill>
                <a:srgbClr val="0070C0"/>
              </a:solidFill>
              <a:latin typeface="Poppins" panose="020B0604020202020204"/>
            </a:endParaRP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3265" y="544821"/>
            <a:ext cx="914400" cy="914400"/>
          </a:xfrm>
          <a:prstGeom prst="rect">
            <a:avLst/>
          </a:prstGeom>
        </p:spPr>
      </p:pic>
      <p:pic>
        <p:nvPicPr>
          <p:cNvPr id="14" name="Immagine 13" descr="Immagine che contiene segnale&#10;&#10;Descrizione generata automaticamente">
            <a:extLst>
              <a:ext uri="{FF2B5EF4-FFF2-40B4-BE49-F238E27FC236}">
                <a16:creationId xmlns:a16="http://schemas.microsoft.com/office/drawing/2014/main" id="{41C56A67-F80D-4D32-819D-B922BE3A9B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8" y="2605357"/>
            <a:ext cx="2749055" cy="1647285"/>
          </a:xfrm>
          <a:prstGeom prst="rect">
            <a:avLst/>
          </a:prstGeom>
        </p:spPr>
      </p:pic>
      <p:pic>
        <p:nvPicPr>
          <p:cNvPr id="7" name="Elementi multimediali online 6" title="Netflix contro Blockbuster: come ha vinto e perchￃﾨ">
            <a:hlinkClick r:id="" action="ppaction://media"/>
            <a:extLst>
              <a:ext uri="{FF2B5EF4-FFF2-40B4-BE49-F238E27FC236}">
                <a16:creationId xmlns:a16="http://schemas.microsoft.com/office/drawing/2014/main" id="{D22E3D93-B70D-4634-BB09-7CE81B2DDB9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5466073" y="2898536"/>
            <a:ext cx="6096000" cy="3429000"/>
          </a:xfrm>
          <a:prstGeom prst="rect">
            <a:avLst/>
          </a:prstGeom>
        </p:spPr>
      </p:pic>
      <p:pic>
        <p:nvPicPr>
          <p:cNvPr id="24" name="Immagine 23" descr="Immagine che contiene segnale&#10;&#10;Descrizione generata automaticamente">
            <a:extLst>
              <a:ext uri="{FF2B5EF4-FFF2-40B4-BE49-F238E27FC236}">
                <a16:creationId xmlns:a16="http://schemas.microsoft.com/office/drawing/2014/main" id="{AA33210C-55DF-42EE-B3A3-228D61E22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5" y="2129909"/>
            <a:ext cx="4654900" cy="26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8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614874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Sistema culturale-tecnologico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186149" y="2257006"/>
            <a:ext cx="466004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Altri esempi di </a:t>
            </a:r>
            <a:r>
              <a:rPr lang="it-IT" sz="3000" i="1" dirty="0" err="1">
                <a:solidFill>
                  <a:srgbClr val="0070C0"/>
                </a:solidFill>
                <a:latin typeface="Poppins" panose="020B0604020202020204"/>
              </a:rPr>
              <a:t>distruptive</a:t>
            </a:r>
            <a:r>
              <a:rPr lang="it-IT" sz="3000" i="1" dirty="0">
                <a:solidFill>
                  <a:srgbClr val="0070C0"/>
                </a:solidFill>
                <a:latin typeface="Poppins" panose="020B0604020202020204"/>
              </a:rPr>
              <a:t> </a:t>
            </a:r>
            <a:r>
              <a:rPr lang="it-IT" sz="3000" i="1" dirty="0" err="1">
                <a:solidFill>
                  <a:srgbClr val="0070C0"/>
                </a:solidFill>
                <a:latin typeface="Poppins" panose="020B0604020202020204"/>
              </a:rPr>
              <a:t>innovation</a:t>
            </a:r>
            <a:r>
              <a:rPr lang="it-IT" sz="3000" i="1" dirty="0">
                <a:solidFill>
                  <a:srgbClr val="0070C0"/>
                </a:solidFill>
                <a:latin typeface="Poppins" panose="020B0604020202020204"/>
              </a:rPr>
              <a:t>?</a:t>
            </a:r>
          </a:p>
        </p:txBody>
      </p:sp>
      <p:pic>
        <p:nvPicPr>
          <p:cNvPr id="10" name="Elemento grafico 9" descr="Robot">
            <a:extLst>
              <a:ext uri="{FF2B5EF4-FFF2-40B4-BE49-F238E27FC236}">
                <a16:creationId xmlns:a16="http://schemas.microsoft.com/office/drawing/2014/main" id="{0B2F2A96-CBC5-43FA-BFC8-344F6DAA7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7270" y="1072780"/>
            <a:ext cx="914400" cy="9144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EEE283-52DE-4594-B58D-3B12E91B3BA1}"/>
              </a:ext>
            </a:extLst>
          </p:cNvPr>
          <p:cNvSpPr txBox="1"/>
          <p:nvPr/>
        </p:nvSpPr>
        <p:spPr>
          <a:xfrm>
            <a:off x="5856455" y="3980883"/>
            <a:ext cx="5453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20B0604020202020204"/>
              </a:rPr>
              <a:t>Articolo consigliato:</a:t>
            </a:r>
          </a:p>
          <a:p>
            <a:r>
              <a:rPr lang="it-IT" dirty="0">
                <a:latin typeface="Poppins" panose="020B0604020202020204"/>
                <a:hlinkClick r:id="rId5"/>
              </a:rPr>
              <a:t>https://www.researchgate.net/publication/322665799_Polaroid_Kodak_e_la_digitalizzazione_il_fallimento_di_una_visione_ibrida_della_fotografia_digitale/link/5bbbf55892851c7fde34f0a0/download</a:t>
            </a:r>
            <a:endParaRPr lang="it-IT" dirty="0">
              <a:latin typeface="Poppi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35066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1032" y="588960"/>
            <a:ext cx="590484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/>
              </a:rPr>
              <a:t>Sistema economico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ED07B252-8B93-4820-A334-3AAC87EFD95B}"/>
              </a:ext>
            </a:extLst>
          </p:cNvPr>
          <p:cNvSpPr txBox="1">
            <a:spLocks/>
          </p:cNvSpPr>
          <p:nvPr/>
        </p:nvSpPr>
        <p:spPr>
          <a:xfrm>
            <a:off x="6090572" y="1765415"/>
            <a:ext cx="5332603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/>
              </a:rPr>
              <a:t>Sistemi economici del Novecento</a:t>
            </a:r>
          </a:p>
        </p:txBody>
      </p:sp>
      <p:pic>
        <p:nvPicPr>
          <p:cNvPr id="10" name="Elemento grafico 9" descr="Monete">
            <a:extLst>
              <a:ext uri="{FF2B5EF4-FFF2-40B4-BE49-F238E27FC236}">
                <a16:creationId xmlns:a16="http://schemas.microsoft.com/office/drawing/2014/main" id="{0DD9F82E-7FBA-4A29-ACF6-AEEA13F033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6265" y="1010135"/>
            <a:ext cx="755280" cy="755280"/>
          </a:xfrm>
          <a:prstGeom prst="rect">
            <a:avLst/>
          </a:prstGeom>
        </p:spPr>
      </p:pic>
      <p:pic>
        <p:nvPicPr>
          <p:cNvPr id="4" name="Elementi multimediali online 3" title="Sistemi economici del Novecento">
            <a:hlinkClick r:id="" action="ppaction://media"/>
            <a:extLst>
              <a:ext uri="{FF2B5EF4-FFF2-40B4-BE49-F238E27FC236}">
                <a16:creationId xmlns:a16="http://schemas.microsoft.com/office/drawing/2014/main" id="{AC292210-93CC-4F4B-BBC5-4D8ADACFE03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5712934" y="292571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0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4" y="802955"/>
            <a:ext cx="5996295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/>
              </a:rPr>
              <a:t>Sistema economico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2" descr="Risultato immagini per apple logo">
            <a:extLst>
              <a:ext uri="{FF2B5EF4-FFF2-40B4-BE49-F238E27FC236}">
                <a16:creationId xmlns:a16="http://schemas.microsoft.com/office/drawing/2014/main" id="{D6CE7AC0-0B96-4313-9323-9DD0EFE7A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2667" y1="34603" x2="52667" y2="34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5178" b="4"/>
          <a:stretch/>
        </p:blipFill>
        <p:spPr bwMode="auto"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Elemento grafico 9" descr="Monete">
            <a:extLst>
              <a:ext uri="{FF2B5EF4-FFF2-40B4-BE49-F238E27FC236}">
                <a16:creationId xmlns:a16="http://schemas.microsoft.com/office/drawing/2014/main" id="{0DD9F82E-7FBA-4A29-ACF6-AEEA13F03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5294" y="1122877"/>
            <a:ext cx="755280" cy="75528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D86670-9A2D-43A7-9D34-45984566541F}"/>
              </a:ext>
            </a:extLst>
          </p:cNvPr>
          <p:cNvSpPr txBox="1"/>
          <p:nvPr/>
        </p:nvSpPr>
        <p:spPr>
          <a:xfrm>
            <a:off x="6199753" y="2770803"/>
            <a:ext cx="5114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aramond" panose="02020404030301010803" pitchFamily="18" charset="0"/>
              </a:rPr>
              <a:t> </a:t>
            </a:r>
            <a:br>
              <a:rPr lang="it-IT" dirty="0">
                <a:latin typeface="Garamond" panose="02020404030301010803" pitchFamily="18" charset="0"/>
              </a:rPr>
            </a:br>
            <a:r>
              <a:rPr lang="it-IT" dirty="0">
                <a:latin typeface="Garamond" panose="02020404030301010803" pitchFamily="18" charset="0"/>
                <a:hlinkClick r:id="rId7"/>
              </a:rPr>
              <a:t>https://www.ilsole24ore.com/art/mercato-cinese-e-innovazione-lenta-tutte-nubi-cielo-apple-AEiPan8G</a:t>
            </a:r>
            <a:endParaRPr lang="it-IT" dirty="0">
              <a:latin typeface="Garamond" panose="02020404030301010803" pitchFamily="18" charset="0"/>
            </a:endParaRP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4816CA14-6BF8-4843-8BB0-9872448DCFD6}"/>
              </a:ext>
            </a:extLst>
          </p:cNvPr>
          <p:cNvSpPr txBox="1">
            <a:spLocks/>
          </p:cNvSpPr>
          <p:nvPr/>
        </p:nvSpPr>
        <p:spPr>
          <a:xfrm>
            <a:off x="6090572" y="1765415"/>
            <a:ext cx="5332603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/>
              </a:rPr>
              <a:t>Approfondimento:</a:t>
            </a:r>
          </a:p>
          <a:p>
            <a:pPr algn="ctr"/>
            <a:r>
              <a:rPr lang="it-IT" sz="3000" dirty="0">
                <a:solidFill>
                  <a:srgbClr val="0070C0"/>
                </a:solidFill>
                <a:latin typeface="Poppins"/>
              </a:rPr>
              <a:t>Apple nel mercato cinese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F811FDF-65E4-4F36-9F6B-43B339397D27}"/>
              </a:ext>
            </a:extLst>
          </p:cNvPr>
          <p:cNvSpPr/>
          <p:nvPr/>
        </p:nvSpPr>
        <p:spPr>
          <a:xfrm>
            <a:off x="6184031" y="3925430"/>
            <a:ext cx="47981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>
                <a:latin typeface="Garamond" panose="02020404030301010803" pitchFamily="18" charset="0"/>
                <a:hlinkClick r:id="rId8"/>
              </a:rPr>
              <a:t>https://www.esquire.com/it/lifestyle/tecnologia/a25748113/apple-gennaio-2019/</a:t>
            </a:r>
            <a:endParaRPr lang="it-IT" dirty="0">
              <a:latin typeface="Garamond" panose="02020404030301010803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260A214-CFD1-4CFA-82B9-6C03BD5B7E82}"/>
              </a:ext>
            </a:extLst>
          </p:cNvPr>
          <p:cNvSpPr/>
          <p:nvPr/>
        </p:nvSpPr>
        <p:spPr>
          <a:xfrm>
            <a:off x="6373504" y="5324638"/>
            <a:ext cx="46086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Garamond" panose="02020404030301010803" pitchFamily="18" charset="0"/>
                <a:hlinkClick r:id="rId9"/>
              </a:rPr>
              <a:t>https://www.ilsole24ore.com/art/guerra-dazi-due-anni-usa-e-cina-firmano-pace-ecco-che-cosa-prevede-l-accordo-ACkER5BB</a:t>
            </a:r>
            <a:endParaRPr lang="it-IT" dirty="0">
              <a:latin typeface="Garamond" panose="02020404030301010803" pitchFamily="18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76289CA5-8B42-4CDC-959E-142B9D6AF4C5}"/>
              </a:ext>
            </a:extLst>
          </p:cNvPr>
          <p:cNvSpPr txBox="1">
            <a:spLocks/>
          </p:cNvSpPr>
          <p:nvPr/>
        </p:nvSpPr>
        <p:spPr>
          <a:xfrm>
            <a:off x="5916790" y="4281072"/>
            <a:ext cx="6173609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/>
              </a:rPr>
              <a:t>Guerra commerciale USA-Cina</a:t>
            </a:r>
          </a:p>
        </p:txBody>
      </p:sp>
    </p:spTree>
    <p:extLst>
      <p:ext uri="{BB962C8B-B14F-4D97-AF65-F5344CB8AC3E}">
        <p14:creationId xmlns:p14="http://schemas.microsoft.com/office/powerpoint/2010/main" val="3982724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426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Freeform: Shape 13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F372534-63F2-434D-ADCD-99F94A223169}"/>
              </a:ext>
            </a:extLst>
          </p:cNvPr>
          <p:cNvSpPr txBox="1">
            <a:spLocks/>
          </p:cNvSpPr>
          <p:nvPr/>
        </p:nvSpPr>
        <p:spPr>
          <a:xfrm>
            <a:off x="3148617" y="215238"/>
            <a:ext cx="5894766" cy="14540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Effetti dell’internazionalizzazione e della globalizzazione</a:t>
            </a:r>
          </a:p>
        </p:txBody>
      </p:sp>
    </p:spTree>
    <p:extLst>
      <p:ext uri="{BB962C8B-B14F-4D97-AF65-F5344CB8AC3E}">
        <p14:creationId xmlns:p14="http://schemas.microsoft.com/office/powerpoint/2010/main" val="1068445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426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Freeform: Shape 13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F372534-63F2-434D-ADCD-99F94A223169}"/>
              </a:ext>
            </a:extLst>
          </p:cNvPr>
          <p:cNvSpPr txBox="1">
            <a:spLocks/>
          </p:cNvSpPr>
          <p:nvPr/>
        </p:nvSpPr>
        <p:spPr>
          <a:xfrm>
            <a:off x="3215746" y="194918"/>
            <a:ext cx="5760508" cy="14540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20B0604020202020204"/>
              </a:rPr>
              <a:t>Effetti dell’internazionalizzazione e della globalizzazione</a:t>
            </a:r>
          </a:p>
        </p:txBody>
      </p:sp>
      <p:pic>
        <p:nvPicPr>
          <p:cNvPr id="2" name="Elementi multimediali online 1" title="Cos'ￃﾨ la globalizzazione?">
            <a:hlinkClick r:id="" action="ppaction://media"/>
            <a:extLst>
              <a:ext uri="{FF2B5EF4-FFF2-40B4-BE49-F238E27FC236}">
                <a16:creationId xmlns:a16="http://schemas.microsoft.com/office/drawing/2014/main" id="{8C03316C-93CB-47C5-9438-D1380A95A32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226314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Globalizzazione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131E371-4A98-405E-A72B-DE50F6C108B4}"/>
              </a:ext>
            </a:extLst>
          </p:cNvPr>
          <p:cNvSpPr txBox="1"/>
          <p:nvPr/>
        </p:nvSpPr>
        <p:spPr>
          <a:xfrm>
            <a:off x="6120779" y="2662371"/>
            <a:ext cx="561487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dirty="0">
                <a:latin typeface="Poppins" panose="020B0604020202020204"/>
              </a:rPr>
              <a:t>Big Tech e Antitrust</a:t>
            </a:r>
            <a:endParaRPr lang="it-IT" sz="1900" dirty="0">
              <a:latin typeface="Poppins" panose="020B0604020202020204"/>
              <a:hlinkClick r:id="rId3"/>
            </a:endParaRPr>
          </a:p>
          <a:p>
            <a:r>
              <a:rPr lang="it-IT" sz="1900" dirty="0">
                <a:latin typeface="Poppins" panose="020B0604020202020204"/>
                <a:hlinkClick r:id="rId3"/>
              </a:rPr>
              <a:t>https://www.agendadigitale.eu/cultura-digitale/big-tech-e-antitrust-la-pacchia-e-finita-perche-siamo-alla-svolta/</a:t>
            </a:r>
            <a:endParaRPr lang="it-IT" sz="1900" dirty="0">
              <a:latin typeface="Poppins" panose="020B0604020202020204"/>
            </a:endParaRPr>
          </a:p>
          <a:p>
            <a:r>
              <a:rPr lang="it-IT" sz="1900" dirty="0">
                <a:latin typeface="Poppins" panose="020B0604020202020204"/>
              </a:rPr>
              <a:t>Nuove norme fiscali per le Big Tech</a:t>
            </a:r>
            <a:endParaRPr lang="it-IT" sz="1900" dirty="0">
              <a:latin typeface="Poppins" panose="020B0604020202020204"/>
              <a:hlinkClick r:id="rId4"/>
            </a:endParaRPr>
          </a:p>
          <a:p>
            <a:r>
              <a:rPr lang="it-IT" sz="1900" dirty="0">
                <a:latin typeface="Poppins" panose="020B0604020202020204"/>
                <a:hlinkClick r:id="rId4"/>
              </a:rPr>
              <a:t>https://it.euronews.com/2019/10/09/ocse-revisione-delle-norme-fiscali-per-le-multinazionali-digitali</a:t>
            </a:r>
            <a:endParaRPr lang="it-IT" sz="1900" dirty="0">
              <a:latin typeface="Poppins" panose="020B0604020202020204"/>
            </a:endParaRPr>
          </a:p>
          <a:p>
            <a:r>
              <a:rPr lang="it-IT" sz="1900" dirty="0">
                <a:latin typeface="Poppins" panose="020B0604020202020204"/>
              </a:rPr>
              <a:t>Best Global Brand 2019</a:t>
            </a:r>
          </a:p>
          <a:p>
            <a:r>
              <a:rPr lang="it-IT" sz="1900" dirty="0">
                <a:latin typeface="Poppins" panose="020B0604020202020204"/>
                <a:hlinkClick r:id="rId5"/>
              </a:rPr>
              <a:t>https://www.interbrand.com/best-brands/best-global-brands/2019/ranking/</a:t>
            </a:r>
            <a:endParaRPr lang="it-IT" sz="1900" dirty="0">
              <a:latin typeface="Poppins" panose="020B0604020202020204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E67D38BF-33E4-4DB6-AC26-A2A73BCD3E9F}"/>
              </a:ext>
            </a:extLst>
          </p:cNvPr>
          <p:cNvSpPr txBox="1">
            <a:spLocks/>
          </p:cNvSpPr>
          <p:nvPr/>
        </p:nvSpPr>
        <p:spPr>
          <a:xfrm>
            <a:off x="6090571" y="1523607"/>
            <a:ext cx="5332603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Approfondimenti:</a:t>
            </a:r>
          </a:p>
        </p:txBody>
      </p:sp>
    </p:spTree>
    <p:extLst>
      <p:ext uri="{BB962C8B-B14F-4D97-AF65-F5344CB8AC3E}">
        <p14:creationId xmlns:p14="http://schemas.microsoft.com/office/powerpoint/2010/main" val="31196466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75B2A20-449F-4D05-B987-A55CDCD7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0070C0"/>
                </a:solidFill>
                <a:latin typeface="Poppins" panose="020B0604020202020204"/>
              </a:rPr>
              <a:t>Globalizzazione</a:t>
            </a:r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E67D38BF-33E4-4DB6-AC26-A2A73BCD3E9F}"/>
              </a:ext>
            </a:extLst>
          </p:cNvPr>
          <p:cNvSpPr txBox="1">
            <a:spLocks/>
          </p:cNvSpPr>
          <p:nvPr/>
        </p:nvSpPr>
        <p:spPr>
          <a:xfrm>
            <a:off x="6094105" y="1666811"/>
            <a:ext cx="5332603" cy="1130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Approfondimenti:</a:t>
            </a:r>
          </a:p>
          <a:p>
            <a:pPr algn="ctr"/>
            <a:r>
              <a:rPr lang="it-IT" sz="3000" dirty="0">
                <a:solidFill>
                  <a:srgbClr val="0070C0"/>
                </a:solidFill>
                <a:latin typeface="Poppins" panose="020B0604020202020204"/>
              </a:rPr>
              <a:t>Miniere di smartphone</a:t>
            </a:r>
          </a:p>
        </p:txBody>
      </p:sp>
      <p:pic>
        <p:nvPicPr>
          <p:cNvPr id="3" name="Elementi multimediali online 2" title="Nelle miniere dove nascono gli smartphone - Nemo - Nessuno Escluso 25/05/2017">
            <a:hlinkClick r:id="" action="ppaction://media"/>
            <a:extLst>
              <a:ext uri="{FF2B5EF4-FFF2-40B4-BE49-F238E27FC236}">
                <a16:creationId xmlns:a16="http://schemas.microsoft.com/office/drawing/2014/main" id="{AFEAFBE7-FFFA-492B-AB90-8C04AE49391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614876" y="274947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426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Freeform: Shape 13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piatto&#10;&#10;Descrizione generata automaticamente">
            <a:extLst>
              <a:ext uri="{FF2B5EF4-FFF2-40B4-BE49-F238E27FC236}">
                <a16:creationId xmlns:a16="http://schemas.microsoft.com/office/drawing/2014/main" id="{96899446-084F-4290-A6BC-B1DF2DC42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229" y="1176793"/>
            <a:ext cx="4568450" cy="4548146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D3C449D-5DAD-4767-B318-9BACD7FD2FFC}"/>
              </a:ext>
            </a:extLst>
          </p:cNvPr>
          <p:cNvSpPr/>
          <p:nvPr/>
        </p:nvSpPr>
        <p:spPr>
          <a:xfrm>
            <a:off x="2705014" y="2967335"/>
            <a:ext cx="6781985" cy="92333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6877224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ADD803C0F48442AB4649F39F36D470" ma:contentTypeVersion="0" ma:contentTypeDescription="Creare un nuovo documento." ma:contentTypeScope="" ma:versionID="c012322463c7032ae5df0b291e85a51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4353eee5fe7ae2043b0d0bd8d80189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E7FB68-CBBC-4D47-8806-51256BF679D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1B6379-9AB7-45B6-935C-B3DD2B41341E}"/>
</file>

<file path=customXml/itemProps3.xml><?xml version="1.0" encoding="utf-8"?>
<ds:datastoreItem xmlns:ds="http://schemas.openxmlformats.org/officeDocument/2006/customXml" ds:itemID="{5321A420-B9D5-41BB-89FF-72A6419C7F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1497</Words>
  <Application>Microsoft Office PowerPoint</Application>
  <PresentationFormat>Widescreen</PresentationFormat>
  <Paragraphs>198</Paragraphs>
  <Slides>49</Slides>
  <Notes>6</Notes>
  <HiddenSlides>0</HiddenSlides>
  <MMClips>11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49</vt:i4>
      </vt:variant>
    </vt:vector>
  </HeadingPairs>
  <TitlesOfParts>
    <vt:vector size="60" baseType="lpstr">
      <vt:lpstr>Arial</vt:lpstr>
      <vt:lpstr>Calibri</vt:lpstr>
      <vt:lpstr>Calibri Light</vt:lpstr>
      <vt:lpstr>Comic Sans MS</vt:lpstr>
      <vt:lpstr>Garamond</vt:lpstr>
      <vt:lpstr>Poppins</vt:lpstr>
      <vt:lpstr>Poppins SemiBold</vt:lpstr>
      <vt:lpstr>Wingdings</vt:lpstr>
      <vt:lpstr>Tema di Office</vt:lpstr>
      <vt:lpstr>1_Tema di Office</vt:lpstr>
      <vt:lpstr>Office Theme</vt:lpstr>
      <vt:lpstr>Presentazione standard di PowerPoint</vt:lpstr>
      <vt:lpstr>Impresa</vt:lpstr>
      <vt:lpstr>Impresa</vt:lpstr>
      <vt:lpstr>SISTEMA</vt:lpstr>
      <vt:lpstr>Impresa è un sistema inserito in sistemi più ampi    </vt:lpstr>
      <vt:lpstr>Presentazione standard di PowerPoint</vt:lpstr>
      <vt:lpstr>Presentazione standard di PowerPoint</vt:lpstr>
      <vt:lpstr>Presentazione standard di PowerPoint</vt:lpstr>
      <vt:lpstr>L’impresa quale sistema socio-tecnico, aperto</vt:lpstr>
      <vt:lpstr>L’impresa quale sistema cognitivo</vt:lpstr>
      <vt:lpstr>Presentazione standard di PowerPoint</vt:lpstr>
      <vt:lpstr>Presentazione standard di PowerPoint</vt:lpstr>
      <vt:lpstr>Presentazione standard di PowerPoint</vt:lpstr>
      <vt:lpstr>L’impresa quale sistema complesso</vt:lpstr>
      <vt:lpstr>Presentazione standard di PowerPoint</vt:lpstr>
      <vt:lpstr>Mercato della produzione</vt:lpstr>
      <vt:lpstr>Mercato della produzione</vt:lpstr>
      <vt:lpstr>Mercato della produzione</vt:lpstr>
      <vt:lpstr>Mercato del lavoro</vt:lpstr>
      <vt:lpstr>Mercato del lavoro</vt:lpstr>
      <vt:lpstr>Mercato del lavoro</vt:lpstr>
      <vt:lpstr>Mercato dei capitali</vt:lpstr>
      <vt:lpstr>Mercato dei capitali</vt:lpstr>
      <vt:lpstr>Mercato di vendita</vt:lpstr>
      <vt:lpstr>Mercato di vendita</vt:lpstr>
      <vt:lpstr>Mercato di vendita</vt:lpstr>
      <vt:lpstr>Mercato di vendita</vt:lpstr>
      <vt:lpstr>Mercato di vendita</vt:lpstr>
      <vt:lpstr>Presentazione standard di PowerPoint</vt:lpstr>
      <vt:lpstr>Sistema politico-istituzionale</vt:lpstr>
      <vt:lpstr>Sistema politico-istituzionale</vt:lpstr>
      <vt:lpstr>Sistema politico-istituzionale</vt:lpstr>
      <vt:lpstr>Sistema socio-demografico</vt:lpstr>
      <vt:lpstr>Sistema socio-demografico</vt:lpstr>
      <vt:lpstr>Sistema socio-demografico</vt:lpstr>
      <vt:lpstr>Sistema socio-demografico</vt:lpstr>
      <vt:lpstr>Sistema culturale-tecnologico</vt:lpstr>
      <vt:lpstr>Sistema culturale-tecnologico</vt:lpstr>
      <vt:lpstr>Sistema culturale-tecnologico</vt:lpstr>
      <vt:lpstr>Sistema culturale-tecnologico</vt:lpstr>
      <vt:lpstr>Sistema culturale-tecnologico</vt:lpstr>
      <vt:lpstr>Sistema culturale-tecnologico</vt:lpstr>
      <vt:lpstr>Sistema economico</vt:lpstr>
      <vt:lpstr>Sistema economico</vt:lpstr>
      <vt:lpstr>Presentazione standard di PowerPoint</vt:lpstr>
      <vt:lpstr>Presentazione standard di PowerPoint</vt:lpstr>
      <vt:lpstr>Globalizzazione</vt:lpstr>
      <vt:lpstr>Globalizzazione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Cesare Laddaga</dc:creator>
  <cp:lastModifiedBy>Lenovo</cp:lastModifiedBy>
  <cp:revision>107</cp:revision>
  <dcterms:created xsi:type="dcterms:W3CDTF">2020-03-11T19:41:35Z</dcterms:created>
  <dcterms:modified xsi:type="dcterms:W3CDTF">2026-03-16T10:33:13Z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0x010100CEADD803C0F48442AB4649F39F36D470</vt:lpwstr>
  </property>
</Properties>
</file>