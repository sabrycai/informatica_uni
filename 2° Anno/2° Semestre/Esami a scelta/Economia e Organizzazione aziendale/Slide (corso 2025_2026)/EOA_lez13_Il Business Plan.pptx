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9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3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7.xml" ContentType="application/vnd.openxmlformats-officedocument.presentationml.notesSlide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3"/>
  </p:notesMasterIdLst>
  <p:sldIdLst>
    <p:sldId id="321" r:id="rId3"/>
    <p:sldId id="319" r:id="rId4"/>
    <p:sldId id="328" r:id="rId5"/>
    <p:sldId id="362" r:id="rId6"/>
    <p:sldId id="363" r:id="rId7"/>
    <p:sldId id="364" r:id="rId8"/>
    <p:sldId id="365" r:id="rId9"/>
    <p:sldId id="366" r:id="rId10"/>
    <p:sldId id="349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6" r:id="rId31"/>
    <p:sldId id="389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530" autoAdjust="0"/>
  </p:normalViewPr>
  <p:slideViewPr>
    <p:cSldViewPr snapToGrid="0">
      <p:cViewPr varScale="1">
        <p:scale>
          <a:sx n="72" d="100"/>
          <a:sy n="72" d="100"/>
        </p:scale>
        <p:origin x="11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2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493A2-DF13-4115-97E7-C6035F4116CB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4C47E-9652-49FD-81BB-9E5D2317455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5180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1395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1522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212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2389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8170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3137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134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559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532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8237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44313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8729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087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2450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3968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50380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839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9553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4007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2885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36016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2342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899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6718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07336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4C47E-9652-49FD-81BB-9E5D2317455D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6845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368837-5288-47E5-A833-E3E3519B3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578F856-4B6A-4ED6-A203-1BE5896FF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D2E2E7D-4CA7-43C7-A807-ECCE44C5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DA2F36-3038-4040-8483-E73ACE0A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E94B57-E4E9-4A8F-98E3-0E51EC1A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101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C5775-AB0F-46CE-BA22-39024500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6510D4-E73D-451E-B48E-4BCA9307F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3BDE66-140A-4845-B713-0276F509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E24D9D-DAFA-4623-B545-D642CCCC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0DE184-B902-425B-B1B1-979C12A8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2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8EE8D5-3730-4DBD-A749-781D78790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FCE7788-352D-48DD-84A7-D04E87F33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2F352B-5879-4EE4-AC7E-A224962B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5737B0-274F-4323-84A7-A6C6B139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05AE5D-D98A-45E6-85CE-458A45031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082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64C420-186E-4B94-972B-7ABA8E9B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4CD84D-C174-499D-8E8F-0D392E00B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3F88DA7-AFF0-426E-820B-3C838D5B8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0A725E-7EF5-4915-831C-C0F2F5E6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D361F0-0898-40D5-BF49-830517AD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34E2330-B793-45D4-B81A-4E306F5F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9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B5F04-31DF-43EB-956B-4EAC3EBE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D81060-765D-41DE-A86C-916CE0295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8A0D31-EDD4-4372-A8C7-6343D7C4F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7D0FA69-B712-46BC-9393-03F759648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5F1BD7-4DCA-4EB9-A453-353920514E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31EA687-BCAD-4D59-9B5A-A8C15BB7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6B3CED9-8688-43D0-98F1-E8E3D189D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B00C7AF-27C8-4F0A-BC21-05660E2F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624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02E6E2-3353-4A3A-8B2C-BDACE197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D8C5F73-F032-4CC9-B247-78BA3D9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D635235-9FE9-4CEF-87A0-F66DC6DE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7B71705-86F9-4116-8F32-A13CE56C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66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C8D9CB1-8F78-4C37-AD0A-B492C067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B540092-6ABE-420D-A902-021F6538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BE8BC9-4090-4683-B534-3818804D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477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C9FB83-FA33-45B9-BFEC-D5C829B7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1EF28E-23D5-4DBB-A827-4D40FAE85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0A8C9A-3FD8-41BC-B0D6-BABC43A0C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61658A-27D5-4587-9A78-FA2704CE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43C08F-25A8-451C-9502-B6C2C852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7D59952-49F9-4D6B-83B0-AE52CF3F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3208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2872A0-49A4-41AE-9158-785521A3E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F092E96-E1E5-4E7B-8169-7BDB7C616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869C89-12CD-4FE1-A00B-CA7CB7DDF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84C2D0-BE17-4C01-81C6-72CF033D2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752A295-24E9-4505-B8F6-F1E8AF0C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621BB4F-4DF6-41EF-9BAE-3593EECE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80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AA7206-1E15-48EB-9513-5090494F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52D3766-4530-4B58-BB58-6A7C97BDF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F698F9-B520-4001-8F4A-D067C36FF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C86F44-2F84-43CF-9F7E-58E0AAF93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506024-6409-4235-B64A-8715E416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514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D73AA2F-F844-4B33-9D7A-65FF40BFA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3E856E-C78D-4558-A739-2748DE8F4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B624E1-4E3E-47D6-A5D1-A0FF513C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AA06D3C-62A8-410B-91E4-2670EFC5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8D0662-936B-4C63-9D2B-6BD61185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7148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4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01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333">
                <a:solidFill>
                  <a:srgbClr val="888888"/>
                </a:solidFill>
              </a:defRPr>
            </a:lvl1pPr>
            <a:lvl2pPr marL="609630" lvl="1" indent="-152408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200">
                <a:solidFill>
                  <a:srgbClr val="888888"/>
                </a:solidFill>
              </a:defRPr>
            </a:lvl2pPr>
            <a:lvl3pPr marL="914446" lvl="2" indent="-152408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067">
                <a:solidFill>
                  <a:srgbClr val="888888"/>
                </a:solidFill>
              </a:defRPr>
            </a:lvl3pPr>
            <a:lvl4pPr marL="1219261" lvl="3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4pPr>
            <a:lvl5pPr marL="1524076" lvl="4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5pPr>
            <a:lvl6pPr marL="1828891" lvl="5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6pPr>
            <a:lvl7pPr marL="2133707" lvl="6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7pPr>
            <a:lvl8pPr marL="2438522" lvl="7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8pPr>
            <a:lvl9pPr marL="2743337" lvl="8" indent="-152408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30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67"/>
            </a:lvl1pPr>
            <a:lvl2pPr marL="609630" lvl="1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1600"/>
            </a:lvl2pPr>
            <a:lvl3pPr marL="914446" lvl="2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200"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200"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0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1pPr>
            <a:lvl2pPr marL="609630" lvl="1" indent="-152408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333" b="1"/>
            </a:lvl2pPr>
            <a:lvl3pPr marL="914446" lvl="2" indent="-152408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200" b="1"/>
            </a:lvl3pPr>
            <a:lvl4pPr marL="1219261" lvl="3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4pPr>
            <a:lvl5pPr marL="1524076" lvl="4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5pPr>
            <a:lvl6pPr marL="1828891" lvl="5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6pPr>
            <a:lvl7pPr marL="2133707" lvl="6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7pPr>
            <a:lvl8pPr marL="2438522" lvl="7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8pPr>
            <a:lvl9pPr marL="2743337" lvl="8" indent="-152408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067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1pPr>
            <a:lvl2pPr marL="609630" lvl="1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200"/>
            </a:lvl3pPr>
            <a:lvl4pPr marL="1219261" lvl="3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067"/>
            </a:lvl4pPr>
            <a:lvl5pPr marL="1524076" lvl="4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067"/>
            </a:lvl5pPr>
            <a:lvl6pPr marL="1828891" lvl="5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6pPr>
            <a:lvl7pPr marL="2133707" lvl="6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7pPr>
            <a:lvl8pPr marL="2438522" lvl="7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8pPr>
            <a:lvl9pPr marL="2743337" lvl="8" indent="-22014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067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68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808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87881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133"/>
            </a:lvl1pPr>
            <a:lvl2pPr marL="609630" lvl="1" indent="-270947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867"/>
            </a:lvl2pPr>
            <a:lvl3pPr marL="914446" lvl="2" indent="-254013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600"/>
            </a:lvl3pPr>
            <a:lvl4pPr marL="1219261" lvl="3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333"/>
            </a:lvl4pPr>
            <a:lvl5pPr marL="1524076" lvl="4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333"/>
            </a:lvl5pPr>
            <a:lvl6pPr marL="1828891" lvl="5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6pPr>
            <a:lvl7pPr marL="2133707" lvl="6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7pPr>
            <a:lvl8pPr marL="2438522" lvl="7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8pPr>
            <a:lvl9pPr marL="2743337" lvl="8" indent="-237079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333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17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933"/>
            </a:lvl1pPr>
            <a:lvl2pPr marL="609630" lvl="1" indent="-152408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800"/>
            </a:lvl2pPr>
            <a:lvl3pPr marL="914446" lvl="2" indent="-152408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667"/>
            </a:lvl3pPr>
            <a:lvl4pPr marL="1219261" lvl="3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4pPr>
            <a:lvl5pPr marL="1524076" lvl="4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5pPr>
            <a:lvl6pPr marL="1828891" lvl="5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6pPr>
            <a:lvl7pPr marL="2133707" lvl="6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7pPr>
            <a:lvl8pPr marL="2438522" lvl="7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8pPr>
            <a:lvl9pPr marL="2743337" lvl="8" indent="-152408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88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5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2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3154892" y="1447801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914446" lvl="2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1524076" lvl="4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1828891" lvl="5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0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FE853A8-BABE-4EEA-9FB1-73EA704E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67CB922-0E3E-41C0-9C80-31C79625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024FB5-D1BA-4637-A2B3-2469BDB1A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443A6-83DC-4856-A11D-DBC81456071D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C43967-B4CD-4ABA-9935-2FFB83B74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309784-7990-4C3F-B899-222DC7D40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D4672-51B9-4845-9E81-C2365497E07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913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697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EPWYhR8N7nw" TargetMode="Externa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79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5800" y="834282"/>
            <a:ext cx="2706633" cy="962350"/>
          </a:xfrm>
          <a:custGeom>
            <a:avLst/>
            <a:gdLst/>
            <a:ahLst/>
            <a:cxnLst/>
            <a:rect l="l" t="t" r="r" b="b"/>
            <a:pathLst>
              <a:path w="4059950" h="1443525" extrusionOk="0">
                <a:moveTo>
                  <a:pt x="0" y="0"/>
                </a:moveTo>
                <a:lnTo>
                  <a:pt x="4059950" y="0"/>
                </a:lnTo>
                <a:lnTo>
                  <a:pt x="4059950" y="1443525"/>
                </a:lnTo>
                <a:lnTo>
                  <a:pt x="0" y="1443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9"/>
            </a:stretch>
          </a:blipFill>
          <a:ln>
            <a:noFill/>
          </a:ln>
        </p:spPr>
      </p:sp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7684" y="3048800"/>
            <a:ext cx="3738517" cy="297212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85800" y="3201627"/>
            <a:ext cx="4832657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00"/>
              </a:lnSpc>
              <a:buClr>
                <a:srgbClr val="000000"/>
              </a:buClr>
            </a:pPr>
            <a:r>
              <a:rPr lang="en-US" sz="5600" b="1" kern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Corso EOA</a:t>
            </a:r>
            <a:endParaRPr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585412" y="902380"/>
            <a:ext cx="3151981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6103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LAUREA TRIENNALE IN INFORMATICA 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87679" y="4196240"/>
            <a:ext cx="447372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867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Giuseppe </a:t>
            </a:r>
            <a:r>
              <a:rPr lang="en-US" sz="1867" b="1" kern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Piccirillo</a:t>
            </a:r>
            <a:endParaRPr sz="13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09630">
              <a:lnSpc>
                <a:spcPct val="120010"/>
              </a:lnSpc>
              <a:buClr>
                <a:srgbClr val="000000"/>
              </a:buClr>
            </a:pPr>
            <a:endParaRPr sz="1333" b="1" kern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967489" y="959530"/>
            <a:ext cx="3694067" cy="49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333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CORSO II SEMESTRE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609630">
              <a:lnSpc>
                <a:spcPct val="120010"/>
              </a:lnSpc>
              <a:buClr>
                <a:srgbClr val="000000"/>
              </a:buClr>
            </a:pPr>
            <a:r>
              <a:rPr lang="en-US" sz="1333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2025 - 2026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85800" y="2453454"/>
            <a:ext cx="10124792" cy="36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20006"/>
              </a:lnSpc>
              <a:buClr>
                <a:srgbClr val="000000"/>
              </a:buClr>
            </a:pPr>
            <a:r>
              <a:rPr lang="en-US" sz="1999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LEZIONE. </a:t>
            </a:r>
            <a:r>
              <a:rPr lang="en-US" sz="1999" b="1" kern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 </a:t>
            </a:r>
            <a:r>
              <a:rPr lang="en-US" sz="1999" b="1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– IL BUSINESS PLAN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F42A3D5D-630E-4EEA-9559-084305AF6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37" y="2326329"/>
            <a:ext cx="11103725" cy="412316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</a:t>
            </a:r>
          </a:p>
          <a:p>
            <a:pPr algn="just"/>
            <a:endParaRPr lang="it-IT" sz="16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 documento che descrive un progetto imprenditoriale.</a:t>
            </a:r>
          </a:p>
        </p:txBody>
      </p:sp>
    </p:spTree>
    <p:extLst>
      <p:ext uri="{BB962C8B-B14F-4D97-AF65-F5344CB8AC3E}">
        <p14:creationId xmlns:p14="http://schemas.microsoft.com/office/powerpoint/2010/main" val="321679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90199" y="408505"/>
            <a:ext cx="103721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1 - Executive </a:t>
            </a:r>
            <a:r>
              <a:rPr lang="it-IT" sz="4000" u="sng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summary</a:t>
            </a:r>
            <a:endParaRPr lang="it-IT" sz="40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2 - Informazioni sull’azienda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3 - Analisi di mercato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4 - L’impresa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5 - Strategia di marketing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6 - Piano logistico e gestionale</a:t>
            </a:r>
          </a:p>
          <a:p>
            <a:pPr algn="just"/>
            <a:r>
              <a:rPr lang="it-IT" sz="40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56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75815"/>
            <a:ext cx="1037216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4 - L’impresa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Si deve procedere con la descrizione del progetto nel suo complesso.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176F552-179B-4FFC-A617-42B85322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40" y="2746359"/>
            <a:ext cx="2422695" cy="253189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0324AA0-EFE8-4854-BD2C-4C88607233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01" t="9346" r="16476" b="9858"/>
          <a:stretch/>
        </p:blipFill>
        <p:spPr>
          <a:xfrm>
            <a:off x="2924165" y="2722837"/>
            <a:ext cx="2147304" cy="253189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A3E8-C323-4E27-8A07-C3FBF1E38320}"/>
              </a:ext>
            </a:extLst>
          </p:cNvPr>
          <p:cNvSpPr txBox="1"/>
          <p:nvPr/>
        </p:nvSpPr>
        <p:spPr>
          <a:xfrm>
            <a:off x="959793" y="5450018"/>
            <a:ext cx="1211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Tecnologia 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A138606-BC85-426B-B6DE-8AA0BCC3D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290" y="2574594"/>
            <a:ext cx="2875424" cy="287542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3AB4AF03-9360-49E9-A51E-1F9A912277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466" t="27636" r="5001" b="25597"/>
          <a:stretch/>
        </p:blipFill>
        <p:spPr>
          <a:xfrm>
            <a:off x="8523665" y="3085014"/>
            <a:ext cx="3357767" cy="1854584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DD1ED33-9848-4B2F-B40B-EECCA99F49F9}"/>
              </a:ext>
            </a:extLst>
          </p:cNvPr>
          <p:cNvSpPr txBox="1"/>
          <p:nvPr/>
        </p:nvSpPr>
        <p:spPr>
          <a:xfrm>
            <a:off x="2924165" y="5468455"/>
            <a:ext cx="2147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Brevetti e Know-how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CF9028-1FD3-43FD-B8D7-974F6699BE23}"/>
              </a:ext>
            </a:extLst>
          </p:cNvPr>
          <p:cNvSpPr txBox="1"/>
          <p:nvPr/>
        </p:nvSpPr>
        <p:spPr>
          <a:xfrm>
            <a:off x="5989320" y="5450018"/>
            <a:ext cx="1907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Prodotti e servizi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2BE96F-E963-461E-9512-8C322D595732}"/>
              </a:ext>
            </a:extLst>
          </p:cNvPr>
          <p:cNvSpPr txBox="1"/>
          <p:nvPr/>
        </p:nvSpPr>
        <p:spPr>
          <a:xfrm>
            <a:off x="8814942" y="5433721"/>
            <a:ext cx="277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Analisi del Ciclo produttivo </a:t>
            </a:r>
          </a:p>
        </p:txBody>
      </p:sp>
    </p:spTree>
    <p:extLst>
      <p:ext uri="{BB962C8B-B14F-4D97-AF65-F5344CB8AC3E}">
        <p14:creationId xmlns:p14="http://schemas.microsoft.com/office/powerpoint/2010/main" val="268259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75815"/>
            <a:ext cx="1037216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4 - L’impresa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Si deve procedere con la descrizione del progetto nel suo complesso.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A3E8-C323-4E27-8A07-C3FBF1E38320}"/>
              </a:ext>
            </a:extLst>
          </p:cNvPr>
          <p:cNvSpPr txBox="1"/>
          <p:nvPr/>
        </p:nvSpPr>
        <p:spPr>
          <a:xfrm>
            <a:off x="1262629" y="5265352"/>
            <a:ext cx="251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Modello di Business</a:t>
            </a:r>
            <a:endParaRPr lang="it-IT" sz="1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CF9028-1FD3-43FD-B8D7-974F6699BE23}"/>
              </a:ext>
            </a:extLst>
          </p:cNvPr>
          <p:cNvSpPr txBox="1"/>
          <p:nvPr/>
        </p:nvSpPr>
        <p:spPr>
          <a:xfrm>
            <a:off x="4275512" y="5265352"/>
            <a:ext cx="3640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Team imprenditoriale e modello organizzativo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2BE96F-E963-461E-9512-8C322D595732}"/>
              </a:ext>
            </a:extLst>
          </p:cNvPr>
          <p:cNvSpPr txBox="1"/>
          <p:nvPr/>
        </p:nvSpPr>
        <p:spPr>
          <a:xfrm>
            <a:off x="9191267" y="5265352"/>
            <a:ext cx="277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Prospettive future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591492-4BFF-44CF-837A-E1585A6244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96" t="14876" r="18646" b="10060"/>
          <a:stretch/>
        </p:blipFill>
        <p:spPr>
          <a:xfrm>
            <a:off x="1363447" y="2691697"/>
            <a:ext cx="1907772" cy="2246061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EA184A06-AD1D-4A32-ACF3-6E30B577E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817" y="2766979"/>
            <a:ext cx="4286250" cy="20955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3C545B8-E218-45CE-ABB7-095A5D1574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287" t="18424" r="15886" b="15383"/>
          <a:stretch/>
        </p:blipFill>
        <p:spPr>
          <a:xfrm>
            <a:off x="9191267" y="2568655"/>
            <a:ext cx="2353106" cy="24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8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2ED3070-7632-4D7F-A0D2-49B98FC14D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12" b="868"/>
          <a:stretch/>
        </p:blipFill>
        <p:spPr>
          <a:xfrm>
            <a:off x="5081395" y="2488995"/>
            <a:ext cx="4349684" cy="4289881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326959"/>
            <a:ext cx="103721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12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5 - Strategia di marketing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La scelta delle attività di marketing dipende dal mercato target.</a:t>
            </a:r>
          </a:p>
          <a:p>
            <a:pPr algn="just"/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La maggior parte delle strategie di marketing include informazioni su quattro argomenti chiave 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  <a:sym typeface="Wingdings" panose="05000000000000000000" pitchFamily="2" charset="2"/>
              </a:rPr>
              <a:t></a:t>
            </a:r>
            <a:r>
              <a:rPr lang="it-IT" sz="24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marketing mix </a:t>
            </a:r>
          </a:p>
          <a:p>
            <a:pPr algn="just"/>
            <a:endParaRPr lang="it-IT" sz="24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53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75815"/>
            <a:ext cx="1037216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6 - Piano logistico e gestionale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A3E8-C323-4E27-8A07-C3FBF1E38320}"/>
              </a:ext>
            </a:extLst>
          </p:cNvPr>
          <p:cNvSpPr txBox="1"/>
          <p:nvPr/>
        </p:nvSpPr>
        <p:spPr>
          <a:xfrm>
            <a:off x="1715519" y="5348920"/>
            <a:ext cx="1067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Fornitori</a:t>
            </a:r>
            <a:endParaRPr lang="it-IT" sz="1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CF9028-1FD3-43FD-B8D7-974F6699BE23}"/>
              </a:ext>
            </a:extLst>
          </p:cNvPr>
          <p:cNvSpPr txBox="1"/>
          <p:nvPr/>
        </p:nvSpPr>
        <p:spPr>
          <a:xfrm>
            <a:off x="5460786" y="5265352"/>
            <a:ext cx="134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Produzione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2BE96F-E963-461E-9512-8C322D595732}"/>
              </a:ext>
            </a:extLst>
          </p:cNvPr>
          <p:cNvSpPr txBox="1"/>
          <p:nvPr/>
        </p:nvSpPr>
        <p:spPr>
          <a:xfrm>
            <a:off x="9582455" y="5265352"/>
            <a:ext cx="1118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Strutture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3764B21-FF32-44BA-8774-46C6FE91D9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55" t="13799" r="23455" b="23223"/>
          <a:stretch/>
        </p:blipFill>
        <p:spPr>
          <a:xfrm>
            <a:off x="984762" y="2265180"/>
            <a:ext cx="2529165" cy="3000172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A32D9A6-1734-494E-842A-4ACD1A7F42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6" t="23222" r="26399" b="16620"/>
          <a:stretch/>
        </p:blipFill>
        <p:spPr>
          <a:xfrm>
            <a:off x="5222066" y="2265180"/>
            <a:ext cx="1995054" cy="272017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34D6313-EAE0-408B-847A-15DBFDCFC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172" y="2265180"/>
            <a:ext cx="2555066" cy="255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6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75815"/>
            <a:ext cx="1037216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sz="28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6 - Piano logistico e gestionale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DAAA3E8-C323-4E27-8A07-C3FBF1E38320}"/>
              </a:ext>
            </a:extLst>
          </p:cNvPr>
          <p:cNvSpPr txBox="1"/>
          <p:nvPr/>
        </p:nvSpPr>
        <p:spPr>
          <a:xfrm>
            <a:off x="1715519" y="5348920"/>
            <a:ext cx="134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Attrezzature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6CF9028-1FD3-43FD-B8D7-974F6699BE23}"/>
              </a:ext>
            </a:extLst>
          </p:cNvPr>
          <p:cNvSpPr txBox="1"/>
          <p:nvPr/>
        </p:nvSpPr>
        <p:spPr>
          <a:xfrm>
            <a:off x="5577164" y="5265352"/>
            <a:ext cx="13438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Spedizione ed evasione degli ordini 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12BE96F-E963-461E-9512-8C322D595732}"/>
              </a:ext>
            </a:extLst>
          </p:cNvPr>
          <p:cNvSpPr txBox="1"/>
          <p:nvPr/>
        </p:nvSpPr>
        <p:spPr>
          <a:xfrm>
            <a:off x="9582455" y="5265352"/>
            <a:ext cx="1343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Inventario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A777F3A-A9F4-4C00-8269-EFBED5EC12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22" t="6938" r="7980" b="5211"/>
          <a:stretch/>
        </p:blipFill>
        <p:spPr>
          <a:xfrm>
            <a:off x="1178909" y="2497691"/>
            <a:ext cx="2417111" cy="246056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54A4B99-E010-4F17-A5EB-3A14FF8192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534" b="11900"/>
          <a:stretch/>
        </p:blipFill>
        <p:spPr>
          <a:xfrm>
            <a:off x="4699389" y="2497691"/>
            <a:ext cx="3131853" cy="246056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30B20D7-8BFF-4C1C-A1BF-62AF2EF64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045" y="2534221"/>
            <a:ext cx="2424038" cy="242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9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40322" y="320456"/>
            <a:ext cx="10372166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OBIETTIVO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  <a:sym typeface="Wingdings" panose="05000000000000000000" pitchFamily="2" charset="2"/>
              </a:rPr>
              <a:t>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presentare la struttura economica, patrimoniale e finanziaria del progetto di impresa includendo alcuni indici di sintesi.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</a:t>
            </a:r>
            <a:r>
              <a:rPr lang="it-IT" sz="2800" b="1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financial</a:t>
            </a:r>
            <a:r>
              <a:rPr lang="it-IT" sz="28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plan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 documento fondamentale: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Nelle start-up, il </a:t>
            </a:r>
            <a:r>
              <a:rPr lang="it-IT" sz="2800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financial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plan è indispensabile per procedere alla valutazione della società e del potenziale dell’azienda in base ai futuri guadagni previsti.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Nelle aziende già avviate, invece, il </a:t>
            </a:r>
            <a:r>
              <a:rPr lang="it-IT" sz="2800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financial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plan permette di monitorare lo stato di salute finanziaria dell’attività, e dovrebbe essere aggiornato semestralmente o annualmente a seconda delle frequenza nelle variazioni intercorse.</a:t>
            </a:r>
          </a:p>
        </p:txBody>
      </p:sp>
    </p:spTree>
    <p:extLst>
      <p:ext uri="{BB962C8B-B14F-4D97-AF65-F5344CB8AC3E}">
        <p14:creationId xmlns:p14="http://schemas.microsoft.com/office/powerpoint/2010/main" val="44276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740322" y="320456"/>
            <a:ext cx="10372166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</a:p>
          <a:p>
            <a:pPr algn="just"/>
            <a:endParaRPr lang="it-IT" sz="2400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Gli elementi fondamentali di un </a:t>
            </a:r>
            <a:r>
              <a:rPr lang="it-IT" sz="2800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financial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plan sono essenzialmente due: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Previsioni dei flussi di cassa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Previsioni dei profitti o delle perdite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opportuno includere anche una serie di informazioni dettagliate aggiuntive, tra cui costi di avvio e gestione della società, spese per stipendi, contratti del personale e finanziamenti, stato patrimoniale attuale, piani di assunzione futuri e KPI per monitorare le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77945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0"/>
            <a:ext cx="1037216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Obiettivi da raggiungere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importante stabilire obiettivi chiari e realistici ragionando in ottica imprenditoriale.</a:t>
            </a:r>
          </a:p>
          <a:p>
            <a:pPr algn="just"/>
            <a:endParaRPr lang="it-IT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Stima dei costi previsti e ricavi attesti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Costi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  <a:sym typeface="Wingdings" panose="05000000000000000000" pitchFamily="2" charset="2"/>
              </a:rPr>
              <a:t>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costi fissi e variabili, impatto delle spese impreviste, costi associati alle vendita e alla commercializzazione dei prodotti.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Ricavi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  <a:sym typeface="Wingdings" panose="05000000000000000000" pitchFamily="2" charset="2"/>
              </a:rPr>
              <a:t>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stima basata sul prezzo di vendita del prodotto o servizio.</a:t>
            </a:r>
          </a:p>
          <a:p>
            <a:pPr algn="just"/>
            <a:endParaRPr lang="it-IT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Conto economico previsionale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una parte essenziale in quanto indica il risultato economico di un determinato periodo preso in analisi.</a:t>
            </a:r>
          </a:p>
        </p:txBody>
      </p:sp>
    </p:spTree>
    <p:extLst>
      <p:ext uri="{BB962C8B-B14F-4D97-AF65-F5344CB8AC3E}">
        <p14:creationId xmlns:p14="http://schemas.microsoft.com/office/powerpoint/2010/main" val="964033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15636"/>
            <a:ext cx="1037216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SCELTA DEL MIX DELLE VENDITE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NATURA DEL PROBLEMA DECISIONALE: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Quale prodotto conviene “spingere” sul mercato, nel breve periodo (cioè nei limiti della capacità produttiva esistente)?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Ciò comporta una «graduatoria» di convenienza tra i prodotti.</a:t>
            </a:r>
          </a:p>
        </p:txBody>
      </p:sp>
    </p:spTree>
    <p:extLst>
      <p:ext uri="{BB962C8B-B14F-4D97-AF65-F5344CB8AC3E}">
        <p14:creationId xmlns:p14="http://schemas.microsoft.com/office/powerpoint/2010/main" val="1068178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15636"/>
            <a:ext cx="103721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SCELTA DEL MIX DELLE VENDITE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problema si pone quando i vari prodotti della gamma hanno in comune: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un mercato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delle risorse interne 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caratterizzati da: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scarsità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• trasferibilità</a:t>
            </a:r>
          </a:p>
        </p:txBody>
      </p:sp>
    </p:spTree>
    <p:extLst>
      <p:ext uri="{BB962C8B-B14F-4D97-AF65-F5344CB8AC3E}">
        <p14:creationId xmlns:p14="http://schemas.microsoft.com/office/powerpoint/2010/main" val="3872966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415636"/>
            <a:ext cx="103721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REDIGERE UN BUSINESS PLAN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7 - Analisi economico-finanziaria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Prevedere gli investimenti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Piano di investimenti previsti 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  <a:sym typeface="Wingdings" panose="05000000000000000000" pitchFamily="2" charset="2"/>
              </a:rPr>
              <a:t>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visione chiara e realistica delle spese da sostenere.</a:t>
            </a:r>
          </a:p>
          <a:p>
            <a:pPr algn="just"/>
            <a:endParaRPr lang="it-IT" sz="28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Revisione finale e aggiornamento</a:t>
            </a:r>
          </a:p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Una volta completato il </a:t>
            </a:r>
            <a:r>
              <a:rPr lang="it-IT" sz="2800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financial</a:t>
            </a:r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plan, è importante effettuare una revisione completa e tenerlo sempre aggiornato in base alla condizioni di mercato o alle variazioni nella situazione finanziaria della vostra società.</a:t>
            </a:r>
          </a:p>
        </p:txBody>
      </p:sp>
    </p:spTree>
    <p:extLst>
      <p:ext uri="{BB962C8B-B14F-4D97-AF65-F5344CB8AC3E}">
        <p14:creationId xmlns:p14="http://schemas.microsoft.com/office/powerpoint/2010/main" val="421768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723980"/>
            <a:ext cx="10372166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40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40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uno strumento strategico – operativo che analizza tutti gli elementi di un progetto imprenditoriale, al fine di valutarne la fattibilità e le conseguenti cadute economiche per l’investitore. 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087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9C2D58E-616D-498D-AF08-0C2C5DA10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148" y="1571354"/>
            <a:ext cx="9305703" cy="4958513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7412"/>
            <a:ext cx="1037216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4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Tutto parte da un’idea….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076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BDCDC1D3-2FF8-4851-8C9B-42872C23E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84" y="1711702"/>
            <a:ext cx="10370599" cy="4678465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7412"/>
            <a:ext cx="1037216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4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Tutto parte da un’idea….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55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82B8E18-CDF6-4E13-AD39-EC66A5E133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308"/>
          <a:stretch/>
        </p:blipFill>
        <p:spPr>
          <a:xfrm>
            <a:off x="1027215" y="1337309"/>
            <a:ext cx="10137569" cy="5125475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7412"/>
            <a:ext cx="1037216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4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Tutto parte da un’idea….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967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8903BD5-A118-4B7A-8CDF-D15D79A9E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234" y="1050467"/>
            <a:ext cx="9583447" cy="5530121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7412"/>
            <a:ext cx="1037216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4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Tutto parte da un’idea….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466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D7AAC618-D973-4F00-8005-9DF103ACDB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76"/>
          <a:stretch/>
        </p:blipFill>
        <p:spPr>
          <a:xfrm>
            <a:off x="1740414" y="1637414"/>
            <a:ext cx="9307300" cy="522058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7412"/>
            <a:ext cx="1037216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10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Tutto parte da un’idea….</a:t>
            </a:r>
          </a:p>
          <a:p>
            <a:pPr algn="just"/>
            <a:endParaRPr lang="it-IT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056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9E6A92E4-4DE6-4481-85B0-8126C196AA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62"/>
          <a:stretch/>
        </p:blipFill>
        <p:spPr>
          <a:xfrm>
            <a:off x="362350" y="2254104"/>
            <a:ext cx="11467300" cy="414669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7412"/>
            <a:ext cx="10372166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1000" b="1" u="sng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Business Plan è il primo anello di una corretta attività di «Direzione Aziendale»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37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4290"/>
            <a:ext cx="10372166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Quindi è un metodo per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valutare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e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condurre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un’attività specifica in un determinato periodo di tempo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Valutare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Far passare attraverso una dettagliata analisi di fattibilità e convenienza economica la «</a:t>
            </a:r>
            <a:r>
              <a:rPr lang="it-IT" sz="3200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vision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» imprenditoriale. 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    Ciò consente di: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verificarne la reale applicabilità sul mercato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mettere a punto ed effettuare un “fine tuning” delle strategie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“sbagliare sulla carta” invece che nella realtà</a:t>
            </a:r>
          </a:p>
        </p:txBody>
      </p:sp>
    </p:spTree>
    <p:extLst>
      <p:ext uri="{BB962C8B-B14F-4D97-AF65-F5344CB8AC3E}">
        <p14:creationId xmlns:p14="http://schemas.microsoft.com/office/powerpoint/2010/main" val="2515694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4290"/>
            <a:ext cx="1037216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Quindi è un metodo per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valutare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e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condurre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un’attività specifica in un determinato periodo di tempo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Condurre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Un piano deve indicare i passi da compiere per raggiungere gli obiettivi prefissati e, quindi, permettere un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continuo controllo operativo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dell’avanzamento delle attività e degli eventuali scostamenti (ritardi o modifiche di scenario), per consentire di operare le necessarie azioni correttive; la presenza nel piano di un’analisi di sensitività faciliterà notevolmente le decisioni su tali azioni di recupero. </a:t>
            </a:r>
          </a:p>
        </p:txBody>
      </p:sp>
    </p:spTree>
    <p:extLst>
      <p:ext uri="{BB962C8B-B14F-4D97-AF65-F5344CB8AC3E}">
        <p14:creationId xmlns:p14="http://schemas.microsoft.com/office/powerpoint/2010/main" val="3770779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F639169-524D-40CE-B0C3-1892B0B55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248" y="1911593"/>
            <a:ext cx="10129835" cy="4786626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4290"/>
            <a:ext cx="10372166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Per questo motivo un piano non è scritto nella pietra, ma è vivo: sia la fase di stesura che quella operativa sono processi iterativi. </a:t>
            </a:r>
          </a:p>
        </p:txBody>
      </p:sp>
    </p:spTree>
    <p:extLst>
      <p:ext uri="{BB962C8B-B14F-4D97-AF65-F5344CB8AC3E}">
        <p14:creationId xmlns:p14="http://schemas.microsoft.com/office/powerpoint/2010/main" val="3953744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4290"/>
            <a:ext cx="1037216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Quindi è un metodo per valutare e condurre un’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attività specifica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in un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determinato periodo di tempo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0B316A4-EBA5-469B-8E01-3FE4B28E8C6B}"/>
              </a:ext>
            </a:extLst>
          </p:cNvPr>
          <p:cNvSpPr/>
          <p:nvPr/>
        </p:nvSpPr>
        <p:spPr>
          <a:xfrm>
            <a:off x="1315486" y="3160519"/>
            <a:ext cx="29871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Attività specifica</a:t>
            </a:r>
            <a:endParaRPr lang="it-IT" sz="2800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3A65E36-F524-40D2-8157-C3FBE60EB0C6}"/>
              </a:ext>
            </a:extLst>
          </p:cNvPr>
          <p:cNvSpPr/>
          <p:nvPr/>
        </p:nvSpPr>
        <p:spPr>
          <a:xfrm>
            <a:off x="1315487" y="5178321"/>
            <a:ext cx="29871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Periodo di tempo</a:t>
            </a:r>
            <a:endParaRPr lang="it-IT" sz="2800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938EA3D-5FA2-4505-8FE7-093C5B3D5DEE}"/>
              </a:ext>
            </a:extLst>
          </p:cNvPr>
          <p:cNvSpPr/>
          <p:nvPr/>
        </p:nvSpPr>
        <p:spPr>
          <a:xfrm>
            <a:off x="5979042" y="2767280"/>
            <a:ext cx="56133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</a:rPr>
              <a:t>Qualunque tipo di attività, sia negli affari che nella vita, comporta una certa dose di pianificazione 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51FFA0E-F774-4209-82BF-4D5FD801ADC7}"/>
              </a:ext>
            </a:extLst>
          </p:cNvPr>
          <p:cNvSpPr/>
          <p:nvPr/>
        </p:nvSpPr>
        <p:spPr>
          <a:xfrm>
            <a:off x="5979041" y="4540969"/>
            <a:ext cx="561339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</a:rPr>
              <a:t>L’orizzonte temporale può essere il più vario ed è normalmente funzione della tipologia dell’impresa oggetto del piano 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B22C75E6-49D3-4562-BC18-1A0C3B6F92A1}"/>
              </a:ext>
            </a:extLst>
          </p:cNvPr>
          <p:cNvSpPr/>
          <p:nvPr/>
        </p:nvSpPr>
        <p:spPr>
          <a:xfrm>
            <a:off x="4182137" y="3184452"/>
            <a:ext cx="1796903" cy="550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B2A00361-038F-4C0C-BD94-710D040ECF0C}"/>
              </a:ext>
            </a:extLst>
          </p:cNvPr>
          <p:cNvSpPr/>
          <p:nvPr/>
        </p:nvSpPr>
        <p:spPr>
          <a:xfrm>
            <a:off x="4182138" y="5178321"/>
            <a:ext cx="1796903" cy="5506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6557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4290"/>
            <a:ext cx="1037216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Business Plan è utilizzato sia con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scopi interni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che con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scopi esterni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all’azienda. 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Scopi interni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Valutazione di nuove iniziative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Valutazione di nuovi investimenti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Monitoraggio e controllo delle dinamiche di sviluppo delle attività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Costituire il «Collante» tra le diverse funzioni aziendali</a:t>
            </a:r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5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705177"/>
            <a:ext cx="10372166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Il Business Plan è utilizzato sia con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scopi interni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che con </a:t>
            </a:r>
            <a:r>
              <a:rPr lang="it-IT" sz="3200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scopi esterni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 all’azienda. 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Scopi esterni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Richiedere finanziamenti esterni (nuovi soci, banche, </a:t>
            </a:r>
            <a:r>
              <a:rPr lang="it-IT" sz="3200" dirty="0" err="1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ecc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Concorrere ad agevolazioni pubbliche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Promuovere nuovi rapporti commerciali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24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909917" y="274290"/>
            <a:ext cx="1037216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Ma in ogni caso serve prima a noi stessi. </a:t>
            </a: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Infatti dobbiamo avere chiaro: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Cosa intendiamo fare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Perché è opportuno farlo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Qual </a:t>
            </a:r>
            <a:r>
              <a:rPr lang="it-IT" sz="320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è l’ambiente </a:t>
            </a: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competitivo esterno nel quale ci muoviamo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pensiamo di riuscire ad essere competitivi sul mercato (perché il cliente dovrebbe sceglierci)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Quanti soldi ci servono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Quale ritorno economico-finanziario ci aspettiamo</a:t>
            </a:r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680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1069406" y="1263118"/>
            <a:ext cx="1037216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Un buon Business Plan deve rispondere ai seguenti quesiti:</a:t>
            </a:r>
          </a:p>
          <a:p>
            <a:pPr algn="just"/>
            <a:endParaRPr lang="it-IT" sz="32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Dove vogliamo andare?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Dove siamo?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Come ci si arriva?</a:t>
            </a:r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131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4C1DE1C-4D38-4B06-98E1-B25A0198EB00}"/>
              </a:ext>
            </a:extLst>
          </p:cNvPr>
          <p:cNvSpPr/>
          <p:nvPr/>
        </p:nvSpPr>
        <p:spPr>
          <a:xfrm>
            <a:off x="495248" y="242391"/>
            <a:ext cx="1037216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000" b="1" u="sng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BUSINESS PLAN – RIEPILOGO</a:t>
            </a:r>
          </a:p>
          <a:p>
            <a:pPr algn="just"/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algn="just"/>
            <a:r>
              <a:rPr lang="it-IT" sz="32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...anche Totò aveva bisogno di un piano… </a:t>
            </a:r>
            <a:endParaRPr lang="it-IT" sz="2000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pic>
        <p:nvPicPr>
          <p:cNvPr id="2" name="Elementi multimediali online 1" title="&amp;quot;Noio vulevan savuar&amp;quot; per sempre i grandiosi Totò e Peppino | Totò, Peppino e la... malafemmina">
            <a:hlinkClick r:id="" action="ppaction://media"/>
            <a:extLst>
              <a:ext uri="{FF2B5EF4-FFF2-40B4-BE49-F238E27FC236}">
                <a16:creationId xmlns:a16="http://schemas.microsoft.com/office/drawing/2014/main" id="{4075010D-0195-4C04-9B29-821AF2E510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95248" y="2030097"/>
            <a:ext cx="6489405" cy="3650290"/>
          </a:xfrm>
          <a:prstGeom prst="rect">
            <a:avLst/>
          </a:prstGeom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F35068ED-E4DB-40A6-AF53-4E0DD734B84E}"/>
              </a:ext>
            </a:extLst>
          </p:cNvPr>
          <p:cNvSpPr/>
          <p:nvPr/>
        </p:nvSpPr>
        <p:spPr>
          <a:xfrm>
            <a:off x="7246924" y="2200218"/>
            <a:ext cx="472533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800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Quindi la domanda a cui deve rispondere chi fa un Business Plan è:  </a:t>
            </a:r>
            <a:endParaRPr lang="it-IT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4C90548-2080-4CDF-8CA9-5B0E651827C6}"/>
              </a:ext>
            </a:extLst>
          </p:cNvPr>
          <p:cNvSpPr/>
          <p:nvPr/>
        </p:nvSpPr>
        <p:spPr>
          <a:xfrm>
            <a:off x="7246924" y="4034935"/>
            <a:ext cx="472533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3600" b="1" dirty="0">
                <a:solidFill>
                  <a:srgbClr val="0070C0"/>
                </a:solidFill>
                <a:latin typeface="Poppins" panose="020B0604020202020204" charset="0"/>
                <a:cs typeface="Poppins" panose="020B0604020202020204" charset="0"/>
              </a:rPr>
              <a:t>PER ANDARE DOVE DOBBIAMO ANDARE PER DOVE DOBBIAMO ANDARE???</a:t>
            </a:r>
            <a:endParaRPr lang="it-IT" sz="2400" b="1" dirty="0">
              <a:solidFill>
                <a:srgbClr val="0070C0"/>
              </a:solidFill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573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EADD803C0F48442AB4649F39F36D470" ma:contentTypeVersion="3" ma:contentTypeDescription="Creare un nuovo documento." ma:contentTypeScope="" ma:versionID="d35b2196341eb729f5da875762150e16">
  <xsd:schema xmlns:xsd="http://www.w3.org/2001/XMLSchema" xmlns:xs="http://www.w3.org/2001/XMLSchema" xmlns:p="http://schemas.microsoft.com/office/2006/metadata/properties" xmlns:ns2="e77681ba-7771-496a-b5df-ee3e7b098b60" targetNamespace="http://schemas.microsoft.com/office/2006/metadata/properties" ma:root="true" ma:fieldsID="a7b6408fcc08daad0ede9d1b64b7a63e" ns2:_="">
    <xsd:import namespace="e77681ba-7771-496a-b5df-ee3e7b098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7681ba-7771-496a-b5df-ee3e7b098b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E4E58C-81DA-47C4-BEE3-8EC10488E530}"/>
</file>

<file path=customXml/itemProps2.xml><?xml version="1.0" encoding="utf-8"?>
<ds:datastoreItem xmlns:ds="http://schemas.openxmlformats.org/officeDocument/2006/customXml" ds:itemID="{78991809-C94A-4D7A-B1F6-89AFC64B1028}"/>
</file>

<file path=customXml/itemProps3.xml><?xml version="1.0" encoding="utf-8"?>
<ds:datastoreItem xmlns:ds="http://schemas.openxmlformats.org/officeDocument/2006/customXml" ds:itemID="{2FA53982-DDF3-47D9-9039-E2151BD37EE4}"/>
</file>

<file path=docProps/app.xml><?xml version="1.0" encoding="utf-8"?>
<Properties xmlns="http://schemas.openxmlformats.org/officeDocument/2006/extended-properties" xmlns:vt="http://schemas.openxmlformats.org/officeDocument/2006/docPropsVTypes">
  <TotalTime>3528</TotalTime>
  <Words>1205</Words>
  <Application>Microsoft Office PowerPoint</Application>
  <PresentationFormat>Widescreen</PresentationFormat>
  <Paragraphs>226</Paragraphs>
  <Slides>30</Slides>
  <Notes>27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Poppins</vt:lpstr>
      <vt:lpstr>Poppins SemiBold</vt:lpstr>
      <vt:lpstr>Wingdings</vt:lpstr>
      <vt:lpstr>Tema di Office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Piccirillo Giuseppe</dc:creator>
  <cp:lastModifiedBy>Piccirillo Giuseppe</cp:lastModifiedBy>
  <cp:revision>63</cp:revision>
  <dcterms:created xsi:type="dcterms:W3CDTF">2024-04-17T18:05:52Z</dcterms:created>
  <dcterms:modified xsi:type="dcterms:W3CDTF">2026-05-18T15:47:58Z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0x010100CEADD803C0F48442AB4649F39F36D470</vt:lpwstr>
  </property>
</Properties>
</file>