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6.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8.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6.xml" ContentType="application/vnd.openxmlformats-officedocument.presentationml.slide+xml"/>
  <Override PartName="/ppt/notesSlides/notesSlide16.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19.xml" ContentType="application/vnd.openxmlformats-officedocument.presentationml.slideLayout+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slideLayouts/slideLayout20.xml" ContentType="application/vnd.openxmlformats-officedocument.presentationml.slideLayout+xml"/>
  <Override PartName="/ppt/notesSlides/notesSlide1.xml" ContentType="application/vnd.openxmlformats-officedocument.presentationml.notesSlide+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notesSlides/notesSlide5.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61" r:id="rId2"/>
  </p:sldMasterIdLst>
  <p:notesMasterIdLst>
    <p:notesMasterId r:id="rId29"/>
  </p:notesMasterIdLst>
  <p:sldIdLst>
    <p:sldId id="346" r:id="rId3"/>
    <p:sldId id="266" r:id="rId4"/>
    <p:sldId id="267" r:id="rId5"/>
    <p:sldId id="270" r:id="rId6"/>
    <p:sldId id="268" r:id="rId7"/>
    <p:sldId id="271" r:id="rId8"/>
    <p:sldId id="269" r:id="rId9"/>
    <p:sldId id="272" r:id="rId10"/>
    <p:sldId id="260" r:id="rId11"/>
    <p:sldId id="261" r:id="rId12"/>
    <p:sldId id="273" r:id="rId13"/>
    <p:sldId id="262" r:id="rId14"/>
    <p:sldId id="263" r:id="rId15"/>
    <p:sldId id="264" r:id="rId16"/>
    <p:sldId id="265" r:id="rId17"/>
    <p:sldId id="256" r:id="rId18"/>
    <p:sldId id="257" r:id="rId19"/>
    <p:sldId id="258" r:id="rId20"/>
    <p:sldId id="259" r:id="rId21"/>
    <p:sldId id="353" r:id="rId22"/>
    <p:sldId id="348" r:id="rId23"/>
    <p:sldId id="349" r:id="rId24"/>
    <p:sldId id="350" r:id="rId25"/>
    <p:sldId id="355" r:id="rId26"/>
    <p:sldId id="354" r:id="rId27"/>
    <p:sldId id="352" r:id="rId28"/>
  </p:sldIdLst>
  <p:sldSz cx="14630400" cy="8229600"/>
  <p:notesSz cx="8229600" cy="14630400"/>
  <p:embeddedFontLst>
    <p:embeddedFont>
      <p:font typeface="Calibri" panose="020F0502020204030204" pitchFamily="34" charset="0"/>
      <p:regular r:id="rId30"/>
      <p:bold r:id="rId31"/>
      <p:italic r:id="rId32"/>
      <p:boldItalic r:id="rId33"/>
    </p:embeddedFont>
    <p:embeddedFont>
      <p:font typeface="Inter" panose="020B0604020202020204" charset="0"/>
      <p:regular r:id="rId34"/>
    </p:embeddedFont>
  </p:embeddedFont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5C5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9193" autoAdjust="0"/>
  </p:normalViewPr>
  <p:slideViewPr>
    <p:cSldViewPr snapToGrid="0" snapToObjects="1">
      <p:cViewPr varScale="1">
        <p:scale>
          <a:sx n="56" d="100"/>
          <a:sy n="56" d="100"/>
        </p:scale>
        <p:origin x="1253"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customXml" Target="../customXml/item1.xml"/><Relationship Id="rId21" Type="http://schemas.openxmlformats.org/officeDocument/2006/relationships/slide" Target="slides/slide19.xml"/><Relationship Id="rId34" Type="http://schemas.openxmlformats.org/officeDocument/2006/relationships/font" Target="fonts/font5.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41"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3.fntdata"/><Relationship Id="rId37" Type="http://schemas.openxmlformats.org/officeDocument/2006/relationships/theme" Target="theme/theme1.xml"/><Relationship Id="rId40" Type="http://schemas.openxmlformats.org/officeDocument/2006/relationships/customXml" Target="../customXml/item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1.fntdata"/><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4.fntdata"/><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9465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328062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690969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Segnaposto note 2"/>
          <p:cNvSpPr>
            <a:spLocks noGrp="1"/>
          </p:cNvSpPr>
          <p:nvPr>
            <p:ph type="body" idx="1"/>
          </p:nvPr>
        </p:nvSpPr>
        <p:spPr>
          <a:xfrm>
            <a:off x="822325" y="7040563"/>
            <a:ext cx="6584950" cy="5761037"/>
          </a:xfrm>
          <a:prstGeom prst="rect">
            <a:avLst/>
          </a:prstGeom>
        </p:spPr>
        <p:txBody>
          <a:bodyPr/>
          <a:lstStyle/>
          <a:p>
            <a:endParaRPr lang="it-IT" dirty="0"/>
          </a:p>
        </p:txBody>
      </p:sp>
    </p:spTree>
    <p:extLst>
      <p:ext uri="{BB962C8B-B14F-4D97-AF65-F5344CB8AC3E}">
        <p14:creationId xmlns:p14="http://schemas.microsoft.com/office/powerpoint/2010/main" val="13161686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361041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888059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Segnaposto note 2"/>
          <p:cNvSpPr>
            <a:spLocks noGrp="1"/>
          </p:cNvSpPr>
          <p:nvPr>
            <p:ph type="body" idx="1"/>
          </p:nvPr>
        </p:nvSpPr>
        <p:spPr>
          <a:xfrm>
            <a:off x="822325" y="7040563"/>
            <a:ext cx="6584950" cy="5761037"/>
          </a:xfrm>
          <a:prstGeom prst="rect">
            <a:avLst/>
          </a:prstGeom>
        </p:spPr>
        <p:txBody>
          <a:bodyPr/>
          <a:lstStyle/>
          <a:p>
            <a:endParaRPr lang="it-IT" dirty="0"/>
          </a:p>
        </p:txBody>
      </p:sp>
    </p:spTree>
    <p:extLst>
      <p:ext uri="{BB962C8B-B14F-4D97-AF65-F5344CB8AC3E}">
        <p14:creationId xmlns:p14="http://schemas.microsoft.com/office/powerpoint/2010/main" val="3961730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Segnaposto note 2"/>
          <p:cNvSpPr>
            <a:spLocks noGrp="1"/>
          </p:cNvSpPr>
          <p:nvPr>
            <p:ph type="body" idx="1"/>
          </p:nvPr>
        </p:nvSpPr>
        <p:spPr>
          <a:xfrm>
            <a:off x="822325" y="7040563"/>
            <a:ext cx="6584950" cy="5761037"/>
          </a:xfrm>
          <a:prstGeom prst="rect">
            <a:avLst/>
          </a:prstGeom>
        </p:spPr>
        <p:txBody>
          <a:bodyPr/>
          <a:lstStyle/>
          <a:p>
            <a:endParaRPr lang="it-IT" dirty="0"/>
          </a:p>
        </p:txBody>
      </p:sp>
    </p:spTree>
    <p:extLst>
      <p:ext uri="{BB962C8B-B14F-4D97-AF65-F5344CB8AC3E}">
        <p14:creationId xmlns:p14="http://schemas.microsoft.com/office/powerpoint/2010/main" val="33117307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6003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365760" y="5085081"/>
            <a:ext cx="1706880" cy="292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2499360" y="5085081"/>
            <a:ext cx="2316480" cy="292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5242560" y="5085081"/>
            <a:ext cx="1706880" cy="292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8882220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548640" y="1704340"/>
            <a:ext cx="6217920" cy="117602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097280" y="3108960"/>
            <a:ext cx="5120640" cy="1402080"/>
          </a:xfrm>
          <a:prstGeom prst="rect">
            <a:avLst/>
          </a:prstGeom>
          <a:noFill/>
          <a:ln>
            <a:noFill/>
          </a:ln>
        </p:spPr>
        <p:txBody>
          <a:bodyPr spcFirstLastPara="1" wrap="square" lIns="91425" tIns="45700" rIns="91425" bIns="45700" anchor="t" anchorCtr="0">
            <a:normAutofit/>
          </a:bodyPr>
          <a:lstStyle>
            <a:lvl1pPr lvl="0" algn="ctr">
              <a:spcBef>
                <a:spcPts val="512"/>
              </a:spcBef>
              <a:spcAft>
                <a:spcPts val="0"/>
              </a:spcAft>
              <a:buClr>
                <a:srgbClr val="888888"/>
              </a:buClr>
              <a:buSzPts val="3200"/>
              <a:buNone/>
              <a:defRPr>
                <a:solidFill>
                  <a:srgbClr val="888888"/>
                </a:solidFill>
              </a:defRPr>
            </a:lvl1pPr>
            <a:lvl2pPr lvl="1" algn="ctr">
              <a:spcBef>
                <a:spcPts val="448"/>
              </a:spcBef>
              <a:spcAft>
                <a:spcPts val="0"/>
              </a:spcAft>
              <a:buClr>
                <a:srgbClr val="888888"/>
              </a:buClr>
              <a:buSzPts val="2800"/>
              <a:buNone/>
              <a:defRPr>
                <a:solidFill>
                  <a:srgbClr val="888888"/>
                </a:solidFill>
              </a:defRPr>
            </a:lvl2pPr>
            <a:lvl3pPr lvl="2" algn="ctr">
              <a:spcBef>
                <a:spcPts val="384"/>
              </a:spcBef>
              <a:spcAft>
                <a:spcPts val="0"/>
              </a:spcAft>
              <a:buClr>
                <a:srgbClr val="888888"/>
              </a:buClr>
              <a:buSzPts val="2400"/>
              <a:buNone/>
              <a:defRPr>
                <a:solidFill>
                  <a:srgbClr val="888888"/>
                </a:solidFill>
              </a:defRPr>
            </a:lvl3pPr>
            <a:lvl4pPr lvl="3" algn="ctr">
              <a:spcBef>
                <a:spcPts val="320"/>
              </a:spcBef>
              <a:spcAft>
                <a:spcPts val="0"/>
              </a:spcAft>
              <a:buClr>
                <a:srgbClr val="888888"/>
              </a:buClr>
              <a:buSzPts val="2000"/>
              <a:buNone/>
              <a:defRPr>
                <a:solidFill>
                  <a:srgbClr val="888888"/>
                </a:solidFill>
              </a:defRPr>
            </a:lvl4pPr>
            <a:lvl5pPr lvl="4" algn="ctr">
              <a:spcBef>
                <a:spcPts val="320"/>
              </a:spcBef>
              <a:spcAft>
                <a:spcPts val="0"/>
              </a:spcAft>
              <a:buClr>
                <a:srgbClr val="888888"/>
              </a:buClr>
              <a:buSzPts val="2000"/>
              <a:buNone/>
              <a:defRPr>
                <a:solidFill>
                  <a:srgbClr val="888888"/>
                </a:solidFill>
              </a:defRPr>
            </a:lvl5pPr>
            <a:lvl6pPr lvl="5" algn="ctr">
              <a:spcBef>
                <a:spcPts val="320"/>
              </a:spcBef>
              <a:spcAft>
                <a:spcPts val="0"/>
              </a:spcAft>
              <a:buClr>
                <a:srgbClr val="888888"/>
              </a:buClr>
              <a:buSzPts val="2000"/>
              <a:buNone/>
              <a:defRPr>
                <a:solidFill>
                  <a:srgbClr val="888888"/>
                </a:solidFill>
              </a:defRPr>
            </a:lvl6pPr>
            <a:lvl7pPr lvl="6" algn="ctr">
              <a:spcBef>
                <a:spcPts val="320"/>
              </a:spcBef>
              <a:spcAft>
                <a:spcPts val="0"/>
              </a:spcAft>
              <a:buClr>
                <a:srgbClr val="888888"/>
              </a:buClr>
              <a:buSzPts val="2000"/>
              <a:buNone/>
              <a:defRPr>
                <a:solidFill>
                  <a:srgbClr val="888888"/>
                </a:solidFill>
              </a:defRPr>
            </a:lvl7pPr>
            <a:lvl8pPr lvl="7" algn="ctr">
              <a:spcBef>
                <a:spcPts val="320"/>
              </a:spcBef>
              <a:spcAft>
                <a:spcPts val="0"/>
              </a:spcAft>
              <a:buClr>
                <a:srgbClr val="888888"/>
              </a:buClr>
              <a:buSzPts val="2000"/>
              <a:buNone/>
              <a:defRPr>
                <a:solidFill>
                  <a:srgbClr val="888888"/>
                </a:solidFill>
              </a:defRPr>
            </a:lvl8pPr>
            <a:lvl9pPr lvl="8" algn="ctr">
              <a:spcBef>
                <a:spcPts val="32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365760" y="5085081"/>
            <a:ext cx="1706880" cy="292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2499360" y="5085081"/>
            <a:ext cx="2316480" cy="292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5242560" y="5085081"/>
            <a:ext cx="1706880" cy="292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42044456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365760" y="219710"/>
            <a:ext cx="6583680" cy="914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365760" y="1280161"/>
            <a:ext cx="6583680" cy="3620771"/>
          </a:xfrm>
          <a:prstGeom prst="rect">
            <a:avLst/>
          </a:prstGeom>
          <a:noFill/>
          <a:ln>
            <a:noFill/>
          </a:ln>
        </p:spPr>
        <p:txBody>
          <a:bodyPr spcFirstLastPara="1" wrap="square" lIns="91425" tIns="45700" rIns="91425" bIns="45700" anchor="t" anchorCtr="0">
            <a:normAutofit/>
          </a:bodyPr>
          <a:lstStyle>
            <a:lvl1pPr marL="365778" lvl="0" indent="-274333" algn="l">
              <a:spcBef>
                <a:spcPts val="288"/>
              </a:spcBef>
              <a:spcAft>
                <a:spcPts val="0"/>
              </a:spcAft>
              <a:buClr>
                <a:schemeClr val="dk1"/>
              </a:buClr>
              <a:buSzPts val="1800"/>
              <a:buChar char="•"/>
              <a:defRPr/>
            </a:lvl1pPr>
            <a:lvl2pPr marL="731556" lvl="1" indent="-274333" algn="l">
              <a:spcBef>
                <a:spcPts val="288"/>
              </a:spcBef>
              <a:spcAft>
                <a:spcPts val="0"/>
              </a:spcAft>
              <a:buClr>
                <a:schemeClr val="dk1"/>
              </a:buClr>
              <a:buSzPts val="1800"/>
              <a:buChar char="–"/>
              <a:defRPr/>
            </a:lvl2pPr>
            <a:lvl3pPr marL="1097335" lvl="2" indent="-274333" algn="l">
              <a:spcBef>
                <a:spcPts val="288"/>
              </a:spcBef>
              <a:spcAft>
                <a:spcPts val="0"/>
              </a:spcAft>
              <a:buClr>
                <a:schemeClr val="dk1"/>
              </a:buClr>
              <a:buSzPts val="1800"/>
              <a:buChar char="•"/>
              <a:defRPr/>
            </a:lvl3pPr>
            <a:lvl4pPr marL="1463113" lvl="3" indent="-274333" algn="l">
              <a:spcBef>
                <a:spcPts val="288"/>
              </a:spcBef>
              <a:spcAft>
                <a:spcPts val="0"/>
              </a:spcAft>
              <a:buClr>
                <a:schemeClr val="dk1"/>
              </a:buClr>
              <a:buSzPts val="1800"/>
              <a:buChar char="–"/>
              <a:defRPr/>
            </a:lvl4pPr>
            <a:lvl5pPr marL="1828891" lvl="4" indent="-274333" algn="l">
              <a:spcBef>
                <a:spcPts val="288"/>
              </a:spcBef>
              <a:spcAft>
                <a:spcPts val="0"/>
              </a:spcAft>
              <a:buClr>
                <a:schemeClr val="dk1"/>
              </a:buClr>
              <a:buSzPts val="1800"/>
              <a:buChar char="»"/>
              <a:defRPr/>
            </a:lvl5pPr>
            <a:lvl6pPr marL="2194669" lvl="5" indent="-274333" algn="l">
              <a:spcBef>
                <a:spcPts val="288"/>
              </a:spcBef>
              <a:spcAft>
                <a:spcPts val="0"/>
              </a:spcAft>
              <a:buClr>
                <a:schemeClr val="dk1"/>
              </a:buClr>
              <a:buSzPts val="1800"/>
              <a:buChar char="•"/>
              <a:defRPr/>
            </a:lvl6pPr>
            <a:lvl7pPr marL="2560448" lvl="6" indent="-274333" algn="l">
              <a:spcBef>
                <a:spcPts val="288"/>
              </a:spcBef>
              <a:spcAft>
                <a:spcPts val="0"/>
              </a:spcAft>
              <a:buClr>
                <a:schemeClr val="dk1"/>
              </a:buClr>
              <a:buSzPts val="1800"/>
              <a:buChar char="•"/>
              <a:defRPr/>
            </a:lvl7pPr>
            <a:lvl8pPr marL="2926226" lvl="7" indent="-274333" algn="l">
              <a:spcBef>
                <a:spcPts val="288"/>
              </a:spcBef>
              <a:spcAft>
                <a:spcPts val="0"/>
              </a:spcAft>
              <a:buClr>
                <a:schemeClr val="dk1"/>
              </a:buClr>
              <a:buSzPts val="1800"/>
              <a:buChar char="•"/>
              <a:defRPr/>
            </a:lvl8pPr>
            <a:lvl9pPr marL="3292004" lvl="8" indent="-274333" algn="l">
              <a:spcBef>
                <a:spcPts val="288"/>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365760" y="5085081"/>
            <a:ext cx="1706880" cy="292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2499360" y="5085081"/>
            <a:ext cx="2316480" cy="292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5242560" y="5085081"/>
            <a:ext cx="1706880" cy="292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954766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577850" y="3525521"/>
            <a:ext cx="6217920" cy="108966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577850" y="2325371"/>
            <a:ext cx="6217920" cy="1200150"/>
          </a:xfrm>
          <a:prstGeom prst="rect">
            <a:avLst/>
          </a:prstGeom>
          <a:noFill/>
          <a:ln>
            <a:noFill/>
          </a:ln>
        </p:spPr>
        <p:txBody>
          <a:bodyPr spcFirstLastPara="1" wrap="square" lIns="91425" tIns="45700" rIns="91425" bIns="45700" anchor="b" anchorCtr="0">
            <a:normAutofit/>
          </a:bodyPr>
          <a:lstStyle>
            <a:lvl1pPr marL="365778" lvl="0" indent="-182890" algn="l">
              <a:spcBef>
                <a:spcPts val="320"/>
              </a:spcBef>
              <a:spcAft>
                <a:spcPts val="0"/>
              </a:spcAft>
              <a:buClr>
                <a:srgbClr val="888888"/>
              </a:buClr>
              <a:buSzPts val="2000"/>
              <a:buNone/>
              <a:defRPr sz="1600">
                <a:solidFill>
                  <a:srgbClr val="888888"/>
                </a:solidFill>
              </a:defRPr>
            </a:lvl1pPr>
            <a:lvl2pPr marL="731556" lvl="1" indent="-182890" algn="l">
              <a:spcBef>
                <a:spcPts val="288"/>
              </a:spcBef>
              <a:spcAft>
                <a:spcPts val="0"/>
              </a:spcAft>
              <a:buClr>
                <a:srgbClr val="888888"/>
              </a:buClr>
              <a:buSzPts val="1800"/>
              <a:buNone/>
              <a:defRPr sz="1440">
                <a:solidFill>
                  <a:srgbClr val="888888"/>
                </a:solidFill>
              </a:defRPr>
            </a:lvl2pPr>
            <a:lvl3pPr marL="1097335" lvl="2" indent="-182890" algn="l">
              <a:spcBef>
                <a:spcPts val="256"/>
              </a:spcBef>
              <a:spcAft>
                <a:spcPts val="0"/>
              </a:spcAft>
              <a:buClr>
                <a:srgbClr val="888888"/>
              </a:buClr>
              <a:buSzPts val="1600"/>
              <a:buNone/>
              <a:defRPr sz="1280">
                <a:solidFill>
                  <a:srgbClr val="888888"/>
                </a:solidFill>
              </a:defRPr>
            </a:lvl3pPr>
            <a:lvl4pPr marL="1463113" lvl="3" indent="-182890" algn="l">
              <a:spcBef>
                <a:spcPts val="224"/>
              </a:spcBef>
              <a:spcAft>
                <a:spcPts val="0"/>
              </a:spcAft>
              <a:buClr>
                <a:srgbClr val="888888"/>
              </a:buClr>
              <a:buSzPts val="1400"/>
              <a:buNone/>
              <a:defRPr sz="1120">
                <a:solidFill>
                  <a:srgbClr val="888888"/>
                </a:solidFill>
              </a:defRPr>
            </a:lvl4pPr>
            <a:lvl5pPr marL="1828891" lvl="4" indent="-182890" algn="l">
              <a:spcBef>
                <a:spcPts val="224"/>
              </a:spcBef>
              <a:spcAft>
                <a:spcPts val="0"/>
              </a:spcAft>
              <a:buClr>
                <a:srgbClr val="888888"/>
              </a:buClr>
              <a:buSzPts val="1400"/>
              <a:buNone/>
              <a:defRPr sz="1120">
                <a:solidFill>
                  <a:srgbClr val="888888"/>
                </a:solidFill>
              </a:defRPr>
            </a:lvl5pPr>
            <a:lvl6pPr marL="2194669" lvl="5" indent="-182890" algn="l">
              <a:spcBef>
                <a:spcPts val="224"/>
              </a:spcBef>
              <a:spcAft>
                <a:spcPts val="0"/>
              </a:spcAft>
              <a:buClr>
                <a:srgbClr val="888888"/>
              </a:buClr>
              <a:buSzPts val="1400"/>
              <a:buNone/>
              <a:defRPr sz="1120">
                <a:solidFill>
                  <a:srgbClr val="888888"/>
                </a:solidFill>
              </a:defRPr>
            </a:lvl6pPr>
            <a:lvl7pPr marL="2560448" lvl="6" indent="-182890" algn="l">
              <a:spcBef>
                <a:spcPts val="224"/>
              </a:spcBef>
              <a:spcAft>
                <a:spcPts val="0"/>
              </a:spcAft>
              <a:buClr>
                <a:srgbClr val="888888"/>
              </a:buClr>
              <a:buSzPts val="1400"/>
              <a:buNone/>
              <a:defRPr sz="1120">
                <a:solidFill>
                  <a:srgbClr val="888888"/>
                </a:solidFill>
              </a:defRPr>
            </a:lvl7pPr>
            <a:lvl8pPr marL="2926226" lvl="7" indent="-182890" algn="l">
              <a:spcBef>
                <a:spcPts val="224"/>
              </a:spcBef>
              <a:spcAft>
                <a:spcPts val="0"/>
              </a:spcAft>
              <a:buClr>
                <a:srgbClr val="888888"/>
              </a:buClr>
              <a:buSzPts val="1400"/>
              <a:buNone/>
              <a:defRPr sz="1120">
                <a:solidFill>
                  <a:srgbClr val="888888"/>
                </a:solidFill>
              </a:defRPr>
            </a:lvl8pPr>
            <a:lvl9pPr marL="3292004" lvl="8" indent="-182890" algn="l">
              <a:spcBef>
                <a:spcPts val="224"/>
              </a:spcBef>
              <a:spcAft>
                <a:spcPts val="0"/>
              </a:spcAft>
              <a:buClr>
                <a:srgbClr val="888888"/>
              </a:buClr>
              <a:buSzPts val="1400"/>
              <a:buNone/>
              <a:defRPr sz="1120">
                <a:solidFill>
                  <a:srgbClr val="888888"/>
                </a:solidFill>
              </a:defRPr>
            </a:lvl9pPr>
          </a:lstStyle>
          <a:p>
            <a:endParaRPr/>
          </a:p>
        </p:txBody>
      </p:sp>
      <p:sp>
        <p:nvSpPr>
          <p:cNvPr id="30" name="Google Shape;30;p5"/>
          <p:cNvSpPr txBox="1">
            <a:spLocks noGrp="1"/>
          </p:cNvSpPr>
          <p:nvPr>
            <p:ph type="dt" idx="10"/>
          </p:nvPr>
        </p:nvSpPr>
        <p:spPr>
          <a:xfrm>
            <a:off x="365760" y="5085081"/>
            <a:ext cx="1706880" cy="292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2499360" y="5085081"/>
            <a:ext cx="2316480" cy="292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5242560" y="5085081"/>
            <a:ext cx="1706880" cy="292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36937747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365760" y="219710"/>
            <a:ext cx="6583680" cy="914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365760" y="1280161"/>
            <a:ext cx="3230880" cy="3620771"/>
          </a:xfrm>
          <a:prstGeom prst="rect">
            <a:avLst/>
          </a:prstGeom>
          <a:noFill/>
          <a:ln>
            <a:noFill/>
          </a:ln>
        </p:spPr>
        <p:txBody>
          <a:bodyPr spcFirstLastPara="1" wrap="square" lIns="91425" tIns="45700" rIns="91425" bIns="45700" anchor="t" anchorCtr="0">
            <a:normAutofit/>
          </a:bodyPr>
          <a:lstStyle>
            <a:lvl1pPr marL="365778" lvl="0" indent="-325136" algn="l">
              <a:spcBef>
                <a:spcPts val="448"/>
              </a:spcBef>
              <a:spcAft>
                <a:spcPts val="0"/>
              </a:spcAft>
              <a:buClr>
                <a:schemeClr val="dk1"/>
              </a:buClr>
              <a:buSzPts val="2800"/>
              <a:buChar char="•"/>
              <a:defRPr sz="2240"/>
            </a:lvl1pPr>
            <a:lvl2pPr marL="731556" lvl="1" indent="-304816" algn="l">
              <a:spcBef>
                <a:spcPts val="384"/>
              </a:spcBef>
              <a:spcAft>
                <a:spcPts val="0"/>
              </a:spcAft>
              <a:buClr>
                <a:schemeClr val="dk1"/>
              </a:buClr>
              <a:buSzPts val="2400"/>
              <a:buChar char="–"/>
              <a:defRPr sz="1920"/>
            </a:lvl2pPr>
            <a:lvl3pPr marL="1097335" lvl="2" indent="-284495" algn="l">
              <a:spcBef>
                <a:spcPts val="320"/>
              </a:spcBef>
              <a:spcAft>
                <a:spcPts val="0"/>
              </a:spcAft>
              <a:buClr>
                <a:schemeClr val="dk1"/>
              </a:buClr>
              <a:buSzPts val="2000"/>
              <a:buChar char="•"/>
              <a:defRPr sz="1600"/>
            </a:lvl3pPr>
            <a:lvl4pPr marL="1463113" lvl="3" indent="-274333" algn="l">
              <a:spcBef>
                <a:spcPts val="288"/>
              </a:spcBef>
              <a:spcAft>
                <a:spcPts val="0"/>
              </a:spcAft>
              <a:buClr>
                <a:schemeClr val="dk1"/>
              </a:buClr>
              <a:buSzPts val="1800"/>
              <a:buChar char="–"/>
              <a:defRPr sz="1440"/>
            </a:lvl4pPr>
            <a:lvl5pPr marL="1828891" lvl="4" indent="-274333" algn="l">
              <a:spcBef>
                <a:spcPts val="288"/>
              </a:spcBef>
              <a:spcAft>
                <a:spcPts val="0"/>
              </a:spcAft>
              <a:buClr>
                <a:schemeClr val="dk1"/>
              </a:buClr>
              <a:buSzPts val="1800"/>
              <a:buChar char="»"/>
              <a:defRPr sz="1440"/>
            </a:lvl5pPr>
            <a:lvl6pPr marL="2194669" lvl="5" indent="-274333" algn="l">
              <a:spcBef>
                <a:spcPts val="288"/>
              </a:spcBef>
              <a:spcAft>
                <a:spcPts val="0"/>
              </a:spcAft>
              <a:buClr>
                <a:schemeClr val="dk1"/>
              </a:buClr>
              <a:buSzPts val="1800"/>
              <a:buChar char="•"/>
              <a:defRPr sz="1440"/>
            </a:lvl6pPr>
            <a:lvl7pPr marL="2560448" lvl="6" indent="-274333" algn="l">
              <a:spcBef>
                <a:spcPts val="288"/>
              </a:spcBef>
              <a:spcAft>
                <a:spcPts val="0"/>
              </a:spcAft>
              <a:buClr>
                <a:schemeClr val="dk1"/>
              </a:buClr>
              <a:buSzPts val="1800"/>
              <a:buChar char="•"/>
              <a:defRPr sz="1440"/>
            </a:lvl7pPr>
            <a:lvl8pPr marL="2926226" lvl="7" indent="-274333" algn="l">
              <a:spcBef>
                <a:spcPts val="288"/>
              </a:spcBef>
              <a:spcAft>
                <a:spcPts val="0"/>
              </a:spcAft>
              <a:buClr>
                <a:schemeClr val="dk1"/>
              </a:buClr>
              <a:buSzPts val="1800"/>
              <a:buChar char="•"/>
              <a:defRPr sz="1440"/>
            </a:lvl8pPr>
            <a:lvl9pPr marL="3292004" lvl="8" indent="-274333" algn="l">
              <a:spcBef>
                <a:spcPts val="288"/>
              </a:spcBef>
              <a:spcAft>
                <a:spcPts val="0"/>
              </a:spcAft>
              <a:buClr>
                <a:schemeClr val="dk1"/>
              </a:buClr>
              <a:buSzPts val="1800"/>
              <a:buChar char="•"/>
              <a:defRPr sz="1440"/>
            </a:lvl9pPr>
          </a:lstStyle>
          <a:p>
            <a:endParaRPr/>
          </a:p>
        </p:txBody>
      </p:sp>
      <p:sp>
        <p:nvSpPr>
          <p:cNvPr id="36" name="Google Shape;36;p6"/>
          <p:cNvSpPr txBox="1">
            <a:spLocks noGrp="1"/>
          </p:cNvSpPr>
          <p:nvPr>
            <p:ph type="body" idx="2"/>
          </p:nvPr>
        </p:nvSpPr>
        <p:spPr>
          <a:xfrm>
            <a:off x="3718560" y="1280161"/>
            <a:ext cx="3230880" cy="3620771"/>
          </a:xfrm>
          <a:prstGeom prst="rect">
            <a:avLst/>
          </a:prstGeom>
          <a:noFill/>
          <a:ln>
            <a:noFill/>
          </a:ln>
        </p:spPr>
        <p:txBody>
          <a:bodyPr spcFirstLastPara="1" wrap="square" lIns="91425" tIns="45700" rIns="91425" bIns="45700" anchor="t" anchorCtr="0">
            <a:normAutofit/>
          </a:bodyPr>
          <a:lstStyle>
            <a:lvl1pPr marL="365778" lvl="0" indent="-325136" algn="l">
              <a:spcBef>
                <a:spcPts val="448"/>
              </a:spcBef>
              <a:spcAft>
                <a:spcPts val="0"/>
              </a:spcAft>
              <a:buClr>
                <a:schemeClr val="dk1"/>
              </a:buClr>
              <a:buSzPts val="2800"/>
              <a:buChar char="•"/>
              <a:defRPr sz="2240"/>
            </a:lvl1pPr>
            <a:lvl2pPr marL="731556" lvl="1" indent="-304816" algn="l">
              <a:spcBef>
                <a:spcPts val="384"/>
              </a:spcBef>
              <a:spcAft>
                <a:spcPts val="0"/>
              </a:spcAft>
              <a:buClr>
                <a:schemeClr val="dk1"/>
              </a:buClr>
              <a:buSzPts val="2400"/>
              <a:buChar char="–"/>
              <a:defRPr sz="1920"/>
            </a:lvl2pPr>
            <a:lvl3pPr marL="1097335" lvl="2" indent="-284495" algn="l">
              <a:spcBef>
                <a:spcPts val="320"/>
              </a:spcBef>
              <a:spcAft>
                <a:spcPts val="0"/>
              </a:spcAft>
              <a:buClr>
                <a:schemeClr val="dk1"/>
              </a:buClr>
              <a:buSzPts val="2000"/>
              <a:buChar char="•"/>
              <a:defRPr sz="1600"/>
            </a:lvl3pPr>
            <a:lvl4pPr marL="1463113" lvl="3" indent="-274333" algn="l">
              <a:spcBef>
                <a:spcPts val="288"/>
              </a:spcBef>
              <a:spcAft>
                <a:spcPts val="0"/>
              </a:spcAft>
              <a:buClr>
                <a:schemeClr val="dk1"/>
              </a:buClr>
              <a:buSzPts val="1800"/>
              <a:buChar char="–"/>
              <a:defRPr sz="1440"/>
            </a:lvl4pPr>
            <a:lvl5pPr marL="1828891" lvl="4" indent="-274333" algn="l">
              <a:spcBef>
                <a:spcPts val="288"/>
              </a:spcBef>
              <a:spcAft>
                <a:spcPts val="0"/>
              </a:spcAft>
              <a:buClr>
                <a:schemeClr val="dk1"/>
              </a:buClr>
              <a:buSzPts val="1800"/>
              <a:buChar char="»"/>
              <a:defRPr sz="1440"/>
            </a:lvl5pPr>
            <a:lvl6pPr marL="2194669" lvl="5" indent="-274333" algn="l">
              <a:spcBef>
                <a:spcPts val="288"/>
              </a:spcBef>
              <a:spcAft>
                <a:spcPts val="0"/>
              </a:spcAft>
              <a:buClr>
                <a:schemeClr val="dk1"/>
              </a:buClr>
              <a:buSzPts val="1800"/>
              <a:buChar char="•"/>
              <a:defRPr sz="1440"/>
            </a:lvl6pPr>
            <a:lvl7pPr marL="2560448" lvl="6" indent="-274333" algn="l">
              <a:spcBef>
                <a:spcPts val="288"/>
              </a:spcBef>
              <a:spcAft>
                <a:spcPts val="0"/>
              </a:spcAft>
              <a:buClr>
                <a:schemeClr val="dk1"/>
              </a:buClr>
              <a:buSzPts val="1800"/>
              <a:buChar char="•"/>
              <a:defRPr sz="1440"/>
            </a:lvl7pPr>
            <a:lvl8pPr marL="2926226" lvl="7" indent="-274333" algn="l">
              <a:spcBef>
                <a:spcPts val="288"/>
              </a:spcBef>
              <a:spcAft>
                <a:spcPts val="0"/>
              </a:spcAft>
              <a:buClr>
                <a:schemeClr val="dk1"/>
              </a:buClr>
              <a:buSzPts val="1800"/>
              <a:buChar char="•"/>
              <a:defRPr sz="1440"/>
            </a:lvl8pPr>
            <a:lvl9pPr marL="3292004" lvl="8" indent="-274333" algn="l">
              <a:spcBef>
                <a:spcPts val="288"/>
              </a:spcBef>
              <a:spcAft>
                <a:spcPts val="0"/>
              </a:spcAft>
              <a:buClr>
                <a:schemeClr val="dk1"/>
              </a:buClr>
              <a:buSzPts val="1800"/>
              <a:buChar char="•"/>
              <a:defRPr sz="1440"/>
            </a:lvl9pPr>
          </a:lstStyle>
          <a:p>
            <a:endParaRPr/>
          </a:p>
        </p:txBody>
      </p:sp>
      <p:sp>
        <p:nvSpPr>
          <p:cNvPr id="37" name="Google Shape;37;p6"/>
          <p:cNvSpPr txBox="1">
            <a:spLocks noGrp="1"/>
          </p:cNvSpPr>
          <p:nvPr>
            <p:ph type="dt" idx="10"/>
          </p:nvPr>
        </p:nvSpPr>
        <p:spPr>
          <a:xfrm>
            <a:off x="365760" y="5085081"/>
            <a:ext cx="1706880" cy="292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2499360" y="5085081"/>
            <a:ext cx="2316480" cy="292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5242560" y="5085081"/>
            <a:ext cx="1706880" cy="292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9416774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365760" y="219710"/>
            <a:ext cx="6583680" cy="914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365761" y="1228091"/>
            <a:ext cx="3232151" cy="511810"/>
          </a:xfrm>
          <a:prstGeom prst="rect">
            <a:avLst/>
          </a:prstGeom>
          <a:noFill/>
          <a:ln>
            <a:noFill/>
          </a:ln>
        </p:spPr>
        <p:txBody>
          <a:bodyPr spcFirstLastPara="1" wrap="square" lIns="91425" tIns="45700" rIns="91425" bIns="45700" anchor="b" anchorCtr="0">
            <a:normAutofit/>
          </a:bodyPr>
          <a:lstStyle>
            <a:lvl1pPr marL="365778" lvl="0" indent="-182890" algn="l">
              <a:spcBef>
                <a:spcPts val="384"/>
              </a:spcBef>
              <a:spcAft>
                <a:spcPts val="0"/>
              </a:spcAft>
              <a:buClr>
                <a:schemeClr val="dk1"/>
              </a:buClr>
              <a:buSzPts val="2400"/>
              <a:buNone/>
              <a:defRPr sz="1920" b="1"/>
            </a:lvl1pPr>
            <a:lvl2pPr marL="731556" lvl="1" indent="-182890" algn="l">
              <a:spcBef>
                <a:spcPts val="320"/>
              </a:spcBef>
              <a:spcAft>
                <a:spcPts val="0"/>
              </a:spcAft>
              <a:buClr>
                <a:schemeClr val="dk1"/>
              </a:buClr>
              <a:buSzPts val="2000"/>
              <a:buNone/>
              <a:defRPr sz="1600" b="1"/>
            </a:lvl2pPr>
            <a:lvl3pPr marL="1097335" lvl="2" indent="-182890" algn="l">
              <a:spcBef>
                <a:spcPts val="288"/>
              </a:spcBef>
              <a:spcAft>
                <a:spcPts val="0"/>
              </a:spcAft>
              <a:buClr>
                <a:schemeClr val="dk1"/>
              </a:buClr>
              <a:buSzPts val="1800"/>
              <a:buNone/>
              <a:defRPr sz="1440" b="1"/>
            </a:lvl3pPr>
            <a:lvl4pPr marL="1463113" lvl="3" indent="-182890" algn="l">
              <a:spcBef>
                <a:spcPts val="256"/>
              </a:spcBef>
              <a:spcAft>
                <a:spcPts val="0"/>
              </a:spcAft>
              <a:buClr>
                <a:schemeClr val="dk1"/>
              </a:buClr>
              <a:buSzPts val="1600"/>
              <a:buNone/>
              <a:defRPr sz="1280" b="1"/>
            </a:lvl4pPr>
            <a:lvl5pPr marL="1828891" lvl="4" indent="-182890" algn="l">
              <a:spcBef>
                <a:spcPts val="256"/>
              </a:spcBef>
              <a:spcAft>
                <a:spcPts val="0"/>
              </a:spcAft>
              <a:buClr>
                <a:schemeClr val="dk1"/>
              </a:buClr>
              <a:buSzPts val="1600"/>
              <a:buNone/>
              <a:defRPr sz="1280" b="1"/>
            </a:lvl5pPr>
            <a:lvl6pPr marL="2194669" lvl="5" indent="-182890" algn="l">
              <a:spcBef>
                <a:spcPts val="256"/>
              </a:spcBef>
              <a:spcAft>
                <a:spcPts val="0"/>
              </a:spcAft>
              <a:buClr>
                <a:schemeClr val="dk1"/>
              </a:buClr>
              <a:buSzPts val="1600"/>
              <a:buNone/>
              <a:defRPr sz="1280" b="1"/>
            </a:lvl6pPr>
            <a:lvl7pPr marL="2560448" lvl="6" indent="-182890" algn="l">
              <a:spcBef>
                <a:spcPts val="256"/>
              </a:spcBef>
              <a:spcAft>
                <a:spcPts val="0"/>
              </a:spcAft>
              <a:buClr>
                <a:schemeClr val="dk1"/>
              </a:buClr>
              <a:buSzPts val="1600"/>
              <a:buNone/>
              <a:defRPr sz="1280" b="1"/>
            </a:lvl7pPr>
            <a:lvl8pPr marL="2926226" lvl="7" indent="-182890" algn="l">
              <a:spcBef>
                <a:spcPts val="256"/>
              </a:spcBef>
              <a:spcAft>
                <a:spcPts val="0"/>
              </a:spcAft>
              <a:buClr>
                <a:schemeClr val="dk1"/>
              </a:buClr>
              <a:buSzPts val="1600"/>
              <a:buNone/>
              <a:defRPr sz="1280" b="1"/>
            </a:lvl8pPr>
            <a:lvl9pPr marL="3292004" lvl="8" indent="-182890" algn="l">
              <a:spcBef>
                <a:spcPts val="256"/>
              </a:spcBef>
              <a:spcAft>
                <a:spcPts val="0"/>
              </a:spcAft>
              <a:buClr>
                <a:schemeClr val="dk1"/>
              </a:buClr>
              <a:buSzPts val="1600"/>
              <a:buNone/>
              <a:defRPr sz="1280" b="1"/>
            </a:lvl9pPr>
          </a:lstStyle>
          <a:p>
            <a:endParaRPr/>
          </a:p>
        </p:txBody>
      </p:sp>
      <p:sp>
        <p:nvSpPr>
          <p:cNvPr id="43" name="Google Shape;43;p7"/>
          <p:cNvSpPr txBox="1">
            <a:spLocks noGrp="1"/>
          </p:cNvSpPr>
          <p:nvPr>
            <p:ph type="body" idx="2"/>
          </p:nvPr>
        </p:nvSpPr>
        <p:spPr>
          <a:xfrm>
            <a:off x="365761" y="1739901"/>
            <a:ext cx="3232151" cy="3161030"/>
          </a:xfrm>
          <a:prstGeom prst="rect">
            <a:avLst/>
          </a:prstGeom>
          <a:noFill/>
          <a:ln>
            <a:noFill/>
          </a:ln>
        </p:spPr>
        <p:txBody>
          <a:bodyPr spcFirstLastPara="1" wrap="square" lIns="91425" tIns="45700" rIns="91425" bIns="45700" anchor="t" anchorCtr="0">
            <a:normAutofit/>
          </a:bodyPr>
          <a:lstStyle>
            <a:lvl1pPr marL="365778" lvl="0" indent="-304816" algn="l">
              <a:spcBef>
                <a:spcPts val="384"/>
              </a:spcBef>
              <a:spcAft>
                <a:spcPts val="0"/>
              </a:spcAft>
              <a:buClr>
                <a:schemeClr val="dk1"/>
              </a:buClr>
              <a:buSzPts val="2400"/>
              <a:buChar char="•"/>
              <a:defRPr sz="1920"/>
            </a:lvl1pPr>
            <a:lvl2pPr marL="731556" lvl="1" indent="-284495" algn="l">
              <a:spcBef>
                <a:spcPts val="320"/>
              </a:spcBef>
              <a:spcAft>
                <a:spcPts val="0"/>
              </a:spcAft>
              <a:buClr>
                <a:schemeClr val="dk1"/>
              </a:buClr>
              <a:buSzPts val="2000"/>
              <a:buChar char="–"/>
              <a:defRPr sz="1600"/>
            </a:lvl2pPr>
            <a:lvl3pPr marL="1097335" lvl="2" indent="-274333" algn="l">
              <a:spcBef>
                <a:spcPts val="288"/>
              </a:spcBef>
              <a:spcAft>
                <a:spcPts val="0"/>
              </a:spcAft>
              <a:buClr>
                <a:schemeClr val="dk1"/>
              </a:buClr>
              <a:buSzPts val="1800"/>
              <a:buChar char="•"/>
              <a:defRPr sz="1440"/>
            </a:lvl3pPr>
            <a:lvl4pPr marL="1463113" lvl="3" indent="-264173" algn="l">
              <a:spcBef>
                <a:spcPts val="256"/>
              </a:spcBef>
              <a:spcAft>
                <a:spcPts val="0"/>
              </a:spcAft>
              <a:buClr>
                <a:schemeClr val="dk1"/>
              </a:buClr>
              <a:buSzPts val="1600"/>
              <a:buChar char="–"/>
              <a:defRPr sz="1280"/>
            </a:lvl4pPr>
            <a:lvl5pPr marL="1828891" lvl="4" indent="-264173" algn="l">
              <a:spcBef>
                <a:spcPts val="256"/>
              </a:spcBef>
              <a:spcAft>
                <a:spcPts val="0"/>
              </a:spcAft>
              <a:buClr>
                <a:schemeClr val="dk1"/>
              </a:buClr>
              <a:buSzPts val="1600"/>
              <a:buChar char="»"/>
              <a:defRPr sz="1280"/>
            </a:lvl5pPr>
            <a:lvl6pPr marL="2194669" lvl="5" indent="-264173" algn="l">
              <a:spcBef>
                <a:spcPts val="256"/>
              </a:spcBef>
              <a:spcAft>
                <a:spcPts val="0"/>
              </a:spcAft>
              <a:buClr>
                <a:schemeClr val="dk1"/>
              </a:buClr>
              <a:buSzPts val="1600"/>
              <a:buChar char="•"/>
              <a:defRPr sz="1280"/>
            </a:lvl6pPr>
            <a:lvl7pPr marL="2560448" lvl="6" indent="-264173" algn="l">
              <a:spcBef>
                <a:spcPts val="256"/>
              </a:spcBef>
              <a:spcAft>
                <a:spcPts val="0"/>
              </a:spcAft>
              <a:buClr>
                <a:schemeClr val="dk1"/>
              </a:buClr>
              <a:buSzPts val="1600"/>
              <a:buChar char="•"/>
              <a:defRPr sz="1280"/>
            </a:lvl7pPr>
            <a:lvl8pPr marL="2926226" lvl="7" indent="-264173" algn="l">
              <a:spcBef>
                <a:spcPts val="256"/>
              </a:spcBef>
              <a:spcAft>
                <a:spcPts val="0"/>
              </a:spcAft>
              <a:buClr>
                <a:schemeClr val="dk1"/>
              </a:buClr>
              <a:buSzPts val="1600"/>
              <a:buChar char="•"/>
              <a:defRPr sz="1280"/>
            </a:lvl8pPr>
            <a:lvl9pPr marL="3292004" lvl="8" indent="-264173" algn="l">
              <a:spcBef>
                <a:spcPts val="256"/>
              </a:spcBef>
              <a:spcAft>
                <a:spcPts val="0"/>
              </a:spcAft>
              <a:buClr>
                <a:schemeClr val="dk1"/>
              </a:buClr>
              <a:buSzPts val="1600"/>
              <a:buChar char="•"/>
              <a:defRPr sz="1280"/>
            </a:lvl9pPr>
          </a:lstStyle>
          <a:p>
            <a:endParaRPr/>
          </a:p>
        </p:txBody>
      </p:sp>
      <p:sp>
        <p:nvSpPr>
          <p:cNvPr id="44" name="Google Shape;44;p7"/>
          <p:cNvSpPr txBox="1">
            <a:spLocks noGrp="1"/>
          </p:cNvSpPr>
          <p:nvPr>
            <p:ph type="body" idx="3"/>
          </p:nvPr>
        </p:nvSpPr>
        <p:spPr>
          <a:xfrm>
            <a:off x="3716022" y="1228091"/>
            <a:ext cx="3233420" cy="511810"/>
          </a:xfrm>
          <a:prstGeom prst="rect">
            <a:avLst/>
          </a:prstGeom>
          <a:noFill/>
          <a:ln>
            <a:noFill/>
          </a:ln>
        </p:spPr>
        <p:txBody>
          <a:bodyPr spcFirstLastPara="1" wrap="square" lIns="91425" tIns="45700" rIns="91425" bIns="45700" anchor="b" anchorCtr="0">
            <a:normAutofit/>
          </a:bodyPr>
          <a:lstStyle>
            <a:lvl1pPr marL="365778" lvl="0" indent="-182890" algn="l">
              <a:spcBef>
                <a:spcPts val="384"/>
              </a:spcBef>
              <a:spcAft>
                <a:spcPts val="0"/>
              </a:spcAft>
              <a:buClr>
                <a:schemeClr val="dk1"/>
              </a:buClr>
              <a:buSzPts val="2400"/>
              <a:buNone/>
              <a:defRPr sz="1920" b="1"/>
            </a:lvl1pPr>
            <a:lvl2pPr marL="731556" lvl="1" indent="-182890" algn="l">
              <a:spcBef>
                <a:spcPts val="320"/>
              </a:spcBef>
              <a:spcAft>
                <a:spcPts val="0"/>
              </a:spcAft>
              <a:buClr>
                <a:schemeClr val="dk1"/>
              </a:buClr>
              <a:buSzPts val="2000"/>
              <a:buNone/>
              <a:defRPr sz="1600" b="1"/>
            </a:lvl2pPr>
            <a:lvl3pPr marL="1097335" lvl="2" indent="-182890" algn="l">
              <a:spcBef>
                <a:spcPts val="288"/>
              </a:spcBef>
              <a:spcAft>
                <a:spcPts val="0"/>
              </a:spcAft>
              <a:buClr>
                <a:schemeClr val="dk1"/>
              </a:buClr>
              <a:buSzPts val="1800"/>
              <a:buNone/>
              <a:defRPr sz="1440" b="1"/>
            </a:lvl3pPr>
            <a:lvl4pPr marL="1463113" lvl="3" indent="-182890" algn="l">
              <a:spcBef>
                <a:spcPts val="256"/>
              </a:spcBef>
              <a:spcAft>
                <a:spcPts val="0"/>
              </a:spcAft>
              <a:buClr>
                <a:schemeClr val="dk1"/>
              </a:buClr>
              <a:buSzPts val="1600"/>
              <a:buNone/>
              <a:defRPr sz="1280" b="1"/>
            </a:lvl4pPr>
            <a:lvl5pPr marL="1828891" lvl="4" indent="-182890" algn="l">
              <a:spcBef>
                <a:spcPts val="256"/>
              </a:spcBef>
              <a:spcAft>
                <a:spcPts val="0"/>
              </a:spcAft>
              <a:buClr>
                <a:schemeClr val="dk1"/>
              </a:buClr>
              <a:buSzPts val="1600"/>
              <a:buNone/>
              <a:defRPr sz="1280" b="1"/>
            </a:lvl5pPr>
            <a:lvl6pPr marL="2194669" lvl="5" indent="-182890" algn="l">
              <a:spcBef>
                <a:spcPts val="256"/>
              </a:spcBef>
              <a:spcAft>
                <a:spcPts val="0"/>
              </a:spcAft>
              <a:buClr>
                <a:schemeClr val="dk1"/>
              </a:buClr>
              <a:buSzPts val="1600"/>
              <a:buNone/>
              <a:defRPr sz="1280" b="1"/>
            </a:lvl6pPr>
            <a:lvl7pPr marL="2560448" lvl="6" indent="-182890" algn="l">
              <a:spcBef>
                <a:spcPts val="256"/>
              </a:spcBef>
              <a:spcAft>
                <a:spcPts val="0"/>
              </a:spcAft>
              <a:buClr>
                <a:schemeClr val="dk1"/>
              </a:buClr>
              <a:buSzPts val="1600"/>
              <a:buNone/>
              <a:defRPr sz="1280" b="1"/>
            </a:lvl7pPr>
            <a:lvl8pPr marL="2926226" lvl="7" indent="-182890" algn="l">
              <a:spcBef>
                <a:spcPts val="256"/>
              </a:spcBef>
              <a:spcAft>
                <a:spcPts val="0"/>
              </a:spcAft>
              <a:buClr>
                <a:schemeClr val="dk1"/>
              </a:buClr>
              <a:buSzPts val="1600"/>
              <a:buNone/>
              <a:defRPr sz="1280" b="1"/>
            </a:lvl8pPr>
            <a:lvl9pPr marL="3292004" lvl="8" indent="-182890" algn="l">
              <a:spcBef>
                <a:spcPts val="256"/>
              </a:spcBef>
              <a:spcAft>
                <a:spcPts val="0"/>
              </a:spcAft>
              <a:buClr>
                <a:schemeClr val="dk1"/>
              </a:buClr>
              <a:buSzPts val="1600"/>
              <a:buNone/>
              <a:defRPr sz="1280" b="1"/>
            </a:lvl9pPr>
          </a:lstStyle>
          <a:p>
            <a:endParaRPr/>
          </a:p>
        </p:txBody>
      </p:sp>
      <p:sp>
        <p:nvSpPr>
          <p:cNvPr id="45" name="Google Shape;45;p7"/>
          <p:cNvSpPr txBox="1">
            <a:spLocks noGrp="1"/>
          </p:cNvSpPr>
          <p:nvPr>
            <p:ph type="body" idx="4"/>
          </p:nvPr>
        </p:nvSpPr>
        <p:spPr>
          <a:xfrm>
            <a:off x="3716022" y="1739901"/>
            <a:ext cx="3233420" cy="3161030"/>
          </a:xfrm>
          <a:prstGeom prst="rect">
            <a:avLst/>
          </a:prstGeom>
          <a:noFill/>
          <a:ln>
            <a:noFill/>
          </a:ln>
        </p:spPr>
        <p:txBody>
          <a:bodyPr spcFirstLastPara="1" wrap="square" lIns="91425" tIns="45700" rIns="91425" bIns="45700" anchor="t" anchorCtr="0">
            <a:normAutofit/>
          </a:bodyPr>
          <a:lstStyle>
            <a:lvl1pPr marL="365778" lvl="0" indent="-304816" algn="l">
              <a:spcBef>
                <a:spcPts val="384"/>
              </a:spcBef>
              <a:spcAft>
                <a:spcPts val="0"/>
              </a:spcAft>
              <a:buClr>
                <a:schemeClr val="dk1"/>
              </a:buClr>
              <a:buSzPts val="2400"/>
              <a:buChar char="•"/>
              <a:defRPr sz="1920"/>
            </a:lvl1pPr>
            <a:lvl2pPr marL="731556" lvl="1" indent="-284495" algn="l">
              <a:spcBef>
                <a:spcPts val="320"/>
              </a:spcBef>
              <a:spcAft>
                <a:spcPts val="0"/>
              </a:spcAft>
              <a:buClr>
                <a:schemeClr val="dk1"/>
              </a:buClr>
              <a:buSzPts val="2000"/>
              <a:buChar char="–"/>
              <a:defRPr sz="1600"/>
            </a:lvl2pPr>
            <a:lvl3pPr marL="1097335" lvl="2" indent="-274333" algn="l">
              <a:spcBef>
                <a:spcPts val="288"/>
              </a:spcBef>
              <a:spcAft>
                <a:spcPts val="0"/>
              </a:spcAft>
              <a:buClr>
                <a:schemeClr val="dk1"/>
              </a:buClr>
              <a:buSzPts val="1800"/>
              <a:buChar char="•"/>
              <a:defRPr sz="1440"/>
            </a:lvl3pPr>
            <a:lvl4pPr marL="1463113" lvl="3" indent="-264173" algn="l">
              <a:spcBef>
                <a:spcPts val="256"/>
              </a:spcBef>
              <a:spcAft>
                <a:spcPts val="0"/>
              </a:spcAft>
              <a:buClr>
                <a:schemeClr val="dk1"/>
              </a:buClr>
              <a:buSzPts val="1600"/>
              <a:buChar char="–"/>
              <a:defRPr sz="1280"/>
            </a:lvl4pPr>
            <a:lvl5pPr marL="1828891" lvl="4" indent="-264173" algn="l">
              <a:spcBef>
                <a:spcPts val="256"/>
              </a:spcBef>
              <a:spcAft>
                <a:spcPts val="0"/>
              </a:spcAft>
              <a:buClr>
                <a:schemeClr val="dk1"/>
              </a:buClr>
              <a:buSzPts val="1600"/>
              <a:buChar char="»"/>
              <a:defRPr sz="1280"/>
            </a:lvl5pPr>
            <a:lvl6pPr marL="2194669" lvl="5" indent="-264173" algn="l">
              <a:spcBef>
                <a:spcPts val="256"/>
              </a:spcBef>
              <a:spcAft>
                <a:spcPts val="0"/>
              </a:spcAft>
              <a:buClr>
                <a:schemeClr val="dk1"/>
              </a:buClr>
              <a:buSzPts val="1600"/>
              <a:buChar char="•"/>
              <a:defRPr sz="1280"/>
            </a:lvl6pPr>
            <a:lvl7pPr marL="2560448" lvl="6" indent="-264173" algn="l">
              <a:spcBef>
                <a:spcPts val="256"/>
              </a:spcBef>
              <a:spcAft>
                <a:spcPts val="0"/>
              </a:spcAft>
              <a:buClr>
                <a:schemeClr val="dk1"/>
              </a:buClr>
              <a:buSzPts val="1600"/>
              <a:buChar char="•"/>
              <a:defRPr sz="1280"/>
            </a:lvl7pPr>
            <a:lvl8pPr marL="2926226" lvl="7" indent="-264173" algn="l">
              <a:spcBef>
                <a:spcPts val="256"/>
              </a:spcBef>
              <a:spcAft>
                <a:spcPts val="0"/>
              </a:spcAft>
              <a:buClr>
                <a:schemeClr val="dk1"/>
              </a:buClr>
              <a:buSzPts val="1600"/>
              <a:buChar char="•"/>
              <a:defRPr sz="1280"/>
            </a:lvl8pPr>
            <a:lvl9pPr marL="3292004" lvl="8" indent="-264173" algn="l">
              <a:spcBef>
                <a:spcPts val="256"/>
              </a:spcBef>
              <a:spcAft>
                <a:spcPts val="0"/>
              </a:spcAft>
              <a:buClr>
                <a:schemeClr val="dk1"/>
              </a:buClr>
              <a:buSzPts val="1600"/>
              <a:buChar char="•"/>
              <a:defRPr sz="1280"/>
            </a:lvl9pPr>
          </a:lstStyle>
          <a:p>
            <a:endParaRPr/>
          </a:p>
        </p:txBody>
      </p:sp>
      <p:sp>
        <p:nvSpPr>
          <p:cNvPr id="46" name="Google Shape;46;p7"/>
          <p:cNvSpPr txBox="1">
            <a:spLocks noGrp="1"/>
          </p:cNvSpPr>
          <p:nvPr>
            <p:ph type="dt" idx="10"/>
          </p:nvPr>
        </p:nvSpPr>
        <p:spPr>
          <a:xfrm>
            <a:off x="365760" y="5085081"/>
            <a:ext cx="1706880" cy="292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2499360" y="5085081"/>
            <a:ext cx="2316480" cy="292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5242560" y="5085081"/>
            <a:ext cx="1706880" cy="292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4051283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365760" y="219710"/>
            <a:ext cx="6583680" cy="914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365760" y="5085081"/>
            <a:ext cx="1706880" cy="292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2499360" y="5085081"/>
            <a:ext cx="2316480" cy="292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5242560" y="5085081"/>
            <a:ext cx="1706880" cy="292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5807583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365760" y="218440"/>
            <a:ext cx="2406650" cy="92964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6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2860041" y="218441"/>
            <a:ext cx="4089400" cy="4682490"/>
          </a:xfrm>
          <a:prstGeom prst="rect">
            <a:avLst/>
          </a:prstGeom>
          <a:noFill/>
          <a:ln>
            <a:noFill/>
          </a:ln>
        </p:spPr>
        <p:txBody>
          <a:bodyPr spcFirstLastPara="1" wrap="square" lIns="91425" tIns="45700" rIns="91425" bIns="45700" anchor="t" anchorCtr="0">
            <a:normAutofit/>
          </a:bodyPr>
          <a:lstStyle>
            <a:lvl1pPr marL="365778" lvl="0" indent="-345457" algn="l">
              <a:spcBef>
                <a:spcPts val="512"/>
              </a:spcBef>
              <a:spcAft>
                <a:spcPts val="0"/>
              </a:spcAft>
              <a:buClr>
                <a:schemeClr val="dk1"/>
              </a:buClr>
              <a:buSzPts val="3200"/>
              <a:buChar char="•"/>
              <a:defRPr sz="2560"/>
            </a:lvl1pPr>
            <a:lvl2pPr marL="731556" lvl="1" indent="-325136" algn="l">
              <a:spcBef>
                <a:spcPts val="448"/>
              </a:spcBef>
              <a:spcAft>
                <a:spcPts val="0"/>
              </a:spcAft>
              <a:buClr>
                <a:schemeClr val="dk1"/>
              </a:buClr>
              <a:buSzPts val="2800"/>
              <a:buChar char="–"/>
              <a:defRPr sz="2240"/>
            </a:lvl2pPr>
            <a:lvl3pPr marL="1097335" lvl="2" indent="-304816" algn="l">
              <a:spcBef>
                <a:spcPts val="384"/>
              </a:spcBef>
              <a:spcAft>
                <a:spcPts val="0"/>
              </a:spcAft>
              <a:buClr>
                <a:schemeClr val="dk1"/>
              </a:buClr>
              <a:buSzPts val="2400"/>
              <a:buChar char="•"/>
              <a:defRPr sz="1920"/>
            </a:lvl3pPr>
            <a:lvl4pPr marL="1463113" lvl="3" indent="-284495" algn="l">
              <a:spcBef>
                <a:spcPts val="320"/>
              </a:spcBef>
              <a:spcAft>
                <a:spcPts val="0"/>
              </a:spcAft>
              <a:buClr>
                <a:schemeClr val="dk1"/>
              </a:buClr>
              <a:buSzPts val="2000"/>
              <a:buChar char="–"/>
              <a:defRPr sz="1600"/>
            </a:lvl4pPr>
            <a:lvl5pPr marL="1828891" lvl="4" indent="-284495" algn="l">
              <a:spcBef>
                <a:spcPts val="320"/>
              </a:spcBef>
              <a:spcAft>
                <a:spcPts val="0"/>
              </a:spcAft>
              <a:buClr>
                <a:schemeClr val="dk1"/>
              </a:buClr>
              <a:buSzPts val="2000"/>
              <a:buChar char="»"/>
              <a:defRPr sz="1600"/>
            </a:lvl5pPr>
            <a:lvl6pPr marL="2194669" lvl="5" indent="-284495" algn="l">
              <a:spcBef>
                <a:spcPts val="320"/>
              </a:spcBef>
              <a:spcAft>
                <a:spcPts val="0"/>
              </a:spcAft>
              <a:buClr>
                <a:schemeClr val="dk1"/>
              </a:buClr>
              <a:buSzPts val="2000"/>
              <a:buChar char="•"/>
              <a:defRPr sz="1600"/>
            </a:lvl6pPr>
            <a:lvl7pPr marL="2560448" lvl="6" indent="-284495" algn="l">
              <a:spcBef>
                <a:spcPts val="320"/>
              </a:spcBef>
              <a:spcAft>
                <a:spcPts val="0"/>
              </a:spcAft>
              <a:buClr>
                <a:schemeClr val="dk1"/>
              </a:buClr>
              <a:buSzPts val="2000"/>
              <a:buChar char="•"/>
              <a:defRPr sz="1600"/>
            </a:lvl7pPr>
            <a:lvl8pPr marL="2926226" lvl="7" indent="-284495" algn="l">
              <a:spcBef>
                <a:spcPts val="320"/>
              </a:spcBef>
              <a:spcAft>
                <a:spcPts val="0"/>
              </a:spcAft>
              <a:buClr>
                <a:schemeClr val="dk1"/>
              </a:buClr>
              <a:buSzPts val="2000"/>
              <a:buChar char="•"/>
              <a:defRPr sz="1600"/>
            </a:lvl8pPr>
            <a:lvl9pPr marL="3292004" lvl="8" indent="-284495" algn="l">
              <a:spcBef>
                <a:spcPts val="320"/>
              </a:spcBef>
              <a:spcAft>
                <a:spcPts val="0"/>
              </a:spcAft>
              <a:buClr>
                <a:schemeClr val="dk1"/>
              </a:buClr>
              <a:buSzPts val="2000"/>
              <a:buChar char="•"/>
              <a:defRPr sz="1600"/>
            </a:lvl9pPr>
          </a:lstStyle>
          <a:p>
            <a:endParaRPr/>
          </a:p>
        </p:txBody>
      </p:sp>
      <p:sp>
        <p:nvSpPr>
          <p:cNvPr id="57" name="Google Shape;57;p9"/>
          <p:cNvSpPr txBox="1">
            <a:spLocks noGrp="1"/>
          </p:cNvSpPr>
          <p:nvPr>
            <p:ph type="body" idx="2"/>
          </p:nvPr>
        </p:nvSpPr>
        <p:spPr>
          <a:xfrm>
            <a:off x="365760" y="1148081"/>
            <a:ext cx="2406650" cy="3752850"/>
          </a:xfrm>
          <a:prstGeom prst="rect">
            <a:avLst/>
          </a:prstGeom>
          <a:noFill/>
          <a:ln>
            <a:noFill/>
          </a:ln>
        </p:spPr>
        <p:txBody>
          <a:bodyPr spcFirstLastPara="1" wrap="square" lIns="91425" tIns="45700" rIns="91425" bIns="45700" anchor="t" anchorCtr="0">
            <a:normAutofit/>
          </a:bodyPr>
          <a:lstStyle>
            <a:lvl1pPr marL="365778" lvl="0" indent="-182890" algn="l">
              <a:spcBef>
                <a:spcPts val="224"/>
              </a:spcBef>
              <a:spcAft>
                <a:spcPts val="0"/>
              </a:spcAft>
              <a:buClr>
                <a:schemeClr val="dk1"/>
              </a:buClr>
              <a:buSzPts val="1400"/>
              <a:buNone/>
              <a:defRPr sz="1120"/>
            </a:lvl1pPr>
            <a:lvl2pPr marL="731556" lvl="1" indent="-182890" algn="l">
              <a:spcBef>
                <a:spcPts val="192"/>
              </a:spcBef>
              <a:spcAft>
                <a:spcPts val="0"/>
              </a:spcAft>
              <a:buClr>
                <a:schemeClr val="dk1"/>
              </a:buClr>
              <a:buSzPts val="1200"/>
              <a:buNone/>
              <a:defRPr sz="960"/>
            </a:lvl2pPr>
            <a:lvl3pPr marL="1097335" lvl="2" indent="-182890" algn="l">
              <a:spcBef>
                <a:spcPts val="160"/>
              </a:spcBef>
              <a:spcAft>
                <a:spcPts val="0"/>
              </a:spcAft>
              <a:buClr>
                <a:schemeClr val="dk1"/>
              </a:buClr>
              <a:buSzPts val="1000"/>
              <a:buNone/>
              <a:defRPr sz="800"/>
            </a:lvl3pPr>
            <a:lvl4pPr marL="1463113" lvl="3" indent="-182890" algn="l">
              <a:spcBef>
                <a:spcPts val="144"/>
              </a:spcBef>
              <a:spcAft>
                <a:spcPts val="0"/>
              </a:spcAft>
              <a:buClr>
                <a:schemeClr val="dk1"/>
              </a:buClr>
              <a:buSzPts val="900"/>
              <a:buNone/>
              <a:defRPr sz="720"/>
            </a:lvl4pPr>
            <a:lvl5pPr marL="1828891" lvl="4" indent="-182890" algn="l">
              <a:spcBef>
                <a:spcPts val="144"/>
              </a:spcBef>
              <a:spcAft>
                <a:spcPts val="0"/>
              </a:spcAft>
              <a:buClr>
                <a:schemeClr val="dk1"/>
              </a:buClr>
              <a:buSzPts val="900"/>
              <a:buNone/>
              <a:defRPr sz="720"/>
            </a:lvl5pPr>
            <a:lvl6pPr marL="2194669" lvl="5" indent="-182890" algn="l">
              <a:spcBef>
                <a:spcPts val="144"/>
              </a:spcBef>
              <a:spcAft>
                <a:spcPts val="0"/>
              </a:spcAft>
              <a:buClr>
                <a:schemeClr val="dk1"/>
              </a:buClr>
              <a:buSzPts val="900"/>
              <a:buNone/>
              <a:defRPr sz="720"/>
            </a:lvl6pPr>
            <a:lvl7pPr marL="2560448" lvl="6" indent="-182890" algn="l">
              <a:spcBef>
                <a:spcPts val="144"/>
              </a:spcBef>
              <a:spcAft>
                <a:spcPts val="0"/>
              </a:spcAft>
              <a:buClr>
                <a:schemeClr val="dk1"/>
              </a:buClr>
              <a:buSzPts val="900"/>
              <a:buNone/>
              <a:defRPr sz="720"/>
            </a:lvl7pPr>
            <a:lvl8pPr marL="2926226" lvl="7" indent="-182890" algn="l">
              <a:spcBef>
                <a:spcPts val="144"/>
              </a:spcBef>
              <a:spcAft>
                <a:spcPts val="0"/>
              </a:spcAft>
              <a:buClr>
                <a:schemeClr val="dk1"/>
              </a:buClr>
              <a:buSzPts val="900"/>
              <a:buNone/>
              <a:defRPr sz="720"/>
            </a:lvl8pPr>
            <a:lvl9pPr marL="3292004" lvl="8" indent="-182890" algn="l">
              <a:spcBef>
                <a:spcPts val="144"/>
              </a:spcBef>
              <a:spcAft>
                <a:spcPts val="0"/>
              </a:spcAft>
              <a:buClr>
                <a:schemeClr val="dk1"/>
              </a:buClr>
              <a:buSzPts val="900"/>
              <a:buNone/>
              <a:defRPr sz="720"/>
            </a:lvl9pPr>
          </a:lstStyle>
          <a:p>
            <a:endParaRPr/>
          </a:p>
        </p:txBody>
      </p:sp>
      <p:sp>
        <p:nvSpPr>
          <p:cNvPr id="58" name="Google Shape;58;p9"/>
          <p:cNvSpPr txBox="1">
            <a:spLocks noGrp="1"/>
          </p:cNvSpPr>
          <p:nvPr>
            <p:ph type="dt" idx="10"/>
          </p:nvPr>
        </p:nvSpPr>
        <p:spPr>
          <a:xfrm>
            <a:off x="365760" y="5085081"/>
            <a:ext cx="1706880" cy="292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2499360" y="5085081"/>
            <a:ext cx="2316480" cy="292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5242560" y="5085081"/>
            <a:ext cx="1706880" cy="292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0895570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433831" y="3840481"/>
            <a:ext cx="4389120" cy="45339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6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433831" y="490220"/>
            <a:ext cx="4389120" cy="3291840"/>
          </a:xfrm>
          <a:prstGeom prst="rect">
            <a:avLst/>
          </a:prstGeom>
          <a:noFill/>
          <a:ln>
            <a:noFill/>
          </a:ln>
        </p:spPr>
      </p:sp>
      <p:sp>
        <p:nvSpPr>
          <p:cNvPr id="64" name="Google Shape;64;p10"/>
          <p:cNvSpPr txBox="1">
            <a:spLocks noGrp="1"/>
          </p:cNvSpPr>
          <p:nvPr>
            <p:ph type="body" idx="1"/>
          </p:nvPr>
        </p:nvSpPr>
        <p:spPr>
          <a:xfrm>
            <a:off x="1433831" y="4293871"/>
            <a:ext cx="4389120" cy="643890"/>
          </a:xfrm>
          <a:prstGeom prst="rect">
            <a:avLst/>
          </a:prstGeom>
          <a:noFill/>
          <a:ln>
            <a:noFill/>
          </a:ln>
        </p:spPr>
        <p:txBody>
          <a:bodyPr spcFirstLastPara="1" wrap="square" lIns="91425" tIns="45700" rIns="91425" bIns="45700" anchor="t" anchorCtr="0">
            <a:normAutofit/>
          </a:bodyPr>
          <a:lstStyle>
            <a:lvl1pPr marL="365778" lvl="0" indent="-182890" algn="l">
              <a:spcBef>
                <a:spcPts val="224"/>
              </a:spcBef>
              <a:spcAft>
                <a:spcPts val="0"/>
              </a:spcAft>
              <a:buClr>
                <a:schemeClr val="dk1"/>
              </a:buClr>
              <a:buSzPts val="1400"/>
              <a:buNone/>
              <a:defRPr sz="1120"/>
            </a:lvl1pPr>
            <a:lvl2pPr marL="731556" lvl="1" indent="-182890" algn="l">
              <a:spcBef>
                <a:spcPts val="192"/>
              </a:spcBef>
              <a:spcAft>
                <a:spcPts val="0"/>
              </a:spcAft>
              <a:buClr>
                <a:schemeClr val="dk1"/>
              </a:buClr>
              <a:buSzPts val="1200"/>
              <a:buNone/>
              <a:defRPr sz="960"/>
            </a:lvl2pPr>
            <a:lvl3pPr marL="1097335" lvl="2" indent="-182890" algn="l">
              <a:spcBef>
                <a:spcPts val="160"/>
              </a:spcBef>
              <a:spcAft>
                <a:spcPts val="0"/>
              </a:spcAft>
              <a:buClr>
                <a:schemeClr val="dk1"/>
              </a:buClr>
              <a:buSzPts val="1000"/>
              <a:buNone/>
              <a:defRPr sz="800"/>
            </a:lvl3pPr>
            <a:lvl4pPr marL="1463113" lvl="3" indent="-182890" algn="l">
              <a:spcBef>
                <a:spcPts val="144"/>
              </a:spcBef>
              <a:spcAft>
                <a:spcPts val="0"/>
              </a:spcAft>
              <a:buClr>
                <a:schemeClr val="dk1"/>
              </a:buClr>
              <a:buSzPts val="900"/>
              <a:buNone/>
              <a:defRPr sz="720"/>
            </a:lvl4pPr>
            <a:lvl5pPr marL="1828891" lvl="4" indent="-182890" algn="l">
              <a:spcBef>
                <a:spcPts val="144"/>
              </a:spcBef>
              <a:spcAft>
                <a:spcPts val="0"/>
              </a:spcAft>
              <a:buClr>
                <a:schemeClr val="dk1"/>
              </a:buClr>
              <a:buSzPts val="900"/>
              <a:buNone/>
              <a:defRPr sz="720"/>
            </a:lvl5pPr>
            <a:lvl6pPr marL="2194669" lvl="5" indent="-182890" algn="l">
              <a:spcBef>
                <a:spcPts val="144"/>
              </a:spcBef>
              <a:spcAft>
                <a:spcPts val="0"/>
              </a:spcAft>
              <a:buClr>
                <a:schemeClr val="dk1"/>
              </a:buClr>
              <a:buSzPts val="900"/>
              <a:buNone/>
              <a:defRPr sz="720"/>
            </a:lvl6pPr>
            <a:lvl7pPr marL="2560448" lvl="6" indent="-182890" algn="l">
              <a:spcBef>
                <a:spcPts val="144"/>
              </a:spcBef>
              <a:spcAft>
                <a:spcPts val="0"/>
              </a:spcAft>
              <a:buClr>
                <a:schemeClr val="dk1"/>
              </a:buClr>
              <a:buSzPts val="900"/>
              <a:buNone/>
              <a:defRPr sz="720"/>
            </a:lvl7pPr>
            <a:lvl8pPr marL="2926226" lvl="7" indent="-182890" algn="l">
              <a:spcBef>
                <a:spcPts val="144"/>
              </a:spcBef>
              <a:spcAft>
                <a:spcPts val="0"/>
              </a:spcAft>
              <a:buClr>
                <a:schemeClr val="dk1"/>
              </a:buClr>
              <a:buSzPts val="900"/>
              <a:buNone/>
              <a:defRPr sz="720"/>
            </a:lvl8pPr>
            <a:lvl9pPr marL="3292004" lvl="8" indent="-182890" algn="l">
              <a:spcBef>
                <a:spcPts val="144"/>
              </a:spcBef>
              <a:spcAft>
                <a:spcPts val="0"/>
              </a:spcAft>
              <a:buClr>
                <a:schemeClr val="dk1"/>
              </a:buClr>
              <a:buSzPts val="900"/>
              <a:buNone/>
              <a:defRPr sz="720"/>
            </a:lvl9pPr>
          </a:lstStyle>
          <a:p>
            <a:endParaRPr/>
          </a:p>
        </p:txBody>
      </p:sp>
      <p:sp>
        <p:nvSpPr>
          <p:cNvPr id="65" name="Google Shape;65;p10"/>
          <p:cNvSpPr txBox="1">
            <a:spLocks noGrp="1"/>
          </p:cNvSpPr>
          <p:nvPr>
            <p:ph type="dt" idx="10"/>
          </p:nvPr>
        </p:nvSpPr>
        <p:spPr>
          <a:xfrm>
            <a:off x="365760" y="5085081"/>
            <a:ext cx="1706880" cy="292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2499360" y="5085081"/>
            <a:ext cx="2316480" cy="292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5242560" y="5085081"/>
            <a:ext cx="1706880" cy="292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2509133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365760" y="219710"/>
            <a:ext cx="6583680" cy="914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1847216" y="-201294"/>
            <a:ext cx="3620771" cy="6583680"/>
          </a:xfrm>
          <a:prstGeom prst="rect">
            <a:avLst/>
          </a:prstGeom>
          <a:noFill/>
          <a:ln>
            <a:noFill/>
          </a:ln>
        </p:spPr>
        <p:txBody>
          <a:bodyPr spcFirstLastPara="1" wrap="square" lIns="91425" tIns="45700" rIns="91425" bIns="45700" anchor="t" anchorCtr="0">
            <a:normAutofit/>
          </a:bodyPr>
          <a:lstStyle>
            <a:lvl1pPr marL="365778" lvl="0" indent="-274333" algn="l">
              <a:spcBef>
                <a:spcPts val="288"/>
              </a:spcBef>
              <a:spcAft>
                <a:spcPts val="0"/>
              </a:spcAft>
              <a:buClr>
                <a:schemeClr val="dk1"/>
              </a:buClr>
              <a:buSzPts val="1800"/>
              <a:buChar char="•"/>
              <a:defRPr/>
            </a:lvl1pPr>
            <a:lvl2pPr marL="731556" lvl="1" indent="-274333" algn="l">
              <a:spcBef>
                <a:spcPts val="288"/>
              </a:spcBef>
              <a:spcAft>
                <a:spcPts val="0"/>
              </a:spcAft>
              <a:buClr>
                <a:schemeClr val="dk1"/>
              </a:buClr>
              <a:buSzPts val="1800"/>
              <a:buChar char="–"/>
              <a:defRPr/>
            </a:lvl2pPr>
            <a:lvl3pPr marL="1097335" lvl="2" indent="-274333" algn="l">
              <a:spcBef>
                <a:spcPts val="288"/>
              </a:spcBef>
              <a:spcAft>
                <a:spcPts val="0"/>
              </a:spcAft>
              <a:buClr>
                <a:schemeClr val="dk1"/>
              </a:buClr>
              <a:buSzPts val="1800"/>
              <a:buChar char="•"/>
              <a:defRPr/>
            </a:lvl3pPr>
            <a:lvl4pPr marL="1463113" lvl="3" indent="-274333" algn="l">
              <a:spcBef>
                <a:spcPts val="288"/>
              </a:spcBef>
              <a:spcAft>
                <a:spcPts val="0"/>
              </a:spcAft>
              <a:buClr>
                <a:schemeClr val="dk1"/>
              </a:buClr>
              <a:buSzPts val="1800"/>
              <a:buChar char="–"/>
              <a:defRPr/>
            </a:lvl4pPr>
            <a:lvl5pPr marL="1828891" lvl="4" indent="-274333" algn="l">
              <a:spcBef>
                <a:spcPts val="288"/>
              </a:spcBef>
              <a:spcAft>
                <a:spcPts val="0"/>
              </a:spcAft>
              <a:buClr>
                <a:schemeClr val="dk1"/>
              </a:buClr>
              <a:buSzPts val="1800"/>
              <a:buChar char="»"/>
              <a:defRPr/>
            </a:lvl5pPr>
            <a:lvl6pPr marL="2194669" lvl="5" indent="-274333" algn="l">
              <a:spcBef>
                <a:spcPts val="288"/>
              </a:spcBef>
              <a:spcAft>
                <a:spcPts val="0"/>
              </a:spcAft>
              <a:buClr>
                <a:schemeClr val="dk1"/>
              </a:buClr>
              <a:buSzPts val="1800"/>
              <a:buChar char="•"/>
              <a:defRPr/>
            </a:lvl6pPr>
            <a:lvl7pPr marL="2560448" lvl="6" indent="-274333" algn="l">
              <a:spcBef>
                <a:spcPts val="288"/>
              </a:spcBef>
              <a:spcAft>
                <a:spcPts val="0"/>
              </a:spcAft>
              <a:buClr>
                <a:schemeClr val="dk1"/>
              </a:buClr>
              <a:buSzPts val="1800"/>
              <a:buChar char="•"/>
              <a:defRPr/>
            </a:lvl7pPr>
            <a:lvl8pPr marL="2926226" lvl="7" indent="-274333" algn="l">
              <a:spcBef>
                <a:spcPts val="288"/>
              </a:spcBef>
              <a:spcAft>
                <a:spcPts val="0"/>
              </a:spcAft>
              <a:buClr>
                <a:schemeClr val="dk1"/>
              </a:buClr>
              <a:buSzPts val="1800"/>
              <a:buChar char="•"/>
              <a:defRPr/>
            </a:lvl8pPr>
            <a:lvl9pPr marL="3292004" lvl="8" indent="-274333" algn="l">
              <a:spcBef>
                <a:spcPts val="288"/>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365760" y="5085081"/>
            <a:ext cx="1706880" cy="292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2499360" y="5085081"/>
            <a:ext cx="2316480" cy="292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5242560" y="5085081"/>
            <a:ext cx="1706880" cy="292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5307327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3785871" y="1737361"/>
            <a:ext cx="4681220" cy="164592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433071" y="152400"/>
            <a:ext cx="4681220" cy="4815840"/>
          </a:xfrm>
          <a:prstGeom prst="rect">
            <a:avLst/>
          </a:prstGeom>
          <a:noFill/>
          <a:ln>
            <a:noFill/>
          </a:ln>
        </p:spPr>
        <p:txBody>
          <a:bodyPr spcFirstLastPara="1" wrap="square" lIns="91425" tIns="45700" rIns="91425" bIns="45700" anchor="t" anchorCtr="0">
            <a:normAutofit/>
          </a:bodyPr>
          <a:lstStyle>
            <a:lvl1pPr marL="365778" lvl="0" indent="-274333" algn="l">
              <a:spcBef>
                <a:spcPts val="288"/>
              </a:spcBef>
              <a:spcAft>
                <a:spcPts val="0"/>
              </a:spcAft>
              <a:buClr>
                <a:schemeClr val="dk1"/>
              </a:buClr>
              <a:buSzPts val="1800"/>
              <a:buChar char="•"/>
              <a:defRPr/>
            </a:lvl1pPr>
            <a:lvl2pPr marL="731556" lvl="1" indent="-274333" algn="l">
              <a:spcBef>
                <a:spcPts val="288"/>
              </a:spcBef>
              <a:spcAft>
                <a:spcPts val="0"/>
              </a:spcAft>
              <a:buClr>
                <a:schemeClr val="dk1"/>
              </a:buClr>
              <a:buSzPts val="1800"/>
              <a:buChar char="–"/>
              <a:defRPr/>
            </a:lvl2pPr>
            <a:lvl3pPr marL="1097335" lvl="2" indent="-274333" algn="l">
              <a:spcBef>
                <a:spcPts val="288"/>
              </a:spcBef>
              <a:spcAft>
                <a:spcPts val="0"/>
              </a:spcAft>
              <a:buClr>
                <a:schemeClr val="dk1"/>
              </a:buClr>
              <a:buSzPts val="1800"/>
              <a:buChar char="•"/>
              <a:defRPr/>
            </a:lvl3pPr>
            <a:lvl4pPr marL="1463113" lvl="3" indent="-274333" algn="l">
              <a:spcBef>
                <a:spcPts val="288"/>
              </a:spcBef>
              <a:spcAft>
                <a:spcPts val="0"/>
              </a:spcAft>
              <a:buClr>
                <a:schemeClr val="dk1"/>
              </a:buClr>
              <a:buSzPts val="1800"/>
              <a:buChar char="–"/>
              <a:defRPr/>
            </a:lvl4pPr>
            <a:lvl5pPr marL="1828891" lvl="4" indent="-274333" algn="l">
              <a:spcBef>
                <a:spcPts val="288"/>
              </a:spcBef>
              <a:spcAft>
                <a:spcPts val="0"/>
              </a:spcAft>
              <a:buClr>
                <a:schemeClr val="dk1"/>
              </a:buClr>
              <a:buSzPts val="1800"/>
              <a:buChar char="»"/>
              <a:defRPr/>
            </a:lvl5pPr>
            <a:lvl6pPr marL="2194669" lvl="5" indent="-274333" algn="l">
              <a:spcBef>
                <a:spcPts val="288"/>
              </a:spcBef>
              <a:spcAft>
                <a:spcPts val="0"/>
              </a:spcAft>
              <a:buClr>
                <a:schemeClr val="dk1"/>
              </a:buClr>
              <a:buSzPts val="1800"/>
              <a:buChar char="•"/>
              <a:defRPr/>
            </a:lvl6pPr>
            <a:lvl7pPr marL="2560448" lvl="6" indent="-274333" algn="l">
              <a:spcBef>
                <a:spcPts val="288"/>
              </a:spcBef>
              <a:spcAft>
                <a:spcPts val="0"/>
              </a:spcAft>
              <a:buClr>
                <a:schemeClr val="dk1"/>
              </a:buClr>
              <a:buSzPts val="1800"/>
              <a:buChar char="•"/>
              <a:defRPr/>
            </a:lvl7pPr>
            <a:lvl8pPr marL="2926226" lvl="7" indent="-274333" algn="l">
              <a:spcBef>
                <a:spcPts val="288"/>
              </a:spcBef>
              <a:spcAft>
                <a:spcPts val="0"/>
              </a:spcAft>
              <a:buClr>
                <a:schemeClr val="dk1"/>
              </a:buClr>
              <a:buSzPts val="1800"/>
              <a:buChar char="•"/>
              <a:defRPr/>
            </a:lvl8pPr>
            <a:lvl9pPr marL="3292004" lvl="8" indent="-274333" algn="l">
              <a:spcBef>
                <a:spcPts val="288"/>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365760" y="5085081"/>
            <a:ext cx="1706880" cy="292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2499360" y="5085081"/>
            <a:ext cx="2316480" cy="292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5242560" y="5085081"/>
            <a:ext cx="1706880" cy="292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644085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65760" y="219710"/>
            <a:ext cx="6583680" cy="9144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365760" y="1280161"/>
            <a:ext cx="6583680" cy="3620771"/>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365760" y="5085081"/>
            <a:ext cx="1706880" cy="292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6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44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4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4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4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4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4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4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4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2499360" y="5085081"/>
            <a:ext cx="2316480" cy="292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6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44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4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4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4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4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4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4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4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5242560" y="5085081"/>
            <a:ext cx="1706880" cy="292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60" b="0" i="0" u="none" strike="noStrike" cap="none">
                <a:solidFill>
                  <a:srgbClr val="888888"/>
                </a:solidFill>
                <a:latin typeface="Calibri"/>
                <a:ea typeface="Calibri"/>
                <a:cs typeface="Calibri"/>
                <a:sym typeface="Calibri"/>
              </a:defRPr>
            </a:lvl1pPr>
            <a:lvl2pPr marL="0" marR="0" lvl="1" indent="0" algn="r" rtl="0">
              <a:spcBef>
                <a:spcPts val="0"/>
              </a:spcBef>
              <a:buNone/>
              <a:defRPr sz="960" b="0" i="0" u="none" strike="noStrike" cap="none">
                <a:solidFill>
                  <a:srgbClr val="888888"/>
                </a:solidFill>
                <a:latin typeface="Calibri"/>
                <a:ea typeface="Calibri"/>
                <a:cs typeface="Calibri"/>
                <a:sym typeface="Calibri"/>
              </a:defRPr>
            </a:lvl2pPr>
            <a:lvl3pPr marL="0" marR="0" lvl="2" indent="0" algn="r" rtl="0">
              <a:spcBef>
                <a:spcPts val="0"/>
              </a:spcBef>
              <a:buNone/>
              <a:defRPr sz="960" b="0" i="0" u="none" strike="noStrike" cap="none">
                <a:solidFill>
                  <a:srgbClr val="888888"/>
                </a:solidFill>
                <a:latin typeface="Calibri"/>
                <a:ea typeface="Calibri"/>
                <a:cs typeface="Calibri"/>
                <a:sym typeface="Calibri"/>
              </a:defRPr>
            </a:lvl3pPr>
            <a:lvl4pPr marL="0" marR="0" lvl="3" indent="0" algn="r" rtl="0">
              <a:spcBef>
                <a:spcPts val="0"/>
              </a:spcBef>
              <a:buNone/>
              <a:defRPr sz="960" b="0" i="0" u="none" strike="noStrike" cap="none">
                <a:solidFill>
                  <a:srgbClr val="888888"/>
                </a:solidFill>
                <a:latin typeface="Calibri"/>
                <a:ea typeface="Calibri"/>
                <a:cs typeface="Calibri"/>
                <a:sym typeface="Calibri"/>
              </a:defRPr>
            </a:lvl4pPr>
            <a:lvl5pPr marL="0" marR="0" lvl="4" indent="0" algn="r" rtl="0">
              <a:spcBef>
                <a:spcPts val="0"/>
              </a:spcBef>
              <a:buNone/>
              <a:defRPr sz="960" b="0" i="0" u="none" strike="noStrike" cap="none">
                <a:solidFill>
                  <a:srgbClr val="888888"/>
                </a:solidFill>
                <a:latin typeface="Calibri"/>
                <a:ea typeface="Calibri"/>
                <a:cs typeface="Calibri"/>
                <a:sym typeface="Calibri"/>
              </a:defRPr>
            </a:lvl5pPr>
            <a:lvl6pPr marL="0" marR="0" lvl="5" indent="0" algn="r" rtl="0">
              <a:spcBef>
                <a:spcPts val="0"/>
              </a:spcBef>
              <a:buNone/>
              <a:defRPr sz="960" b="0" i="0" u="none" strike="noStrike" cap="none">
                <a:solidFill>
                  <a:srgbClr val="888888"/>
                </a:solidFill>
                <a:latin typeface="Calibri"/>
                <a:ea typeface="Calibri"/>
                <a:cs typeface="Calibri"/>
                <a:sym typeface="Calibri"/>
              </a:defRPr>
            </a:lvl6pPr>
            <a:lvl7pPr marL="0" marR="0" lvl="6" indent="0" algn="r" rtl="0">
              <a:spcBef>
                <a:spcPts val="0"/>
              </a:spcBef>
              <a:buNone/>
              <a:defRPr sz="960" b="0" i="0" u="none" strike="noStrike" cap="none">
                <a:solidFill>
                  <a:srgbClr val="888888"/>
                </a:solidFill>
                <a:latin typeface="Calibri"/>
                <a:ea typeface="Calibri"/>
                <a:cs typeface="Calibri"/>
                <a:sym typeface="Calibri"/>
              </a:defRPr>
            </a:lvl7pPr>
            <a:lvl8pPr marL="0" marR="0" lvl="7" indent="0" algn="r" rtl="0">
              <a:spcBef>
                <a:spcPts val="0"/>
              </a:spcBef>
              <a:buNone/>
              <a:defRPr sz="960" b="0" i="0" u="none" strike="noStrike" cap="none">
                <a:solidFill>
                  <a:srgbClr val="888888"/>
                </a:solidFill>
                <a:latin typeface="Calibri"/>
                <a:ea typeface="Calibri"/>
                <a:cs typeface="Calibri"/>
                <a:sym typeface="Calibri"/>
              </a:defRPr>
            </a:lvl8pPr>
            <a:lvl9pPr marL="0" marR="0" lvl="8" indent="0" algn="r" rtl="0">
              <a:spcBef>
                <a:spcPts val="0"/>
              </a:spcBef>
              <a:buNone/>
              <a:defRPr sz="960" b="0" i="0" u="none" strike="noStrike" cap="none">
                <a:solidFill>
                  <a:srgbClr val="888888"/>
                </a:solidFill>
                <a:latin typeface="Calibri"/>
                <a:ea typeface="Calibri"/>
                <a:cs typeface="Calibri"/>
                <a:sym typeface="Calibri"/>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226014815"/>
      </p:ext>
    </p:extLst>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gif"/></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4.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8.sv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9.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79EA"/>
        </a:solidFill>
        <a:effectLst/>
      </p:bgPr>
    </p:bg>
    <p:spTree>
      <p:nvGrpSpPr>
        <p:cNvPr id="1" name="Shape 83"/>
        <p:cNvGrpSpPr/>
        <p:nvPr/>
      </p:nvGrpSpPr>
      <p:grpSpPr>
        <a:xfrm>
          <a:off x="0" y="0"/>
          <a:ext cx="0" cy="0"/>
          <a:chOff x="0" y="0"/>
          <a:chExt cx="0" cy="0"/>
        </a:xfrm>
      </p:grpSpPr>
      <p:sp>
        <p:nvSpPr>
          <p:cNvPr id="84" name="Google Shape;84;p13"/>
          <p:cNvSpPr/>
          <p:nvPr/>
        </p:nvSpPr>
        <p:spPr>
          <a:xfrm>
            <a:off x="822960" y="1001138"/>
            <a:ext cx="3247960" cy="1154820"/>
          </a:xfrm>
          <a:custGeom>
            <a:avLst/>
            <a:gdLst/>
            <a:ahLst/>
            <a:cxnLst/>
            <a:rect l="l" t="t" r="r" b="b"/>
            <a:pathLst>
              <a:path w="4059950" h="1443525" extrusionOk="0">
                <a:moveTo>
                  <a:pt x="0" y="0"/>
                </a:moveTo>
                <a:lnTo>
                  <a:pt x="4059950" y="0"/>
                </a:lnTo>
                <a:lnTo>
                  <a:pt x="4059950" y="1443525"/>
                </a:lnTo>
                <a:lnTo>
                  <a:pt x="0" y="1443525"/>
                </a:lnTo>
                <a:lnTo>
                  <a:pt x="0" y="0"/>
                </a:lnTo>
                <a:close/>
              </a:path>
            </a:pathLst>
          </a:custGeom>
          <a:blipFill rotWithShape="1">
            <a:blip r:embed="rId3">
              <a:alphaModFix/>
            </a:blip>
            <a:stretch>
              <a:fillRect b="-259"/>
            </a:stretch>
          </a:blipFill>
          <a:ln>
            <a:noFill/>
          </a:ln>
        </p:spPr>
      </p:sp>
      <p:pic>
        <p:nvPicPr>
          <p:cNvPr id="85" name="Google Shape;85;p13"/>
          <p:cNvPicPr preferRelativeResize="0"/>
          <p:nvPr/>
        </p:nvPicPr>
        <p:blipFill rotWithShape="1">
          <a:blip r:embed="rId4">
            <a:alphaModFix/>
          </a:blip>
          <a:srcRect/>
          <a:stretch/>
        </p:blipFill>
        <p:spPr>
          <a:xfrm>
            <a:off x="9321222" y="3658561"/>
            <a:ext cx="4486220" cy="3566545"/>
          </a:xfrm>
          <a:prstGeom prst="rect">
            <a:avLst/>
          </a:prstGeom>
          <a:noFill/>
          <a:ln>
            <a:noFill/>
          </a:ln>
        </p:spPr>
      </p:pic>
      <p:sp>
        <p:nvSpPr>
          <p:cNvPr id="86" name="Google Shape;86;p13"/>
          <p:cNvSpPr txBox="1"/>
          <p:nvPr/>
        </p:nvSpPr>
        <p:spPr>
          <a:xfrm>
            <a:off x="822961" y="3841953"/>
            <a:ext cx="5799188" cy="1240981"/>
          </a:xfrm>
          <a:prstGeom prst="rect">
            <a:avLst/>
          </a:prstGeom>
          <a:noFill/>
          <a:ln>
            <a:noFill/>
          </a:ln>
        </p:spPr>
        <p:txBody>
          <a:bodyPr spcFirstLastPara="1" wrap="square" lIns="0" tIns="0" rIns="0" bIns="0" anchor="t" anchorCtr="0">
            <a:spAutoFit/>
          </a:bodyPr>
          <a:lstStyle/>
          <a:p>
            <a:pPr defTabSz="731556">
              <a:lnSpc>
                <a:spcPct val="120000"/>
              </a:lnSpc>
              <a:buClr>
                <a:srgbClr val="000000"/>
              </a:buClr>
            </a:pPr>
            <a:r>
              <a:rPr lang="en-US" sz="6720" b="1" kern="0" dirty="0">
                <a:solidFill>
                  <a:srgbClr val="FFFFFF"/>
                </a:solidFill>
                <a:latin typeface="Poppins SemiBold"/>
                <a:ea typeface="Poppins SemiBold"/>
                <a:cs typeface="Poppins SemiBold"/>
                <a:sym typeface="Poppins SemiBold"/>
              </a:rPr>
              <a:t>Corso EOA</a:t>
            </a:r>
            <a:endParaRPr sz="1120" kern="0" dirty="0">
              <a:solidFill>
                <a:srgbClr val="000000"/>
              </a:solidFill>
              <a:latin typeface="Arial"/>
              <a:cs typeface="Arial"/>
              <a:sym typeface="Arial"/>
            </a:endParaRPr>
          </a:p>
        </p:txBody>
      </p:sp>
      <p:sp>
        <p:nvSpPr>
          <p:cNvPr id="87" name="Google Shape;87;p13"/>
          <p:cNvSpPr txBox="1"/>
          <p:nvPr/>
        </p:nvSpPr>
        <p:spPr>
          <a:xfrm>
            <a:off x="4302495" y="1082857"/>
            <a:ext cx="3782377" cy="396391"/>
          </a:xfrm>
          <a:prstGeom prst="rect">
            <a:avLst/>
          </a:prstGeom>
          <a:noFill/>
          <a:ln>
            <a:noFill/>
          </a:ln>
        </p:spPr>
        <p:txBody>
          <a:bodyPr spcFirstLastPara="1" wrap="square" lIns="0" tIns="0" rIns="0" bIns="0" anchor="t" anchorCtr="0">
            <a:spAutoFit/>
          </a:bodyPr>
          <a:lstStyle/>
          <a:p>
            <a:pPr defTabSz="731556">
              <a:lnSpc>
                <a:spcPct val="161030"/>
              </a:lnSpc>
              <a:buClr>
                <a:srgbClr val="000000"/>
              </a:buClr>
            </a:pPr>
            <a:r>
              <a:rPr lang="en-US" sz="1600" b="1" kern="0" dirty="0">
                <a:solidFill>
                  <a:srgbClr val="FFFFFF"/>
                </a:solidFill>
                <a:latin typeface="Poppins"/>
                <a:ea typeface="Poppins"/>
                <a:cs typeface="Poppins"/>
                <a:sym typeface="Poppins"/>
              </a:rPr>
              <a:t>LAUREA TRIENNALE IN INFORMATICA </a:t>
            </a:r>
            <a:endParaRPr sz="1120" kern="0" dirty="0">
              <a:solidFill>
                <a:srgbClr val="000000"/>
              </a:solidFill>
              <a:latin typeface="Arial"/>
              <a:cs typeface="Arial"/>
              <a:sym typeface="Arial"/>
            </a:endParaRPr>
          </a:p>
        </p:txBody>
      </p:sp>
      <p:sp>
        <p:nvSpPr>
          <p:cNvPr id="88" name="Google Shape;88;p13"/>
          <p:cNvSpPr txBox="1"/>
          <p:nvPr/>
        </p:nvSpPr>
        <p:spPr>
          <a:xfrm>
            <a:off x="825215" y="5035489"/>
            <a:ext cx="5368469" cy="709105"/>
          </a:xfrm>
          <a:prstGeom prst="rect">
            <a:avLst/>
          </a:prstGeom>
          <a:noFill/>
          <a:ln>
            <a:noFill/>
          </a:ln>
        </p:spPr>
        <p:txBody>
          <a:bodyPr spcFirstLastPara="1" wrap="square" lIns="0" tIns="0" rIns="0" bIns="0" anchor="t" anchorCtr="0">
            <a:spAutoFit/>
          </a:bodyPr>
          <a:lstStyle/>
          <a:p>
            <a:pPr defTabSz="731556">
              <a:lnSpc>
                <a:spcPct val="120010"/>
              </a:lnSpc>
              <a:buClr>
                <a:srgbClr val="000000"/>
              </a:buClr>
            </a:pPr>
            <a:r>
              <a:rPr lang="en-US" sz="2240" b="1" kern="0" dirty="0">
                <a:solidFill>
                  <a:srgbClr val="FFFFFF"/>
                </a:solidFill>
                <a:latin typeface="Poppins"/>
                <a:ea typeface="Poppins"/>
                <a:cs typeface="Poppins"/>
                <a:sym typeface="Poppins"/>
              </a:rPr>
              <a:t>Prof. Giuseppe </a:t>
            </a:r>
            <a:r>
              <a:rPr lang="en-US" sz="2240" b="1" kern="0" dirty="0" err="1">
                <a:solidFill>
                  <a:srgbClr val="FFFFFF"/>
                </a:solidFill>
                <a:latin typeface="Poppins"/>
                <a:ea typeface="Poppins"/>
                <a:cs typeface="Poppins"/>
                <a:sym typeface="Poppins"/>
              </a:rPr>
              <a:t>Piccirillo</a:t>
            </a:r>
            <a:endParaRPr sz="1600" kern="0" dirty="0">
              <a:solidFill>
                <a:srgbClr val="000000"/>
              </a:solidFill>
              <a:latin typeface="Arial"/>
              <a:cs typeface="Arial"/>
              <a:sym typeface="Arial"/>
            </a:endParaRPr>
          </a:p>
          <a:p>
            <a:pPr defTabSz="731556">
              <a:lnSpc>
                <a:spcPct val="120010"/>
              </a:lnSpc>
              <a:buClr>
                <a:srgbClr val="000000"/>
              </a:buClr>
            </a:pPr>
            <a:endParaRPr sz="1600" b="1" kern="0" dirty="0">
              <a:solidFill>
                <a:srgbClr val="FFFFFF"/>
              </a:solidFill>
              <a:latin typeface="Poppins"/>
              <a:ea typeface="Poppins"/>
              <a:cs typeface="Poppins"/>
              <a:sym typeface="Poppins"/>
            </a:endParaRPr>
          </a:p>
        </p:txBody>
      </p:sp>
      <p:sp>
        <p:nvSpPr>
          <p:cNvPr id="89" name="Google Shape;89;p13"/>
          <p:cNvSpPr txBox="1"/>
          <p:nvPr/>
        </p:nvSpPr>
        <p:spPr>
          <a:xfrm>
            <a:off x="8360988" y="1151437"/>
            <a:ext cx="4432880" cy="590931"/>
          </a:xfrm>
          <a:prstGeom prst="rect">
            <a:avLst/>
          </a:prstGeom>
          <a:noFill/>
          <a:ln>
            <a:noFill/>
          </a:ln>
        </p:spPr>
        <p:txBody>
          <a:bodyPr spcFirstLastPara="1" wrap="square" lIns="0" tIns="0" rIns="0" bIns="0" anchor="t" anchorCtr="0">
            <a:spAutoFit/>
          </a:bodyPr>
          <a:lstStyle/>
          <a:p>
            <a:pPr defTabSz="731556">
              <a:lnSpc>
                <a:spcPct val="120010"/>
              </a:lnSpc>
              <a:buClr>
                <a:srgbClr val="000000"/>
              </a:buClr>
            </a:pPr>
            <a:r>
              <a:rPr lang="en-US" sz="1600" b="1" kern="0" dirty="0">
                <a:solidFill>
                  <a:srgbClr val="FFFFFF"/>
                </a:solidFill>
                <a:latin typeface="Poppins"/>
                <a:ea typeface="Poppins"/>
                <a:cs typeface="Poppins"/>
                <a:sym typeface="Poppins"/>
              </a:rPr>
              <a:t>CORSO II SEMESTRE</a:t>
            </a:r>
            <a:endParaRPr sz="1120" kern="0" dirty="0">
              <a:solidFill>
                <a:srgbClr val="000000"/>
              </a:solidFill>
              <a:latin typeface="Arial"/>
              <a:cs typeface="Arial"/>
              <a:sym typeface="Arial"/>
            </a:endParaRPr>
          </a:p>
          <a:p>
            <a:pPr defTabSz="731556">
              <a:lnSpc>
                <a:spcPct val="120010"/>
              </a:lnSpc>
              <a:buClr>
                <a:srgbClr val="000000"/>
              </a:buClr>
            </a:pPr>
            <a:r>
              <a:rPr lang="en-US" sz="1600" b="1" kern="0" dirty="0">
                <a:solidFill>
                  <a:srgbClr val="FFFFFF"/>
                </a:solidFill>
                <a:latin typeface="Poppins"/>
                <a:ea typeface="Poppins"/>
                <a:cs typeface="Poppins"/>
                <a:sym typeface="Poppins"/>
              </a:rPr>
              <a:t>2025 - 2026</a:t>
            </a:r>
            <a:endParaRPr sz="1120" kern="0" dirty="0">
              <a:solidFill>
                <a:srgbClr val="000000"/>
              </a:solidFill>
              <a:latin typeface="Arial"/>
              <a:cs typeface="Arial"/>
              <a:sym typeface="Arial"/>
            </a:endParaRPr>
          </a:p>
        </p:txBody>
      </p:sp>
      <p:sp>
        <p:nvSpPr>
          <p:cNvPr id="91" name="Google Shape;91;p13"/>
          <p:cNvSpPr txBox="1"/>
          <p:nvPr/>
        </p:nvSpPr>
        <p:spPr>
          <a:xfrm>
            <a:off x="822960" y="2944145"/>
            <a:ext cx="12149750" cy="443070"/>
          </a:xfrm>
          <a:prstGeom prst="rect">
            <a:avLst/>
          </a:prstGeom>
          <a:noFill/>
          <a:ln>
            <a:noFill/>
          </a:ln>
        </p:spPr>
        <p:txBody>
          <a:bodyPr spcFirstLastPara="1" wrap="square" lIns="0" tIns="0" rIns="0" bIns="0" anchor="t" anchorCtr="0">
            <a:spAutoFit/>
          </a:bodyPr>
          <a:lstStyle/>
          <a:p>
            <a:pPr defTabSz="731556">
              <a:lnSpc>
                <a:spcPct val="120006"/>
              </a:lnSpc>
              <a:buClr>
                <a:srgbClr val="000000"/>
              </a:buClr>
            </a:pPr>
            <a:r>
              <a:rPr lang="en-US" sz="2399" b="1" kern="0" dirty="0">
                <a:solidFill>
                  <a:srgbClr val="FFFFFF"/>
                </a:solidFill>
                <a:latin typeface="Poppins"/>
                <a:ea typeface="Poppins"/>
                <a:cs typeface="Poppins"/>
                <a:sym typeface="Poppins"/>
              </a:rPr>
              <a:t>LEZIONE. </a:t>
            </a:r>
            <a:r>
              <a:rPr lang="en-US" sz="2399" b="1" kern="0">
                <a:solidFill>
                  <a:srgbClr val="FFFFFF"/>
                </a:solidFill>
                <a:latin typeface="Poppins"/>
                <a:ea typeface="Poppins"/>
                <a:cs typeface="Poppins"/>
                <a:sym typeface="Poppins"/>
              </a:rPr>
              <a:t>6 </a:t>
            </a:r>
            <a:r>
              <a:rPr lang="en-US" sz="2399" b="1" kern="0" dirty="0">
                <a:solidFill>
                  <a:srgbClr val="FFFFFF"/>
                </a:solidFill>
                <a:latin typeface="Poppins"/>
                <a:ea typeface="Poppins"/>
                <a:cs typeface="Poppins"/>
                <a:sym typeface="Poppins"/>
              </a:rPr>
              <a:t>-  LE FORME DI MERCATO E LE FORME DI IMPRESA</a:t>
            </a:r>
            <a:endParaRPr sz="1120" kern="0" dirty="0">
              <a:solidFill>
                <a:srgbClr val="000000"/>
              </a:solidFill>
              <a:latin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280190" y="2400776"/>
            <a:ext cx="7556421" cy="1860233"/>
          </a:xfrm>
          <a:prstGeom prst="rect">
            <a:avLst/>
          </a:prstGeom>
          <a:noFill/>
          <a:ln/>
        </p:spPr>
        <p:txBody>
          <a:bodyPr wrap="squar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Forme di Mercato</a:t>
            </a:r>
            <a:endParaRPr lang="en-US" sz="3900" dirty="0"/>
          </a:p>
        </p:txBody>
      </p:sp>
      <p:sp>
        <p:nvSpPr>
          <p:cNvPr id="4" name="Text 1"/>
          <p:cNvSpPr/>
          <p:nvPr/>
        </p:nvSpPr>
        <p:spPr>
          <a:xfrm>
            <a:off x="6280190" y="4558665"/>
            <a:ext cx="7556421" cy="1270159"/>
          </a:xfrm>
          <a:prstGeom prst="rect">
            <a:avLst/>
          </a:prstGeom>
          <a:noFill/>
          <a:ln/>
        </p:spPr>
        <p:txBody>
          <a:bodyPr wrap="square" lIns="0" tIns="0" rIns="0" bIns="0" rtlCol="0" anchor="t"/>
          <a:lstStyle/>
          <a:p>
            <a:pPr marL="0" indent="0" algn="l">
              <a:lnSpc>
                <a:spcPts val="2500"/>
              </a:lnSpc>
              <a:buNone/>
            </a:pPr>
            <a:endParaRPr lang="en-US" sz="1550" dirty="0"/>
          </a:p>
        </p:txBody>
      </p:sp>
      <p:sp>
        <p:nvSpPr>
          <p:cNvPr id="5" name="Rettangolo 4">
            <a:extLst>
              <a:ext uri="{FF2B5EF4-FFF2-40B4-BE49-F238E27FC236}">
                <a16:creationId xmlns:a16="http://schemas.microsoft.com/office/drawing/2014/main" id="{28492F19-938B-46A3-A03C-06B02629E0BD}"/>
              </a:ext>
            </a:extLst>
          </p:cNvPr>
          <p:cNvSpPr/>
          <p:nvPr/>
        </p:nvSpPr>
        <p:spPr>
          <a:xfrm>
            <a:off x="6121101" y="3385796"/>
            <a:ext cx="7715510" cy="2308324"/>
          </a:xfrm>
          <a:prstGeom prst="rect">
            <a:avLst/>
          </a:prstGeom>
        </p:spPr>
        <p:txBody>
          <a:bodyPr wrap="square">
            <a:spAutoFit/>
          </a:bodyPr>
          <a:lstStyle/>
          <a:p>
            <a:pPr algn="just"/>
            <a:r>
              <a:rPr lang="it-IT" sz="2400" dirty="0">
                <a:latin typeface="Inter" panose="020B0604020202020204" charset="0"/>
                <a:ea typeface="Inter" panose="020B0604020202020204" charset="0"/>
              </a:rPr>
              <a:t>Le forme di mercato descrivono come le imprese competono tra loro.</a:t>
            </a:r>
          </a:p>
          <a:p>
            <a:pPr algn="just"/>
            <a:endParaRPr lang="it-IT" sz="2400" dirty="0">
              <a:latin typeface="Inter" panose="020B0604020202020204" charset="0"/>
              <a:ea typeface="Inter" panose="020B0604020202020204" charset="0"/>
            </a:endParaRPr>
          </a:p>
          <a:p>
            <a:pPr algn="just"/>
            <a:r>
              <a:rPr lang="it-IT" sz="2400" dirty="0">
                <a:latin typeface="Inter" panose="020B0604020202020204" charset="0"/>
                <a:ea typeface="Inter" panose="020B0604020202020204" charset="0"/>
              </a:rPr>
              <a:t>Comprendere le strutture di mercato è fondamentale per analizzare prezzi, produzione e benessere sociale.</a:t>
            </a:r>
          </a:p>
        </p:txBody>
      </p:sp>
      <p:pic>
        <p:nvPicPr>
          <p:cNvPr id="6" name="Immagine 5">
            <a:extLst>
              <a:ext uri="{FF2B5EF4-FFF2-40B4-BE49-F238E27FC236}">
                <a16:creationId xmlns:a16="http://schemas.microsoft.com/office/drawing/2014/main" id="{2427BD54-05BC-44BE-BF8D-1174BC23C4A2}"/>
              </a:ext>
            </a:extLst>
          </p:cNvPr>
          <p:cNvPicPr>
            <a:picLocks noChangeAspect="1"/>
          </p:cNvPicPr>
          <p:nvPr/>
        </p:nvPicPr>
        <p:blipFill>
          <a:blip r:embed="rId3"/>
          <a:stretch>
            <a:fillRect/>
          </a:stretch>
        </p:blipFill>
        <p:spPr>
          <a:xfrm>
            <a:off x="208923" y="2419513"/>
            <a:ext cx="5832633" cy="3274607"/>
          </a:xfrm>
          <a:prstGeom prst="rect">
            <a:avLst/>
          </a:prstGeom>
        </p:spPr>
      </p:pic>
    </p:spTree>
    <p:extLst>
      <p:ext uri="{BB962C8B-B14F-4D97-AF65-F5344CB8AC3E}">
        <p14:creationId xmlns:p14="http://schemas.microsoft.com/office/powerpoint/2010/main" val="2946790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101358" y="645875"/>
            <a:ext cx="6019562" cy="480536"/>
          </a:xfrm>
          <a:prstGeom prst="rect">
            <a:avLst/>
          </a:prstGeom>
          <a:noFill/>
          <a:ln/>
        </p:spPr>
        <p:txBody>
          <a:bodyPr wrap="none" lIns="0" tIns="0" rIns="0" bIns="0" rtlCol="0" anchor="t"/>
          <a:lstStyle/>
          <a:p>
            <a:pPr marL="0" indent="0" algn="l">
              <a:lnSpc>
                <a:spcPts val="3750"/>
              </a:lnSpc>
              <a:buNone/>
            </a:pPr>
            <a:r>
              <a:rPr lang="en-US" sz="3600" b="1" dirty="0">
                <a:solidFill>
                  <a:srgbClr val="000000"/>
                </a:solidFill>
                <a:latin typeface="Inter Bold" pitchFamily="34" charset="0"/>
                <a:ea typeface="Inter Bold" pitchFamily="34" charset="-122"/>
                <a:cs typeface="Inter Bold" pitchFamily="34" charset="-120"/>
              </a:rPr>
              <a:t>Cosa Sono le Forme di Mercato?</a:t>
            </a:r>
            <a:endParaRPr lang="en-US" sz="3600" dirty="0"/>
          </a:p>
        </p:txBody>
      </p:sp>
      <p:sp>
        <p:nvSpPr>
          <p:cNvPr id="4" name="Text 1"/>
          <p:cNvSpPr/>
          <p:nvPr/>
        </p:nvSpPr>
        <p:spPr>
          <a:xfrm>
            <a:off x="6101358" y="1426663"/>
            <a:ext cx="7914084" cy="654368"/>
          </a:xfrm>
          <a:prstGeom prst="rect">
            <a:avLst/>
          </a:prstGeom>
          <a:noFill/>
          <a:ln/>
        </p:spPr>
        <p:txBody>
          <a:bodyPr wrap="square" lIns="0" tIns="0" rIns="0" bIns="0" rtlCol="0" anchor="t"/>
          <a:lstStyle/>
          <a:p>
            <a:pPr marL="0" indent="0" algn="just">
              <a:lnSpc>
                <a:spcPts val="1700"/>
              </a:lnSpc>
              <a:buNone/>
            </a:pPr>
            <a:r>
              <a:rPr lang="en-US" dirty="0">
                <a:solidFill>
                  <a:srgbClr val="272525"/>
                </a:solidFill>
                <a:latin typeface="Inter" pitchFamily="34" charset="0"/>
                <a:ea typeface="Inter" pitchFamily="34" charset="-122"/>
                <a:cs typeface="Inter" pitchFamily="34" charset="-120"/>
              </a:rPr>
              <a:t>Le forme di mercato descrivono la struttura dell'ambiente competitivo in cui operano le imprese. Esse determinano il comportamento dei venditori, il livello dei prezzi, la qualità dei prodotti e, in ultima analisi, il benessere dei consumatori.</a:t>
            </a:r>
            <a:endParaRPr lang="en-US" dirty="0"/>
          </a:p>
        </p:txBody>
      </p:sp>
      <p:sp>
        <p:nvSpPr>
          <p:cNvPr id="5" name="Shape 2"/>
          <p:cNvSpPr/>
          <p:nvPr/>
        </p:nvSpPr>
        <p:spPr>
          <a:xfrm>
            <a:off x="6101358" y="2495242"/>
            <a:ext cx="7914084" cy="1173114"/>
          </a:xfrm>
          <a:prstGeom prst="roundRect">
            <a:avLst>
              <a:gd name="adj" fmla="val 7577"/>
            </a:avLst>
          </a:prstGeom>
          <a:solidFill>
            <a:schemeClr val="accent4">
              <a:lumMod val="60000"/>
              <a:lumOff val="40000"/>
            </a:schemeClr>
          </a:solidFill>
          <a:ln w="7620">
            <a:solidFill>
              <a:srgbClr val="C0C1D7"/>
            </a:solidFill>
            <a:prstDash val="solid"/>
          </a:ln>
        </p:spPr>
      </p:sp>
      <p:sp>
        <p:nvSpPr>
          <p:cNvPr id="6" name="Text 3"/>
          <p:cNvSpPr/>
          <p:nvPr/>
        </p:nvSpPr>
        <p:spPr>
          <a:xfrm>
            <a:off x="6262688" y="2673009"/>
            <a:ext cx="1922026" cy="240149"/>
          </a:xfrm>
          <a:prstGeom prst="rect">
            <a:avLst/>
          </a:prstGeom>
          <a:noFill/>
          <a:ln/>
        </p:spPr>
        <p:txBody>
          <a:bodyPr wrap="none" lIns="0" tIns="0" rIns="0" bIns="0" rtlCol="0" anchor="t"/>
          <a:lstStyle/>
          <a:p>
            <a:pPr marL="0" indent="0" algn="l">
              <a:lnSpc>
                <a:spcPts val="1850"/>
              </a:lnSpc>
              <a:buNone/>
            </a:pPr>
            <a:r>
              <a:rPr lang="en-US" sz="2000" b="1" dirty="0">
                <a:solidFill>
                  <a:srgbClr val="272525"/>
                </a:solidFill>
                <a:latin typeface="Inter" panose="020B0604020202020204" charset="0"/>
                <a:ea typeface="Inter" panose="020B0604020202020204" charset="0"/>
                <a:cs typeface="Inter Bold" pitchFamily="34" charset="-120"/>
              </a:rPr>
              <a:t>Numero di Imprese</a:t>
            </a:r>
            <a:endParaRPr lang="en-US" sz="2000" dirty="0">
              <a:latin typeface="Inter" panose="020B0604020202020204" charset="0"/>
              <a:ea typeface="Inter" panose="020B0604020202020204" charset="0"/>
            </a:endParaRPr>
          </a:p>
        </p:txBody>
      </p:sp>
      <p:sp>
        <p:nvSpPr>
          <p:cNvPr id="7" name="Text 4"/>
          <p:cNvSpPr/>
          <p:nvPr/>
        </p:nvSpPr>
        <p:spPr>
          <a:xfrm>
            <a:off x="6262688" y="2998243"/>
            <a:ext cx="7030232" cy="516197"/>
          </a:xfrm>
          <a:prstGeom prst="rect">
            <a:avLst/>
          </a:prstGeom>
          <a:noFill/>
          <a:ln/>
        </p:spPr>
        <p:txBody>
          <a:bodyPr wrap="none" lIns="0" tIns="0" rIns="0" bIns="0" rtlCol="0" anchor="t"/>
          <a:lstStyle/>
          <a:p>
            <a:pPr marL="0" indent="0" algn="l">
              <a:lnSpc>
                <a:spcPts val="1700"/>
              </a:lnSpc>
              <a:buNone/>
            </a:pPr>
            <a:r>
              <a:rPr lang="en-US" sz="1600" dirty="0">
                <a:solidFill>
                  <a:srgbClr val="272525"/>
                </a:solidFill>
                <a:latin typeface="Inter" panose="020B0604020202020204" charset="0"/>
                <a:ea typeface="Inter" panose="020B0604020202020204" charset="0"/>
                <a:cs typeface="Inter" pitchFamily="34" charset="-120"/>
              </a:rPr>
              <a:t>Da una sola impresa dominante fino a migliaia di </a:t>
            </a:r>
            <a:r>
              <a:rPr lang="en-US" sz="1600" dirty="0" err="1">
                <a:solidFill>
                  <a:srgbClr val="272525"/>
                </a:solidFill>
                <a:latin typeface="Inter" panose="020B0604020202020204" charset="0"/>
                <a:ea typeface="Inter" panose="020B0604020202020204" charset="0"/>
                <a:cs typeface="Inter" pitchFamily="34" charset="-120"/>
              </a:rPr>
              <a:t>produttori</a:t>
            </a:r>
            <a:r>
              <a:rPr lang="en-US" sz="1600" dirty="0">
                <a:solidFill>
                  <a:srgbClr val="272525"/>
                </a:solidFill>
                <a:latin typeface="Inter" panose="020B0604020202020204" charset="0"/>
                <a:ea typeface="Inter" panose="020B0604020202020204" charset="0"/>
                <a:cs typeface="Inter" pitchFamily="34" charset="-120"/>
              </a:rPr>
              <a:t> </a:t>
            </a:r>
            <a:r>
              <a:rPr lang="en-US" sz="1600" dirty="0" err="1">
                <a:solidFill>
                  <a:srgbClr val="272525"/>
                </a:solidFill>
                <a:latin typeface="Inter" panose="020B0604020202020204" charset="0"/>
                <a:ea typeface="Inter" panose="020B0604020202020204" charset="0"/>
                <a:cs typeface="Inter" pitchFamily="34" charset="-120"/>
              </a:rPr>
              <a:t>che</a:t>
            </a:r>
            <a:r>
              <a:rPr lang="en-US" sz="1600" dirty="0">
                <a:solidFill>
                  <a:srgbClr val="272525"/>
                </a:solidFill>
                <a:latin typeface="Inter" panose="020B0604020202020204" charset="0"/>
                <a:ea typeface="Inter" panose="020B0604020202020204" charset="0"/>
                <a:cs typeface="Inter" pitchFamily="34" charset="-120"/>
              </a:rPr>
              <a:t> </a:t>
            </a:r>
            <a:r>
              <a:rPr lang="en-US" sz="1600" dirty="0" err="1">
                <a:solidFill>
                  <a:srgbClr val="272525"/>
                </a:solidFill>
                <a:latin typeface="Inter" panose="020B0604020202020204" charset="0"/>
                <a:ea typeface="Inter" panose="020B0604020202020204" charset="0"/>
                <a:cs typeface="Inter" pitchFamily="34" charset="-120"/>
              </a:rPr>
              <a:t>si</a:t>
            </a:r>
            <a:r>
              <a:rPr lang="en-US" sz="1600" dirty="0">
                <a:solidFill>
                  <a:srgbClr val="272525"/>
                </a:solidFill>
                <a:latin typeface="Inter" panose="020B0604020202020204" charset="0"/>
                <a:ea typeface="Inter" panose="020B0604020202020204" charset="0"/>
                <a:cs typeface="Inter" pitchFamily="34" charset="-120"/>
              </a:rPr>
              <a:t> </a:t>
            </a:r>
          </a:p>
          <a:p>
            <a:pPr marL="0" indent="0" algn="l">
              <a:lnSpc>
                <a:spcPts val="1700"/>
              </a:lnSpc>
              <a:buNone/>
            </a:pPr>
            <a:r>
              <a:rPr lang="en-US" sz="1600" dirty="0" err="1">
                <a:solidFill>
                  <a:srgbClr val="272525"/>
                </a:solidFill>
                <a:latin typeface="Inter" panose="020B0604020202020204" charset="0"/>
                <a:ea typeface="Inter" panose="020B0604020202020204" charset="0"/>
                <a:cs typeface="Inter" pitchFamily="34" charset="-120"/>
              </a:rPr>
              <a:t>contendono</a:t>
            </a:r>
            <a:r>
              <a:rPr lang="en-US" sz="1600" dirty="0">
                <a:solidFill>
                  <a:srgbClr val="272525"/>
                </a:solidFill>
                <a:latin typeface="Inter" panose="020B0604020202020204" charset="0"/>
                <a:ea typeface="Inter" panose="020B0604020202020204" charset="0"/>
                <a:cs typeface="Inter" pitchFamily="34" charset="-120"/>
              </a:rPr>
              <a:t> lo stesso mercato.</a:t>
            </a:r>
            <a:endParaRPr lang="en-US" sz="1600" dirty="0">
              <a:latin typeface="Inter" panose="020B0604020202020204" charset="0"/>
              <a:ea typeface="Inter" panose="020B0604020202020204" charset="0"/>
            </a:endParaRPr>
          </a:p>
        </p:txBody>
      </p:sp>
      <p:sp>
        <p:nvSpPr>
          <p:cNvPr id="8" name="Shape 5"/>
          <p:cNvSpPr/>
          <p:nvPr/>
        </p:nvSpPr>
        <p:spPr>
          <a:xfrm>
            <a:off x="6101358" y="3879649"/>
            <a:ext cx="7914084" cy="1007791"/>
          </a:xfrm>
          <a:prstGeom prst="roundRect">
            <a:avLst>
              <a:gd name="adj" fmla="val 7577"/>
            </a:avLst>
          </a:prstGeom>
          <a:solidFill>
            <a:srgbClr val="92D050"/>
          </a:solidFill>
          <a:ln w="7620">
            <a:solidFill>
              <a:srgbClr val="C0C1D7"/>
            </a:solidFill>
            <a:prstDash val="solid"/>
          </a:ln>
        </p:spPr>
      </p:sp>
      <p:sp>
        <p:nvSpPr>
          <p:cNvPr id="9" name="Text 6"/>
          <p:cNvSpPr/>
          <p:nvPr/>
        </p:nvSpPr>
        <p:spPr>
          <a:xfrm>
            <a:off x="6285948" y="4021197"/>
            <a:ext cx="1922026" cy="240149"/>
          </a:xfrm>
          <a:prstGeom prst="rect">
            <a:avLst/>
          </a:prstGeom>
          <a:noFill/>
          <a:ln/>
        </p:spPr>
        <p:txBody>
          <a:bodyPr wrap="none" lIns="0" tIns="0" rIns="0" bIns="0" rtlCol="0" anchor="t"/>
          <a:lstStyle/>
          <a:p>
            <a:pPr marL="0" indent="0" algn="l">
              <a:lnSpc>
                <a:spcPts val="1850"/>
              </a:lnSpc>
              <a:buNone/>
            </a:pPr>
            <a:r>
              <a:rPr lang="en-US" sz="2000" b="1" dirty="0">
                <a:solidFill>
                  <a:srgbClr val="272525"/>
                </a:solidFill>
                <a:latin typeface="Inter" panose="020B0604020202020204" charset="0"/>
                <a:ea typeface="Inter" panose="020B0604020202020204" charset="0"/>
                <a:cs typeface="Inter Bold" pitchFamily="34" charset="-120"/>
              </a:rPr>
              <a:t>Tipo di Prodotto</a:t>
            </a:r>
            <a:endParaRPr lang="en-US" sz="2000" dirty="0">
              <a:latin typeface="Inter" panose="020B0604020202020204" charset="0"/>
              <a:ea typeface="Inter" panose="020B0604020202020204" charset="0"/>
            </a:endParaRPr>
          </a:p>
        </p:txBody>
      </p:sp>
      <p:sp>
        <p:nvSpPr>
          <p:cNvPr id="10" name="Text 7"/>
          <p:cNvSpPr/>
          <p:nvPr/>
        </p:nvSpPr>
        <p:spPr>
          <a:xfrm>
            <a:off x="6287656" y="4293072"/>
            <a:ext cx="7591425" cy="218123"/>
          </a:xfrm>
          <a:prstGeom prst="rect">
            <a:avLst/>
          </a:prstGeom>
          <a:noFill/>
          <a:ln/>
        </p:spPr>
        <p:txBody>
          <a:bodyPr wrap="none" lIns="0" tIns="0" rIns="0" bIns="0" rtlCol="0" anchor="t"/>
          <a:lstStyle/>
          <a:p>
            <a:pPr marL="0" indent="0" algn="l">
              <a:lnSpc>
                <a:spcPts val="1700"/>
              </a:lnSpc>
              <a:buNone/>
            </a:pPr>
            <a:r>
              <a:rPr lang="en-US" sz="1600" dirty="0">
                <a:solidFill>
                  <a:srgbClr val="272525"/>
                </a:solidFill>
                <a:latin typeface="Inter" panose="020B0604020202020204" charset="0"/>
                <a:ea typeface="Inter" panose="020B0604020202020204" charset="0"/>
                <a:cs typeface="Inter" pitchFamily="34" charset="-120"/>
              </a:rPr>
              <a:t>I beni possono essere perfettamente omogenei </a:t>
            </a:r>
            <a:r>
              <a:rPr lang="en-US" sz="1600" dirty="0" err="1">
                <a:solidFill>
                  <a:srgbClr val="272525"/>
                </a:solidFill>
                <a:latin typeface="Inter" panose="020B0604020202020204" charset="0"/>
                <a:ea typeface="Inter" panose="020B0604020202020204" charset="0"/>
                <a:cs typeface="Inter" pitchFamily="34" charset="-120"/>
              </a:rPr>
              <a:t>oppure</a:t>
            </a:r>
            <a:r>
              <a:rPr lang="en-US" sz="1600" dirty="0">
                <a:solidFill>
                  <a:srgbClr val="272525"/>
                </a:solidFill>
                <a:latin typeface="Inter" panose="020B0604020202020204" charset="0"/>
                <a:ea typeface="Inter" panose="020B0604020202020204" charset="0"/>
                <a:cs typeface="Inter" pitchFamily="34" charset="-120"/>
              </a:rPr>
              <a:t> </a:t>
            </a:r>
          </a:p>
          <a:p>
            <a:pPr marL="0" indent="0" algn="l">
              <a:lnSpc>
                <a:spcPts val="1700"/>
              </a:lnSpc>
              <a:buNone/>
            </a:pPr>
            <a:r>
              <a:rPr lang="en-US" sz="1600" dirty="0" err="1">
                <a:solidFill>
                  <a:srgbClr val="272525"/>
                </a:solidFill>
                <a:latin typeface="Inter" panose="020B0604020202020204" charset="0"/>
                <a:ea typeface="Inter" panose="020B0604020202020204" charset="0"/>
                <a:cs typeface="Inter" pitchFamily="34" charset="-120"/>
              </a:rPr>
              <a:t>differenziati</a:t>
            </a:r>
            <a:r>
              <a:rPr lang="en-US" sz="1600" dirty="0">
                <a:solidFill>
                  <a:srgbClr val="272525"/>
                </a:solidFill>
                <a:latin typeface="Inter" panose="020B0604020202020204" charset="0"/>
                <a:ea typeface="Inter" panose="020B0604020202020204" charset="0"/>
                <a:cs typeface="Inter" pitchFamily="34" charset="-120"/>
              </a:rPr>
              <a:t> attraverso brand, design e qualità.</a:t>
            </a:r>
            <a:endParaRPr lang="en-US" sz="1600" dirty="0">
              <a:latin typeface="Inter" panose="020B0604020202020204" charset="0"/>
              <a:ea typeface="Inter" panose="020B0604020202020204" charset="0"/>
            </a:endParaRPr>
          </a:p>
        </p:txBody>
      </p:sp>
      <p:sp>
        <p:nvSpPr>
          <p:cNvPr id="11" name="Shape 8"/>
          <p:cNvSpPr/>
          <p:nvPr/>
        </p:nvSpPr>
        <p:spPr>
          <a:xfrm>
            <a:off x="6101358" y="5185033"/>
            <a:ext cx="7914084" cy="1018162"/>
          </a:xfrm>
          <a:prstGeom prst="roundRect">
            <a:avLst>
              <a:gd name="adj" fmla="val 7577"/>
            </a:avLst>
          </a:prstGeom>
          <a:solidFill>
            <a:schemeClr val="accent5">
              <a:lumMod val="60000"/>
              <a:lumOff val="40000"/>
            </a:schemeClr>
          </a:solidFill>
          <a:ln w="7620">
            <a:solidFill>
              <a:srgbClr val="C0C1D7"/>
            </a:solidFill>
            <a:prstDash val="solid"/>
          </a:ln>
        </p:spPr>
      </p:sp>
      <p:sp>
        <p:nvSpPr>
          <p:cNvPr id="12" name="Text 9"/>
          <p:cNvSpPr/>
          <p:nvPr/>
        </p:nvSpPr>
        <p:spPr>
          <a:xfrm>
            <a:off x="6262688" y="5314185"/>
            <a:ext cx="1922026" cy="240149"/>
          </a:xfrm>
          <a:prstGeom prst="rect">
            <a:avLst/>
          </a:prstGeom>
          <a:noFill/>
          <a:ln/>
        </p:spPr>
        <p:txBody>
          <a:bodyPr wrap="none" lIns="0" tIns="0" rIns="0" bIns="0" rtlCol="0" anchor="t"/>
          <a:lstStyle/>
          <a:p>
            <a:pPr marL="0" indent="0" algn="l">
              <a:lnSpc>
                <a:spcPts val="1850"/>
              </a:lnSpc>
              <a:buNone/>
            </a:pPr>
            <a:r>
              <a:rPr lang="en-US" sz="2000" b="1" dirty="0">
                <a:solidFill>
                  <a:srgbClr val="272525"/>
                </a:solidFill>
                <a:latin typeface="Inter" panose="020B0604020202020204" charset="0"/>
                <a:ea typeface="Inter" panose="020B0604020202020204" charset="0"/>
                <a:cs typeface="Inter Bold" pitchFamily="34" charset="-120"/>
              </a:rPr>
              <a:t>Barriere all'Entrata</a:t>
            </a:r>
            <a:endParaRPr lang="en-US" sz="2000" dirty="0">
              <a:latin typeface="Inter" panose="020B0604020202020204" charset="0"/>
              <a:ea typeface="Inter" panose="020B0604020202020204" charset="0"/>
            </a:endParaRPr>
          </a:p>
        </p:txBody>
      </p:sp>
      <p:sp>
        <p:nvSpPr>
          <p:cNvPr id="13" name="Text 10"/>
          <p:cNvSpPr/>
          <p:nvPr/>
        </p:nvSpPr>
        <p:spPr>
          <a:xfrm>
            <a:off x="6287656" y="5685087"/>
            <a:ext cx="7591425" cy="218123"/>
          </a:xfrm>
          <a:prstGeom prst="rect">
            <a:avLst/>
          </a:prstGeom>
          <a:noFill/>
          <a:ln/>
        </p:spPr>
        <p:txBody>
          <a:bodyPr wrap="none" lIns="0" tIns="0" rIns="0" bIns="0" rtlCol="0" anchor="t"/>
          <a:lstStyle/>
          <a:p>
            <a:pPr marL="0" indent="0" algn="l">
              <a:lnSpc>
                <a:spcPts val="1700"/>
              </a:lnSpc>
              <a:buNone/>
            </a:pPr>
            <a:r>
              <a:rPr lang="en-US" sz="1600" dirty="0">
                <a:solidFill>
                  <a:srgbClr val="272525"/>
                </a:solidFill>
                <a:latin typeface="Inter" panose="020B0604020202020204" charset="0"/>
                <a:ea typeface="Inter" panose="020B0604020202020204" charset="0"/>
                <a:cs typeface="Inter" pitchFamily="34" charset="-120"/>
              </a:rPr>
              <a:t>La facilità con cui nuove imprese possono entrare o </a:t>
            </a:r>
            <a:r>
              <a:rPr lang="en-US" sz="1600" dirty="0" err="1">
                <a:solidFill>
                  <a:srgbClr val="272525"/>
                </a:solidFill>
                <a:latin typeface="Inter" panose="020B0604020202020204" charset="0"/>
                <a:ea typeface="Inter" panose="020B0604020202020204" charset="0"/>
                <a:cs typeface="Inter" pitchFamily="34" charset="-120"/>
              </a:rPr>
              <a:t>uscire</a:t>
            </a:r>
            <a:r>
              <a:rPr lang="en-US" sz="1600" dirty="0">
                <a:solidFill>
                  <a:srgbClr val="272525"/>
                </a:solidFill>
                <a:latin typeface="Inter" panose="020B0604020202020204" charset="0"/>
                <a:ea typeface="Inter" panose="020B0604020202020204" charset="0"/>
                <a:cs typeface="Inter" pitchFamily="34" charset="-120"/>
              </a:rPr>
              <a:t> </a:t>
            </a:r>
          </a:p>
          <a:p>
            <a:pPr marL="0" indent="0" algn="l">
              <a:lnSpc>
                <a:spcPts val="1700"/>
              </a:lnSpc>
              <a:buNone/>
            </a:pPr>
            <a:r>
              <a:rPr lang="en-US" sz="1600" dirty="0">
                <a:solidFill>
                  <a:srgbClr val="272525"/>
                </a:solidFill>
                <a:latin typeface="Inter" panose="020B0604020202020204" charset="0"/>
                <a:ea typeface="Inter" panose="020B0604020202020204" charset="0"/>
                <a:cs typeface="Inter" pitchFamily="34" charset="-120"/>
              </a:rPr>
              <a:t>da un mercato definisce la contestabilità.</a:t>
            </a:r>
            <a:endParaRPr lang="en-US" sz="1600" dirty="0">
              <a:latin typeface="Inter" panose="020B0604020202020204" charset="0"/>
              <a:ea typeface="Inter" panose="020B0604020202020204" charset="0"/>
            </a:endParaRPr>
          </a:p>
        </p:txBody>
      </p:sp>
      <p:sp>
        <p:nvSpPr>
          <p:cNvPr id="14" name="Shape 11"/>
          <p:cNvSpPr/>
          <p:nvPr/>
        </p:nvSpPr>
        <p:spPr>
          <a:xfrm>
            <a:off x="6101358" y="6500788"/>
            <a:ext cx="7914084" cy="1053290"/>
          </a:xfrm>
          <a:prstGeom prst="roundRect">
            <a:avLst>
              <a:gd name="adj" fmla="val 7577"/>
            </a:avLst>
          </a:prstGeom>
          <a:solidFill>
            <a:srgbClr val="DADBF1"/>
          </a:solidFill>
          <a:ln w="7620">
            <a:solidFill>
              <a:srgbClr val="C0C1D7"/>
            </a:solidFill>
            <a:prstDash val="solid"/>
          </a:ln>
        </p:spPr>
      </p:sp>
      <p:sp>
        <p:nvSpPr>
          <p:cNvPr id="15" name="Text 12"/>
          <p:cNvSpPr/>
          <p:nvPr/>
        </p:nvSpPr>
        <p:spPr>
          <a:xfrm>
            <a:off x="6262688" y="6665606"/>
            <a:ext cx="1922026" cy="240149"/>
          </a:xfrm>
          <a:prstGeom prst="rect">
            <a:avLst/>
          </a:prstGeom>
          <a:noFill/>
          <a:ln/>
        </p:spPr>
        <p:txBody>
          <a:bodyPr wrap="none" lIns="0" tIns="0" rIns="0" bIns="0" rtlCol="0" anchor="t"/>
          <a:lstStyle/>
          <a:p>
            <a:pPr marL="0" indent="0" algn="l">
              <a:lnSpc>
                <a:spcPts val="1850"/>
              </a:lnSpc>
              <a:buNone/>
            </a:pPr>
            <a:r>
              <a:rPr lang="en-US" sz="2000" b="1" dirty="0">
                <a:solidFill>
                  <a:srgbClr val="272525"/>
                </a:solidFill>
                <a:latin typeface="Inter" panose="020B0604020202020204" charset="0"/>
                <a:ea typeface="Inter" panose="020B0604020202020204" charset="0"/>
                <a:cs typeface="Inter Bold" pitchFamily="34" charset="-120"/>
              </a:rPr>
              <a:t>Potere di Mercato</a:t>
            </a:r>
            <a:endParaRPr lang="en-US" sz="2000" dirty="0">
              <a:latin typeface="Inter" panose="020B0604020202020204" charset="0"/>
              <a:ea typeface="Inter" panose="020B0604020202020204" charset="0"/>
            </a:endParaRPr>
          </a:p>
        </p:txBody>
      </p:sp>
      <p:sp>
        <p:nvSpPr>
          <p:cNvPr id="16" name="Text 13"/>
          <p:cNvSpPr/>
          <p:nvPr/>
        </p:nvSpPr>
        <p:spPr>
          <a:xfrm>
            <a:off x="6262688" y="6994535"/>
            <a:ext cx="7591425" cy="218123"/>
          </a:xfrm>
          <a:prstGeom prst="rect">
            <a:avLst/>
          </a:prstGeom>
          <a:noFill/>
          <a:ln/>
        </p:spPr>
        <p:txBody>
          <a:bodyPr wrap="none" lIns="0" tIns="0" rIns="0" bIns="0" rtlCol="0" anchor="t"/>
          <a:lstStyle/>
          <a:p>
            <a:pPr marL="0" indent="0" algn="l">
              <a:lnSpc>
                <a:spcPts val="1700"/>
              </a:lnSpc>
              <a:buNone/>
            </a:pPr>
            <a:r>
              <a:rPr lang="en-US" sz="1600" dirty="0">
                <a:solidFill>
                  <a:srgbClr val="272525"/>
                </a:solidFill>
                <a:latin typeface="Inter" panose="020B0604020202020204" charset="0"/>
                <a:ea typeface="Inter" panose="020B0604020202020204" charset="0"/>
                <a:cs typeface="Inter" pitchFamily="34" charset="-120"/>
              </a:rPr>
              <a:t>La capacità di un'impresa di influenzare il prezzo </a:t>
            </a:r>
            <a:r>
              <a:rPr lang="en-US" sz="1600" dirty="0" err="1">
                <a:solidFill>
                  <a:srgbClr val="272525"/>
                </a:solidFill>
                <a:latin typeface="Inter" panose="020B0604020202020204" charset="0"/>
                <a:ea typeface="Inter" panose="020B0604020202020204" charset="0"/>
                <a:cs typeface="Inter" pitchFamily="34" charset="-120"/>
              </a:rPr>
              <a:t>varia</a:t>
            </a:r>
            <a:r>
              <a:rPr lang="en-US" sz="1600" dirty="0">
                <a:solidFill>
                  <a:srgbClr val="272525"/>
                </a:solidFill>
                <a:latin typeface="Inter" panose="020B0604020202020204" charset="0"/>
                <a:ea typeface="Inter" panose="020B0604020202020204" charset="0"/>
                <a:cs typeface="Inter" pitchFamily="34" charset="-120"/>
              </a:rPr>
              <a:t> </a:t>
            </a:r>
          </a:p>
          <a:p>
            <a:pPr marL="0" indent="0" algn="l">
              <a:lnSpc>
                <a:spcPts val="1700"/>
              </a:lnSpc>
              <a:buNone/>
            </a:pPr>
            <a:r>
              <a:rPr lang="en-US" sz="1600" dirty="0" err="1">
                <a:solidFill>
                  <a:srgbClr val="272525"/>
                </a:solidFill>
                <a:latin typeface="Inter" panose="020B0604020202020204" charset="0"/>
                <a:ea typeface="Inter" panose="020B0604020202020204" charset="0"/>
                <a:cs typeface="Inter" pitchFamily="34" charset="-120"/>
              </a:rPr>
              <a:t>enormemente</a:t>
            </a:r>
            <a:r>
              <a:rPr lang="en-US" sz="1600" dirty="0">
                <a:solidFill>
                  <a:srgbClr val="272525"/>
                </a:solidFill>
                <a:latin typeface="Inter" panose="020B0604020202020204" charset="0"/>
                <a:ea typeface="Inter" panose="020B0604020202020204" charset="0"/>
                <a:cs typeface="Inter" pitchFamily="34" charset="-120"/>
              </a:rPr>
              <a:t> tra le diverse strutture.</a:t>
            </a:r>
            <a:endParaRPr lang="en-US" sz="1600" dirty="0">
              <a:latin typeface="Inter" panose="020B0604020202020204" charset="0"/>
              <a:ea typeface="Inter" panose="020B0604020202020204" charset="0"/>
            </a:endParaRPr>
          </a:p>
        </p:txBody>
      </p:sp>
      <p:pic>
        <p:nvPicPr>
          <p:cNvPr id="17" name="Immagine 16">
            <a:extLst>
              <a:ext uri="{FF2B5EF4-FFF2-40B4-BE49-F238E27FC236}">
                <a16:creationId xmlns:a16="http://schemas.microsoft.com/office/drawing/2014/main" id="{4747174B-6FBA-4124-B601-C646A690EA11}"/>
              </a:ext>
            </a:extLst>
          </p:cNvPr>
          <p:cNvPicPr>
            <a:picLocks noChangeAspect="1"/>
          </p:cNvPicPr>
          <p:nvPr/>
        </p:nvPicPr>
        <p:blipFill>
          <a:blip r:embed="rId3"/>
          <a:stretch>
            <a:fillRect/>
          </a:stretch>
        </p:blipFill>
        <p:spPr>
          <a:xfrm>
            <a:off x="0" y="0"/>
            <a:ext cx="5625703" cy="8229600"/>
          </a:xfrm>
          <a:prstGeom prst="rect">
            <a:avLst/>
          </a:prstGeom>
        </p:spPr>
      </p:pic>
    </p:spTree>
    <p:extLst>
      <p:ext uri="{BB962C8B-B14F-4D97-AF65-F5344CB8AC3E}">
        <p14:creationId xmlns:p14="http://schemas.microsoft.com/office/powerpoint/2010/main" val="2885299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2A790B9A-FE49-433E-8F5C-383935D65772}"/>
              </a:ext>
            </a:extLst>
          </p:cNvPr>
          <p:cNvPicPr>
            <a:picLocks noChangeAspect="1"/>
          </p:cNvPicPr>
          <p:nvPr/>
        </p:nvPicPr>
        <p:blipFill>
          <a:blip r:embed="rId3"/>
          <a:stretch>
            <a:fillRect/>
          </a:stretch>
        </p:blipFill>
        <p:spPr>
          <a:xfrm>
            <a:off x="327546" y="492483"/>
            <a:ext cx="13538579" cy="7053564"/>
          </a:xfrm>
          <a:prstGeom prst="rect">
            <a:avLst/>
          </a:prstGeom>
        </p:spPr>
      </p:pic>
    </p:spTree>
    <p:extLst>
      <p:ext uri="{BB962C8B-B14F-4D97-AF65-F5344CB8AC3E}">
        <p14:creationId xmlns:p14="http://schemas.microsoft.com/office/powerpoint/2010/main" val="2420153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754029"/>
            <a:ext cx="5907643" cy="620078"/>
          </a:xfrm>
          <a:prstGeom prst="rect">
            <a:avLst/>
          </a:prstGeom>
          <a:noFill/>
          <a:ln/>
        </p:spPr>
        <p:txBody>
          <a:bodyPr wrap="none" lIns="0" tIns="0" rIns="0" bIns="0" rtlCol="0" anchor="t"/>
          <a:lstStyle/>
          <a:p>
            <a:pPr marL="0" indent="0" algn="l">
              <a:lnSpc>
                <a:spcPts val="4850"/>
              </a:lnSpc>
              <a:buNone/>
            </a:pPr>
            <a:r>
              <a:rPr lang="en-US" sz="4400" b="1" dirty="0">
                <a:solidFill>
                  <a:srgbClr val="000000"/>
                </a:solidFill>
                <a:latin typeface="Inter" panose="020B0604020202020204" charset="0"/>
                <a:ea typeface="Inter" panose="020B0604020202020204" charset="0"/>
                <a:cs typeface="Inter Bold" pitchFamily="34" charset="-120"/>
              </a:rPr>
              <a:t>La Concorrenza Perfetta</a:t>
            </a:r>
            <a:endParaRPr lang="en-US" sz="4400" dirty="0">
              <a:latin typeface="Inter" panose="020B0604020202020204" charset="0"/>
              <a:ea typeface="Inter" panose="020B0604020202020204" charset="0"/>
            </a:endParaRPr>
          </a:p>
        </p:txBody>
      </p:sp>
      <p:sp>
        <p:nvSpPr>
          <p:cNvPr id="5" name="Shape 3"/>
          <p:cNvSpPr/>
          <p:nvPr/>
        </p:nvSpPr>
        <p:spPr>
          <a:xfrm>
            <a:off x="650915" y="3367326"/>
            <a:ext cx="6565106" cy="3108246"/>
          </a:xfrm>
          <a:prstGeom prst="roundRect">
            <a:avLst>
              <a:gd name="adj" fmla="val 4597"/>
            </a:avLst>
          </a:prstGeom>
          <a:solidFill>
            <a:schemeClr val="accent2">
              <a:lumMod val="50000"/>
            </a:schemeClr>
          </a:solidFill>
          <a:ln/>
        </p:spPr>
      </p:sp>
      <p:sp>
        <p:nvSpPr>
          <p:cNvPr id="6" name="Text 4"/>
          <p:cNvSpPr/>
          <p:nvPr/>
        </p:nvSpPr>
        <p:spPr>
          <a:xfrm>
            <a:off x="849273" y="3565684"/>
            <a:ext cx="3510558" cy="310158"/>
          </a:xfrm>
          <a:prstGeom prst="rect">
            <a:avLst/>
          </a:prstGeom>
          <a:noFill/>
          <a:ln/>
        </p:spPr>
        <p:txBody>
          <a:bodyPr wrap="none" lIns="0" tIns="0" rIns="0" bIns="0" rtlCol="0" anchor="t"/>
          <a:lstStyle/>
          <a:p>
            <a:pPr marL="0" indent="0" algn="l">
              <a:lnSpc>
                <a:spcPts val="2400"/>
              </a:lnSpc>
              <a:buNone/>
            </a:pPr>
            <a:r>
              <a:rPr lang="en-US" sz="2400" b="1" dirty="0">
                <a:solidFill>
                  <a:srgbClr val="FFFFFF"/>
                </a:solidFill>
                <a:latin typeface="Inter" panose="020B0604020202020204" charset="0"/>
                <a:ea typeface="Inter" panose="020B0604020202020204" charset="0"/>
                <a:cs typeface="Inter Bold" pitchFamily="34" charset="-120"/>
              </a:rPr>
              <a:t>Caratteristiche Fondamentali</a:t>
            </a:r>
            <a:endParaRPr lang="en-US" sz="2400" dirty="0">
              <a:latin typeface="Inter" panose="020B0604020202020204" charset="0"/>
              <a:ea typeface="Inter" panose="020B0604020202020204" charset="0"/>
            </a:endParaRPr>
          </a:p>
        </p:txBody>
      </p:sp>
      <p:sp>
        <p:nvSpPr>
          <p:cNvPr id="7" name="Text 5"/>
          <p:cNvSpPr/>
          <p:nvPr/>
        </p:nvSpPr>
        <p:spPr>
          <a:xfrm>
            <a:off x="849273" y="4074200"/>
            <a:ext cx="6168390" cy="1865352"/>
          </a:xfrm>
          <a:prstGeom prst="rect">
            <a:avLst/>
          </a:prstGeom>
          <a:noFill/>
          <a:ln/>
        </p:spPr>
        <p:txBody>
          <a:bodyPr wrap="square" lIns="0" tIns="0" rIns="0" bIns="0" rtlCol="0" anchor="t"/>
          <a:lstStyle/>
          <a:p>
            <a:pPr marL="342900" indent="-342900" algn="l">
              <a:lnSpc>
                <a:spcPts val="2500"/>
              </a:lnSpc>
              <a:buSzPct val="100000"/>
              <a:buChar char="•"/>
            </a:pPr>
            <a:r>
              <a:rPr lang="en-US" dirty="0">
                <a:solidFill>
                  <a:srgbClr val="FFFFFF"/>
                </a:solidFill>
                <a:latin typeface="Inter" panose="020B0604020202020204" charset="0"/>
                <a:ea typeface="Inter" panose="020B0604020202020204" charset="0"/>
                <a:cs typeface="Inter" pitchFamily="34" charset="-120"/>
              </a:rPr>
              <a:t>Moltissimi acquirenti e venditori di piccole dimensioni</a:t>
            </a:r>
            <a:endParaRPr lang="en-US" dirty="0">
              <a:latin typeface="Inter" panose="020B0604020202020204" charset="0"/>
              <a:ea typeface="Inter" panose="020B0604020202020204" charset="0"/>
            </a:endParaRPr>
          </a:p>
          <a:p>
            <a:pPr marL="342900" indent="-342900" algn="l">
              <a:lnSpc>
                <a:spcPts val="2500"/>
              </a:lnSpc>
              <a:buSzPct val="100000"/>
              <a:buChar char="•"/>
            </a:pPr>
            <a:r>
              <a:rPr lang="en-US" dirty="0">
                <a:solidFill>
                  <a:srgbClr val="FFFFFF"/>
                </a:solidFill>
                <a:latin typeface="Inter" panose="020B0604020202020204" charset="0"/>
                <a:ea typeface="Inter" panose="020B0604020202020204" charset="0"/>
                <a:cs typeface="Inter" pitchFamily="34" charset="-120"/>
              </a:rPr>
              <a:t>Prodotto perfettamente omogeneo</a:t>
            </a:r>
            <a:endParaRPr lang="en-US" dirty="0">
              <a:latin typeface="Inter" panose="020B0604020202020204" charset="0"/>
              <a:ea typeface="Inter" panose="020B0604020202020204" charset="0"/>
            </a:endParaRPr>
          </a:p>
          <a:p>
            <a:pPr marL="342900" indent="-342900" algn="l">
              <a:lnSpc>
                <a:spcPts val="2500"/>
              </a:lnSpc>
              <a:buSzPct val="100000"/>
              <a:buChar char="•"/>
            </a:pPr>
            <a:r>
              <a:rPr lang="en-US" dirty="0">
                <a:solidFill>
                  <a:srgbClr val="FFFFFF"/>
                </a:solidFill>
                <a:latin typeface="Inter" panose="020B0604020202020204" charset="0"/>
                <a:ea typeface="Inter" panose="020B0604020202020204" charset="0"/>
                <a:cs typeface="Inter" pitchFamily="34" charset="-120"/>
              </a:rPr>
              <a:t>Libera entrata e uscita dal mercato</a:t>
            </a:r>
            <a:endParaRPr lang="en-US" dirty="0">
              <a:latin typeface="Inter" panose="020B0604020202020204" charset="0"/>
              <a:ea typeface="Inter" panose="020B0604020202020204" charset="0"/>
            </a:endParaRPr>
          </a:p>
          <a:p>
            <a:pPr marL="342900" indent="-342900" algn="l">
              <a:lnSpc>
                <a:spcPts val="2500"/>
              </a:lnSpc>
              <a:buSzPct val="100000"/>
              <a:buChar char="•"/>
            </a:pPr>
            <a:r>
              <a:rPr lang="en-US" dirty="0">
                <a:solidFill>
                  <a:srgbClr val="FFFFFF"/>
                </a:solidFill>
                <a:latin typeface="Inter" panose="020B0604020202020204" charset="0"/>
                <a:ea typeface="Inter" panose="020B0604020202020204" charset="0"/>
                <a:cs typeface="Inter" pitchFamily="34" charset="-120"/>
              </a:rPr>
              <a:t>Informazione perfetta e simmetrica</a:t>
            </a:r>
            <a:endParaRPr lang="en-US" dirty="0">
              <a:latin typeface="Inter" panose="020B0604020202020204" charset="0"/>
              <a:ea typeface="Inter" panose="020B0604020202020204" charset="0"/>
            </a:endParaRPr>
          </a:p>
          <a:p>
            <a:pPr marL="342900" indent="-342900" algn="l">
              <a:lnSpc>
                <a:spcPts val="2500"/>
              </a:lnSpc>
              <a:buSzPct val="100000"/>
              <a:buChar char="•"/>
            </a:pPr>
            <a:r>
              <a:rPr lang="en-US" dirty="0">
                <a:solidFill>
                  <a:srgbClr val="FFFFFF"/>
                </a:solidFill>
                <a:latin typeface="Inter" panose="020B0604020202020204" charset="0"/>
                <a:ea typeface="Inter" panose="020B0604020202020204" charset="0"/>
                <a:cs typeface="Inter" pitchFamily="34" charset="-120"/>
              </a:rPr>
              <a:t>Nessuna impresa è price-maker: tutti sono price-taker</a:t>
            </a:r>
            <a:endParaRPr lang="en-US" dirty="0">
              <a:latin typeface="Inter" panose="020B0604020202020204" charset="0"/>
              <a:ea typeface="Inter" panose="020B0604020202020204" charset="0"/>
            </a:endParaRPr>
          </a:p>
        </p:txBody>
      </p:sp>
      <p:sp>
        <p:nvSpPr>
          <p:cNvPr id="8" name="Text 6"/>
          <p:cNvSpPr/>
          <p:nvPr/>
        </p:nvSpPr>
        <p:spPr>
          <a:xfrm>
            <a:off x="7564874" y="3452831"/>
            <a:ext cx="3017520" cy="310158"/>
          </a:xfrm>
          <a:prstGeom prst="rect">
            <a:avLst/>
          </a:prstGeom>
          <a:noFill/>
          <a:ln/>
        </p:spPr>
        <p:txBody>
          <a:bodyPr wrap="none" lIns="0" tIns="0" rIns="0" bIns="0" rtlCol="0" anchor="t"/>
          <a:lstStyle/>
          <a:p>
            <a:pPr marL="0" indent="0" algn="l">
              <a:lnSpc>
                <a:spcPts val="2400"/>
              </a:lnSpc>
              <a:buNone/>
            </a:pPr>
            <a:r>
              <a:rPr lang="en-US" sz="2400" b="1" dirty="0">
                <a:solidFill>
                  <a:srgbClr val="000000"/>
                </a:solidFill>
                <a:latin typeface="Inter" panose="020B0604020202020204" charset="0"/>
                <a:ea typeface="Inter" panose="020B0604020202020204" charset="0"/>
                <a:cs typeface="Inter Bold" pitchFamily="34" charset="-120"/>
              </a:rPr>
              <a:t>Implicazioni Economiche</a:t>
            </a:r>
            <a:endParaRPr lang="en-US" sz="2400" dirty="0">
              <a:latin typeface="Inter" panose="020B0604020202020204" charset="0"/>
              <a:ea typeface="Inter" panose="020B0604020202020204" charset="0"/>
            </a:endParaRPr>
          </a:p>
        </p:txBody>
      </p:sp>
      <p:sp>
        <p:nvSpPr>
          <p:cNvPr id="9" name="Text 7"/>
          <p:cNvSpPr/>
          <p:nvPr/>
        </p:nvSpPr>
        <p:spPr>
          <a:xfrm>
            <a:off x="7564874" y="3896657"/>
            <a:ext cx="6279356" cy="2222778"/>
          </a:xfrm>
          <a:prstGeom prst="rect">
            <a:avLst/>
          </a:prstGeom>
          <a:noFill/>
          <a:ln/>
        </p:spPr>
        <p:txBody>
          <a:bodyPr wrap="square" lIns="0" tIns="0" rIns="0" bIns="0" rtlCol="0" anchor="t"/>
          <a:lstStyle/>
          <a:p>
            <a:pPr marL="0" indent="0" algn="just">
              <a:lnSpc>
                <a:spcPts val="2500"/>
              </a:lnSpc>
              <a:buNone/>
            </a:pPr>
            <a:r>
              <a:rPr lang="en-US" dirty="0">
                <a:solidFill>
                  <a:srgbClr val="272525"/>
                </a:solidFill>
                <a:latin typeface="Inter" panose="020B0604020202020204" charset="0"/>
                <a:ea typeface="Inter" panose="020B0604020202020204" charset="0"/>
                <a:cs typeface="Inter" pitchFamily="34" charset="-120"/>
              </a:rPr>
              <a:t>In concorrenza perfetta, il prezzo di equilibrio è determinato dal mercato e coincide con il costo marginale. Le imprese ottengono nel lungo periodo solo </a:t>
            </a:r>
            <a:r>
              <a:rPr lang="en-US" b="1" dirty="0">
                <a:solidFill>
                  <a:srgbClr val="272525"/>
                </a:solidFill>
                <a:latin typeface="Inter" panose="020B0604020202020204" charset="0"/>
                <a:ea typeface="Inter" panose="020B0604020202020204" charset="0"/>
                <a:cs typeface="Inter" pitchFamily="34" charset="-120"/>
              </a:rPr>
              <a:t>profitto normale</a:t>
            </a:r>
            <a:r>
              <a:rPr lang="en-US" dirty="0">
                <a:solidFill>
                  <a:srgbClr val="272525"/>
                </a:solidFill>
                <a:latin typeface="Inter" panose="020B0604020202020204" charset="0"/>
                <a:ea typeface="Inter" panose="020B0604020202020204" charset="0"/>
                <a:cs typeface="Inter" pitchFamily="34" charset="-120"/>
              </a:rPr>
              <a:t>, azzerandosi ogni rendita straordinaria. Questo modello rappresenta il benchmark teorico dell'efficienza allocativa: le risorse sono distribuite nel modo più vantaggioso possibile per la collettività. </a:t>
            </a:r>
          </a:p>
          <a:p>
            <a:pPr marL="0" indent="0" algn="just">
              <a:lnSpc>
                <a:spcPts val="2500"/>
              </a:lnSpc>
              <a:buNone/>
            </a:pPr>
            <a:r>
              <a:rPr lang="en-US" dirty="0" err="1">
                <a:solidFill>
                  <a:srgbClr val="272525"/>
                </a:solidFill>
                <a:latin typeface="Inter" panose="020B0604020202020204" charset="0"/>
                <a:ea typeface="Inter" panose="020B0604020202020204" charset="0"/>
                <a:cs typeface="Inter" pitchFamily="34" charset="-120"/>
              </a:rPr>
              <a:t>Esempi</a:t>
            </a:r>
            <a:r>
              <a:rPr lang="en-US" dirty="0">
                <a:solidFill>
                  <a:srgbClr val="272525"/>
                </a:solidFill>
                <a:latin typeface="Inter" panose="020B0604020202020204" charset="0"/>
                <a:ea typeface="Inter" panose="020B0604020202020204" charset="0"/>
                <a:cs typeface="Inter" pitchFamily="34" charset="-120"/>
              </a:rPr>
              <a:t> reali si avvicinano ai mercati agricoli e alle borse valori.</a:t>
            </a:r>
            <a:endParaRPr lang="en-US" dirty="0">
              <a:latin typeface="Inter" panose="020B0604020202020204" charset="0"/>
              <a:ea typeface="Inter" panose="020B0604020202020204" charset="0"/>
            </a:endParaRPr>
          </a:p>
        </p:txBody>
      </p:sp>
      <p:sp>
        <p:nvSpPr>
          <p:cNvPr id="10" name="Shape 1">
            <a:extLst>
              <a:ext uri="{FF2B5EF4-FFF2-40B4-BE49-F238E27FC236}">
                <a16:creationId xmlns:a16="http://schemas.microsoft.com/office/drawing/2014/main" id="{E81C7708-99F5-49B6-8B2E-8DF12F17104F}"/>
              </a:ext>
            </a:extLst>
          </p:cNvPr>
          <p:cNvSpPr/>
          <p:nvPr/>
        </p:nvSpPr>
        <p:spPr>
          <a:xfrm>
            <a:off x="793790" y="2572465"/>
            <a:ext cx="2788087" cy="388382"/>
          </a:xfrm>
          <a:prstGeom prst="roundRect">
            <a:avLst>
              <a:gd name="adj" fmla="val 17171"/>
            </a:avLst>
          </a:prstGeom>
          <a:noFill/>
          <a:ln w="7620">
            <a:solidFill>
              <a:srgbClr val="4950BC"/>
            </a:solidFill>
            <a:prstDash val="solid"/>
          </a:ln>
        </p:spPr>
        <p:txBody>
          <a:bodyPr/>
          <a:lstStyle/>
          <a:p>
            <a:r>
              <a:rPr lang="it-IT" dirty="0">
                <a:solidFill>
                  <a:srgbClr val="4950BC"/>
                </a:solidFill>
                <a:latin typeface="Inter" pitchFamily="34" charset="0"/>
                <a:ea typeface="Inter" pitchFamily="34" charset="-122"/>
              </a:rPr>
              <a:t>     Situazione ideale</a:t>
            </a:r>
          </a:p>
        </p:txBody>
      </p:sp>
    </p:spTree>
    <p:extLst>
      <p:ext uri="{BB962C8B-B14F-4D97-AF65-F5344CB8AC3E}">
        <p14:creationId xmlns:p14="http://schemas.microsoft.com/office/powerpoint/2010/main" val="1014806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CEB033BE-5EA6-4460-B32E-0A5BCD30BE8F}"/>
              </a:ext>
            </a:extLst>
          </p:cNvPr>
          <p:cNvPicPr>
            <a:picLocks noChangeAspect="1"/>
          </p:cNvPicPr>
          <p:nvPr/>
        </p:nvPicPr>
        <p:blipFill>
          <a:blip r:embed="rId2"/>
          <a:stretch>
            <a:fillRect/>
          </a:stretch>
        </p:blipFill>
        <p:spPr>
          <a:xfrm>
            <a:off x="1351129" y="314401"/>
            <a:ext cx="11928142" cy="7600797"/>
          </a:xfrm>
          <a:prstGeom prst="rect">
            <a:avLst/>
          </a:prstGeom>
        </p:spPr>
      </p:pic>
    </p:spTree>
    <p:extLst>
      <p:ext uri="{BB962C8B-B14F-4D97-AF65-F5344CB8AC3E}">
        <p14:creationId xmlns:p14="http://schemas.microsoft.com/office/powerpoint/2010/main" val="2791764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482923"/>
            <a:ext cx="4961811" cy="620078"/>
          </a:xfrm>
          <a:prstGeom prst="rect">
            <a:avLst/>
          </a:prstGeom>
          <a:noFill/>
          <a:ln/>
        </p:spPr>
        <p:txBody>
          <a:bodyPr wrap="none" lIns="0" tIns="0" rIns="0" bIns="0" rtlCol="0" anchor="t"/>
          <a:lstStyle/>
          <a:p>
            <a:pPr marL="0" indent="0" algn="l">
              <a:lnSpc>
                <a:spcPts val="4850"/>
              </a:lnSpc>
              <a:buNone/>
            </a:pPr>
            <a:r>
              <a:rPr lang="en-US" sz="4800" b="1" dirty="0">
                <a:solidFill>
                  <a:srgbClr val="000000"/>
                </a:solidFill>
                <a:latin typeface="Inter" panose="020B0604020202020204" charset="0"/>
                <a:ea typeface="Inter" panose="020B0604020202020204" charset="0"/>
                <a:cs typeface="Inter Bold" pitchFamily="34" charset="-120"/>
              </a:rPr>
              <a:t>Il Monopolio</a:t>
            </a:r>
            <a:endParaRPr lang="en-US" sz="4800" dirty="0">
              <a:latin typeface="Inter" panose="020B0604020202020204" charset="0"/>
              <a:ea typeface="Inter" panose="020B0604020202020204" charset="0"/>
            </a:endParaRPr>
          </a:p>
        </p:txBody>
      </p:sp>
      <p:sp>
        <p:nvSpPr>
          <p:cNvPr id="3" name="Shape 1"/>
          <p:cNvSpPr/>
          <p:nvPr/>
        </p:nvSpPr>
        <p:spPr>
          <a:xfrm>
            <a:off x="793790" y="2499836"/>
            <a:ext cx="3994071" cy="387148"/>
          </a:xfrm>
          <a:prstGeom prst="roundRect">
            <a:avLst>
              <a:gd name="adj" fmla="val 17171"/>
            </a:avLst>
          </a:prstGeom>
          <a:noFill/>
          <a:ln w="7620">
            <a:solidFill>
              <a:srgbClr val="4950BC"/>
            </a:solidFill>
            <a:prstDash val="solid"/>
          </a:ln>
        </p:spPr>
      </p:sp>
      <p:sp>
        <p:nvSpPr>
          <p:cNvPr id="4" name="Text 2"/>
          <p:cNvSpPr/>
          <p:nvPr/>
        </p:nvSpPr>
        <p:spPr>
          <a:xfrm>
            <a:off x="920472" y="2566988"/>
            <a:ext cx="2534722" cy="254079"/>
          </a:xfrm>
          <a:prstGeom prst="rect">
            <a:avLst/>
          </a:prstGeom>
          <a:noFill/>
          <a:ln/>
        </p:spPr>
        <p:txBody>
          <a:bodyPr wrap="none" lIns="0" tIns="0" rIns="0" bIns="0" rtlCol="0" anchor="t"/>
          <a:lstStyle/>
          <a:p>
            <a:pPr marL="0" indent="0" algn="l">
              <a:lnSpc>
                <a:spcPts val="2000"/>
              </a:lnSpc>
              <a:buNone/>
            </a:pPr>
            <a:r>
              <a:rPr lang="en-US" dirty="0">
                <a:solidFill>
                  <a:srgbClr val="4950BC"/>
                </a:solidFill>
                <a:latin typeface="Inter" panose="020B0604020202020204" charset="0"/>
                <a:ea typeface="Inter" panose="020B0604020202020204" charset="0"/>
                <a:cs typeface="Inter" pitchFamily="34" charset="-120"/>
              </a:rPr>
              <a:t>POTERE DI MERCATO ASSOLUTO</a:t>
            </a:r>
            <a:endParaRPr lang="en-US" dirty="0">
              <a:latin typeface="Inter" panose="020B0604020202020204" charset="0"/>
              <a:ea typeface="Inter" panose="020B0604020202020204" charset="0"/>
            </a:endParaRPr>
          </a:p>
        </p:txBody>
      </p:sp>
      <p:sp>
        <p:nvSpPr>
          <p:cNvPr id="5" name="Text 3"/>
          <p:cNvSpPr/>
          <p:nvPr/>
        </p:nvSpPr>
        <p:spPr>
          <a:xfrm>
            <a:off x="793790" y="3111460"/>
            <a:ext cx="13042821" cy="952619"/>
          </a:xfrm>
          <a:prstGeom prst="rect">
            <a:avLst/>
          </a:prstGeom>
          <a:noFill/>
          <a:ln/>
        </p:spPr>
        <p:txBody>
          <a:bodyPr wrap="square" lIns="0" tIns="0" rIns="0" bIns="0" rtlCol="0" anchor="t"/>
          <a:lstStyle/>
          <a:p>
            <a:pPr marL="0" indent="0" algn="l">
              <a:lnSpc>
                <a:spcPts val="2500"/>
              </a:lnSpc>
              <a:buNone/>
            </a:pPr>
            <a:r>
              <a:rPr lang="en-US" sz="2000" dirty="0">
                <a:solidFill>
                  <a:srgbClr val="272525"/>
                </a:solidFill>
                <a:latin typeface="Inter" panose="020B0604020202020204" charset="0"/>
                <a:ea typeface="Inter" panose="020B0604020202020204" charset="0"/>
                <a:cs typeface="Inter" pitchFamily="34" charset="-120"/>
              </a:rPr>
              <a:t>Il monopolio è la struttura in cui </a:t>
            </a:r>
            <a:r>
              <a:rPr lang="en-US" sz="2000" b="1" dirty="0">
                <a:solidFill>
                  <a:srgbClr val="272525"/>
                </a:solidFill>
                <a:latin typeface="Inter" panose="020B0604020202020204" charset="0"/>
                <a:ea typeface="Inter" panose="020B0604020202020204" charset="0"/>
                <a:cs typeface="Inter" pitchFamily="34" charset="-120"/>
              </a:rPr>
              <a:t>un'unica impresa</a:t>
            </a:r>
            <a:r>
              <a:rPr lang="en-US" sz="2000" dirty="0">
                <a:solidFill>
                  <a:srgbClr val="272525"/>
                </a:solidFill>
                <a:latin typeface="Inter" panose="020B0604020202020204" charset="0"/>
                <a:ea typeface="Inter" panose="020B0604020202020204" charset="0"/>
                <a:cs typeface="Inter" pitchFamily="34" charset="-120"/>
              </a:rPr>
              <a:t> controlla l'intera offerta di un bene o servizio senza sostituti prossimi. Il monopolista è price-maker e massimizza il profitto fissando il prezzo ben al di sopra del costo marginale, generando una </a:t>
            </a:r>
            <a:r>
              <a:rPr lang="en-US" sz="2000" b="1" dirty="0">
                <a:solidFill>
                  <a:srgbClr val="272525"/>
                </a:solidFill>
                <a:latin typeface="Inter" panose="020B0604020202020204" charset="0"/>
                <a:ea typeface="Inter" panose="020B0604020202020204" charset="0"/>
                <a:cs typeface="Inter" pitchFamily="34" charset="-120"/>
              </a:rPr>
              <a:t>perdita secca di benessere</a:t>
            </a:r>
            <a:r>
              <a:rPr lang="en-US" sz="2000" dirty="0">
                <a:solidFill>
                  <a:srgbClr val="272525"/>
                </a:solidFill>
                <a:latin typeface="Inter" panose="020B0604020202020204" charset="0"/>
                <a:ea typeface="Inter" panose="020B0604020202020204" charset="0"/>
                <a:cs typeface="Inter" pitchFamily="34" charset="-120"/>
              </a:rPr>
              <a:t> (deadweight loss) per la società.</a:t>
            </a:r>
            <a:endParaRPr lang="en-US" sz="2000" dirty="0">
              <a:latin typeface="Inter" panose="020B0604020202020204" charset="0"/>
              <a:ea typeface="Inter" panose="020B0604020202020204" charset="0"/>
            </a:endParaRPr>
          </a:p>
        </p:txBody>
      </p:sp>
      <p:sp>
        <p:nvSpPr>
          <p:cNvPr id="6" name="Shape 4"/>
          <p:cNvSpPr/>
          <p:nvPr/>
        </p:nvSpPr>
        <p:spPr>
          <a:xfrm>
            <a:off x="793790" y="4287322"/>
            <a:ext cx="4215289" cy="2905048"/>
          </a:xfrm>
          <a:prstGeom prst="roundRect">
            <a:avLst>
              <a:gd name="adj" fmla="val 4462"/>
            </a:avLst>
          </a:prstGeom>
          <a:solidFill>
            <a:srgbClr val="FFFFFF"/>
          </a:solidFill>
          <a:ln w="22860">
            <a:solidFill>
              <a:srgbClr val="C0C1D7"/>
            </a:solidFill>
            <a:prstDash val="solid"/>
          </a:ln>
        </p:spPr>
      </p:sp>
      <p:sp>
        <p:nvSpPr>
          <p:cNvPr id="7" name="Shape 5"/>
          <p:cNvSpPr/>
          <p:nvPr/>
        </p:nvSpPr>
        <p:spPr>
          <a:xfrm>
            <a:off x="770930" y="4287322"/>
            <a:ext cx="91440" cy="2459355"/>
          </a:xfrm>
          <a:prstGeom prst="roundRect">
            <a:avLst>
              <a:gd name="adj" fmla="val 91163"/>
            </a:avLst>
          </a:prstGeom>
          <a:solidFill>
            <a:srgbClr val="4950BC"/>
          </a:solidFill>
          <a:ln/>
        </p:spPr>
      </p:sp>
      <p:sp>
        <p:nvSpPr>
          <p:cNvPr id="8" name="Text 6"/>
          <p:cNvSpPr/>
          <p:nvPr/>
        </p:nvSpPr>
        <p:spPr>
          <a:xfrm>
            <a:off x="1083588" y="4508540"/>
            <a:ext cx="2480905" cy="310158"/>
          </a:xfrm>
          <a:prstGeom prst="rect">
            <a:avLst/>
          </a:prstGeom>
          <a:noFill/>
          <a:ln/>
        </p:spPr>
        <p:txBody>
          <a:bodyPr wrap="none" lIns="0" tIns="0" rIns="0" bIns="0" rtlCol="0" anchor="t"/>
          <a:lstStyle/>
          <a:p>
            <a:pPr marL="0" indent="0" algn="l">
              <a:lnSpc>
                <a:spcPts val="2400"/>
              </a:lnSpc>
              <a:buNone/>
            </a:pPr>
            <a:r>
              <a:rPr lang="en-US" sz="2800" b="1" dirty="0">
                <a:solidFill>
                  <a:srgbClr val="272525"/>
                </a:solidFill>
                <a:latin typeface="Inter" panose="020B0604020202020204" charset="0"/>
                <a:ea typeface="Inter" panose="020B0604020202020204" charset="0"/>
                <a:cs typeface="Inter Bold" pitchFamily="34" charset="-120"/>
              </a:rPr>
              <a:t>Fonti del Monopolio</a:t>
            </a:r>
            <a:endParaRPr lang="en-US" sz="2800" dirty="0">
              <a:latin typeface="Inter" panose="020B0604020202020204" charset="0"/>
              <a:ea typeface="Inter" panose="020B0604020202020204" charset="0"/>
            </a:endParaRPr>
          </a:p>
        </p:txBody>
      </p:sp>
      <p:sp>
        <p:nvSpPr>
          <p:cNvPr id="9" name="Text 7"/>
          <p:cNvSpPr/>
          <p:nvPr/>
        </p:nvSpPr>
        <p:spPr>
          <a:xfrm>
            <a:off x="1083588" y="4937759"/>
            <a:ext cx="3704273" cy="2030135"/>
          </a:xfrm>
          <a:prstGeom prst="rect">
            <a:avLst/>
          </a:prstGeom>
          <a:noFill/>
          <a:ln/>
        </p:spPr>
        <p:txBody>
          <a:bodyPr wrap="square" lIns="0" tIns="0" rIns="0" bIns="0" rtlCol="0" anchor="t"/>
          <a:lstStyle/>
          <a:p>
            <a:pPr marL="0" indent="0" algn="l">
              <a:lnSpc>
                <a:spcPts val="2500"/>
              </a:lnSpc>
              <a:buNone/>
            </a:pPr>
            <a:r>
              <a:rPr lang="en-US" sz="2000" dirty="0">
                <a:solidFill>
                  <a:srgbClr val="272525"/>
                </a:solidFill>
                <a:latin typeface="Inter" panose="020B0604020202020204" charset="0"/>
                <a:ea typeface="Inter" panose="020B0604020202020204" charset="0"/>
                <a:cs typeface="Inter" pitchFamily="34" charset="-120"/>
              </a:rPr>
              <a:t>Brevetti e diritti di proprietà intellettuale, controllo esclusivo di risorse chiave, economie di scala (monopolio naturale), concessioni governative.</a:t>
            </a:r>
            <a:endParaRPr lang="en-US" sz="2000" dirty="0">
              <a:latin typeface="Inter" panose="020B0604020202020204" charset="0"/>
              <a:ea typeface="Inter" panose="020B0604020202020204" charset="0"/>
            </a:endParaRPr>
          </a:p>
        </p:txBody>
      </p:sp>
      <p:sp>
        <p:nvSpPr>
          <p:cNvPr id="10" name="Shape 8"/>
          <p:cNvSpPr/>
          <p:nvPr/>
        </p:nvSpPr>
        <p:spPr>
          <a:xfrm>
            <a:off x="5207437" y="4287322"/>
            <a:ext cx="4215408" cy="2905048"/>
          </a:xfrm>
          <a:prstGeom prst="roundRect">
            <a:avLst>
              <a:gd name="adj" fmla="val 4462"/>
            </a:avLst>
          </a:prstGeom>
          <a:solidFill>
            <a:srgbClr val="FFFFFF"/>
          </a:solidFill>
          <a:ln w="22860">
            <a:solidFill>
              <a:srgbClr val="C0C1D7"/>
            </a:solidFill>
            <a:prstDash val="solid"/>
          </a:ln>
        </p:spPr>
      </p:sp>
      <p:sp>
        <p:nvSpPr>
          <p:cNvPr id="11" name="Shape 9"/>
          <p:cNvSpPr/>
          <p:nvPr/>
        </p:nvSpPr>
        <p:spPr>
          <a:xfrm>
            <a:off x="5184577" y="4287322"/>
            <a:ext cx="91440" cy="2459355"/>
          </a:xfrm>
          <a:prstGeom prst="roundRect">
            <a:avLst>
              <a:gd name="adj" fmla="val 91163"/>
            </a:avLst>
          </a:prstGeom>
          <a:solidFill>
            <a:srgbClr val="4950BC"/>
          </a:solidFill>
          <a:ln/>
        </p:spPr>
      </p:sp>
      <p:sp>
        <p:nvSpPr>
          <p:cNvPr id="12" name="Text 10"/>
          <p:cNvSpPr/>
          <p:nvPr/>
        </p:nvSpPr>
        <p:spPr>
          <a:xfrm>
            <a:off x="5497235" y="4508540"/>
            <a:ext cx="2600801" cy="310158"/>
          </a:xfrm>
          <a:prstGeom prst="rect">
            <a:avLst/>
          </a:prstGeom>
          <a:noFill/>
          <a:ln/>
        </p:spPr>
        <p:txBody>
          <a:bodyPr wrap="none" lIns="0" tIns="0" rIns="0" bIns="0" rtlCol="0" anchor="t"/>
          <a:lstStyle/>
          <a:p>
            <a:pPr marL="0" indent="0" algn="l">
              <a:lnSpc>
                <a:spcPts val="2400"/>
              </a:lnSpc>
              <a:buNone/>
            </a:pPr>
            <a:r>
              <a:rPr lang="en-US" sz="2800" b="1" dirty="0">
                <a:solidFill>
                  <a:srgbClr val="272525"/>
                </a:solidFill>
                <a:latin typeface="Inter" panose="020B0604020202020204" charset="0"/>
                <a:ea typeface="Inter" panose="020B0604020202020204" charset="0"/>
                <a:cs typeface="Inter Bold" pitchFamily="34" charset="-120"/>
              </a:rPr>
              <a:t>Inefficienze Generate</a:t>
            </a:r>
            <a:endParaRPr lang="en-US" sz="2800" dirty="0">
              <a:latin typeface="Inter" panose="020B0604020202020204" charset="0"/>
              <a:ea typeface="Inter" panose="020B0604020202020204" charset="0"/>
            </a:endParaRPr>
          </a:p>
        </p:txBody>
      </p:sp>
      <p:sp>
        <p:nvSpPr>
          <p:cNvPr id="13" name="Text 11"/>
          <p:cNvSpPr/>
          <p:nvPr/>
        </p:nvSpPr>
        <p:spPr>
          <a:xfrm>
            <a:off x="5497235" y="4937760"/>
            <a:ext cx="3704392" cy="1270159"/>
          </a:xfrm>
          <a:prstGeom prst="rect">
            <a:avLst/>
          </a:prstGeom>
          <a:noFill/>
          <a:ln/>
        </p:spPr>
        <p:txBody>
          <a:bodyPr wrap="square" lIns="0" tIns="0" rIns="0" bIns="0" rtlCol="0" anchor="t"/>
          <a:lstStyle/>
          <a:p>
            <a:pPr marL="0" indent="0" algn="l">
              <a:lnSpc>
                <a:spcPts val="2500"/>
              </a:lnSpc>
              <a:buNone/>
            </a:pPr>
            <a:r>
              <a:rPr lang="en-US" sz="2000" dirty="0">
                <a:solidFill>
                  <a:srgbClr val="272525"/>
                </a:solidFill>
                <a:latin typeface="Inter" panose="020B0604020202020204" charset="0"/>
                <a:ea typeface="Inter" panose="020B0604020202020204" charset="0"/>
                <a:cs typeface="Inter" pitchFamily="34" charset="-120"/>
              </a:rPr>
              <a:t>Prezzi più elevati, quantità prodotta inferiore all'ottimo sociale, ridotta innovazione in assenza di pressione competitiva, discriminazione di prezzo.</a:t>
            </a:r>
            <a:endParaRPr lang="en-US" sz="2000" dirty="0">
              <a:latin typeface="Inter" panose="020B0604020202020204" charset="0"/>
              <a:ea typeface="Inter" panose="020B0604020202020204" charset="0"/>
            </a:endParaRPr>
          </a:p>
        </p:txBody>
      </p:sp>
      <p:sp>
        <p:nvSpPr>
          <p:cNvPr id="14" name="Shape 12"/>
          <p:cNvSpPr/>
          <p:nvPr/>
        </p:nvSpPr>
        <p:spPr>
          <a:xfrm>
            <a:off x="9621203" y="4287322"/>
            <a:ext cx="4215289" cy="2905048"/>
          </a:xfrm>
          <a:prstGeom prst="roundRect">
            <a:avLst>
              <a:gd name="adj" fmla="val 4462"/>
            </a:avLst>
          </a:prstGeom>
          <a:solidFill>
            <a:srgbClr val="FFFFFF"/>
          </a:solidFill>
          <a:ln w="22860">
            <a:solidFill>
              <a:srgbClr val="C0C1D7"/>
            </a:solidFill>
            <a:prstDash val="solid"/>
          </a:ln>
        </p:spPr>
      </p:sp>
      <p:sp>
        <p:nvSpPr>
          <p:cNvPr id="15" name="Shape 13"/>
          <p:cNvSpPr/>
          <p:nvPr/>
        </p:nvSpPr>
        <p:spPr>
          <a:xfrm>
            <a:off x="9598343" y="4287322"/>
            <a:ext cx="91440" cy="2459355"/>
          </a:xfrm>
          <a:prstGeom prst="roundRect">
            <a:avLst>
              <a:gd name="adj" fmla="val 91163"/>
            </a:avLst>
          </a:prstGeom>
          <a:solidFill>
            <a:srgbClr val="4950BC"/>
          </a:solidFill>
          <a:ln/>
        </p:spPr>
      </p:sp>
      <p:sp>
        <p:nvSpPr>
          <p:cNvPr id="16" name="Text 14"/>
          <p:cNvSpPr/>
          <p:nvPr/>
        </p:nvSpPr>
        <p:spPr>
          <a:xfrm>
            <a:off x="9911001" y="4508540"/>
            <a:ext cx="2480905" cy="310158"/>
          </a:xfrm>
          <a:prstGeom prst="rect">
            <a:avLst/>
          </a:prstGeom>
          <a:noFill/>
          <a:ln/>
        </p:spPr>
        <p:txBody>
          <a:bodyPr wrap="none" lIns="0" tIns="0" rIns="0" bIns="0" rtlCol="0" anchor="t"/>
          <a:lstStyle/>
          <a:p>
            <a:pPr marL="0" indent="0" algn="l">
              <a:lnSpc>
                <a:spcPts val="2400"/>
              </a:lnSpc>
              <a:buNone/>
            </a:pPr>
            <a:r>
              <a:rPr lang="en-US" sz="2800" b="1" dirty="0">
                <a:solidFill>
                  <a:srgbClr val="272525"/>
                </a:solidFill>
                <a:latin typeface="Inter" panose="020B0604020202020204" charset="0"/>
                <a:ea typeface="Inter" panose="020B0604020202020204" charset="0"/>
                <a:cs typeface="Inter Bold" pitchFamily="34" charset="-120"/>
              </a:rPr>
              <a:t>Esempi Storici</a:t>
            </a:r>
            <a:endParaRPr lang="en-US" sz="2800" dirty="0">
              <a:latin typeface="Inter" panose="020B0604020202020204" charset="0"/>
              <a:ea typeface="Inter" panose="020B0604020202020204" charset="0"/>
            </a:endParaRPr>
          </a:p>
        </p:txBody>
      </p:sp>
      <p:sp>
        <p:nvSpPr>
          <p:cNvPr id="17" name="Text 15"/>
          <p:cNvSpPr/>
          <p:nvPr/>
        </p:nvSpPr>
        <p:spPr>
          <a:xfrm>
            <a:off x="9911001" y="4937760"/>
            <a:ext cx="3704273" cy="1270159"/>
          </a:xfrm>
          <a:prstGeom prst="rect">
            <a:avLst/>
          </a:prstGeom>
          <a:noFill/>
          <a:ln/>
        </p:spPr>
        <p:txBody>
          <a:bodyPr wrap="square" lIns="0" tIns="0" rIns="0" bIns="0" rtlCol="0" anchor="t"/>
          <a:lstStyle/>
          <a:p>
            <a:pPr marL="0" indent="0" algn="l">
              <a:lnSpc>
                <a:spcPts val="2500"/>
              </a:lnSpc>
              <a:buNone/>
            </a:pPr>
            <a:r>
              <a:rPr lang="en-US" sz="2000" dirty="0">
                <a:solidFill>
                  <a:srgbClr val="272525"/>
                </a:solidFill>
                <a:latin typeface="Inter" panose="020B0604020202020204" charset="0"/>
                <a:ea typeface="Inter" panose="020B0604020202020204" charset="0"/>
                <a:cs typeface="Inter" pitchFamily="34" charset="-120"/>
              </a:rPr>
              <a:t>Standard Oil nel XIX secolo, i monopoli delle telecomunicazioni statali in Europa, Microsoft nel mercato dei sistemi operativi negli anni '90.</a:t>
            </a:r>
            <a:endParaRPr lang="en-US" sz="2000" dirty="0">
              <a:latin typeface="Inter" panose="020B0604020202020204" charset="0"/>
              <a:ea typeface="Inter" panose="020B0604020202020204" charset="0"/>
            </a:endParaRPr>
          </a:p>
        </p:txBody>
      </p:sp>
    </p:spTree>
    <p:extLst>
      <p:ext uri="{BB962C8B-B14F-4D97-AF65-F5344CB8AC3E}">
        <p14:creationId xmlns:p14="http://schemas.microsoft.com/office/powerpoint/2010/main" val="3811450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0E2450E2-5B4F-42AE-A8F0-5C4F33E4B100}"/>
              </a:ext>
            </a:extLst>
          </p:cNvPr>
          <p:cNvPicPr>
            <a:picLocks noChangeAspect="1"/>
          </p:cNvPicPr>
          <p:nvPr/>
        </p:nvPicPr>
        <p:blipFill>
          <a:blip r:embed="rId3"/>
          <a:stretch>
            <a:fillRect/>
          </a:stretch>
        </p:blipFill>
        <p:spPr>
          <a:xfrm>
            <a:off x="602871" y="427575"/>
            <a:ext cx="13424657" cy="7108164"/>
          </a:xfrm>
          <a:prstGeom prst="rect">
            <a:avLst/>
          </a:prstGeom>
        </p:spPr>
      </p:pic>
    </p:spTree>
    <p:extLst>
      <p:ext uri="{BB962C8B-B14F-4D97-AF65-F5344CB8AC3E}">
        <p14:creationId xmlns:p14="http://schemas.microsoft.com/office/powerpoint/2010/main" val="2870041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996910"/>
            <a:ext cx="7396520"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La Concorrenza Monopolistica</a:t>
            </a:r>
            <a:endParaRPr lang="en-US" sz="3900" dirty="0"/>
          </a:p>
        </p:txBody>
      </p:sp>
      <p:sp>
        <p:nvSpPr>
          <p:cNvPr id="5" name="Text 3"/>
          <p:cNvSpPr/>
          <p:nvPr/>
        </p:nvSpPr>
        <p:spPr>
          <a:xfrm>
            <a:off x="793790" y="2093031"/>
            <a:ext cx="13042821" cy="1270159"/>
          </a:xfrm>
          <a:prstGeom prst="rect">
            <a:avLst/>
          </a:prstGeom>
          <a:noFill/>
          <a:ln/>
        </p:spPr>
        <p:txBody>
          <a:bodyPr wrap="square" lIns="0" tIns="0" rIns="0" bIns="0" rtlCol="0" anchor="t"/>
          <a:lstStyle/>
          <a:p>
            <a:pPr marL="0" indent="0" algn="l">
              <a:lnSpc>
                <a:spcPts val="2500"/>
              </a:lnSpc>
              <a:buNone/>
            </a:pPr>
            <a:r>
              <a:rPr lang="en-US" dirty="0">
                <a:solidFill>
                  <a:srgbClr val="272525"/>
                </a:solidFill>
                <a:latin typeface="Inter" pitchFamily="34" charset="0"/>
                <a:ea typeface="Inter" pitchFamily="34" charset="-122"/>
                <a:cs typeface="Inter" pitchFamily="34" charset="-120"/>
              </a:rPr>
              <a:t>La concorrenza monopolistica combina elementi di entrambe le strutture estreme: </a:t>
            </a:r>
            <a:r>
              <a:rPr lang="en-US" b="1" dirty="0">
                <a:solidFill>
                  <a:srgbClr val="272525"/>
                </a:solidFill>
                <a:latin typeface="Inter" pitchFamily="34" charset="0"/>
                <a:ea typeface="Inter" pitchFamily="34" charset="-122"/>
                <a:cs typeface="Inter" pitchFamily="34" charset="-120"/>
              </a:rPr>
              <a:t>molte imprese</a:t>
            </a:r>
            <a:r>
              <a:rPr lang="en-US" dirty="0">
                <a:solidFill>
                  <a:srgbClr val="272525"/>
                </a:solidFill>
                <a:latin typeface="Inter" pitchFamily="34" charset="0"/>
                <a:ea typeface="Inter" pitchFamily="34" charset="-122"/>
                <a:cs typeface="Inter" pitchFamily="34" charset="-120"/>
              </a:rPr>
              <a:t> competono, ma ognuna offre un prodotto </a:t>
            </a:r>
            <a:r>
              <a:rPr lang="en-US" b="1" dirty="0">
                <a:solidFill>
                  <a:srgbClr val="272525"/>
                </a:solidFill>
                <a:latin typeface="Inter" pitchFamily="34" charset="0"/>
                <a:ea typeface="Inter" pitchFamily="34" charset="-122"/>
                <a:cs typeface="Inter" pitchFamily="34" charset="-120"/>
              </a:rPr>
              <a:t>differenziato</a:t>
            </a:r>
            <a:r>
              <a:rPr lang="en-US" dirty="0">
                <a:solidFill>
                  <a:srgbClr val="272525"/>
                </a:solidFill>
                <a:latin typeface="Inter" pitchFamily="34" charset="0"/>
                <a:ea typeface="Inter" pitchFamily="34" charset="-122"/>
                <a:cs typeface="Inter" pitchFamily="34" charset="-120"/>
              </a:rPr>
              <a:t>. La differenziazione può essere reale (qualità, caratteristiche) o percepita (brand, packaging, pubblicità). Nel breve periodo le imprese possono ottenere profitti straordinari, ma nel lungo periodo l'entrata di nuovi concorrenti li erode.</a:t>
            </a:r>
            <a:endParaRPr lang="en-US" dirty="0"/>
          </a:p>
        </p:txBody>
      </p:sp>
      <p:pic>
        <p:nvPicPr>
          <p:cNvPr id="6" name="Image 0" descr="preencoded.png"/>
          <p:cNvPicPr>
            <a:picLocks noChangeAspect="1"/>
          </p:cNvPicPr>
          <p:nvPr/>
        </p:nvPicPr>
        <p:blipFill>
          <a:blip r:embed="rId3"/>
          <a:stretch>
            <a:fillRect/>
          </a:stretch>
        </p:blipFill>
        <p:spPr>
          <a:xfrm>
            <a:off x="1297603" y="3786068"/>
            <a:ext cx="2425660" cy="1499116"/>
          </a:xfrm>
          <a:prstGeom prst="rect">
            <a:avLst/>
          </a:prstGeom>
        </p:spPr>
      </p:pic>
      <p:sp>
        <p:nvSpPr>
          <p:cNvPr id="7" name="Text 4"/>
          <p:cNvSpPr/>
          <p:nvPr/>
        </p:nvSpPr>
        <p:spPr>
          <a:xfrm>
            <a:off x="793790" y="5533192"/>
            <a:ext cx="3433286"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Strategie di Differenziazione</a:t>
            </a:r>
            <a:endParaRPr lang="en-US" sz="1950" dirty="0"/>
          </a:p>
        </p:txBody>
      </p:sp>
      <p:sp>
        <p:nvSpPr>
          <p:cNvPr id="8" name="Text 5"/>
          <p:cNvSpPr/>
          <p:nvPr/>
        </p:nvSpPr>
        <p:spPr>
          <a:xfrm>
            <a:off x="793790" y="5962412"/>
            <a:ext cx="4182189"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Design, qualità percepita, esperienza del cliente e fedeltà al brand sono le leve competitive principali.</a:t>
            </a:r>
            <a:endParaRPr lang="en-US" sz="1550" dirty="0"/>
          </a:p>
        </p:txBody>
      </p:sp>
      <p:pic>
        <p:nvPicPr>
          <p:cNvPr id="9" name="Image 1" descr="preencoded.png"/>
          <p:cNvPicPr>
            <a:picLocks noChangeAspect="1"/>
          </p:cNvPicPr>
          <p:nvPr/>
        </p:nvPicPr>
        <p:blipFill>
          <a:blip r:embed="rId4"/>
          <a:stretch>
            <a:fillRect/>
          </a:stretch>
        </p:blipFill>
        <p:spPr>
          <a:xfrm>
            <a:off x="5764650" y="3786068"/>
            <a:ext cx="2425660" cy="1499116"/>
          </a:xfrm>
          <a:prstGeom prst="rect">
            <a:avLst/>
          </a:prstGeom>
        </p:spPr>
      </p:pic>
      <p:sp>
        <p:nvSpPr>
          <p:cNvPr id="10" name="Text 6"/>
          <p:cNvSpPr/>
          <p:nvPr/>
        </p:nvSpPr>
        <p:spPr>
          <a:xfrm>
            <a:off x="5223986" y="5533192"/>
            <a:ext cx="2795588"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Il Ruolo della Pubblicità</a:t>
            </a:r>
            <a:endParaRPr lang="en-US" sz="1950" dirty="0"/>
          </a:p>
        </p:txBody>
      </p:sp>
      <p:sp>
        <p:nvSpPr>
          <p:cNvPr id="11" name="Text 7"/>
          <p:cNvSpPr/>
          <p:nvPr/>
        </p:nvSpPr>
        <p:spPr>
          <a:xfrm>
            <a:off x="5223986" y="5962412"/>
            <a:ext cx="4182308"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La pubblicità è fondamentale per costruire identità e spostare la curva di domanda verso l'alto, giustificando prezzi premium.</a:t>
            </a:r>
            <a:endParaRPr lang="en-US" sz="1550" dirty="0"/>
          </a:p>
        </p:txBody>
      </p:sp>
      <p:pic>
        <p:nvPicPr>
          <p:cNvPr id="12" name="Image 2" descr="preencoded.png"/>
          <p:cNvPicPr>
            <a:picLocks noChangeAspect="1"/>
          </p:cNvPicPr>
          <p:nvPr/>
        </p:nvPicPr>
        <p:blipFill>
          <a:blip r:embed="rId5"/>
          <a:stretch>
            <a:fillRect/>
          </a:stretch>
        </p:blipFill>
        <p:spPr>
          <a:xfrm>
            <a:off x="10193332" y="3786068"/>
            <a:ext cx="2425660" cy="1499116"/>
          </a:xfrm>
          <a:prstGeom prst="rect">
            <a:avLst/>
          </a:prstGeom>
        </p:spPr>
      </p:pic>
      <p:sp>
        <p:nvSpPr>
          <p:cNvPr id="13" name="Text 8"/>
          <p:cNvSpPr/>
          <p:nvPr/>
        </p:nvSpPr>
        <p:spPr>
          <a:xfrm>
            <a:off x="9654302" y="5533192"/>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Settori Tipici</a:t>
            </a:r>
            <a:endParaRPr lang="en-US" sz="1950" dirty="0"/>
          </a:p>
        </p:txBody>
      </p:sp>
      <p:sp>
        <p:nvSpPr>
          <p:cNvPr id="14" name="Text 9"/>
          <p:cNvSpPr/>
          <p:nvPr/>
        </p:nvSpPr>
        <p:spPr>
          <a:xfrm>
            <a:off x="9654302" y="5962412"/>
            <a:ext cx="4182308"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Ristorazione, abbigliamento, cosmetici e prodotti elettronici di consumo sono mercati tipicamente monopolisticamente concorrenziali.</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691396" y="917853"/>
            <a:ext cx="4321612" cy="540187"/>
          </a:xfrm>
          <a:prstGeom prst="rect">
            <a:avLst/>
          </a:prstGeom>
          <a:noFill/>
          <a:ln/>
        </p:spPr>
        <p:txBody>
          <a:bodyPr wrap="none" lIns="0" tIns="0" rIns="0" bIns="0" rtlCol="0" anchor="t"/>
          <a:lstStyle/>
          <a:p>
            <a:pPr marL="0" indent="0" algn="l">
              <a:lnSpc>
                <a:spcPts val="4250"/>
              </a:lnSpc>
              <a:buNone/>
            </a:pPr>
            <a:r>
              <a:rPr lang="en-US" sz="3400" b="1" dirty="0">
                <a:solidFill>
                  <a:srgbClr val="000000"/>
                </a:solidFill>
                <a:latin typeface="Inter Bold" pitchFamily="34" charset="0"/>
                <a:ea typeface="Inter Bold" pitchFamily="34" charset="-122"/>
                <a:cs typeface="Inter Bold" pitchFamily="34" charset="-120"/>
              </a:rPr>
              <a:t>L'Oligopolio</a:t>
            </a:r>
            <a:endParaRPr lang="en-US" sz="3400" dirty="0"/>
          </a:p>
        </p:txBody>
      </p:sp>
      <p:sp>
        <p:nvSpPr>
          <p:cNvPr id="4" name="Shape 1"/>
          <p:cNvSpPr/>
          <p:nvPr/>
        </p:nvSpPr>
        <p:spPr>
          <a:xfrm>
            <a:off x="691396" y="1683782"/>
            <a:ext cx="2399943" cy="325874"/>
          </a:xfrm>
          <a:prstGeom prst="roundRect">
            <a:avLst>
              <a:gd name="adj" fmla="val 17824"/>
            </a:avLst>
          </a:prstGeom>
          <a:noFill/>
          <a:ln w="7620">
            <a:solidFill>
              <a:srgbClr val="4950BC"/>
            </a:solidFill>
            <a:prstDash val="solid"/>
          </a:ln>
        </p:spPr>
      </p:sp>
      <p:sp>
        <p:nvSpPr>
          <p:cNvPr id="5" name="Text 2"/>
          <p:cNvSpPr/>
          <p:nvPr/>
        </p:nvSpPr>
        <p:spPr>
          <a:xfrm>
            <a:off x="802719" y="1743194"/>
            <a:ext cx="2177296" cy="207050"/>
          </a:xfrm>
          <a:prstGeom prst="rect">
            <a:avLst/>
          </a:prstGeom>
          <a:noFill/>
          <a:ln/>
        </p:spPr>
        <p:txBody>
          <a:bodyPr wrap="none" lIns="0" tIns="0" rIns="0" bIns="0" rtlCol="0" anchor="t"/>
          <a:lstStyle/>
          <a:p>
            <a:pPr marL="0" indent="0" algn="l">
              <a:lnSpc>
                <a:spcPts val="1600"/>
              </a:lnSpc>
              <a:buNone/>
            </a:pPr>
            <a:r>
              <a:rPr lang="en-US" sz="1050" dirty="0">
                <a:solidFill>
                  <a:srgbClr val="4950BC"/>
                </a:solidFill>
                <a:latin typeface="Inter" pitchFamily="34" charset="0"/>
                <a:ea typeface="Inter" pitchFamily="34" charset="-122"/>
                <a:cs typeface="Inter" pitchFamily="34" charset="-120"/>
              </a:rPr>
              <a:t>INTERDIPENDENZA STRATEGICA</a:t>
            </a:r>
            <a:endParaRPr lang="en-US" sz="1050" dirty="0"/>
          </a:p>
        </p:txBody>
      </p:sp>
      <p:sp>
        <p:nvSpPr>
          <p:cNvPr id="6" name="Text 3"/>
          <p:cNvSpPr/>
          <p:nvPr/>
        </p:nvSpPr>
        <p:spPr>
          <a:xfrm>
            <a:off x="691396" y="2178963"/>
            <a:ext cx="7761208" cy="1034891"/>
          </a:xfrm>
          <a:prstGeom prst="rect">
            <a:avLst/>
          </a:prstGeom>
          <a:noFill/>
          <a:ln/>
        </p:spPr>
        <p:txBody>
          <a:bodyPr wrap="square" lIns="0" tIns="0" rIns="0" bIns="0" rtlCol="0" anchor="t"/>
          <a:lstStyle/>
          <a:p>
            <a:pPr marL="0" indent="0" algn="l">
              <a:lnSpc>
                <a:spcPts val="2000"/>
              </a:lnSpc>
              <a:buNone/>
            </a:pPr>
            <a:r>
              <a:rPr lang="en-US" sz="1350" dirty="0">
                <a:solidFill>
                  <a:srgbClr val="272525"/>
                </a:solidFill>
                <a:latin typeface="Inter" pitchFamily="34" charset="0"/>
                <a:ea typeface="Inter" pitchFamily="34" charset="-122"/>
                <a:cs typeface="Inter" pitchFamily="34" charset="-120"/>
              </a:rPr>
              <a:t>L'oligopolio è una struttura in cui </a:t>
            </a:r>
            <a:r>
              <a:rPr lang="en-US" sz="1350" b="1" dirty="0">
                <a:solidFill>
                  <a:srgbClr val="272525"/>
                </a:solidFill>
                <a:latin typeface="Inter" pitchFamily="34" charset="0"/>
                <a:ea typeface="Inter" pitchFamily="34" charset="-122"/>
                <a:cs typeface="Inter" pitchFamily="34" charset="-120"/>
              </a:rPr>
              <a:t>poche grandi imprese</a:t>
            </a:r>
            <a:r>
              <a:rPr lang="en-US" sz="1350" dirty="0">
                <a:solidFill>
                  <a:srgbClr val="272525"/>
                </a:solidFill>
                <a:latin typeface="Inter" pitchFamily="34" charset="0"/>
                <a:ea typeface="Inter" pitchFamily="34" charset="-122"/>
                <a:cs typeface="Inter" pitchFamily="34" charset="-120"/>
              </a:rPr>
              <a:t> dominano il mercato. La caratteristica distintiva è l'</a:t>
            </a:r>
            <a:r>
              <a:rPr lang="en-US" sz="1350" b="1" dirty="0">
                <a:solidFill>
                  <a:srgbClr val="272525"/>
                </a:solidFill>
                <a:latin typeface="Inter" pitchFamily="34" charset="0"/>
                <a:ea typeface="Inter" pitchFamily="34" charset="-122"/>
                <a:cs typeface="Inter" pitchFamily="34" charset="-120"/>
              </a:rPr>
              <a:t>interdipendenza</a:t>
            </a:r>
            <a:r>
              <a:rPr lang="en-US" sz="1350" dirty="0">
                <a:solidFill>
                  <a:srgbClr val="272525"/>
                </a:solidFill>
                <a:latin typeface="Inter" pitchFamily="34" charset="0"/>
                <a:ea typeface="Inter" pitchFamily="34" charset="-122"/>
                <a:cs typeface="Inter" pitchFamily="34" charset="-120"/>
              </a:rPr>
              <a:t>: le decisioni di ciascuna impresa (su prezzi, pubblicità, investimenti) influenzano direttamente le strategie dei concorrenti. Per questo la teoria dei giochi diventa uno strumento cruciale di analisi.</a:t>
            </a:r>
            <a:endParaRPr lang="en-US" sz="1350" dirty="0"/>
          </a:p>
        </p:txBody>
      </p:sp>
      <p:pic>
        <p:nvPicPr>
          <p:cNvPr id="7" name="Image 1" descr="preencoded.png"/>
          <p:cNvPicPr>
            <a:picLocks noChangeAspect="1"/>
          </p:cNvPicPr>
          <p:nvPr/>
        </p:nvPicPr>
        <p:blipFill>
          <a:blip r:embed="rId3"/>
          <a:stretch>
            <a:fillRect/>
          </a:stretch>
        </p:blipFill>
        <p:spPr>
          <a:xfrm>
            <a:off x="691396" y="3383161"/>
            <a:ext cx="864275" cy="1223248"/>
          </a:xfrm>
          <a:prstGeom prst="rect">
            <a:avLst/>
          </a:prstGeom>
        </p:spPr>
      </p:pic>
      <p:sp>
        <p:nvSpPr>
          <p:cNvPr id="8" name="Text 4"/>
          <p:cNvSpPr/>
          <p:nvPr/>
        </p:nvSpPr>
        <p:spPr>
          <a:xfrm>
            <a:off x="1706166" y="3555921"/>
            <a:ext cx="2160746" cy="270034"/>
          </a:xfrm>
          <a:prstGeom prst="rect">
            <a:avLst/>
          </a:prstGeom>
          <a:noFill/>
          <a:ln/>
        </p:spPr>
        <p:txBody>
          <a:bodyPr wrap="none" lIns="0" tIns="0" rIns="0" bIns="0" rtlCol="0" anchor="t"/>
          <a:lstStyle/>
          <a:p>
            <a:pPr marL="0" indent="0" algn="l">
              <a:lnSpc>
                <a:spcPts val="2100"/>
              </a:lnSpc>
              <a:buNone/>
            </a:pPr>
            <a:r>
              <a:rPr lang="en-US" sz="1700" b="1" dirty="0">
                <a:solidFill>
                  <a:srgbClr val="272525"/>
                </a:solidFill>
                <a:latin typeface="Inter Bold" pitchFamily="34" charset="0"/>
                <a:ea typeface="Inter Bold" pitchFamily="34" charset="-122"/>
                <a:cs typeface="Inter Bold" pitchFamily="34" charset="-120"/>
              </a:rPr>
              <a:t>Modello di Cournot</a:t>
            </a:r>
            <a:endParaRPr lang="en-US" sz="1700" dirty="0"/>
          </a:p>
        </p:txBody>
      </p:sp>
      <p:sp>
        <p:nvSpPr>
          <p:cNvPr id="9" name="Text 5"/>
          <p:cNvSpPr/>
          <p:nvPr/>
        </p:nvSpPr>
        <p:spPr>
          <a:xfrm>
            <a:off x="1706166" y="3916204"/>
            <a:ext cx="6746438" cy="517446"/>
          </a:xfrm>
          <a:prstGeom prst="rect">
            <a:avLst/>
          </a:prstGeom>
          <a:noFill/>
          <a:ln/>
        </p:spPr>
        <p:txBody>
          <a:bodyPr wrap="square" lIns="0" tIns="0" rIns="0" bIns="0" rtlCol="0" anchor="t"/>
          <a:lstStyle/>
          <a:p>
            <a:pPr marL="0" indent="0" algn="l">
              <a:lnSpc>
                <a:spcPts val="2000"/>
              </a:lnSpc>
              <a:buNone/>
            </a:pPr>
            <a:r>
              <a:rPr lang="en-US" sz="1350" dirty="0">
                <a:solidFill>
                  <a:srgbClr val="272525"/>
                </a:solidFill>
                <a:latin typeface="Inter" pitchFamily="34" charset="0"/>
                <a:ea typeface="Inter" pitchFamily="34" charset="-122"/>
                <a:cs typeface="Inter" pitchFamily="34" charset="-120"/>
              </a:rPr>
              <a:t>Le imprese competono sulle </a:t>
            </a:r>
            <a:r>
              <a:rPr lang="en-US" sz="1350" b="1" dirty="0">
                <a:solidFill>
                  <a:srgbClr val="272525"/>
                </a:solidFill>
                <a:latin typeface="Inter" pitchFamily="34" charset="0"/>
                <a:ea typeface="Inter" pitchFamily="34" charset="-122"/>
                <a:cs typeface="Inter" pitchFamily="34" charset="-120"/>
              </a:rPr>
              <a:t>quantità</a:t>
            </a:r>
            <a:r>
              <a:rPr lang="en-US" sz="1350" dirty="0">
                <a:solidFill>
                  <a:srgbClr val="272525"/>
                </a:solidFill>
                <a:latin typeface="Inter" pitchFamily="34" charset="0"/>
                <a:ea typeface="Inter" pitchFamily="34" charset="-122"/>
                <a:cs typeface="Inter" pitchFamily="34" charset="-120"/>
              </a:rPr>
              <a:t> prodotte, raggiungendo un equilibrio di Nash in cui nessuno ha incentivo a deviare unilateralmente.</a:t>
            </a:r>
            <a:endParaRPr lang="en-US" sz="1350" dirty="0"/>
          </a:p>
        </p:txBody>
      </p:sp>
      <p:pic>
        <p:nvPicPr>
          <p:cNvPr id="10" name="Image 2" descr="preencoded.png"/>
          <p:cNvPicPr>
            <a:picLocks noChangeAspect="1"/>
          </p:cNvPicPr>
          <p:nvPr/>
        </p:nvPicPr>
        <p:blipFill>
          <a:blip r:embed="rId4"/>
          <a:stretch>
            <a:fillRect/>
          </a:stretch>
        </p:blipFill>
        <p:spPr>
          <a:xfrm>
            <a:off x="691396" y="4606409"/>
            <a:ext cx="864275" cy="1223248"/>
          </a:xfrm>
          <a:prstGeom prst="rect">
            <a:avLst/>
          </a:prstGeom>
        </p:spPr>
      </p:pic>
      <p:sp>
        <p:nvSpPr>
          <p:cNvPr id="11" name="Text 6"/>
          <p:cNvSpPr/>
          <p:nvPr/>
        </p:nvSpPr>
        <p:spPr>
          <a:xfrm>
            <a:off x="1706166" y="4779169"/>
            <a:ext cx="2160746" cy="270034"/>
          </a:xfrm>
          <a:prstGeom prst="rect">
            <a:avLst/>
          </a:prstGeom>
          <a:noFill/>
          <a:ln/>
        </p:spPr>
        <p:txBody>
          <a:bodyPr wrap="none" lIns="0" tIns="0" rIns="0" bIns="0" rtlCol="0" anchor="t"/>
          <a:lstStyle/>
          <a:p>
            <a:pPr marL="0" indent="0" algn="l">
              <a:lnSpc>
                <a:spcPts val="2100"/>
              </a:lnSpc>
              <a:buNone/>
            </a:pPr>
            <a:r>
              <a:rPr lang="en-US" sz="1700" b="1" dirty="0">
                <a:solidFill>
                  <a:srgbClr val="272525"/>
                </a:solidFill>
                <a:latin typeface="Inter Bold" pitchFamily="34" charset="0"/>
                <a:ea typeface="Inter Bold" pitchFamily="34" charset="-122"/>
                <a:cs typeface="Inter Bold" pitchFamily="34" charset="-120"/>
              </a:rPr>
              <a:t>Modello di Bertrand</a:t>
            </a:r>
            <a:endParaRPr lang="en-US" sz="1700" dirty="0"/>
          </a:p>
        </p:txBody>
      </p:sp>
      <p:sp>
        <p:nvSpPr>
          <p:cNvPr id="12" name="Text 7"/>
          <p:cNvSpPr/>
          <p:nvPr/>
        </p:nvSpPr>
        <p:spPr>
          <a:xfrm>
            <a:off x="1706166" y="5139452"/>
            <a:ext cx="6746438" cy="517446"/>
          </a:xfrm>
          <a:prstGeom prst="rect">
            <a:avLst/>
          </a:prstGeom>
          <a:noFill/>
          <a:ln/>
        </p:spPr>
        <p:txBody>
          <a:bodyPr wrap="square" lIns="0" tIns="0" rIns="0" bIns="0" rtlCol="0" anchor="t"/>
          <a:lstStyle/>
          <a:p>
            <a:pPr marL="0" indent="0" algn="l">
              <a:lnSpc>
                <a:spcPts val="2000"/>
              </a:lnSpc>
              <a:buNone/>
            </a:pPr>
            <a:r>
              <a:rPr lang="en-US" sz="1350" dirty="0">
                <a:solidFill>
                  <a:srgbClr val="272525"/>
                </a:solidFill>
                <a:latin typeface="Inter" pitchFamily="34" charset="0"/>
                <a:ea typeface="Inter" pitchFamily="34" charset="-122"/>
                <a:cs typeface="Inter" pitchFamily="34" charset="-120"/>
              </a:rPr>
              <a:t>Le imprese competono sui </a:t>
            </a:r>
            <a:r>
              <a:rPr lang="en-US" sz="1350" b="1" dirty="0">
                <a:solidFill>
                  <a:srgbClr val="272525"/>
                </a:solidFill>
                <a:latin typeface="Inter" pitchFamily="34" charset="0"/>
                <a:ea typeface="Inter" pitchFamily="34" charset="-122"/>
                <a:cs typeface="Inter" pitchFamily="34" charset="-120"/>
              </a:rPr>
              <a:t>prezzi</a:t>
            </a:r>
            <a:r>
              <a:rPr lang="en-US" sz="1350" dirty="0">
                <a:solidFill>
                  <a:srgbClr val="272525"/>
                </a:solidFill>
                <a:latin typeface="Inter" pitchFamily="34" charset="0"/>
                <a:ea typeface="Inter" pitchFamily="34" charset="-122"/>
                <a:cs typeface="Inter" pitchFamily="34" charset="-120"/>
              </a:rPr>
              <a:t>: il risultato, in presenza di prodotti omogenei, converge al prezzo concorrenziale.</a:t>
            </a:r>
            <a:endParaRPr lang="en-US" sz="1350" dirty="0"/>
          </a:p>
        </p:txBody>
      </p:sp>
      <p:pic>
        <p:nvPicPr>
          <p:cNvPr id="13" name="Image 3" descr="preencoded.png"/>
          <p:cNvPicPr>
            <a:picLocks noChangeAspect="1"/>
          </p:cNvPicPr>
          <p:nvPr/>
        </p:nvPicPr>
        <p:blipFill>
          <a:blip r:embed="rId5"/>
          <a:stretch>
            <a:fillRect/>
          </a:stretch>
        </p:blipFill>
        <p:spPr>
          <a:xfrm>
            <a:off x="691396" y="5829657"/>
            <a:ext cx="864275" cy="1481971"/>
          </a:xfrm>
          <a:prstGeom prst="rect">
            <a:avLst/>
          </a:prstGeom>
        </p:spPr>
      </p:pic>
      <p:sp>
        <p:nvSpPr>
          <p:cNvPr id="14" name="Text 8"/>
          <p:cNvSpPr/>
          <p:nvPr/>
        </p:nvSpPr>
        <p:spPr>
          <a:xfrm>
            <a:off x="1706166" y="6002417"/>
            <a:ext cx="2160746" cy="270034"/>
          </a:xfrm>
          <a:prstGeom prst="rect">
            <a:avLst/>
          </a:prstGeom>
          <a:noFill/>
          <a:ln/>
        </p:spPr>
        <p:txBody>
          <a:bodyPr wrap="none" lIns="0" tIns="0" rIns="0" bIns="0" rtlCol="0" anchor="t"/>
          <a:lstStyle/>
          <a:p>
            <a:pPr marL="0" indent="0" algn="l">
              <a:lnSpc>
                <a:spcPts val="2100"/>
              </a:lnSpc>
              <a:buNone/>
            </a:pPr>
            <a:r>
              <a:rPr lang="en-US" sz="1700" b="1" dirty="0">
                <a:solidFill>
                  <a:srgbClr val="272525"/>
                </a:solidFill>
                <a:latin typeface="Inter Bold" pitchFamily="34" charset="0"/>
                <a:ea typeface="Inter Bold" pitchFamily="34" charset="-122"/>
                <a:cs typeface="Inter Bold" pitchFamily="34" charset="-120"/>
              </a:rPr>
              <a:t>Collusione e Cartelli</a:t>
            </a:r>
            <a:endParaRPr lang="en-US" sz="1700" dirty="0"/>
          </a:p>
        </p:txBody>
      </p:sp>
      <p:sp>
        <p:nvSpPr>
          <p:cNvPr id="15" name="Text 9"/>
          <p:cNvSpPr/>
          <p:nvPr/>
        </p:nvSpPr>
        <p:spPr>
          <a:xfrm>
            <a:off x="1706166" y="6362700"/>
            <a:ext cx="6746438" cy="776168"/>
          </a:xfrm>
          <a:prstGeom prst="rect">
            <a:avLst/>
          </a:prstGeom>
          <a:noFill/>
          <a:ln/>
        </p:spPr>
        <p:txBody>
          <a:bodyPr wrap="square" lIns="0" tIns="0" rIns="0" bIns="0" rtlCol="0" anchor="t"/>
          <a:lstStyle/>
          <a:p>
            <a:pPr marL="0" indent="0" algn="l">
              <a:lnSpc>
                <a:spcPts val="2000"/>
              </a:lnSpc>
              <a:buNone/>
            </a:pPr>
            <a:r>
              <a:rPr lang="en-US" sz="1350" dirty="0">
                <a:solidFill>
                  <a:srgbClr val="272525"/>
                </a:solidFill>
                <a:latin typeface="Inter" pitchFamily="34" charset="0"/>
                <a:ea typeface="Inter" pitchFamily="34" charset="-122"/>
                <a:cs typeface="Inter" pitchFamily="34" charset="-120"/>
              </a:rPr>
              <a:t>Le imprese possono accordarsi tacitamente o esplicitamente per fissare i prezzi, comportandosi come un monopolio collettivo — pratica vietata dalle leggi antitrust.</a:t>
            </a:r>
            <a:endParaRPr lang="en-US" sz="1350" dirty="0"/>
          </a:p>
        </p:txBody>
      </p:sp>
      <p:pic>
        <p:nvPicPr>
          <p:cNvPr id="16" name="Immagine 15">
            <a:extLst>
              <a:ext uri="{FF2B5EF4-FFF2-40B4-BE49-F238E27FC236}">
                <a16:creationId xmlns:a16="http://schemas.microsoft.com/office/drawing/2014/main" id="{46A31AEC-4D91-4232-849B-8D2196F90655}"/>
              </a:ext>
            </a:extLst>
          </p:cNvPr>
          <p:cNvPicPr>
            <a:picLocks noChangeAspect="1"/>
          </p:cNvPicPr>
          <p:nvPr/>
        </p:nvPicPr>
        <p:blipFill rotWithShape="1">
          <a:blip r:embed="rId6"/>
          <a:srcRect b="11731"/>
          <a:stretch/>
        </p:blipFill>
        <p:spPr>
          <a:xfrm>
            <a:off x="8721768" y="2559441"/>
            <a:ext cx="5717367" cy="283873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8188798D-8139-40A1-8A41-591A70B3FBF6}"/>
              </a:ext>
            </a:extLst>
          </p:cNvPr>
          <p:cNvPicPr>
            <a:picLocks noChangeAspect="1"/>
          </p:cNvPicPr>
          <p:nvPr/>
        </p:nvPicPr>
        <p:blipFill>
          <a:blip r:embed="rId2"/>
          <a:stretch>
            <a:fillRect/>
          </a:stretch>
        </p:blipFill>
        <p:spPr>
          <a:xfrm>
            <a:off x="1557835" y="412024"/>
            <a:ext cx="11514729" cy="7405552"/>
          </a:xfrm>
          <a:prstGeom prst="rect">
            <a:avLst/>
          </a:prstGeom>
        </p:spPr>
      </p:pic>
    </p:spTree>
    <p:extLst>
      <p:ext uri="{BB962C8B-B14F-4D97-AF65-F5344CB8AC3E}">
        <p14:creationId xmlns:p14="http://schemas.microsoft.com/office/powerpoint/2010/main" val="3207315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596866"/>
            <a:ext cx="7561540"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Esempi Pratici nel Mondo Reale</a:t>
            </a:r>
            <a:endParaRPr lang="en-US" sz="3900" dirty="0"/>
          </a:p>
        </p:txBody>
      </p:sp>
      <p:sp>
        <p:nvSpPr>
          <p:cNvPr id="3" name="Text 1"/>
          <p:cNvSpPr/>
          <p:nvPr/>
        </p:nvSpPr>
        <p:spPr>
          <a:xfrm>
            <a:off x="793790" y="2613779"/>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Riconoscere la forma di mercato di un settore è essenziale per comprenderne la dinamica competitiva, i livelli di prezzo e le strategie delle imprese. Ecco alcuni casi emblematici tratti dall'economia globale contemporanea.</a:t>
            </a:r>
            <a:endParaRPr lang="en-US" sz="15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3472101"/>
            <a:ext cx="496133" cy="496133"/>
          </a:xfrm>
          <a:prstGeom prst="rect">
            <a:avLst/>
          </a:prstGeom>
        </p:spPr>
      </p:pic>
      <p:sp>
        <p:nvSpPr>
          <p:cNvPr id="5" name="Text 2"/>
          <p:cNvSpPr/>
          <p:nvPr/>
        </p:nvSpPr>
        <p:spPr>
          <a:xfrm>
            <a:off x="1537930" y="3472101"/>
            <a:ext cx="488501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Mercati Agricoli → Concorrenza Perfetta</a:t>
            </a:r>
            <a:endParaRPr lang="en-US" sz="1950" dirty="0"/>
          </a:p>
        </p:txBody>
      </p:sp>
      <p:sp>
        <p:nvSpPr>
          <p:cNvPr id="6" name="Text 3"/>
          <p:cNvSpPr/>
          <p:nvPr/>
        </p:nvSpPr>
        <p:spPr>
          <a:xfrm>
            <a:off x="1537930" y="3901321"/>
            <a:ext cx="5653207"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I mercati del grano, del mais o del riso si avvicinano alla concorrenza perfetta: molti produttori, prodotto omogeneo, prezzi determinati dalle borse merci internazionali.</a:t>
            </a:r>
            <a:endParaRPr lang="en-US" sz="155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7439144" y="3472101"/>
            <a:ext cx="496133" cy="496133"/>
          </a:xfrm>
          <a:prstGeom prst="rect">
            <a:avLst/>
          </a:prstGeom>
        </p:spPr>
      </p:pic>
      <p:sp>
        <p:nvSpPr>
          <p:cNvPr id="8" name="Text 4"/>
          <p:cNvSpPr/>
          <p:nvPr/>
        </p:nvSpPr>
        <p:spPr>
          <a:xfrm>
            <a:off x="8183285" y="3472101"/>
            <a:ext cx="4834176"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Reti </a:t>
            </a:r>
            <a:r>
              <a:rPr lang="en-US" sz="1950" b="1" dirty="0" err="1">
                <a:solidFill>
                  <a:srgbClr val="272525"/>
                </a:solidFill>
                <a:latin typeface="Inter Bold" pitchFamily="34" charset="0"/>
                <a:ea typeface="Inter Bold" pitchFamily="34" charset="-122"/>
                <a:cs typeface="Inter Bold" pitchFamily="34" charset="-120"/>
              </a:rPr>
              <a:t>Idriche</a:t>
            </a:r>
            <a:r>
              <a:rPr lang="en-US" sz="1950" b="1" dirty="0">
                <a:solidFill>
                  <a:srgbClr val="272525"/>
                </a:solidFill>
                <a:latin typeface="Inter Bold" pitchFamily="34" charset="0"/>
                <a:ea typeface="Inter Bold" pitchFamily="34" charset="-122"/>
                <a:cs typeface="Inter Bold" pitchFamily="34" charset="-120"/>
              </a:rPr>
              <a:t> → Monopolio Naturale</a:t>
            </a:r>
            <a:endParaRPr lang="en-US" sz="1950" dirty="0"/>
          </a:p>
        </p:txBody>
      </p:sp>
      <p:sp>
        <p:nvSpPr>
          <p:cNvPr id="9" name="Text 5"/>
          <p:cNvSpPr/>
          <p:nvPr/>
        </p:nvSpPr>
        <p:spPr>
          <a:xfrm>
            <a:off x="8183285" y="3901321"/>
            <a:ext cx="5653326"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La distribuzione di </a:t>
            </a:r>
            <a:r>
              <a:rPr lang="en-US" sz="1550" dirty="0" err="1">
                <a:solidFill>
                  <a:srgbClr val="272525"/>
                </a:solidFill>
                <a:latin typeface="Inter" pitchFamily="34" charset="0"/>
                <a:ea typeface="Inter" pitchFamily="34" charset="-122"/>
                <a:cs typeface="Inter" pitchFamily="34" charset="-120"/>
              </a:rPr>
              <a:t>acqua</a:t>
            </a:r>
            <a:r>
              <a:rPr lang="en-US" sz="1550" dirty="0">
                <a:solidFill>
                  <a:srgbClr val="272525"/>
                </a:solidFill>
                <a:latin typeface="Inter" pitchFamily="34" charset="0"/>
                <a:ea typeface="Inter" pitchFamily="34" charset="-122"/>
                <a:cs typeface="Inter" pitchFamily="34" charset="-120"/>
              </a:rPr>
              <a:t> </a:t>
            </a:r>
            <a:r>
              <a:rPr lang="en-US" sz="1550" dirty="0" err="1">
                <a:solidFill>
                  <a:srgbClr val="272525"/>
                </a:solidFill>
                <a:latin typeface="Inter" pitchFamily="34" charset="0"/>
                <a:ea typeface="Inter" pitchFamily="34" charset="-122"/>
                <a:cs typeface="Inter" pitchFamily="34" charset="-120"/>
              </a:rPr>
              <a:t>presenta</a:t>
            </a:r>
            <a:r>
              <a:rPr lang="en-US" sz="1550" dirty="0">
                <a:solidFill>
                  <a:srgbClr val="272525"/>
                </a:solidFill>
                <a:latin typeface="Inter" pitchFamily="34" charset="0"/>
                <a:ea typeface="Inter" pitchFamily="34" charset="-122"/>
                <a:cs typeface="Inter" pitchFamily="34" charset="-120"/>
              </a:rPr>
              <a:t> costi fissi elevatissimi e rendimenti crescenti di scala, rendendo efficiente la presenza di un unico operatore regolamentato.</a:t>
            </a:r>
            <a:endParaRPr lang="en-US" sz="1550" dirty="0"/>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793790" y="5250775"/>
            <a:ext cx="496133" cy="496133"/>
          </a:xfrm>
          <a:prstGeom prst="rect">
            <a:avLst/>
          </a:prstGeom>
        </p:spPr>
      </p:pic>
      <p:sp>
        <p:nvSpPr>
          <p:cNvPr id="11" name="Text 6"/>
          <p:cNvSpPr/>
          <p:nvPr/>
        </p:nvSpPr>
        <p:spPr>
          <a:xfrm>
            <a:off x="1537930" y="5250775"/>
            <a:ext cx="3077766"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Smartphone → Oligopolio</a:t>
            </a:r>
            <a:endParaRPr lang="en-US" sz="1950" dirty="0"/>
          </a:p>
        </p:txBody>
      </p:sp>
      <p:sp>
        <p:nvSpPr>
          <p:cNvPr id="12" name="Text 7"/>
          <p:cNvSpPr/>
          <p:nvPr/>
        </p:nvSpPr>
        <p:spPr>
          <a:xfrm>
            <a:off x="1537930" y="5679996"/>
            <a:ext cx="5653207"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Apple, Samsung e pochi altri dominano il mercato globale degli smartphone, con strategie di prezzo e innovazione profondamente interconnesse.</a:t>
            </a:r>
            <a:endParaRPr lang="en-US" sz="1550" dirty="0"/>
          </a:p>
        </p:txBody>
      </p:sp>
      <p:pic>
        <p:nvPicPr>
          <p:cNvPr id="13" name="Image 3" descr="preencoded.png"/>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7439144" y="5250775"/>
            <a:ext cx="496133" cy="496133"/>
          </a:xfrm>
          <a:prstGeom prst="rect">
            <a:avLst/>
          </a:prstGeom>
        </p:spPr>
      </p:pic>
      <p:sp>
        <p:nvSpPr>
          <p:cNvPr id="14" name="Text 8"/>
          <p:cNvSpPr/>
          <p:nvPr/>
        </p:nvSpPr>
        <p:spPr>
          <a:xfrm>
            <a:off x="8183285" y="5250775"/>
            <a:ext cx="5223153"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Ristorazione → Concorrenza Monopolistica</a:t>
            </a:r>
            <a:endParaRPr lang="en-US" sz="1950" dirty="0"/>
          </a:p>
        </p:txBody>
      </p:sp>
      <p:sp>
        <p:nvSpPr>
          <p:cNvPr id="15" name="Text 9"/>
          <p:cNvSpPr/>
          <p:nvPr/>
        </p:nvSpPr>
        <p:spPr>
          <a:xfrm>
            <a:off x="8183285" y="5679996"/>
            <a:ext cx="5653326"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Bar, ristoranti e caffetterie competono offrendo esperienze uniche, menu personalizzati e atmosfere distintive per fidelizzare la clientela locale.</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63429" y="574596"/>
            <a:ext cx="9049464" cy="596503"/>
          </a:xfrm>
          <a:prstGeom prst="rect">
            <a:avLst/>
          </a:prstGeom>
          <a:noFill/>
          <a:ln/>
        </p:spPr>
        <p:txBody>
          <a:bodyPr wrap="none" lIns="0" tIns="0" rIns="0" bIns="0" rtlCol="0" anchor="t"/>
          <a:lstStyle/>
          <a:p>
            <a:pPr marL="0" indent="0" algn="l">
              <a:lnSpc>
                <a:spcPts val="4650"/>
              </a:lnSpc>
              <a:buNone/>
            </a:pPr>
            <a:r>
              <a:rPr lang="en-US" sz="3750" b="1" dirty="0">
                <a:solidFill>
                  <a:srgbClr val="000000"/>
                </a:solidFill>
                <a:latin typeface="Inter Bold" pitchFamily="34" charset="0"/>
                <a:ea typeface="Inter Bold" pitchFamily="34" charset="-122"/>
                <a:cs typeface="Inter Bold" pitchFamily="34" charset="-120"/>
              </a:rPr>
              <a:t>Regolamentazione e Politiche Antitrust</a:t>
            </a:r>
            <a:endParaRPr lang="en-US" sz="3750" dirty="0"/>
          </a:p>
        </p:txBody>
      </p:sp>
      <p:sp>
        <p:nvSpPr>
          <p:cNvPr id="3" name="Shape 1"/>
          <p:cNvSpPr/>
          <p:nvPr/>
        </p:nvSpPr>
        <p:spPr>
          <a:xfrm>
            <a:off x="763429" y="1538168"/>
            <a:ext cx="2250519" cy="353973"/>
          </a:xfrm>
          <a:prstGeom prst="roundRect">
            <a:avLst>
              <a:gd name="adj" fmla="val 18118"/>
            </a:avLst>
          </a:prstGeom>
          <a:solidFill>
            <a:srgbClr val="DADBF1"/>
          </a:solidFill>
          <a:ln/>
        </p:spPr>
      </p:sp>
      <p:sp>
        <p:nvSpPr>
          <p:cNvPr id="4" name="Text 2"/>
          <p:cNvSpPr/>
          <p:nvPr/>
        </p:nvSpPr>
        <p:spPr>
          <a:xfrm>
            <a:off x="877848" y="1595318"/>
            <a:ext cx="2021681" cy="239673"/>
          </a:xfrm>
          <a:prstGeom prst="rect">
            <a:avLst/>
          </a:prstGeom>
          <a:noFill/>
          <a:ln/>
        </p:spPr>
        <p:txBody>
          <a:bodyPr wrap="non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INTERVENTO DELLO STATO</a:t>
            </a:r>
            <a:endParaRPr lang="en-US" sz="1200" dirty="0"/>
          </a:p>
        </p:txBody>
      </p:sp>
      <p:sp>
        <p:nvSpPr>
          <p:cNvPr id="5" name="Text 3"/>
          <p:cNvSpPr/>
          <p:nvPr/>
        </p:nvSpPr>
        <p:spPr>
          <a:xfrm>
            <a:off x="763429" y="2098596"/>
            <a:ext cx="13103543" cy="598884"/>
          </a:xfrm>
          <a:prstGeom prst="rect">
            <a:avLst/>
          </a:prstGeom>
          <a:noFill/>
          <a:ln/>
        </p:spPr>
        <p:txBody>
          <a:bodyPr wrap="square" lIns="0" tIns="0" rIns="0" bIns="0" rtlCol="0" anchor="t"/>
          <a:lstStyle/>
          <a:p>
            <a:pPr marL="0" indent="0" algn="l">
              <a:lnSpc>
                <a:spcPts val="2350"/>
              </a:lnSpc>
              <a:buNone/>
            </a:pPr>
            <a:r>
              <a:rPr lang="en-US" sz="1500" dirty="0">
                <a:solidFill>
                  <a:srgbClr val="272525"/>
                </a:solidFill>
                <a:latin typeface="Inter" pitchFamily="34" charset="0"/>
                <a:ea typeface="Inter" pitchFamily="34" charset="-122"/>
                <a:cs typeface="Inter" pitchFamily="34" charset="-120"/>
              </a:rPr>
              <a:t>Quando le forze di mercato non garantiscono risultati efficienti ed equi, lo Stato interviene attraverso strumenti regolatori e leggi antitrust per tutelare la concorrenza e i consumatori.</a:t>
            </a:r>
            <a:endParaRPr lang="en-US" sz="1500" dirty="0"/>
          </a:p>
        </p:txBody>
      </p:sp>
      <p:sp>
        <p:nvSpPr>
          <p:cNvPr id="6" name="Shape 4"/>
          <p:cNvSpPr/>
          <p:nvPr/>
        </p:nvSpPr>
        <p:spPr>
          <a:xfrm>
            <a:off x="763429" y="3190161"/>
            <a:ext cx="6459974" cy="1997512"/>
          </a:xfrm>
          <a:prstGeom prst="roundRect">
            <a:avLst>
              <a:gd name="adj" fmla="val 5493"/>
            </a:avLst>
          </a:prstGeom>
          <a:solidFill>
            <a:srgbClr val="FFFFFF"/>
          </a:solidFill>
          <a:ln/>
        </p:spPr>
      </p:sp>
      <p:sp>
        <p:nvSpPr>
          <p:cNvPr id="7" name="Shape 5"/>
          <p:cNvSpPr/>
          <p:nvPr/>
        </p:nvSpPr>
        <p:spPr>
          <a:xfrm>
            <a:off x="763429" y="3167301"/>
            <a:ext cx="6459974" cy="91440"/>
          </a:xfrm>
          <a:prstGeom prst="roundRect">
            <a:avLst>
              <a:gd name="adj" fmla="val 87672"/>
            </a:avLst>
          </a:prstGeom>
          <a:solidFill>
            <a:srgbClr val="4950BC"/>
          </a:solidFill>
          <a:ln/>
        </p:spPr>
      </p:sp>
      <p:sp>
        <p:nvSpPr>
          <p:cNvPr id="8" name="Shape 6"/>
          <p:cNvSpPr/>
          <p:nvPr/>
        </p:nvSpPr>
        <p:spPr>
          <a:xfrm>
            <a:off x="3707070" y="2903934"/>
            <a:ext cx="572572" cy="572572"/>
          </a:xfrm>
          <a:prstGeom prst="roundRect">
            <a:avLst>
              <a:gd name="adj" fmla="val 159700"/>
            </a:avLst>
          </a:prstGeom>
          <a:solidFill>
            <a:srgbClr val="4950BC"/>
          </a:solidFill>
          <a:ln/>
        </p:spPr>
      </p:sp>
      <p:sp>
        <p:nvSpPr>
          <p:cNvPr id="9" name="Text 7"/>
          <p:cNvSpPr/>
          <p:nvPr/>
        </p:nvSpPr>
        <p:spPr>
          <a:xfrm>
            <a:off x="3902662" y="2986922"/>
            <a:ext cx="228957" cy="286226"/>
          </a:xfrm>
          <a:prstGeom prst="rect">
            <a:avLst/>
          </a:prstGeom>
          <a:noFill/>
          <a:ln/>
        </p:spPr>
        <p:txBody>
          <a:bodyPr wrap="none" lIns="0" tIns="0" rIns="0" bIns="0" rtlCol="0" anchor="t"/>
          <a:lstStyle/>
          <a:p>
            <a:pPr marL="0" indent="0" algn="l">
              <a:lnSpc>
                <a:spcPts val="2800"/>
              </a:lnSpc>
              <a:buNone/>
            </a:pPr>
            <a:r>
              <a:rPr lang="en-US" sz="1800" b="1" dirty="0">
                <a:solidFill>
                  <a:srgbClr val="FFFFFF"/>
                </a:solidFill>
                <a:latin typeface="Inter Bold" pitchFamily="34" charset="0"/>
                <a:ea typeface="Inter Bold" pitchFamily="34" charset="-122"/>
                <a:cs typeface="Inter Bold" pitchFamily="34" charset="-120"/>
              </a:rPr>
              <a:t>1</a:t>
            </a:r>
            <a:endParaRPr lang="en-US" sz="1800" dirty="0"/>
          </a:p>
        </p:txBody>
      </p:sp>
      <p:sp>
        <p:nvSpPr>
          <p:cNvPr id="10" name="Text 8"/>
          <p:cNvSpPr/>
          <p:nvPr/>
        </p:nvSpPr>
        <p:spPr>
          <a:xfrm>
            <a:off x="977146" y="3667244"/>
            <a:ext cx="2385893" cy="298252"/>
          </a:xfrm>
          <a:prstGeom prst="rect">
            <a:avLst/>
          </a:prstGeom>
          <a:noFill/>
          <a:ln/>
        </p:spPr>
        <p:txBody>
          <a:bodyPr wrap="none" lIns="0" tIns="0" rIns="0" bIns="0" rtlCol="0" anchor="t"/>
          <a:lstStyle/>
          <a:p>
            <a:pPr marL="0" indent="0" algn="l">
              <a:lnSpc>
                <a:spcPts val="2300"/>
              </a:lnSpc>
              <a:buNone/>
            </a:pPr>
            <a:r>
              <a:rPr lang="en-US" sz="1850" b="1" dirty="0">
                <a:solidFill>
                  <a:srgbClr val="272525"/>
                </a:solidFill>
                <a:latin typeface="Inter Bold" pitchFamily="34" charset="0"/>
                <a:ea typeface="Inter Bold" pitchFamily="34" charset="-122"/>
                <a:cs typeface="Inter Bold" pitchFamily="34" charset="-120"/>
              </a:rPr>
              <a:t>Leggi Antitrust</a:t>
            </a:r>
            <a:endParaRPr lang="en-US" sz="1850" dirty="0"/>
          </a:p>
        </p:txBody>
      </p:sp>
      <p:sp>
        <p:nvSpPr>
          <p:cNvPr id="11" name="Text 9"/>
          <p:cNvSpPr/>
          <p:nvPr/>
        </p:nvSpPr>
        <p:spPr>
          <a:xfrm>
            <a:off x="977146" y="4075628"/>
            <a:ext cx="6032540" cy="898327"/>
          </a:xfrm>
          <a:prstGeom prst="rect">
            <a:avLst/>
          </a:prstGeom>
          <a:noFill/>
          <a:ln/>
        </p:spPr>
        <p:txBody>
          <a:bodyPr wrap="square" lIns="0" tIns="0" rIns="0" bIns="0" rtlCol="0" anchor="t"/>
          <a:lstStyle/>
          <a:p>
            <a:pPr marL="0" indent="0" algn="l">
              <a:lnSpc>
                <a:spcPts val="2350"/>
              </a:lnSpc>
              <a:buNone/>
            </a:pPr>
            <a:r>
              <a:rPr lang="en-US" sz="1500" dirty="0">
                <a:solidFill>
                  <a:srgbClr val="272525"/>
                </a:solidFill>
                <a:latin typeface="Inter" pitchFamily="34" charset="0"/>
                <a:ea typeface="Inter" pitchFamily="34" charset="-122"/>
                <a:cs typeface="Inter" pitchFamily="34" charset="-120"/>
              </a:rPr>
              <a:t>Normative come il </a:t>
            </a:r>
            <a:r>
              <a:rPr lang="en-US" sz="1500" b="1" dirty="0">
                <a:solidFill>
                  <a:srgbClr val="272525"/>
                </a:solidFill>
                <a:latin typeface="Inter" pitchFamily="34" charset="0"/>
                <a:ea typeface="Inter" pitchFamily="34" charset="-122"/>
                <a:cs typeface="Inter" pitchFamily="34" charset="-120"/>
              </a:rPr>
              <a:t>Sherman Act</a:t>
            </a:r>
            <a:r>
              <a:rPr lang="en-US" sz="1500" dirty="0">
                <a:solidFill>
                  <a:srgbClr val="272525"/>
                </a:solidFill>
                <a:latin typeface="Inter" pitchFamily="34" charset="0"/>
                <a:ea typeface="Inter" pitchFamily="34" charset="-122"/>
                <a:cs typeface="Inter" pitchFamily="34" charset="-120"/>
              </a:rPr>
              <a:t> (USA) e i regolamenti UE vietano accordi collusivi, abusi di posizione dominante e fusioni anticoncorrenziali.</a:t>
            </a:r>
            <a:endParaRPr lang="en-US" sz="1500" dirty="0"/>
          </a:p>
        </p:txBody>
      </p:sp>
      <p:sp>
        <p:nvSpPr>
          <p:cNvPr id="12" name="Shape 10"/>
          <p:cNvSpPr/>
          <p:nvPr/>
        </p:nvSpPr>
        <p:spPr>
          <a:xfrm>
            <a:off x="7406878" y="3190161"/>
            <a:ext cx="6460093" cy="1997512"/>
          </a:xfrm>
          <a:prstGeom prst="roundRect">
            <a:avLst>
              <a:gd name="adj" fmla="val 5493"/>
            </a:avLst>
          </a:prstGeom>
          <a:solidFill>
            <a:srgbClr val="FFFFFF"/>
          </a:solidFill>
          <a:ln/>
        </p:spPr>
      </p:sp>
      <p:sp>
        <p:nvSpPr>
          <p:cNvPr id="13" name="Shape 11"/>
          <p:cNvSpPr/>
          <p:nvPr/>
        </p:nvSpPr>
        <p:spPr>
          <a:xfrm>
            <a:off x="7406878" y="3167301"/>
            <a:ext cx="6460093" cy="91440"/>
          </a:xfrm>
          <a:prstGeom prst="roundRect">
            <a:avLst>
              <a:gd name="adj" fmla="val 87672"/>
            </a:avLst>
          </a:prstGeom>
          <a:solidFill>
            <a:srgbClr val="4950BC"/>
          </a:solidFill>
          <a:ln/>
        </p:spPr>
      </p:sp>
      <p:sp>
        <p:nvSpPr>
          <p:cNvPr id="14" name="Shape 12"/>
          <p:cNvSpPr/>
          <p:nvPr/>
        </p:nvSpPr>
        <p:spPr>
          <a:xfrm>
            <a:off x="10350639" y="2903934"/>
            <a:ext cx="572572" cy="572572"/>
          </a:xfrm>
          <a:prstGeom prst="roundRect">
            <a:avLst>
              <a:gd name="adj" fmla="val 159700"/>
            </a:avLst>
          </a:prstGeom>
          <a:solidFill>
            <a:srgbClr val="4950BC"/>
          </a:solidFill>
          <a:ln/>
        </p:spPr>
      </p:sp>
      <p:sp>
        <p:nvSpPr>
          <p:cNvPr id="15" name="Text 13"/>
          <p:cNvSpPr/>
          <p:nvPr/>
        </p:nvSpPr>
        <p:spPr>
          <a:xfrm>
            <a:off x="10536771" y="2986922"/>
            <a:ext cx="228957" cy="286226"/>
          </a:xfrm>
          <a:prstGeom prst="rect">
            <a:avLst/>
          </a:prstGeom>
          <a:noFill/>
          <a:ln/>
        </p:spPr>
        <p:txBody>
          <a:bodyPr wrap="none" lIns="0" tIns="0" rIns="0" bIns="0" rtlCol="0" anchor="t"/>
          <a:lstStyle/>
          <a:p>
            <a:pPr marL="0" indent="0" algn="l">
              <a:lnSpc>
                <a:spcPts val="2800"/>
              </a:lnSpc>
              <a:buNone/>
            </a:pPr>
            <a:r>
              <a:rPr lang="en-US" sz="1800" b="1" dirty="0">
                <a:solidFill>
                  <a:srgbClr val="FFFFFF"/>
                </a:solidFill>
                <a:latin typeface="Inter Bold" pitchFamily="34" charset="0"/>
                <a:ea typeface="Inter Bold" pitchFamily="34" charset="-122"/>
                <a:cs typeface="Inter Bold" pitchFamily="34" charset="-120"/>
              </a:rPr>
              <a:t>2</a:t>
            </a:r>
            <a:endParaRPr lang="en-US" sz="1800" dirty="0"/>
          </a:p>
        </p:txBody>
      </p:sp>
      <p:sp>
        <p:nvSpPr>
          <p:cNvPr id="16" name="Text 14"/>
          <p:cNvSpPr/>
          <p:nvPr/>
        </p:nvSpPr>
        <p:spPr>
          <a:xfrm>
            <a:off x="7620595" y="3667244"/>
            <a:ext cx="4702016" cy="298252"/>
          </a:xfrm>
          <a:prstGeom prst="rect">
            <a:avLst/>
          </a:prstGeom>
          <a:noFill/>
          <a:ln/>
        </p:spPr>
        <p:txBody>
          <a:bodyPr wrap="none" lIns="0" tIns="0" rIns="0" bIns="0" rtlCol="0" anchor="t"/>
          <a:lstStyle/>
          <a:p>
            <a:pPr marL="0" indent="0" algn="l">
              <a:lnSpc>
                <a:spcPts val="2300"/>
              </a:lnSpc>
              <a:buNone/>
            </a:pPr>
            <a:r>
              <a:rPr lang="en-US" sz="1850" b="1" dirty="0">
                <a:solidFill>
                  <a:srgbClr val="272525"/>
                </a:solidFill>
                <a:latin typeface="Inter Bold" pitchFamily="34" charset="0"/>
                <a:ea typeface="Inter Bold" pitchFamily="34" charset="-122"/>
                <a:cs typeface="Inter Bold" pitchFamily="34" charset="-120"/>
              </a:rPr>
              <a:t>Regolamentazione dei Monopoli Naturali</a:t>
            </a:r>
            <a:endParaRPr lang="en-US" sz="1850" dirty="0"/>
          </a:p>
        </p:txBody>
      </p:sp>
      <p:sp>
        <p:nvSpPr>
          <p:cNvPr id="17" name="Text 15"/>
          <p:cNvSpPr/>
          <p:nvPr/>
        </p:nvSpPr>
        <p:spPr>
          <a:xfrm>
            <a:off x="7620595" y="4075628"/>
            <a:ext cx="6032659" cy="898327"/>
          </a:xfrm>
          <a:prstGeom prst="rect">
            <a:avLst/>
          </a:prstGeom>
          <a:noFill/>
          <a:ln/>
        </p:spPr>
        <p:txBody>
          <a:bodyPr wrap="square" lIns="0" tIns="0" rIns="0" bIns="0" rtlCol="0" anchor="t"/>
          <a:lstStyle/>
          <a:p>
            <a:pPr marL="0" indent="0" algn="l">
              <a:lnSpc>
                <a:spcPts val="2350"/>
              </a:lnSpc>
              <a:buNone/>
            </a:pPr>
            <a:r>
              <a:rPr lang="en-US" sz="1500" dirty="0">
                <a:solidFill>
                  <a:srgbClr val="272525"/>
                </a:solidFill>
                <a:latin typeface="Inter" pitchFamily="34" charset="0"/>
                <a:ea typeface="Inter" pitchFamily="34" charset="-122"/>
                <a:cs typeface="Inter" pitchFamily="34" charset="-120"/>
              </a:rPr>
              <a:t>Le autorità fissano tariffe massime o impongono la separazione tra reti e servizi per impedire lo sfruttamento della posizione dominante.</a:t>
            </a:r>
            <a:endParaRPr lang="en-US" sz="1500" dirty="0"/>
          </a:p>
        </p:txBody>
      </p:sp>
      <p:sp>
        <p:nvSpPr>
          <p:cNvPr id="18" name="Shape 16"/>
          <p:cNvSpPr/>
          <p:nvPr/>
        </p:nvSpPr>
        <p:spPr>
          <a:xfrm>
            <a:off x="763429" y="5657374"/>
            <a:ext cx="6459974" cy="1997512"/>
          </a:xfrm>
          <a:prstGeom prst="roundRect">
            <a:avLst>
              <a:gd name="adj" fmla="val 5493"/>
            </a:avLst>
          </a:prstGeom>
          <a:solidFill>
            <a:srgbClr val="FFFFFF"/>
          </a:solidFill>
          <a:ln/>
        </p:spPr>
      </p:sp>
      <p:sp>
        <p:nvSpPr>
          <p:cNvPr id="19" name="Shape 17"/>
          <p:cNvSpPr/>
          <p:nvPr/>
        </p:nvSpPr>
        <p:spPr>
          <a:xfrm>
            <a:off x="763429" y="5634514"/>
            <a:ext cx="6459974" cy="91440"/>
          </a:xfrm>
          <a:prstGeom prst="roundRect">
            <a:avLst>
              <a:gd name="adj" fmla="val 87672"/>
            </a:avLst>
          </a:prstGeom>
          <a:solidFill>
            <a:srgbClr val="4950BC"/>
          </a:solidFill>
          <a:ln/>
        </p:spPr>
      </p:sp>
      <p:sp>
        <p:nvSpPr>
          <p:cNvPr id="20" name="Shape 18"/>
          <p:cNvSpPr/>
          <p:nvPr/>
        </p:nvSpPr>
        <p:spPr>
          <a:xfrm>
            <a:off x="3707070" y="5371148"/>
            <a:ext cx="572572" cy="572572"/>
          </a:xfrm>
          <a:prstGeom prst="roundRect">
            <a:avLst>
              <a:gd name="adj" fmla="val 159700"/>
            </a:avLst>
          </a:prstGeom>
          <a:solidFill>
            <a:srgbClr val="4950BC"/>
          </a:solidFill>
          <a:ln/>
        </p:spPr>
      </p:sp>
      <p:sp>
        <p:nvSpPr>
          <p:cNvPr id="21" name="Text 19"/>
          <p:cNvSpPr/>
          <p:nvPr/>
        </p:nvSpPr>
        <p:spPr>
          <a:xfrm>
            <a:off x="3902662" y="5491401"/>
            <a:ext cx="228957" cy="286226"/>
          </a:xfrm>
          <a:prstGeom prst="rect">
            <a:avLst/>
          </a:prstGeom>
          <a:noFill/>
          <a:ln/>
        </p:spPr>
        <p:txBody>
          <a:bodyPr wrap="none" lIns="0" tIns="0" rIns="0" bIns="0" rtlCol="0" anchor="t"/>
          <a:lstStyle/>
          <a:p>
            <a:pPr marL="0" indent="0" algn="l">
              <a:lnSpc>
                <a:spcPts val="2800"/>
              </a:lnSpc>
              <a:buNone/>
            </a:pPr>
            <a:r>
              <a:rPr lang="en-US" sz="1800" b="1" dirty="0">
                <a:solidFill>
                  <a:srgbClr val="FFFFFF"/>
                </a:solidFill>
                <a:latin typeface="Inter Bold" pitchFamily="34" charset="0"/>
                <a:ea typeface="Inter Bold" pitchFamily="34" charset="-122"/>
                <a:cs typeface="Inter Bold" pitchFamily="34" charset="-120"/>
              </a:rPr>
              <a:t>3</a:t>
            </a:r>
            <a:endParaRPr lang="en-US" sz="1800" dirty="0"/>
          </a:p>
        </p:txBody>
      </p:sp>
      <p:sp>
        <p:nvSpPr>
          <p:cNvPr id="22" name="Text 20"/>
          <p:cNvSpPr/>
          <p:nvPr/>
        </p:nvSpPr>
        <p:spPr>
          <a:xfrm>
            <a:off x="977146" y="6134457"/>
            <a:ext cx="3530441" cy="298252"/>
          </a:xfrm>
          <a:prstGeom prst="rect">
            <a:avLst/>
          </a:prstGeom>
          <a:noFill/>
          <a:ln/>
        </p:spPr>
        <p:txBody>
          <a:bodyPr wrap="none" lIns="0" tIns="0" rIns="0" bIns="0" rtlCol="0" anchor="t"/>
          <a:lstStyle/>
          <a:p>
            <a:pPr marL="0" indent="0" algn="l">
              <a:lnSpc>
                <a:spcPts val="2300"/>
              </a:lnSpc>
              <a:buNone/>
            </a:pPr>
            <a:r>
              <a:rPr lang="en-US" sz="1850" b="1" dirty="0">
                <a:solidFill>
                  <a:srgbClr val="272525"/>
                </a:solidFill>
                <a:latin typeface="Inter Bold" pitchFamily="34" charset="0"/>
                <a:ea typeface="Inter Bold" pitchFamily="34" charset="-122"/>
                <a:cs typeface="Inter Bold" pitchFamily="34" charset="-120"/>
              </a:rPr>
              <a:t>Controllo delle Concentrazioni</a:t>
            </a:r>
            <a:endParaRPr lang="en-US" sz="1850" dirty="0"/>
          </a:p>
        </p:txBody>
      </p:sp>
      <p:sp>
        <p:nvSpPr>
          <p:cNvPr id="23" name="Text 21"/>
          <p:cNvSpPr/>
          <p:nvPr/>
        </p:nvSpPr>
        <p:spPr>
          <a:xfrm>
            <a:off x="977146" y="6542842"/>
            <a:ext cx="6032540" cy="898327"/>
          </a:xfrm>
          <a:prstGeom prst="rect">
            <a:avLst/>
          </a:prstGeom>
          <a:noFill/>
          <a:ln/>
        </p:spPr>
        <p:txBody>
          <a:bodyPr wrap="square" lIns="0" tIns="0" rIns="0" bIns="0" rtlCol="0" anchor="t"/>
          <a:lstStyle/>
          <a:p>
            <a:pPr marL="0" indent="0" algn="l">
              <a:lnSpc>
                <a:spcPts val="2350"/>
              </a:lnSpc>
              <a:buNone/>
            </a:pPr>
            <a:r>
              <a:rPr lang="en-US" sz="1500" dirty="0">
                <a:solidFill>
                  <a:srgbClr val="272525"/>
                </a:solidFill>
                <a:latin typeface="Inter" pitchFamily="34" charset="0"/>
                <a:ea typeface="Inter" pitchFamily="34" charset="-122"/>
                <a:cs typeface="Inter" pitchFamily="34" charset="-120"/>
              </a:rPr>
              <a:t>Le fusioni e acquisizioni tra grandi gruppi devono essere approvate da autorità come l'</a:t>
            </a:r>
            <a:r>
              <a:rPr lang="en-US" sz="1500" b="1" dirty="0">
                <a:solidFill>
                  <a:srgbClr val="272525"/>
                </a:solidFill>
                <a:latin typeface="Inter" pitchFamily="34" charset="0"/>
                <a:ea typeface="Inter" pitchFamily="34" charset="-122"/>
                <a:cs typeface="Inter" pitchFamily="34" charset="-120"/>
              </a:rPr>
              <a:t>AGCM</a:t>
            </a:r>
            <a:r>
              <a:rPr lang="en-US" sz="1500" dirty="0">
                <a:solidFill>
                  <a:srgbClr val="272525"/>
                </a:solidFill>
                <a:latin typeface="Inter" pitchFamily="34" charset="0"/>
                <a:ea typeface="Inter" pitchFamily="34" charset="-122"/>
                <a:cs typeface="Inter" pitchFamily="34" charset="-120"/>
              </a:rPr>
              <a:t> in Italia o la Commissione Europea, che valutano gli effetti sulla concorrenza.</a:t>
            </a:r>
            <a:endParaRPr lang="en-US" sz="1500" dirty="0"/>
          </a:p>
        </p:txBody>
      </p:sp>
      <p:sp>
        <p:nvSpPr>
          <p:cNvPr id="24" name="Shape 22"/>
          <p:cNvSpPr/>
          <p:nvPr/>
        </p:nvSpPr>
        <p:spPr>
          <a:xfrm>
            <a:off x="7406878" y="5657374"/>
            <a:ext cx="6460093" cy="1997512"/>
          </a:xfrm>
          <a:prstGeom prst="roundRect">
            <a:avLst>
              <a:gd name="adj" fmla="val 5493"/>
            </a:avLst>
          </a:prstGeom>
          <a:solidFill>
            <a:srgbClr val="FFFFFF"/>
          </a:solidFill>
          <a:ln/>
        </p:spPr>
      </p:sp>
      <p:sp>
        <p:nvSpPr>
          <p:cNvPr id="25" name="Shape 23"/>
          <p:cNvSpPr/>
          <p:nvPr/>
        </p:nvSpPr>
        <p:spPr>
          <a:xfrm>
            <a:off x="7406878" y="5634514"/>
            <a:ext cx="6460093" cy="91440"/>
          </a:xfrm>
          <a:prstGeom prst="roundRect">
            <a:avLst>
              <a:gd name="adj" fmla="val 87672"/>
            </a:avLst>
          </a:prstGeom>
          <a:solidFill>
            <a:srgbClr val="4950BC"/>
          </a:solidFill>
          <a:ln/>
        </p:spPr>
      </p:sp>
      <p:sp>
        <p:nvSpPr>
          <p:cNvPr id="26" name="Shape 24"/>
          <p:cNvSpPr/>
          <p:nvPr/>
        </p:nvSpPr>
        <p:spPr>
          <a:xfrm>
            <a:off x="10350639" y="5371148"/>
            <a:ext cx="572572" cy="572572"/>
          </a:xfrm>
          <a:prstGeom prst="roundRect">
            <a:avLst>
              <a:gd name="adj" fmla="val 159700"/>
            </a:avLst>
          </a:prstGeom>
          <a:solidFill>
            <a:srgbClr val="4950BC"/>
          </a:solidFill>
          <a:ln/>
        </p:spPr>
      </p:sp>
      <p:sp>
        <p:nvSpPr>
          <p:cNvPr id="27" name="Text 25"/>
          <p:cNvSpPr/>
          <p:nvPr/>
        </p:nvSpPr>
        <p:spPr>
          <a:xfrm>
            <a:off x="10536771" y="5483318"/>
            <a:ext cx="228957" cy="286226"/>
          </a:xfrm>
          <a:prstGeom prst="rect">
            <a:avLst/>
          </a:prstGeom>
          <a:noFill/>
          <a:ln/>
        </p:spPr>
        <p:txBody>
          <a:bodyPr wrap="none" lIns="0" tIns="0" rIns="0" bIns="0" rtlCol="0" anchor="t"/>
          <a:lstStyle/>
          <a:p>
            <a:pPr marL="0" indent="0" algn="l">
              <a:lnSpc>
                <a:spcPts val="2800"/>
              </a:lnSpc>
              <a:buNone/>
            </a:pPr>
            <a:r>
              <a:rPr lang="en-US" sz="1800" b="1" dirty="0">
                <a:solidFill>
                  <a:srgbClr val="FFFFFF"/>
                </a:solidFill>
                <a:latin typeface="Inter Bold" pitchFamily="34" charset="0"/>
                <a:ea typeface="Inter Bold" pitchFamily="34" charset="-122"/>
                <a:cs typeface="Inter Bold" pitchFamily="34" charset="-120"/>
              </a:rPr>
              <a:t>4</a:t>
            </a:r>
            <a:endParaRPr lang="en-US" sz="1800" dirty="0"/>
          </a:p>
        </p:txBody>
      </p:sp>
      <p:sp>
        <p:nvSpPr>
          <p:cNvPr id="28" name="Text 26"/>
          <p:cNvSpPr/>
          <p:nvPr/>
        </p:nvSpPr>
        <p:spPr>
          <a:xfrm>
            <a:off x="7620595" y="6134457"/>
            <a:ext cx="2789634" cy="298252"/>
          </a:xfrm>
          <a:prstGeom prst="rect">
            <a:avLst/>
          </a:prstGeom>
          <a:noFill/>
          <a:ln/>
        </p:spPr>
        <p:txBody>
          <a:bodyPr wrap="none" lIns="0" tIns="0" rIns="0" bIns="0" rtlCol="0" anchor="t"/>
          <a:lstStyle/>
          <a:p>
            <a:pPr marL="0" indent="0" algn="l">
              <a:lnSpc>
                <a:spcPts val="2300"/>
              </a:lnSpc>
              <a:buNone/>
            </a:pPr>
            <a:r>
              <a:rPr lang="en-US" sz="1850" b="1" dirty="0">
                <a:solidFill>
                  <a:srgbClr val="272525"/>
                </a:solidFill>
                <a:latin typeface="Inter Bold" pitchFamily="34" charset="0"/>
                <a:ea typeface="Inter Bold" pitchFamily="34" charset="-122"/>
                <a:cs typeface="Inter Bold" pitchFamily="34" charset="-120"/>
              </a:rPr>
              <a:t>Regolazione del Digitale</a:t>
            </a:r>
            <a:endParaRPr lang="en-US" sz="1850" dirty="0"/>
          </a:p>
        </p:txBody>
      </p:sp>
      <p:sp>
        <p:nvSpPr>
          <p:cNvPr id="29" name="Text 27"/>
          <p:cNvSpPr/>
          <p:nvPr/>
        </p:nvSpPr>
        <p:spPr>
          <a:xfrm>
            <a:off x="7620595" y="6542842"/>
            <a:ext cx="6032659" cy="898327"/>
          </a:xfrm>
          <a:prstGeom prst="rect">
            <a:avLst/>
          </a:prstGeom>
          <a:noFill/>
          <a:ln/>
        </p:spPr>
        <p:txBody>
          <a:bodyPr wrap="square" lIns="0" tIns="0" rIns="0" bIns="0" rtlCol="0" anchor="t"/>
          <a:lstStyle/>
          <a:p>
            <a:pPr marL="0" indent="0" algn="l">
              <a:lnSpc>
                <a:spcPts val="2350"/>
              </a:lnSpc>
              <a:buNone/>
            </a:pPr>
            <a:r>
              <a:rPr lang="en-US" sz="1500" dirty="0">
                <a:solidFill>
                  <a:srgbClr val="272525"/>
                </a:solidFill>
                <a:latin typeface="Inter" pitchFamily="34" charset="0"/>
                <a:ea typeface="Inter" pitchFamily="34" charset="-122"/>
                <a:cs typeface="Inter" pitchFamily="34" charset="-120"/>
              </a:rPr>
              <a:t>Il </a:t>
            </a:r>
            <a:r>
              <a:rPr lang="en-US" sz="1500" b="1" dirty="0">
                <a:solidFill>
                  <a:srgbClr val="272525"/>
                </a:solidFill>
                <a:latin typeface="Inter" pitchFamily="34" charset="0"/>
                <a:ea typeface="Inter" pitchFamily="34" charset="-122"/>
                <a:cs typeface="Inter" pitchFamily="34" charset="-120"/>
              </a:rPr>
              <a:t>Digital Markets Act</a:t>
            </a:r>
            <a:r>
              <a:rPr lang="en-US" sz="1500" dirty="0">
                <a:solidFill>
                  <a:srgbClr val="272525"/>
                </a:solidFill>
                <a:latin typeface="Inter" pitchFamily="34" charset="0"/>
                <a:ea typeface="Inter" pitchFamily="34" charset="-122"/>
                <a:cs typeface="Inter" pitchFamily="34" charset="-120"/>
              </a:rPr>
              <a:t> dell'UE punta a contrastare il potere eccessivo delle grandi piattaforme tecnologiche, garantendo mercati digitali aperti e contendibili.</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229320"/>
            <a:ext cx="7349490"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Implicazioni per i Consumatori</a:t>
            </a:r>
            <a:endParaRPr lang="en-US" sz="3900" dirty="0"/>
          </a:p>
        </p:txBody>
      </p:sp>
      <p:sp>
        <p:nvSpPr>
          <p:cNvPr id="3" name="Text 1"/>
          <p:cNvSpPr/>
          <p:nvPr/>
        </p:nvSpPr>
        <p:spPr>
          <a:xfrm>
            <a:off x="793790" y="2246233"/>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La struttura di mercato in cui opera un settore ha conseguenze concrete sulla vita quotidiana dei consumatori: dai prezzi pagati alla qualità dei prodotti disponibili, fino alla varietà dell'offerta.</a:t>
            </a:r>
            <a:endParaRPr lang="en-US" sz="1550" dirty="0"/>
          </a:p>
        </p:txBody>
      </p:sp>
      <p:sp>
        <p:nvSpPr>
          <p:cNvPr id="4" name="Shape 2"/>
          <p:cNvSpPr/>
          <p:nvPr/>
        </p:nvSpPr>
        <p:spPr>
          <a:xfrm>
            <a:off x="793790" y="3104555"/>
            <a:ext cx="13042821" cy="3895725"/>
          </a:xfrm>
          <a:prstGeom prst="roundRect">
            <a:avLst>
              <a:gd name="adj" fmla="val 2140"/>
            </a:avLst>
          </a:prstGeom>
          <a:solidFill>
            <a:srgbClr val="DADBF1"/>
          </a:solidFill>
          <a:ln w="7620">
            <a:solidFill>
              <a:srgbClr val="C0C1D7"/>
            </a:solidFill>
            <a:prstDash val="solid"/>
          </a:ln>
        </p:spPr>
      </p:sp>
      <p:sp>
        <p:nvSpPr>
          <p:cNvPr id="5" name="Shape 3"/>
          <p:cNvSpPr/>
          <p:nvPr/>
        </p:nvSpPr>
        <p:spPr>
          <a:xfrm>
            <a:off x="801410" y="3112175"/>
            <a:ext cx="6513790" cy="1940243"/>
          </a:xfrm>
          <a:prstGeom prst="roundRect">
            <a:avLst>
              <a:gd name="adj" fmla="val 4296"/>
            </a:avLst>
          </a:prstGeom>
          <a:solidFill>
            <a:schemeClr val="accent6">
              <a:lumMod val="40000"/>
              <a:lumOff val="60000"/>
            </a:schemeClr>
          </a:solidFill>
          <a:ln/>
        </p:spPr>
      </p:sp>
      <p:sp>
        <p:nvSpPr>
          <p:cNvPr id="6" name="Text 4"/>
          <p:cNvSpPr/>
          <p:nvPr/>
        </p:nvSpPr>
        <p:spPr>
          <a:xfrm>
            <a:off x="999768" y="3310533"/>
            <a:ext cx="2610207"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Concorrenza Perfetta</a:t>
            </a:r>
            <a:endParaRPr lang="en-US" sz="1950" dirty="0"/>
          </a:p>
        </p:txBody>
      </p:sp>
      <p:sp>
        <p:nvSpPr>
          <p:cNvPr id="7" name="Text 5"/>
          <p:cNvSpPr/>
          <p:nvPr/>
        </p:nvSpPr>
        <p:spPr>
          <a:xfrm>
            <a:off x="999768" y="3739753"/>
            <a:ext cx="6117074" cy="1114306"/>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000000"/>
                </a:solidFill>
                <a:latin typeface="Inter" pitchFamily="34" charset="0"/>
                <a:ea typeface="Inter" pitchFamily="34" charset="-122"/>
                <a:cs typeface="Inter" pitchFamily="34" charset="-120"/>
              </a:rPr>
              <a:t>✅</a:t>
            </a:r>
            <a:r>
              <a:rPr lang="en-US" sz="1550" dirty="0">
                <a:solidFill>
                  <a:srgbClr val="272525"/>
                </a:solidFill>
                <a:latin typeface="Inter" pitchFamily="34" charset="0"/>
                <a:ea typeface="Inter" pitchFamily="34" charset="-122"/>
                <a:cs typeface="Inter" pitchFamily="34" charset="-120"/>
              </a:rPr>
              <a:t> Prezzi minimi, pari al costo marginale</a:t>
            </a:r>
            <a:endParaRPr lang="en-US" sz="1550" dirty="0"/>
          </a:p>
          <a:p>
            <a:pPr marL="342900" indent="-342900" algn="l">
              <a:lnSpc>
                <a:spcPts val="2500"/>
              </a:lnSpc>
              <a:buSzPct val="100000"/>
              <a:buChar char="•"/>
            </a:pPr>
            <a:r>
              <a:rPr lang="en-US" sz="1550" dirty="0">
                <a:solidFill>
                  <a:srgbClr val="000000"/>
                </a:solidFill>
                <a:latin typeface="Inter" pitchFamily="34" charset="0"/>
                <a:ea typeface="Inter" pitchFamily="34" charset="-122"/>
                <a:cs typeface="Inter" pitchFamily="34" charset="-120"/>
              </a:rPr>
              <a:t>✅</a:t>
            </a:r>
            <a:r>
              <a:rPr lang="en-US" sz="1550" dirty="0">
                <a:solidFill>
                  <a:srgbClr val="272525"/>
                </a:solidFill>
                <a:latin typeface="Inter" pitchFamily="34" charset="0"/>
                <a:ea typeface="Inter" pitchFamily="34" charset="-122"/>
                <a:cs typeface="Inter" pitchFamily="34" charset="-120"/>
              </a:rPr>
              <a:t> Efficienza allocativa massima</a:t>
            </a:r>
            <a:endParaRPr lang="en-US" sz="1550" dirty="0"/>
          </a:p>
          <a:p>
            <a:pPr marL="342900" indent="-342900" algn="l">
              <a:lnSpc>
                <a:spcPts val="2500"/>
              </a:lnSpc>
              <a:buSzPct val="100000"/>
              <a:buChar char="•"/>
            </a:pPr>
            <a:r>
              <a:rPr lang="en-US" sz="1550" dirty="0">
                <a:solidFill>
                  <a:srgbClr val="000000"/>
                </a:solidFill>
                <a:latin typeface="Inter" pitchFamily="34" charset="0"/>
                <a:ea typeface="Inter" pitchFamily="34" charset="-122"/>
                <a:cs typeface="Inter" pitchFamily="34" charset="-120"/>
              </a:rPr>
              <a:t>⚠️</a:t>
            </a:r>
            <a:r>
              <a:rPr lang="en-US" sz="1550" dirty="0">
                <a:solidFill>
                  <a:srgbClr val="272525"/>
                </a:solidFill>
                <a:latin typeface="Inter" pitchFamily="34" charset="0"/>
                <a:ea typeface="Inter" pitchFamily="34" charset="-122"/>
                <a:cs typeface="Inter" pitchFamily="34" charset="-120"/>
              </a:rPr>
              <a:t> Scarsa varietà di prodotto</a:t>
            </a:r>
            <a:endParaRPr lang="en-US" sz="1550" dirty="0"/>
          </a:p>
        </p:txBody>
      </p:sp>
      <p:sp>
        <p:nvSpPr>
          <p:cNvPr id="8" name="Shape 6"/>
          <p:cNvSpPr/>
          <p:nvPr/>
        </p:nvSpPr>
        <p:spPr>
          <a:xfrm>
            <a:off x="7315200" y="3112175"/>
            <a:ext cx="6513790" cy="1940243"/>
          </a:xfrm>
          <a:prstGeom prst="rect">
            <a:avLst/>
          </a:prstGeom>
          <a:solidFill>
            <a:schemeClr val="accent4">
              <a:lumMod val="40000"/>
              <a:lumOff val="60000"/>
            </a:schemeClr>
          </a:solidFill>
          <a:ln/>
        </p:spPr>
      </p:sp>
      <p:sp>
        <p:nvSpPr>
          <p:cNvPr id="9" name="Shape 7"/>
          <p:cNvSpPr/>
          <p:nvPr/>
        </p:nvSpPr>
        <p:spPr>
          <a:xfrm>
            <a:off x="7315200" y="3112175"/>
            <a:ext cx="22860" cy="1940243"/>
          </a:xfrm>
          <a:prstGeom prst="roundRect">
            <a:avLst>
              <a:gd name="adj" fmla="val 364651"/>
            </a:avLst>
          </a:prstGeom>
          <a:solidFill>
            <a:srgbClr val="C0C1D7"/>
          </a:solidFill>
          <a:ln/>
        </p:spPr>
      </p:sp>
      <p:sp>
        <p:nvSpPr>
          <p:cNvPr id="10" name="Text 8"/>
          <p:cNvSpPr/>
          <p:nvPr/>
        </p:nvSpPr>
        <p:spPr>
          <a:xfrm>
            <a:off x="7513558" y="331053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Monopolio</a:t>
            </a:r>
            <a:endParaRPr lang="en-US" sz="1950" dirty="0"/>
          </a:p>
        </p:txBody>
      </p:sp>
      <p:sp>
        <p:nvSpPr>
          <p:cNvPr id="11" name="Text 9"/>
          <p:cNvSpPr/>
          <p:nvPr/>
        </p:nvSpPr>
        <p:spPr>
          <a:xfrm>
            <a:off x="7513558" y="3739753"/>
            <a:ext cx="6117074" cy="1114306"/>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000000"/>
                </a:solidFill>
                <a:latin typeface="Inter" pitchFamily="34" charset="0"/>
                <a:ea typeface="Inter" pitchFamily="34" charset="-122"/>
                <a:cs typeface="Inter" pitchFamily="34" charset="-120"/>
              </a:rPr>
              <a:t>❌</a:t>
            </a:r>
            <a:r>
              <a:rPr lang="en-US" sz="1550" dirty="0">
                <a:solidFill>
                  <a:srgbClr val="272525"/>
                </a:solidFill>
                <a:latin typeface="Inter" pitchFamily="34" charset="0"/>
                <a:ea typeface="Inter" pitchFamily="34" charset="-122"/>
                <a:cs typeface="Inter" pitchFamily="34" charset="-120"/>
              </a:rPr>
              <a:t> Prezzi elevati e quantità ridotta</a:t>
            </a:r>
            <a:endParaRPr lang="en-US" sz="1550" dirty="0"/>
          </a:p>
          <a:p>
            <a:pPr marL="342900" indent="-342900" algn="l">
              <a:lnSpc>
                <a:spcPts val="2500"/>
              </a:lnSpc>
              <a:buSzPct val="100000"/>
              <a:buChar char="•"/>
            </a:pPr>
            <a:r>
              <a:rPr lang="en-US" sz="1550" dirty="0">
                <a:solidFill>
                  <a:srgbClr val="000000"/>
                </a:solidFill>
                <a:latin typeface="Inter" pitchFamily="34" charset="0"/>
                <a:ea typeface="Inter" pitchFamily="34" charset="-122"/>
                <a:cs typeface="Inter" pitchFamily="34" charset="-120"/>
              </a:rPr>
              <a:t>❌</a:t>
            </a:r>
            <a:r>
              <a:rPr lang="en-US" sz="1550" dirty="0">
                <a:solidFill>
                  <a:srgbClr val="272525"/>
                </a:solidFill>
                <a:latin typeface="Inter" pitchFamily="34" charset="0"/>
                <a:ea typeface="Inter" pitchFamily="34" charset="-122"/>
                <a:cs typeface="Inter" pitchFamily="34" charset="-120"/>
              </a:rPr>
              <a:t> Perdita secca di benessere</a:t>
            </a:r>
            <a:endParaRPr lang="en-US" sz="1550" dirty="0"/>
          </a:p>
          <a:p>
            <a:pPr marL="342900" indent="-342900" algn="l">
              <a:lnSpc>
                <a:spcPts val="2500"/>
              </a:lnSpc>
              <a:buSzPct val="100000"/>
              <a:buChar char="•"/>
            </a:pPr>
            <a:r>
              <a:rPr lang="en-US" sz="1550" dirty="0">
                <a:solidFill>
                  <a:srgbClr val="000000"/>
                </a:solidFill>
                <a:latin typeface="Inter" pitchFamily="34" charset="0"/>
                <a:ea typeface="Inter" pitchFamily="34" charset="-122"/>
                <a:cs typeface="Inter" pitchFamily="34" charset="-120"/>
              </a:rPr>
              <a:t>⚠️</a:t>
            </a:r>
            <a:r>
              <a:rPr lang="en-US" sz="1550" dirty="0">
                <a:solidFill>
                  <a:srgbClr val="272525"/>
                </a:solidFill>
                <a:latin typeface="Inter" pitchFamily="34" charset="0"/>
                <a:ea typeface="Inter" pitchFamily="34" charset="-122"/>
                <a:cs typeface="Inter" pitchFamily="34" charset="-120"/>
              </a:rPr>
              <a:t> Innovazione potenzialmente ridotta</a:t>
            </a:r>
            <a:endParaRPr lang="en-US" sz="1550" dirty="0"/>
          </a:p>
        </p:txBody>
      </p:sp>
      <p:sp>
        <p:nvSpPr>
          <p:cNvPr id="12" name="Shape 10"/>
          <p:cNvSpPr/>
          <p:nvPr/>
        </p:nvSpPr>
        <p:spPr>
          <a:xfrm>
            <a:off x="801410" y="5052417"/>
            <a:ext cx="6513790" cy="1940243"/>
          </a:xfrm>
          <a:prstGeom prst="rect">
            <a:avLst/>
          </a:prstGeom>
          <a:solidFill>
            <a:schemeClr val="accent5">
              <a:lumMod val="40000"/>
              <a:lumOff val="60000"/>
            </a:schemeClr>
          </a:solidFill>
          <a:ln/>
        </p:spPr>
      </p:sp>
      <p:sp>
        <p:nvSpPr>
          <p:cNvPr id="13" name="Shape 11"/>
          <p:cNvSpPr/>
          <p:nvPr/>
        </p:nvSpPr>
        <p:spPr>
          <a:xfrm>
            <a:off x="801410" y="5052417"/>
            <a:ext cx="6513790" cy="22860"/>
          </a:xfrm>
          <a:prstGeom prst="roundRect">
            <a:avLst>
              <a:gd name="adj" fmla="val 364651"/>
            </a:avLst>
          </a:prstGeom>
          <a:solidFill>
            <a:srgbClr val="C0C1D7"/>
          </a:solidFill>
          <a:ln/>
        </p:spPr>
      </p:sp>
      <p:sp>
        <p:nvSpPr>
          <p:cNvPr id="14" name="Text 12"/>
          <p:cNvSpPr/>
          <p:nvPr/>
        </p:nvSpPr>
        <p:spPr>
          <a:xfrm>
            <a:off x="999768" y="5250775"/>
            <a:ext cx="2491621"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Conc. Monopolistica</a:t>
            </a:r>
            <a:endParaRPr lang="en-US" sz="1950" dirty="0"/>
          </a:p>
        </p:txBody>
      </p:sp>
      <p:sp>
        <p:nvSpPr>
          <p:cNvPr id="15" name="Text 13"/>
          <p:cNvSpPr/>
          <p:nvPr/>
        </p:nvSpPr>
        <p:spPr>
          <a:xfrm>
            <a:off x="999768" y="5679996"/>
            <a:ext cx="6117074" cy="1114306"/>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000000"/>
                </a:solidFill>
                <a:latin typeface="Inter" pitchFamily="34" charset="0"/>
                <a:ea typeface="Inter" pitchFamily="34" charset="-122"/>
                <a:cs typeface="Inter" pitchFamily="34" charset="-120"/>
              </a:rPr>
              <a:t>✅</a:t>
            </a:r>
            <a:r>
              <a:rPr lang="en-US" sz="1550" dirty="0">
                <a:solidFill>
                  <a:srgbClr val="272525"/>
                </a:solidFill>
                <a:latin typeface="Inter" pitchFamily="34" charset="0"/>
                <a:ea typeface="Inter" pitchFamily="34" charset="-122"/>
                <a:cs typeface="Inter" pitchFamily="34" charset="-120"/>
              </a:rPr>
              <a:t> Alta varietà e differenziazione</a:t>
            </a:r>
            <a:endParaRPr lang="en-US" sz="1550" dirty="0"/>
          </a:p>
          <a:p>
            <a:pPr marL="342900" indent="-342900" algn="l">
              <a:lnSpc>
                <a:spcPts val="2500"/>
              </a:lnSpc>
              <a:buSzPct val="100000"/>
              <a:buChar char="•"/>
            </a:pPr>
            <a:r>
              <a:rPr lang="en-US" sz="1550" dirty="0">
                <a:solidFill>
                  <a:srgbClr val="000000"/>
                </a:solidFill>
                <a:latin typeface="Inter" pitchFamily="34" charset="0"/>
                <a:ea typeface="Inter" pitchFamily="34" charset="-122"/>
                <a:cs typeface="Inter" pitchFamily="34" charset="-120"/>
              </a:rPr>
              <a:t>⚠️</a:t>
            </a:r>
            <a:r>
              <a:rPr lang="en-US" sz="1550" dirty="0">
                <a:solidFill>
                  <a:srgbClr val="272525"/>
                </a:solidFill>
                <a:latin typeface="Inter" pitchFamily="34" charset="0"/>
                <a:ea typeface="Inter" pitchFamily="34" charset="-122"/>
                <a:cs typeface="Inter" pitchFamily="34" charset="-120"/>
              </a:rPr>
              <a:t> Prezzi leggermente superiori al costo</a:t>
            </a:r>
            <a:endParaRPr lang="en-US" sz="1550" dirty="0"/>
          </a:p>
          <a:p>
            <a:pPr marL="342900" indent="-342900" algn="l">
              <a:lnSpc>
                <a:spcPts val="2500"/>
              </a:lnSpc>
              <a:buSzPct val="100000"/>
              <a:buChar char="•"/>
            </a:pPr>
            <a:r>
              <a:rPr lang="en-US" sz="1550" dirty="0">
                <a:solidFill>
                  <a:srgbClr val="000000"/>
                </a:solidFill>
                <a:latin typeface="Inter" pitchFamily="34" charset="0"/>
                <a:ea typeface="Inter" pitchFamily="34" charset="-122"/>
                <a:cs typeface="Inter" pitchFamily="34" charset="-120"/>
              </a:rPr>
              <a:t>✅</a:t>
            </a:r>
            <a:r>
              <a:rPr lang="en-US" sz="1550" dirty="0">
                <a:solidFill>
                  <a:srgbClr val="272525"/>
                </a:solidFill>
                <a:latin typeface="Inter" pitchFamily="34" charset="0"/>
                <a:ea typeface="Inter" pitchFamily="34" charset="-122"/>
                <a:cs typeface="Inter" pitchFamily="34" charset="-120"/>
              </a:rPr>
              <a:t> Forte spinta all'innovazione di prodotto</a:t>
            </a:r>
            <a:endParaRPr lang="en-US" sz="1550" dirty="0"/>
          </a:p>
        </p:txBody>
      </p:sp>
      <p:sp>
        <p:nvSpPr>
          <p:cNvPr id="16" name="Shape 14"/>
          <p:cNvSpPr/>
          <p:nvPr/>
        </p:nvSpPr>
        <p:spPr>
          <a:xfrm>
            <a:off x="7315200" y="5052417"/>
            <a:ext cx="6513790" cy="1940243"/>
          </a:xfrm>
          <a:prstGeom prst="rect">
            <a:avLst/>
          </a:prstGeom>
          <a:solidFill>
            <a:srgbClr val="DADBF1"/>
          </a:solidFill>
          <a:ln/>
        </p:spPr>
      </p:sp>
      <p:sp>
        <p:nvSpPr>
          <p:cNvPr id="17" name="Shape 15"/>
          <p:cNvSpPr/>
          <p:nvPr/>
        </p:nvSpPr>
        <p:spPr>
          <a:xfrm>
            <a:off x="7315200" y="5052417"/>
            <a:ext cx="22860" cy="1940243"/>
          </a:xfrm>
          <a:prstGeom prst="roundRect">
            <a:avLst>
              <a:gd name="adj" fmla="val 364651"/>
            </a:avLst>
          </a:prstGeom>
          <a:solidFill>
            <a:srgbClr val="C0C1D7"/>
          </a:solidFill>
          <a:ln/>
        </p:spPr>
      </p:sp>
      <p:sp>
        <p:nvSpPr>
          <p:cNvPr id="18" name="Shape 16"/>
          <p:cNvSpPr/>
          <p:nvPr/>
        </p:nvSpPr>
        <p:spPr>
          <a:xfrm>
            <a:off x="7315200" y="5052417"/>
            <a:ext cx="6513790" cy="22860"/>
          </a:xfrm>
          <a:prstGeom prst="roundRect">
            <a:avLst>
              <a:gd name="adj" fmla="val 364651"/>
            </a:avLst>
          </a:prstGeom>
          <a:solidFill>
            <a:srgbClr val="C0C1D7"/>
          </a:solidFill>
          <a:ln/>
        </p:spPr>
      </p:sp>
      <p:sp>
        <p:nvSpPr>
          <p:cNvPr id="19" name="Text 17"/>
          <p:cNvSpPr/>
          <p:nvPr/>
        </p:nvSpPr>
        <p:spPr>
          <a:xfrm>
            <a:off x="7513558" y="525077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Oligopolio</a:t>
            </a:r>
            <a:endParaRPr lang="en-US" sz="1950" dirty="0"/>
          </a:p>
        </p:txBody>
      </p:sp>
      <p:sp>
        <p:nvSpPr>
          <p:cNvPr id="20" name="Text 18"/>
          <p:cNvSpPr/>
          <p:nvPr/>
        </p:nvSpPr>
        <p:spPr>
          <a:xfrm>
            <a:off x="7513558" y="5679996"/>
            <a:ext cx="6117074" cy="1114306"/>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000000"/>
                </a:solidFill>
                <a:latin typeface="Inter" pitchFamily="34" charset="0"/>
                <a:ea typeface="Inter" pitchFamily="34" charset="-122"/>
                <a:cs typeface="Inter" pitchFamily="34" charset="-120"/>
              </a:rPr>
              <a:t>⚠️</a:t>
            </a:r>
            <a:r>
              <a:rPr lang="en-US" sz="1550" dirty="0">
                <a:solidFill>
                  <a:srgbClr val="272525"/>
                </a:solidFill>
                <a:latin typeface="Inter" pitchFamily="34" charset="0"/>
                <a:ea typeface="Inter" pitchFamily="34" charset="-122"/>
                <a:cs typeface="Inter" pitchFamily="34" charset="-120"/>
              </a:rPr>
              <a:t> Rischio di collusione e prezzi alti</a:t>
            </a:r>
            <a:endParaRPr lang="en-US" sz="1550" dirty="0"/>
          </a:p>
          <a:p>
            <a:pPr marL="342900" indent="-342900" algn="l">
              <a:lnSpc>
                <a:spcPts val="2500"/>
              </a:lnSpc>
              <a:buSzPct val="100000"/>
              <a:buChar char="•"/>
            </a:pPr>
            <a:r>
              <a:rPr lang="en-US" sz="1550" dirty="0">
                <a:solidFill>
                  <a:srgbClr val="000000"/>
                </a:solidFill>
                <a:latin typeface="Inter" pitchFamily="34" charset="0"/>
                <a:ea typeface="Inter" pitchFamily="34" charset="-122"/>
                <a:cs typeface="Inter" pitchFamily="34" charset="-120"/>
              </a:rPr>
              <a:t>✅</a:t>
            </a:r>
            <a:r>
              <a:rPr lang="en-US" sz="1550" dirty="0">
                <a:solidFill>
                  <a:srgbClr val="272525"/>
                </a:solidFill>
                <a:latin typeface="Inter" pitchFamily="34" charset="0"/>
                <a:ea typeface="Inter" pitchFamily="34" charset="-122"/>
                <a:cs typeface="Inter" pitchFamily="34" charset="-120"/>
              </a:rPr>
              <a:t> Innovazione intensa per differenziarsi</a:t>
            </a:r>
            <a:endParaRPr lang="en-US" sz="1550" dirty="0"/>
          </a:p>
          <a:p>
            <a:pPr marL="342900" indent="-342900" algn="l">
              <a:lnSpc>
                <a:spcPts val="2500"/>
              </a:lnSpc>
              <a:buSzPct val="100000"/>
              <a:buChar char="•"/>
            </a:pPr>
            <a:r>
              <a:rPr lang="en-US" sz="1550" dirty="0">
                <a:solidFill>
                  <a:srgbClr val="000000"/>
                </a:solidFill>
                <a:latin typeface="Inter" pitchFamily="34" charset="0"/>
                <a:ea typeface="Inter" pitchFamily="34" charset="-122"/>
                <a:cs typeface="Inter" pitchFamily="34" charset="-120"/>
              </a:rPr>
              <a:t>⚠️</a:t>
            </a:r>
            <a:r>
              <a:rPr lang="en-US" sz="1550" dirty="0">
                <a:solidFill>
                  <a:srgbClr val="272525"/>
                </a:solidFill>
                <a:latin typeface="Inter" pitchFamily="34" charset="0"/>
                <a:ea typeface="Inter" pitchFamily="34" charset="-122"/>
                <a:cs typeface="Inter" pitchFamily="34" charset="-120"/>
              </a:rPr>
              <a:t> Barriere all'entrata per nuovi player</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3914" y="1078111"/>
            <a:ext cx="6510457" cy="513755"/>
          </a:xfrm>
          <a:prstGeom prst="rect">
            <a:avLst/>
          </a:prstGeom>
          <a:noFill/>
          <a:ln/>
        </p:spPr>
        <p:txBody>
          <a:bodyPr wrap="none" lIns="0" tIns="0" rIns="0" bIns="0" rtlCol="0" anchor="t"/>
          <a:lstStyle/>
          <a:p>
            <a:pPr marL="0" indent="0" algn="l">
              <a:lnSpc>
                <a:spcPts val="4000"/>
              </a:lnSpc>
              <a:buNone/>
            </a:pPr>
            <a:r>
              <a:rPr lang="en-US" sz="3200" b="1" dirty="0">
                <a:solidFill>
                  <a:srgbClr val="000000"/>
                </a:solidFill>
                <a:latin typeface="Inter Bold" pitchFamily="34" charset="0"/>
                <a:ea typeface="Inter Bold" pitchFamily="34" charset="-122"/>
                <a:cs typeface="Inter Bold" pitchFamily="34" charset="-120"/>
              </a:rPr>
              <a:t>Conclusioni e Prospettive Future</a:t>
            </a:r>
            <a:endParaRPr lang="en-US" sz="3200" dirty="0"/>
          </a:p>
        </p:txBody>
      </p:sp>
      <p:sp>
        <p:nvSpPr>
          <p:cNvPr id="3" name="Shape 1"/>
          <p:cNvSpPr/>
          <p:nvPr/>
        </p:nvSpPr>
        <p:spPr>
          <a:xfrm>
            <a:off x="833914" y="1864042"/>
            <a:ext cx="3001804" cy="290751"/>
          </a:xfrm>
          <a:prstGeom prst="roundRect">
            <a:avLst>
              <a:gd name="adj" fmla="val 18996"/>
            </a:avLst>
          </a:prstGeom>
          <a:solidFill>
            <a:srgbClr val="DADBF1"/>
          </a:solidFill>
          <a:ln/>
        </p:spPr>
      </p:sp>
      <p:sp>
        <p:nvSpPr>
          <p:cNvPr id="4" name="Text 2"/>
          <p:cNvSpPr/>
          <p:nvPr/>
        </p:nvSpPr>
        <p:spPr>
          <a:xfrm>
            <a:off x="932498" y="1913334"/>
            <a:ext cx="2804636" cy="192167"/>
          </a:xfrm>
          <a:prstGeom prst="rect">
            <a:avLst/>
          </a:prstGeom>
          <a:noFill/>
          <a:ln/>
        </p:spPr>
        <p:txBody>
          <a:bodyPr wrap="none" lIns="0" tIns="0" rIns="0" bIns="0" rtlCol="0" anchor="t"/>
          <a:lstStyle/>
          <a:p>
            <a:pPr marL="0" indent="0" algn="l">
              <a:lnSpc>
                <a:spcPts val="1500"/>
              </a:lnSpc>
              <a:buNone/>
            </a:pPr>
            <a:r>
              <a:rPr lang="en-US" sz="1000" dirty="0">
                <a:solidFill>
                  <a:srgbClr val="272525"/>
                </a:solidFill>
                <a:latin typeface="Inter" pitchFamily="34" charset="0"/>
                <a:ea typeface="Inter" pitchFamily="34" charset="-122"/>
                <a:cs typeface="Inter" pitchFamily="34" charset="-120"/>
              </a:rPr>
              <a:t>ADATTARSI AI CAMBIAMENTI DEL MERCATO</a:t>
            </a:r>
            <a:endParaRPr lang="en-US" sz="1000" dirty="0"/>
          </a:p>
        </p:txBody>
      </p:sp>
      <p:sp>
        <p:nvSpPr>
          <p:cNvPr id="5" name="Text 3"/>
          <p:cNvSpPr/>
          <p:nvPr/>
        </p:nvSpPr>
        <p:spPr>
          <a:xfrm>
            <a:off x="833914" y="2307908"/>
            <a:ext cx="12962573" cy="480774"/>
          </a:xfrm>
          <a:prstGeom prst="rect">
            <a:avLst/>
          </a:prstGeom>
          <a:noFill/>
          <a:ln/>
        </p:spPr>
        <p:txBody>
          <a:bodyPr wrap="square" lIns="0" tIns="0" rIns="0" bIns="0" rtlCol="0" anchor="t"/>
          <a:lstStyle/>
          <a:p>
            <a:pPr marL="0" indent="0" algn="l">
              <a:lnSpc>
                <a:spcPts val="1850"/>
              </a:lnSpc>
              <a:buNone/>
            </a:pPr>
            <a:r>
              <a:rPr lang="en-US" sz="1250" dirty="0">
                <a:solidFill>
                  <a:srgbClr val="272525"/>
                </a:solidFill>
                <a:latin typeface="Inter" pitchFamily="34" charset="0"/>
                <a:ea typeface="Inter" pitchFamily="34" charset="-122"/>
                <a:cs typeface="Inter" pitchFamily="34" charset="-120"/>
              </a:rPr>
              <a:t>Le forme di mercato non sono statiche: la tecnologia, la globalizzazione e la regolamentazione le trasformano continuamente. Comprendere queste strutture è fondamentale per imprese, policy-maker e consumatori che vogliono orientarsi in un'economia sempre più complessa e interconnessa.</a:t>
            </a:r>
            <a:endParaRPr lang="en-US" sz="1250" dirty="0"/>
          </a:p>
        </p:txBody>
      </p:sp>
      <p:sp>
        <p:nvSpPr>
          <p:cNvPr id="6" name="Shape 4"/>
          <p:cNvSpPr/>
          <p:nvPr/>
        </p:nvSpPr>
        <p:spPr>
          <a:xfrm>
            <a:off x="833914" y="4418528"/>
            <a:ext cx="12962573" cy="22860"/>
          </a:xfrm>
          <a:prstGeom prst="roundRect">
            <a:avLst>
              <a:gd name="adj" fmla="val 302012"/>
            </a:avLst>
          </a:prstGeom>
          <a:solidFill>
            <a:srgbClr val="C0C1D7"/>
          </a:solidFill>
          <a:ln/>
        </p:spPr>
      </p:sp>
      <p:sp>
        <p:nvSpPr>
          <p:cNvPr id="7" name="Shape 5"/>
          <p:cNvSpPr/>
          <p:nvPr/>
        </p:nvSpPr>
        <p:spPr>
          <a:xfrm>
            <a:off x="3363873" y="3925491"/>
            <a:ext cx="22860" cy="493038"/>
          </a:xfrm>
          <a:prstGeom prst="roundRect">
            <a:avLst>
              <a:gd name="adj" fmla="val 302012"/>
            </a:avLst>
          </a:prstGeom>
          <a:solidFill>
            <a:srgbClr val="C0C1D7"/>
          </a:solidFill>
          <a:ln/>
        </p:spPr>
      </p:sp>
      <p:sp>
        <p:nvSpPr>
          <p:cNvPr id="8" name="Shape 6"/>
          <p:cNvSpPr/>
          <p:nvPr/>
        </p:nvSpPr>
        <p:spPr>
          <a:xfrm>
            <a:off x="3190399" y="4233624"/>
            <a:ext cx="369808" cy="369808"/>
          </a:xfrm>
          <a:prstGeom prst="roundRect">
            <a:avLst>
              <a:gd name="adj" fmla="val 18669"/>
            </a:avLst>
          </a:prstGeom>
          <a:solidFill>
            <a:srgbClr val="DADBF1"/>
          </a:solidFill>
          <a:ln w="7620">
            <a:solidFill>
              <a:srgbClr val="C0C1D7"/>
            </a:solidFill>
            <a:prstDash val="solid"/>
          </a:ln>
        </p:spPr>
      </p:sp>
      <p:sp>
        <p:nvSpPr>
          <p:cNvPr id="9" name="Text 7"/>
          <p:cNvSpPr/>
          <p:nvPr/>
        </p:nvSpPr>
        <p:spPr>
          <a:xfrm>
            <a:off x="3240643" y="4319945"/>
            <a:ext cx="246459" cy="308134"/>
          </a:xfrm>
          <a:prstGeom prst="rect">
            <a:avLst/>
          </a:prstGeom>
          <a:noFill/>
          <a:ln/>
        </p:spPr>
        <p:txBody>
          <a:bodyPr wrap="none" lIns="0" tIns="0" rIns="0" bIns="0" rtlCol="0" anchor="t"/>
          <a:lstStyle/>
          <a:p>
            <a:pPr marL="0" indent="0" algn="ctr">
              <a:lnSpc>
                <a:spcPts val="1900"/>
              </a:lnSpc>
              <a:buNone/>
            </a:pPr>
            <a:r>
              <a:rPr lang="en-US" sz="1900" b="1" dirty="0">
                <a:solidFill>
                  <a:srgbClr val="272525"/>
                </a:solidFill>
                <a:latin typeface="Inter Bold" pitchFamily="34" charset="0"/>
                <a:ea typeface="Inter Bold" pitchFamily="34" charset="-122"/>
                <a:cs typeface="Inter Bold" pitchFamily="34" charset="-120"/>
              </a:rPr>
              <a:t>1</a:t>
            </a:r>
            <a:endParaRPr lang="en-US" sz="1900" dirty="0"/>
          </a:p>
        </p:txBody>
      </p:sp>
      <p:sp>
        <p:nvSpPr>
          <p:cNvPr id="10" name="Text 8"/>
          <p:cNvSpPr/>
          <p:nvPr/>
        </p:nvSpPr>
        <p:spPr>
          <a:xfrm>
            <a:off x="2348032" y="2941796"/>
            <a:ext cx="2054662" cy="256818"/>
          </a:xfrm>
          <a:prstGeom prst="rect">
            <a:avLst/>
          </a:prstGeom>
          <a:noFill/>
          <a:ln/>
        </p:spPr>
        <p:txBody>
          <a:bodyPr wrap="none" lIns="0" tIns="0" rIns="0" bIns="0" rtlCol="0" anchor="t"/>
          <a:lstStyle/>
          <a:p>
            <a:pPr marL="0" indent="0" algn="ctr">
              <a:lnSpc>
                <a:spcPts val="2000"/>
              </a:lnSpc>
              <a:buNone/>
            </a:pPr>
            <a:r>
              <a:rPr lang="en-US" sz="1600" b="1" dirty="0">
                <a:solidFill>
                  <a:srgbClr val="272525"/>
                </a:solidFill>
                <a:latin typeface="Inter Bold" pitchFamily="34" charset="0"/>
                <a:ea typeface="Inter Bold" pitchFamily="34" charset="-122"/>
                <a:cs typeface="Inter Bold" pitchFamily="34" charset="-120"/>
              </a:rPr>
              <a:t>Digitalizzazione</a:t>
            </a:r>
            <a:endParaRPr lang="en-US" sz="1600" dirty="0"/>
          </a:p>
        </p:txBody>
      </p:sp>
      <p:sp>
        <p:nvSpPr>
          <p:cNvPr id="11" name="Text 9"/>
          <p:cNvSpPr/>
          <p:nvPr/>
        </p:nvSpPr>
        <p:spPr>
          <a:xfrm>
            <a:off x="998220" y="3280291"/>
            <a:ext cx="4754285" cy="480774"/>
          </a:xfrm>
          <a:prstGeom prst="rect">
            <a:avLst/>
          </a:prstGeom>
          <a:noFill/>
          <a:ln/>
        </p:spPr>
        <p:txBody>
          <a:bodyPr wrap="square" lIns="0" tIns="0" rIns="0" bIns="0" rtlCol="0" anchor="t"/>
          <a:lstStyle/>
          <a:p>
            <a:pPr marL="0" indent="0" algn="ctr">
              <a:lnSpc>
                <a:spcPts val="1850"/>
              </a:lnSpc>
              <a:buNone/>
            </a:pPr>
            <a:r>
              <a:rPr lang="en-US" sz="1250" dirty="0">
                <a:solidFill>
                  <a:srgbClr val="272525"/>
                </a:solidFill>
                <a:latin typeface="Inter" pitchFamily="34" charset="0"/>
                <a:ea typeface="Inter" pitchFamily="34" charset="-122"/>
                <a:cs typeface="Inter" pitchFamily="34" charset="-120"/>
              </a:rPr>
              <a:t>Le piattaforme digitali creano nuovi monopoli e oligopoli globali, sfidando i modelli regolatori tradizionali.</a:t>
            </a:r>
            <a:endParaRPr lang="en-US" sz="1250" dirty="0"/>
          </a:p>
        </p:txBody>
      </p:sp>
      <p:sp>
        <p:nvSpPr>
          <p:cNvPr id="12" name="Shape 10"/>
          <p:cNvSpPr/>
          <p:nvPr/>
        </p:nvSpPr>
        <p:spPr>
          <a:xfrm>
            <a:off x="5990392" y="4418528"/>
            <a:ext cx="22860" cy="493038"/>
          </a:xfrm>
          <a:prstGeom prst="roundRect">
            <a:avLst>
              <a:gd name="adj" fmla="val 302012"/>
            </a:avLst>
          </a:prstGeom>
          <a:solidFill>
            <a:srgbClr val="C0C1D7"/>
          </a:solidFill>
          <a:ln/>
        </p:spPr>
      </p:sp>
      <p:sp>
        <p:nvSpPr>
          <p:cNvPr id="13" name="Shape 11"/>
          <p:cNvSpPr/>
          <p:nvPr/>
        </p:nvSpPr>
        <p:spPr>
          <a:xfrm>
            <a:off x="5816918" y="4233624"/>
            <a:ext cx="369808" cy="369808"/>
          </a:xfrm>
          <a:prstGeom prst="roundRect">
            <a:avLst>
              <a:gd name="adj" fmla="val 18669"/>
            </a:avLst>
          </a:prstGeom>
          <a:solidFill>
            <a:srgbClr val="DADBF1"/>
          </a:solidFill>
          <a:ln w="7620">
            <a:solidFill>
              <a:srgbClr val="C0C1D7"/>
            </a:solidFill>
            <a:prstDash val="solid"/>
          </a:ln>
        </p:spPr>
      </p:sp>
      <p:sp>
        <p:nvSpPr>
          <p:cNvPr id="14" name="Text 12"/>
          <p:cNvSpPr/>
          <p:nvPr/>
        </p:nvSpPr>
        <p:spPr>
          <a:xfrm>
            <a:off x="5878592" y="4319945"/>
            <a:ext cx="246459" cy="308134"/>
          </a:xfrm>
          <a:prstGeom prst="rect">
            <a:avLst/>
          </a:prstGeom>
          <a:noFill/>
          <a:ln/>
        </p:spPr>
        <p:txBody>
          <a:bodyPr wrap="none" lIns="0" tIns="0" rIns="0" bIns="0" rtlCol="0" anchor="t"/>
          <a:lstStyle/>
          <a:p>
            <a:pPr marL="0" indent="0" algn="ctr">
              <a:lnSpc>
                <a:spcPts val="1900"/>
              </a:lnSpc>
              <a:buNone/>
            </a:pPr>
            <a:r>
              <a:rPr lang="en-US" sz="1900" b="1" dirty="0">
                <a:solidFill>
                  <a:srgbClr val="272525"/>
                </a:solidFill>
                <a:latin typeface="Inter Bold" pitchFamily="34" charset="0"/>
                <a:ea typeface="Inter Bold" pitchFamily="34" charset="-122"/>
                <a:cs typeface="Inter Bold" pitchFamily="34" charset="-120"/>
              </a:rPr>
              <a:t>2</a:t>
            </a:r>
            <a:endParaRPr lang="en-US" sz="1900" dirty="0"/>
          </a:p>
        </p:txBody>
      </p:sp>
      <p:sp>
        <p:nvSpPr>
          <p:cNvPr id="15" name="Text 13"/>
          <p:cNvSpPr/>
          <p:nvPr/>
        </p:nvSpPr>
        <p:spPr>
          <a:xfrm>
            <a:off x="4974550" y="5075992"/>
            <a:ext cx="2054662" cy="256818"/>
          </a:xfrm>
          <a:prstGeom prst="rect">
            <a:avLst/>
          </a:prstGeom>
          <a:noFill/>
          <a:ln/>
        </p:spPr>
        <p:txBody>
          <a:bodyPr wrap="none" lIns="0" tIns="0" rIns="0" bIns="0" rtlCol="0" anchor="t"/>
          <a:lstStyle/>
          <a:p>
            <a:pPr marL="0" indent="0" algn="ctr">
              <a:lnSpc>
                <a:spcPts val="2000"/>
              </a:lnSpc>
              <a:buNone/>
            </a:pPr>
            <a:r>
              <a:rPr lang="en-US" sz="1600" b="1" dirty="0">
                <a:solidFill>
                  <a:srgbClr val="272525"/>
                </a:solidFill>
                <a:latin typeface="Inter Bold" pitchFamily="34" charset="0"/>
                <a:ea typeface="Inter Bold" pitchFamily="34" charset="-122"/>
                <a:cs typeface="Inter Bold" pitchFamily="34" charset="-120"/>
              </a:rPr>
              <a:t>Globalizzazione</a:t>
            </a:r>
            <a:endParaRPr lang="en-US" sz="1600" dirty="0"/>
          </a:p>
        </p:txBody>
      </p:sp>
      <p:sp>
        <p:nvSpPr>
          <p:cNvPr id="16" name="Text 14"/>
          <p:cNvSpPr/>
          <p:nvPr/>
        </p:nvSpPr>
        <p:spPr>
          <a:xfrm>
            <a:off x="3624739" y="5414486"/>
            <a:ext cx="4754285" cy="721162"/>
          </a:xfrm>
          <a:prstGeom prst="rect">
            <a:avLst/>
          </a:prstGeom>
          <a:noFill/>
          <a:ln/>
        </p:spPr>
        <p:txBody>
          <a:bodyPr wrap="square" lIns="0" tIns="0" rIns="0" bIns="0" rtlCol="0" anchor="t"/>
          <a:lstStyle/>
          <a:p>
            <a:pPr marL="0" indent="0" algn="ctr">
              <a:lnSpc>
                <a:spcPts val="1850"/>
              </a:lnSpc>
              <a:buNone/>
            </a:pPr>
            <a:r>
              <a:rPr lang="en-US" sz="1250" dirty="0">
                <a:solidFill>
                  <a:srgbClr val="272525"/>
                </a:solidFill>
                <a:latin typeface="Inter" pitchFamily="34" charset="0"/>
                <a:ea typeface="Inter" pitchFamily="34" charset="-122"/>
                <a:cs typeface="Inter" pitchFamily="34" charset="-120"/>
              </a:rPr>
              <a:t>L'apertura dei mercati internazionali abbatte barriere all'entrata e intensifica la pressione competitiva su scala mondiale.</a:t>
            </a:r>
            <a:endParaRPr lang="en-US" sz="1250" dirty="0"/>
          </a:p>
        </p:txBody>
      </p:sp>
      <p:sp>
        <p:nvSpPr>
          <p:cNvPr id="17" name="Shape 15"/>
          <p:cNvSpPr/>
          <p:nvPr/>
        </p:nvSpPr>
        <p:spPr>
          <a:xfrm>
            <a:off x="8616910" y="3925491"/>
            <a:ext cx="22860" cy="493038"/>
          </a:xfrm>
          <a:prstGeom prst="roundRect">
            <a:avLst>
              <a:gd name="adj" fmla="val 302012"/>
            </a:avLst>
          </a:prstGeom>
          <a:solidFill>
            <a:srgbClr val="C0C1D7"/>
          </a:solidFill>
          <a:ln/>
        </p:spPr>
      </p:sp>
      <p:sp>
        <p:nvSpPr>
          <p:cNvPr id="18" name="Shape 16"/>
          <p:cNvSpPr/>
          <p:nvPr/>
        </p:nvSpPr>
        <p:spPr>
          <a:xfrm>
            <a:off x="8443436" y="4233624"/>
            <a:ext cx="369808" cy="369808"/>
          </a:xfrm>
          <a:prstGeom prst="roundRect">
            <a:avLst>
              <a:gd name="adj" fmla="val 18669"/>
            </a:avLst>
          </a:prstGeom>
          <a:solidFill>
            <a:srgbClr val="DADBF1"/>
          </a:solidFill>
          <a:ln w="7620">
            <a:solidFill>
              <a:srgbClr val="C0C1D7"/>
            </a:solidFill>
            <a:prstDash val="solid"/>
          </a:ln>
        </p:spPr>
      </p:sp>
      <p:sp>
        <p:nvSpPr>
          <p:cNvPr id="19" name="Text 17"/>
          <p:cNvSpPr/>
          <p:nvPr/>
        </p:nvSpPr>
        <p:spPr>
          <a:xfrm>
            <a:off x="8505111" y="4327922"/>
            <a:ext cx="246459" cy="308134"/>
          </a:xfrm>
          <a:prstGeom prst="rect">
            <a:avLst/>
          </a:prstGeom>
          <a:noFill/>
          <a:ln/>
        </p:spPr>
        <p:txBody>
          <a:bodyPr wrap="none" lIns="0" tIns="0" rIns="0" bIns="0" rtlCol="0" anchor="t"/>
          <a:lstStyle/>
          <a:p>
            <a:pPr marL="0" indent="0" algn="ctr">
              <a:lnSpc>
                <a:spcPts val="1900"/>
              </a:lnSpc>
              <a:buNone/>
            </a:pPr>
            <a:r>
              <a:rPr lang="en-US" sz="1900" b="1" dirty="0">
                <a:solidFill>
                  <a:srgbClr val="272525"/>
                </a:solidFill>
                <a:latin typeface="Inter Bold" pitchFamily="34" charset="0"/>
                <a:ea typeface="Inter Bold" pitchFamily="34" charset="-122"/>
                <a:cs typeface="Inter Bold" pitchFamily="34" charset="-120"/>
              </a:rPr>
              <a:t>3</a:t>
            </a:r>
            <a:endParaRPr lang="en-US" sz="1900" dirty="0"/>
          </a:p>
        </p:txBody>
      </p:sp>
      <p:sp>
        <p:nvSpPr>
          <p:cNvPr id="20" name="Text 18"/>
          <p:cNvSpPr/>
          <p:nvPr/>
        </p:nvSpPr>
        <p:spPr>
          <a:xfrm>
            <a:off x="7601069" y="2941796"/>
            <a:ext cx="2054662" cy="256818"/>
          </a:xfrm>
          <a:prstGeom prst="rect">
            <a:avLst/>
          </a:prstGeom>
          <a:noFill/>
          <a:ln/>
        </p:spPr>
        <p:txBody>
          <a:bodyPr wrap="none" lIns="0" tIns="0" rIns="0" bIns="0" rtlCol="0" anchor="t"/>
          <a:lstStyle/>
          <a:p>
            <a:pPr marL="0" indent="0" algn="ctr">
              <a:lnSpc>
                <a:spcPts val="2000"/>
              </a:lnSpc>
              <a:buNone/>
            </a:pPr>
            <a:r>
              <a:rPr lang="en-US" sz="1600" b="1" dirty="0">
                <a:solidFill>
                  <a:srgbClr val="272525"/>
                </a:solidFill>
                <a:latin typeface="Inter Bold" pitchFamily="34" charset="0"/>
                <a:ea typeface="Inter Bold" pitchFamily="34" charset="-122"/>
                <a:cs typeface="Inter Bold" pitchFamily="34" charset="-120"/>
              </a:rPr>
              <a:t>Sostenibilità</a:t>
            </a:r>
            <a:endParaRPr lang="en-US" sz="1600" dirty="0"/>
          </a:p>
        </p:txBody>
      </p:sp>
      <p:sp>
        <p:nvSpPr>
          <p:cNvPr id="21" name="Text 19"/>
          <p:cNvSpPr/>
          <p:nvPr/>
        </p:nvSpPr>
        <p:spPr>
          <a:xfrm>
            <a:off x="6251258" y="3280291"/>
            <a:ext cx="4754285" cy="480774"/>
          </a:xfrm>
          <a:prstGeom prst="rect">
            <a:avLst/>
          </a:prstGeom>
          <a:noFill/>
          <a:ln/>
        </p:spPr>
        <p:txBody>
          <a:bodyPr wrap="square" lIns="0" tIns="0" rIns="0" bIns="0" rtlCol="0" anchor="t"/>
          <a:lstStyle/>
          <a:p>
            <a:pPr marL="0" indent="0" algn="ctr">
              <a:lnSpc>
                <a:spcPts val="1850"/>
              </a:lnSpc>
              <a:buNone/>
            </a:pPr>
            <a:r>
              <a:rPr lang="en-US" sz="1250" dirty="0">
                <a:solidFill>
                  <a:srgbClr val="272525"/>
                </a:solidFill>
                <a:latin typeface="Inter" pitchFamily="34" charset="0"/>
                <a:ea typeface="Inter" pitchFamily="34" charset="-122"/>
                <a:cs typeface="Inter" pitchFamily="34" charset="-120"/>
              </a:rPr>
              <a:t>Le nuove preferenze dei consumatori e la regolamentazione green ridisegnano le strategie competitive in molti settori.</a:t>
            </a:r>
            <a:endParaRPr lang="en-US" sz="1250" dirty="0"/>
          </a:p>
        </p:txBody>
      </p:sp>
      <p:sp>
        <p:nvSpPr>
          <p:cNvPr id="22" name="Shape 20"/>
          <p:cNvSpPr/>
          <p:nvPr/>
        </p:nvSpPr>
        <p:spPr>
          <a:xfrm>
            <a:off x="11243429" y="4418528"/>
            <a:ext cx="22860" cy="493038"/>
          </a:xfrm>
          <a:prstGeom prst="roundRect">
            <a:avLst>
              <a:gd name="adj" fmla="val 302012"/>
            </a:avLst>
          </a:prstGeom>
          <a:solidFill>
            <a:srgbClr val="C0C1D7"/>
          </a:solidFill>
          <a:ln/>
        </p:spPr>
      </p:sp>
      <p:sp>
        <p:nvSpPr>
          <p:cNvPr id="23" name="Shape 21"/>
          <p:cNvSpPr/>
          <p:nvPr/>
        </p:nvSpPr>
        <p:spPr>
          <a:xfrm>
            <a:off x="11069955" y="4233624"/>
            <a:ext cx="369808" cy="369808"/>
          </a:xfrm>
          <a:prstGeom prst="roundRect">
            <a:avLst>
              <a:gd name="adj" fmla="val 18669"/>
            </a:avLst>
          </a:prstGeom>
          <a:solidFill>
            <a:srgbClr val="DADBF1"/>
          </a:solidFill>
          <a:ln w="7620">
            <a:solidFill>
              <a:srgbClr val="C0C1D7"/>
            </a:solidFill>
            <a:prstDash val="solid"/>
          </a:ln>
        </p:spPr>
      </p:sp>
      <p:sp>
        <p:nvSpPr>
          <p:cNvPr id="24" name="Text 22"/>
          <p:cNvSpPr/>
          <p:nvPr/>
        </p:nvSpPr>
        <p:spPr>
          <a:xfrm>
            <a:off x="11120199" y="4327922"/>
            <a:ext cx="246459" cy="308134"/>
          </a:xfrm>
          <a:prstGeom prst="rect">
            <a:avLst/>
          </a:prstGeom>
          <a:noFill/>
          <a:ln/>
        </p:spPr>
        <p:txBody>
          <a:bodyPr wrap="none" lIns="0" tIns="0" rIns="0" bIns="0" rtlCol="0" anchor="t"/>
          <a:lstStyle/>
          <a:p>
            <a:pPr marL="0" indent="0" algn="ctr">
              <a:lnSpc>
                <a:spcPts val="1900"/>
              </a:lnSpc>
              <a:buNone/>
            </a:pPr>
            <a:r>
              <a:rPr lang="en-US" sz="1900" b="1" dirty="0">
                <a:solidFill>
                  <a:srgbClr val="272525"/>
                </a:solidFill>
                <a:latin typeface="Inter Bold" pitchFamily="34" charset="0"/>
                <a:ea typeface="Inter Bold" pitchFamily="34" charset="-122"/>
                <a:cs typeface="Inter Bold" pitchFamily="34" charset="-120"/>
              </a:rPr>
              <a:t>4</a:t>
            </a:r>
            <a:endParaRPr lang="en-US" sz="1900" dirty="0"/>
          </a:p>
        </p:txBody>
      </p:sp>
      <p:sp>
        <p:nvSpPr>
          <p:cNvPr id="25" name="Text 23"/>
          <p:cNvSpPr/>
          <p:nvPr/>
        </p:nvSpPr>
        <p:spPr>
          <a:xfrm>
            <a:off x="10155793" y="5075992"/>
            <a:ext cx="2198251" cy="256818"/>
          </a:xfrm>
          <a:prstGeom prst="rect">
            <a:avLst/>
          </a:prstGeom>
          <a:noFill/>
          <a:ln/>
        </p:spPr>
        <p:txBody>
          <a:bodyPr wrap="none" lIns="0" tIns="0" rIns="0" bIns="0" rtlCol="0" anchor="t"/>
          <a:lstStyle/>
          <a:p>
            <a:pPr marL="0" indent="0" algn="ctr">
              <a:lnSpc>
                <a:spcPts val="2000"/>
              </a:lnSpc>
              <a:buNone/>
            </a:pPr>
            <a:r>
              <a:rPr lang="en-US" sz="1600" b="1" dirty="0">
                <a:solidFill>
                  <a:srgbClr val="272525"/>
                </a:solidFill>
                <a:latin typeface="Inter Bold" pitchFamily="34" charset="0"/>
                <a:ea typeface="Inter Bold" pitchFamily="34" charset="-122"/>
                <a:cs typeface="Inter Bold" pitchFamily="34" charset="-120"/>
              </a:rPr>
              <a:t>Intelligenza Artificiale</a:t>
            </a:r>
            <a:endParaRPr lang="en-US" sz="1600" dirty="0"/>
          </a:p>
        </p:txBody>
      </p:sp>
      <p:sp>
        <p:nvSpPr>
          <p:cNvPr id="26" name="Text 24"/>
          <p:cNvSpPr/>
          <p:nvPr/>
        </p:nvSpPr>
        <p:spPr>
          <a:xfrm>
            <a:off x="8877776" y="5414486"/>
            <a:ext cx="4754285" cy="480774"/>
          </a:xfrm>
          <a:prstGeom prst="rect">
            <a:avLst/>
          </a:prstGeom>
          <a:noFill/>
          <a:ln/>
        </p:spPr>
        <p:txBody>
          <a:bodyPr wrap="square" lIns="0" tIns="0" rIns="0" bIns="0" rtlCol="0" anchor="t"/>
          <a:lstStyle/>
          <a:p>
            <a:pPr marL="0" indent="0" algn="ctr">
              <a:lnSpc>
                <a:spcPts val="1850"/>
              </a:lnSpc>
              <a:buNone/>
            </a:pPr>
            <a:r>
              <a:rPr lang="en-US" sz="1250" dirty="0">
                <a:solidFill>
                  <a:srgbClr val="272525"/>
                </a:solidFill>
                <a:latin typeface="Inter" pitchFamily="34" charset="0"/>
                <a:ea typeface="Inter" pitchFamily="34" charset="-122"/>
                <a:cs typeface="Inter" pitchFamily="34" charset="-120"/>
              </a:rPr>
              <a:t>L'IA abbassa i costi marginali e trasforma la struttura di settori interi, rendendo i mercati più dinamici e imprevedibili.</a:t>
            </a:r>
            <a:endParaRPr lang="en-US" sz="1250" dirty="0"/>
          </a:p>
        </p:txBody>
      </p:sp>
      <p:sp>
        <p:nvSpPr>
          <p:cNvPr id="27" name="Shape 25"/>
          <p:cNvSpPr/>
          <p:nvPr/>
        </p:nvSpPr>
        <p:spPr>
          <a:xfrm>
            <a:off x="833914" y="6288762"/>
            <a:ext cx="12962573" cy="862608"/>
          </a:xfrm>
          <a:prstGeom prst="roundRect">
            <a:avLst>
              <a:gd name="adj" fmla="val 8004"/>
            </a:avLst>
          </a:prstGeom>
          <a:solidFill>
            <a:srgbClr val="FF0000"/>
          </a:solidFill>
          <a:ln/>
        </p:spPr>
      </p:sp>
      <p:sp>
        <p:nvSpPr>
          <p:cNvPr id="29" name="Text 26"/>
          <p:cNvSpPr/>
          <p:nvPr/>
        </p:nvSpPr>
        <p:spPr>
          <a:xfrm>
            <a:off x="1367909" y="6465927"/>
            <a:ext cx="12264271" cy="480774"/>
          </a:xfrm>
          <a:prstGeom prst="rect">
            <a:avLst/>
          </a:prstGeom>
          <a:noFill/>
          <a:ln/>
        </p:spPr>
        <p:txBody>
          <a:bodyPr wrap="square" lIns="0" tIns="0" rIns="0" bIns="0" rtlCol="0" anchor="t"/>
          <a:lstStyle/>
          <a:p>
            <a:pPr marL="0" indent="0" algn="l">
              <a:lnSpc>
                <a:spcPts val="1850"/>
              </a:lnSpc>
              <a:buNone/>
            </a:pPr>
            <a:r>
              <a:rPr lang="en-US" sz="1600" b="1" dirty="0">
                <a:solidFill>
                  <a:srgbClr val="000000"/>
                </a:solidFill>
                <a:latin typeface="Inter" pitchFamily="34" charset="0"/>
                <a:ea typeface="Inter" pitchFamily="34" charset="-122"/>
                <a:cs typeface="Inter" pitchFamily="34" charset="-120"/>
              </a:rPr>
              <a:t>Non esiste una forma di mercato ideale in assoluto. L'obiettivo della politica economica è creare condizioni in cui la competizione favorisca innovazione, efficienza e benessere collettivo — adattando le regole alla realtà in continua evoluzione.</a:t>
            </a:r>
            <a:endParaRPr lang="en-US" sz="1600"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884277" y="5113283"/>
            <a:ext cx="4337768" cy="690630"/>
          </a:xfrm>
          <a:prstGeom prst="rect">
            <a:avLst/>
          </a:prstGeom>
          <a:noFill/>
          <a:ln/>
        </p:spPr>
        <p:txBody>
          <a:bodyPr wrap="square" lIns="0" tIns="0" rIns="0" bIns="0" rtlCol="0" anchor="t"/>
          <a:lstStyle/>
          <a:p>
            <a:pPr marL="0" marR="0" lvl="0" indent="0" algn="l" defTabSz="914400" rtl="0" eaLnBrk="1" fontAlgn="auto" latinLnBrk="0" hangingPunct="1">
              <a:lnSpc>
                <a:spcPts val="4850"/>
              </a:lnSpc>
              <a:spcBef>
                <a:spcPts val="0"/>
              </a:spcBef>
              <a:spcAft>
                <a:spcPts val="0"/>
              </a:spcAft>
              <a:buClrTx/>
              <a:buSzTx/>
              <a:buFontTx/>
              <a:buNone/>
              <a:tabLst/>
              <a:defRPr/>
            </a:pPr>
            <a:r>
              <a:rPr kumimoji="0" lang="en-US" sz="390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Forme di Impresa</a:t>
            </a:r>
            <a:endParaRPr kumimoji="0" lang="en-US" sz="3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p:nvPr/>
        </p:nvSpPr>
        <p:spPr>
          <a:xfrm>
            <a:off x="884277" y="5803913"/>
            <a:ext cx="12422290" cy="1006320"/>
          </a:xfrm>
          <a:prstGeom prst="rect">
            <a:avLst/>
          </a:prstGeom>
          <a:noFill/>
          <a:ln/>
        </p:spPr>
        <p:txBody>
          <a:bodyPr wrap="square" lIns="0" tIns="0" rIns="0" bIns="0" rtlCol="0" anchor="t"/>
          <a:lstStyle/>
          <a:p>
            <a:pPr marL="0" marR="0" lvl="0" indent="0" algn="l" defTabSz="914400" rtl="0" eaLnBrk="1" fontAlgn="auto" latinLnBrk="0" hangingPunct="1">
              <a:lnSpc>
                <a:spcPts val="25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Dalla ditta individuale alle grandi società per azioni, ogni forma giuridica d'impresa racconta una storia diversa di rischio, responsabilità e opportunità. </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26" name="Picture 2" descr="Tipi di forme giuridiche: la guida definitiva - Blog | Consulting Italia  Group SRL">
            <a:extLst>
              <a:ext uri="{FF2B5EF4-FFF2-40B4-BE49-F238E27FC236}">
                <a16:creationId xmlns:a16="http://schemas.microsoft.com/office/drawing/2014/main" id="{1CBD0868-36CA-4E2A-9CD3-50EC57BE690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104" t="27811" r="4104" b="26219"/>
          <a:stretch/>
        </p:blipFill>
        <p:spPr bwMode="auto">
          <a:xfrm>
            <a:off x="752772" y="669916"/>
            <a:ext cx="13124855" cy="36973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07350" y="657939"/>
            <a:ext cx="12136755" cy="552688"/>
          </a:xfrm>
          <a:prstGeom prst="rect">
            <a:avLst/>
          </a:prstGeom>
          <a:noFill/>
          <a:ln/>
        </p:spPr>
        <p:txBody>
          <a:bodyPr wrap="none" lIns="0" tIns="0" rIns="0" bIns="0" rtlCol="0" anchor="t"/>
          <a:lstStyle/>
          <a:p>
            <a:pPr marL="0" marR="0" lvl="0" indent="0" algn="l" defTabSz="914400" rtl="0" eaLnBrk="1" fontAlgn="auto" latinLnBrk="0" hangingPunct="1">
              <a:lnSpc>
                <a:spcPts val="4350"/>
              </a:lnSpc>
              <a:spcBef>
                <a:spcPts val="0"/>
              </a:spcBef>
              <a:spcAft>
                <a:spcPts val="0"/>
              </a:spcAft>
              <a:buClrTx/>
              <a:buSzTx/>
              <a:buFontTx/>
              <a:buNone/>
              <a:tabLst/>
              <a:defRPr/>
            </a:pPr>
            <a:r>
              <a:rPr kumimoji="0" lang="en-US" sz="3450" b="1" i="0" u="none" strike="noStrike" kern="1200" cap="none" spc="0" normalizeH="0" baseline="0" noProof="0" dirty="0" err="1">
                <a:ln>
                  <a:noFill/>
                </a:ln>
                <a:solidFill>
                  <a:srgbClr val="000000"/>
                </a:solidFill>
                <a:effectLst/>
                <a:uLnTx/>
                <a:uFillTx/>
                <a:latin typeface="Inter Bold" pitchFamily="34" charset="0"/>
                <a:ea typeface="Inter Bold" pitchFamily="34" charset="-122"/>
                <a:cs typeface="Inter Bold" pitchFamily="34" charset="-120"/>
              </a:rPr>
              <a:t>Perché</a:t>
            </a:r>
            <a:r>
              <a:rPr kumimoji="0" lang="en-US" sz="345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 Scegliere la Forma Giuridica Giusta</a:t>
            </a:r>
            <a:endParaRPr kumimoji="0" lang="en-US" sz="3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707350" y="1624197"/>
            <a:ext cx="13215699" cy="1183589"/>
          </a:xfrm>
          <a:prstGeom prst="rect">
            <a:avLst/>
          </a:prstGeom>
          <a:noFill/>
          <a:ln/>
        </p:spPr>
        <p:txBody>
          <a:bodyPr wrap="square" lIns="0" tIns="0" rIns="0" bIns="0" rtlCol="0" anchor="t"/>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La scelta della forma giuridica è una delle decisioni più strategiche e determinanti nella vita di un imprenditore. Non si tratta di una mera formalità burocratica: la struttura giuridica influenza in modo diretto e profondo la responsabilità personale, la tassazione, l'accesso al credito, la governance e persino la percezione esterna dell'impresa da parte di clienti, fornitori e investitori.</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79953" y="3082766"/>
            <a:ext cx="6646902" cy="3911441"/>
          </a:xfrm>
          <a:prstGeom prst="roundRect">
            <a:avLst>
              <a:gd name="adj" fmla="val 3256"/>
            </a:avLst>
          </a:prstGeom>
          <a:solidFill>
            <a:srgbClr val="7030A0"/>
          </a:solidFill>
          <a:ln/>
        </p:spPr>
      </p:sp>
      <p:sp>
        <p:nvSpPr>
          <p:cNvPr id="5" name="Text 3"/>
          <p:cNvSpPr/>
          <p:nvPr/>
        </p:nvSpPr>
        <p:spPr>
          <a:xfrm>
            <a:off x="756761" y="3240286"/>
            <a:ext cx="2807256" cy="276344"/>
          </a:xfrm>
          <a:prstGeom prst="rect">
            <a:avLst/>
          </a:prstGeom>
          <a:noFill/>
          <a:ln/>
        </p:spPr>
        <p:txBody>
          <a:bodyPr wrap="none" lIns="0" tIns="0" rIns="0" bIns="0" rtlCol="0" anchor="t"/>
          <a:lstStyle/>
          <a:p>
            <a:pPr marL="0" marR="0" lvl="0" indent="0" algn="l" defTabSz="914400" rtl="0" eaLnBrk="1" fontAlgn="auto" latinLnBrk="0" hangingPunct="1">
              <a:lnSpc>
                <a:spcPts val="215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FFFF"/>
                </a:solidFill>
                <a:effectLst/>
                <a:uLnTx/>
                <a:uFillTx/>
                <a:latin typeface="Inter Bold" pitchFamily="34" charset="0"/>
                <a:ea typeface="Inter Bold" pitchFamily="34" charset="-122"/>
                <a:cs typeface="Inter Bold" pitchFamily="34" charset="-120"/>
              </a:rPr>
              <a:t>Perché è così importante?</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756761" y="3674150"/>
            <a:ext cx="6293287" cy="2572107"/>
          </a:xfrm>
          <a:prstGeom prst="rect">
            <a:avLst/>
          </a:prstGeom>
          <a:noFill/>
          <a:ln/>
        </p:spPr>
        <p:txBody>
          <a:bodyPr wrap="square" lIns="0" tIns="0" rIns="0" bIns="0" rtlCol="0" anchor="t"/>
          <a:lstStyle/>
          <a:p>
            <a:pPr marL="342900" marR="0" lvl="0" indent="-342900" algn="l" defTabSz="914400" rtl="0" eaLnBrk="1" fontAlgn="auto" latinLnBrk="0" hangingPunct="1">
              <a:lnSpc>
                <a:spcPts val="2100"/>
              </a:lnSpc>
              <a:spcBef>
                <a:spcPts val="0"/>
              </a:spcBef>
              <a:spcAft>
                <a:spcPts val="0"/>
              </a:spcAft>
              <a:buClrTx/>
              <a:buSzPct val="100000"/>
              <a:buFontTx/>
              <a:buChar char="•"/>
              <a:tabLst/>
              <a:defRPr/>
            </a:pPr>
            <a:r>
              <a:rPr kumimoji="0" lang="en-US" sz="135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Determina il grado di </a:t>
            </a:r>
            <a:r>
              <a:rPr kumimoji="0" lang="en-US" sz="1350" b="1"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responsabilità patrimoniale</a:t>
            </a:r>
            <a:r>
              <a:rPr kumimoji="0" lang="en-US" sz="135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dell'imprenditore: illimitata nelle imprese individuali e nelle società di persone, limitata nelle società di capitali.</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2100"/>
              </a:lnSpc>
              <a:spcBef>
                <a:spcPts val="0"/>
              </a:spcBef>
              <a:spcAft>
                <a:spcPts val="0"/>
              </a:spcAft>
              <a:buClrTx/>
              <a:buSzPct val="100000"/>
              <a:buFontTx/>
              <a:buChar char="•"/>
              <a:tabLst/>
              <a:defRPr/>
            </a:pPr>
            <a:r>
              <a:rPr kumimoji="0" lang="en-US" sz="135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Influisce direttamente sul </a:t>
            </a:r>
            <a:r>
              <a:rPr kumimoji="0" lang="en-US" sz="1350" b="1"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regime fiscale</a:t>
            </a:r>
            <a:r>
              <a:rPr kumimoji="0" lang="en-US" sz="135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applicabile: IRPEF per le persone fisiche e le società di persone, IRES per le società di capitali.</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2100"/>
              </a:lnSpc>
              <a:spcBef>
                <a:spcPts val="0"/>
              </a:spcBef>
              <a:spcAft>
                <a:spcPts val="0"/>
              </a:spcAft>
              <a:buClrTx/>
              <a:buSzPct val="100000"/>
              <a:buFontTx/>
              <a:buChar char="•"/>
              <a:tabLst/>
              <a:defRPr/>
            </a:pPr>
            <a:r>
              <a:rPr kumimoji="0" lang="en-US" sz="135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Condiziona la </a:t>
            </a:r>
            <a:r>
              <a:rPr kumimoji="0" lang="en-US" sz="1350" b="1"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capacità di raccolta del capitale</a:t>
            </a:r>
            <a:r>
              <a:rPr kumimoji="0" lang="en-US" sz="135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e l'accesso a finanziamenti bancari, fondi di investimento o mercati borsistici.</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2100"/>
              </a:lnSpc>
              <a:spcBef>
                <a:spcPts val="0"/>
              </a:spcBef>
              <a:spcAft>
                <a:spcPts val="0"/>
              </a:spcAft>
              <a:buClrTx/>
              <a:buSzPct val="100000"/>
              <a:buFontTx/>
              <a:buChar char="•"/>
              <a:tabLst/>
              <a:defRPr/>
            </a:pPr>
            <a:r>
              <a:rPr kumimoji="0" lang="en-US" sz="135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Definisce le regole di </a:t>
            </a:r>
            <a:r>
              <a:rPr kumimoji="0" lang="en-US" sz="1350" b="1"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governance e gestione</a:t>
            </a:r>
            <a:r>
              <a:rPr kumimoji="0" lang="en-US" sz="135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dai poteri del singolo titolare agli organi amministrativi collegiali.</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538561" y="3240286"/>
            <a:ext cx="3007400" cy="276344"/>
          </a:xfrm>
          <a:prstGeom prst="rect">
            <a:avLst/>
          </a:prstGeom>
          <a:noFill/>
          <a:ln/>
        </p:spPr>
        <p:txBody>
          <a:bodyPr wrap="none" lIns="0" tIns="0" rIns="0" bIns="0" rtlCol="0" anchor="t"/>
          <a:lstStyle/>
          <a:p>
            <a:pPr marL="0" marR="0" lvl="0" indent="0" algn="l" defTabSz="914400" rtl="0" eaLnBrk="1" fontAlgn="auto" latinLnBrk="0" hangingPunct="1">
              <a:lnSpc>
                <a:spcPts val="215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Le domande chiave da porsi</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7538561" y="3674150"/>
            <a:ext cx="6392108" cy="534829"/>
          </a:xfrm>
          <a:prstGeom prst="rect">
            <a:avLst/>
          </a:prstGeom>
          <a:noFill/>
          <a:ln/>
        </p:spPr>
        <p:txBody>
          <a:bodyPr wrap="square" lIns="0" tIns="0" rIns="0" bIns="0" rtlCol="0" anchor="t"/>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Prima di scegliere, ogni imprenditore dovrebbe rispondersi onestamente a una serie di domande fondamentali:</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7538561" y="4350782"/>
            <a:ext cx="6392108" cy="1557576"/>
          </a:xfrm>
          <a:prstGeom prst="rect">
            <a:avLst/>
          </a:prstGeom>
          <a:noFill/>
          <a:ln/>
        </p:spPr>
        <p:txBody>
          <a:bodyPr wrap="square" lIns="0" tIns="0" rIns="0" bIns="0" rtlCol="0" anchor="t"/>
          <a:lstStyle/>
          <a:p>
            <a:pPr marL="342900" marR="0" lvl="0" indent="-342900" algn="l" defTabSz="914400" rtl="0" eaLnBrk="1" fontAlgn="auto" latinLnBrk="0" hangingPunct="1">
              <a:lnSpc>
                <a:spcPts val="2100"/>
              </a:lnSpc>
              <a:spcBef>
                <a:spcPts val="0"/>
              </a:spcBef>
              <a:spcAft>
                <a:spcPts val="0"/>
              </a:spcAft>
              <a:buClrTx/>
              <a:buSzPct val="100000"/>
              <a:buFontTx/>
              <a:buChar char="•"/>
              <a:tabLst/>
              <a:defRPr/>
            </a:pPr>
            <a:r>
              <a:rPr kumimoji="0" lang="en-US" sz="13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Quanti soci saranno coinvolti nell'attività?</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2100"/>
              </a:lnSpc>
              <a:spcBef>
                <a:spcPts val="0"/>
              </a:spcBef>
              <a:spcAft>
                <a:spcPts val="0"/>
              </a:spcAft>
              <a:buClrTx/>
              <a:buSzPct val="100000"/>
              <a:buFontTx/>
              <a:buChar char="•"/>
              <a:tabLst/>
              <a:defRPr/>
            </a:pPr>
            <a:r>
              <a:rPr kumimoji="0" lang="en-US" sz="13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Qual è il volume d'affari previsto e il fabbisogno di capitale iniziale?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2100"/>
              </a:lnSpc>
              <a:spcBef>
                <a:spcPts val="0"/>
              </a:spcBef>
              <a:spcAft>
                <a:spcPts val="0"/>
              </a:spcAft>
              <a:buClrTx/>
              <a:buSzPct val="100000"/>
              <a:buFontTx/>
              <a:buChar char="•"/>
              <a:tabLst/>
              <a:defRPr/>
            </a:pPr>
            <a:r>
              <a:rPr kumimoji="0" lang="en-US" sz="13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Quanto rischio personale si è disposti ad accettare?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2100"/>
              </a:lnSpc>
              <a:spcBef>
                <a:spcPts val="0"/>
              </a:spcBef>
              <a:spcAft>
                <a:spcPts val="0"/>
              </a:spcAft>
              <a:buClrTx/>
              <a:buSzPct val="100000"/>
              <a:buFontTx/>
              <a:buChar char="•"/>
              <a:tabLst/>
              <a:defRPr/>
            </a:pPr>
            <a:r>
              <a:rPr kumimoji="0" lang="en-US" sz="13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Si prevede una crescita futura che richieda l'ingresso di nuovi investitori?</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2100"/>
              </a:lnSpc>
              <a:spcBef>
                <a:spcPts val="0"/>
              </a:spcBef>
              <a:spcAft>
                <a:spcPts val="0"/>
              </a:spcAft>
              <a:buClrTx/>
              <a:buSzPct val="100000"/>
              <a:buFontTx/>
              <a:buChar char="•"/>
              <a:tabLst/>
              <a:defRPr/>
            </a:pPr>
            <a:r>
              <a:rPr kumimoji="0" lang="en-US" sz="13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Quali sono i costi amministrativi e burocratici sostenibili?</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538561" y="6050161"/>
            <a:ext cx="6392108" cy="802243"/>
          </a:xfrm>
          <a:prstGeom prst="rect">
            <a:avLst/>
          </a:prstGeom>
          <a:noFill/>
          <a:ln/>
        </p:spPr>
        <p:txBody>
          <a:bodyPr wrap="square" lIns="0" tIns="0" rIns="0" bIns="0" rtlCol="0" anchor="t"/>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La risposta a queste domande guida verso la soluzione più adatta al proprio progetto imprenditoriale. </a:t>
            </a:r>
            <a:r>
              <a:rPr kumimoji="0" lang="en-US" sz="1350" b="1" i="0" u="sng"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Non esiste una forma perfetta in assoluto</a:t>
            </a:r>
            <a:r>
              <a:rPr kumimoji="0" lang="en-US" sz="13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esiste quella più adatta al proprio contesto.</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20629" y="518832"/>
            <a:ext cx="8353663" cy="483632"/>
          </a:xfrm>
          <a:prstGeom prst="rect">
            <a:avLst/>
          </a:prstGeom>
          <a:noFill/>
          <a:ln/>
        </p:spPr>
        <p:txBody>
          <a:bodyPr wrap="none" lIns="0" tIns="0" rIns="0" bIns="0" rtlCol="0" anchor="t"/>
          <a:lstStyle/>
          <a:p>
            <a:pPr marL="0" marR="0" lvl="0" indent="0" algn="l" defTabSz="914400" rtl="0" eaLnBrk="1" fontAlgn="auto" latinLnBrk="0" hangingPunct="1">
              <a:lnSpc>
                <a:spcPts val="38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Le Imprese Individuali: Vantaggi e Svantaggi</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1263573" y="1471791"/>
            <a:ext cx="12204383" cy="864792"/>
          </a:xfrm>
          <a:prstGeom prst="rect">
            <a:avLst/>
          </a:prstGeom>
          <a:noFill/>
          <a:ln/>
        </p:spPr>
        <p:txBody>
          <a:bodyPr wrap="square" lIns="0" tIns="0" rIns="0" bIns="0" rtlCol="0" anchor="t"/>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L'impresa individuale è la forma più semplice e diffusa nel panorama imprenditoriale italiano. È gestita da </a:t>
            </a:r>
            <a:r>
              <a:rPr kumimoji="0" lang="en-US" sz="16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una sola persona fisica</a:t>
            </a: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 il titolare — che esercita professionalmente un'attività economica organizzata. Non richiede un capitale minimo, né atti costitutivi complessi, e può essere avviata con una semplice iscrizione al Registro delle Imprese presso la Camera di Commercio competente.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1213009" y="2723674"/>
            <a:ext cx="12204383" cy="3162181"/>
          </a:xfrm>
          <a:prstGeom prst="roundRect">
            <a:avLst>
              <a:gd name="adj" fmla="val 2056"/>
            </a:avLst>
          </a:prstGeom>
          <a:solidFill>
            <a:srgbClr val="DADBF1"/>
          </a:solidFill>
          <a:ln w="7620">
            <a:solidFill>
              <a:srgbClr val="C0C1D7"/>
            </a:solidFill>
            <a:prstDash val="solid"/>
          </a:ln>
        </p:spPr>
      </p:sp>
      <p:sp>
        <p:nvSpPr>
          <p:cNvPr id="5" name="Shape 3"/>
          <p:cNvSpPr/>
          <p:nvPr/>
        </p:nvSpPr>
        <p:spPr>
          <a:xfrm>
            <a:off x="1220629" y="2731294"/>
            <a:ext cx="6094571" cy="3541652"/>
          </a:xfrm>
          <a:prstGeom prst="roundRect">
            <a:avLst>
              <a:gd name="adj" fmla="val 2066"/>
            </a:avLst>
          </a:prstGeom>
          <a:solidFill>
            <a:srgbClr val="92D050"/>
          </a:solidFill>
          <a:ln/>
        </p:spPr>
      </p:sp>
      <p:sp>
        <p:nvSpPr>
          <p:cNvPr id="6" name="Text 4"/>
          <p:cNvSpPr/>
          <p:nvPr/>
        </p:nvSpPr>
        <p:spPr>
          <a:xfrm>
            <a:off x="1341239" y="2851904"/>
            <a:ext cx="1934528" cy="241816"/>
          </a:xfrm>
          <a:prstGeom prst="rect">
            <a:avLst/>
          </a:prstGeom>
          <a:noFill/>
          <a:ln/>
        </p:spPr>
        <p:txBody>
          <a:bodyPr wrap="none" lIns="0" tIns="0" rIns="0" bIns="0" rtlCol="0" anchor="t"/>
          <a:lstStyle/>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Vantaggi</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341239" y="3166110"/>
            <a:ext cx="5672257" cy="2591514"/>
          </a:xfrm>
          <a:prstGeom prst="rect">
            <a:avLst/>
          </a:prstGeom>
          <a:noFill/>
          <a:ln/>
        </p:spPr>
        <p:txBody>
          <a:bodyPr wrap="square" lIns="0" tIns="0" rIns="0" bIns="0" rtlCol="0" anchor="t"/>
          <a:lstStyle/>
          <a:p>
            <a:pPr marL="342900" marR="0" lvl="0" indent="-342900" algn="l" defTabSz="914400" rtl="0" eaLnBrk="1" fontAlgn="auto" latinLnBrk="0" hangingPunct="1">
              <a:lnSpc>
                <a:spcPts val="1700"/>
              </a:lnSpc>
              <a:spcBef>
                <a:spcPts val="0"/>
              </a:spcBef>
              <a:spcAft>
                <a:spcPts val="0"/>
              </a:spcAft>
              <a:buClrTx/>
              <a:buSzPct val="100000"/>
              <a:buFontTx/>
              <a:buChar char="•"/>
              <a:tabLst/>
              <a:defRPr/>
            </a:pPr>
            <a:r>
              <a:rPr kumimoji="0" lang="en-US" sz="16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Semplicità costitutiva</a:t>
            </a: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nessun atto notarile, nessun capitale minimo richiesto per la costituzione.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700"/>
              </a:lnSpc>
              <a:spcBef>
                <a:spcPts val="0"/>
              </a:spcBef>
              <a:spcAft>
                <a:spcPts val="0"/>
              </a:spcAft>
              <a:buClrTx/>
              <a:buSzPct val="100000"/>
              <a:buFontTx/>
              <a:buChar char="•"/>
              <a:tabLst/>
              <a:defRPr/>
            </a:pPr>
            <a:r>
              <a:rPr kumimoji="0" lang="en-US" sz="16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Costi ridotti</a:t>
            </a: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gli adempimenti burocratici e contabili sono più snelli rispetto alle società.</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700"/>
              </a:lnSpc>
              <a:spcBef>
                <a:spcPts val="0"/>
              </a:spcBef>
              <a:spcAft>
                <a:spcPts val="0"/>
              </a:spcAft>
              <a:buClrTx/>
              <a:buSzPct val="100000"/>
              <a:buFontTx/>
              <a:buChar char="•"/>
              <a:tabLst/>
              <a:defRPr/>
            </a:pPr>
            <a:r>
              <a:rPr kumimoji="0" lang="en-US" sz="16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Autonomia decisionale totale</a:t>
            </a: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il titolare è l'unico responsabile delle scelte aziendali, senza dover consultare soci o consigli di amministrazione.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700"/>
              </a:lnSpc>
              <a:spcBef>
                <a:spcPts val="0"/>
              </a:spcBef>
              <a:spcAft>
                <a:spcPts val="0"/>
              </a:spcAft>
              <a:buClrTx/>
              <a:buSzPct val="100000"/>
              <a:buFontTx/>
              <a:buChar char="•"/>
              <a:tabLst/>
              <a:defRPr/>
            </a:pPr>
            <a:r>
              <a:rPr kumimoji="0" lang="en-US" sz="16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Regime fiscale semplice</a:t>
            </a: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i redditi confluiscono nell'IRPEF personale; possibilità di aderire al regime forfettario con aliquota agevolata al 15% (o 5% per le start-up).</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700"/>
              </a:lnSpc>
              <a:spcBef>
                <a:spcPts val="0"/>
              </a:spcBef>
              <a:spcAft>
                <a:spcPts val="0"/>
              </a:spcAft>
              <a:buClrTx/>
              <a:buSzPct val="100000"/>
              <a:buFontTx/>
              <a:buChar char="•"/>
              <a:tabLst/>
              <a:defRPr/>
            </a:pPr>
            <a:r>
              <a:rPr kumimoji="0" lang="en-US" sz="16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Flessibilità operativa</a:t>
            </a: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adattabilità rapida alle esigenze del mercato senza vincoli societari.</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7315200" y="2731294"/>
            <a:ext cx="6094571" cy="3541652"/>
          </a:xfrm>
          <a:prstGeom prst="rect">
            <a:avLst/>
          </a:prstGeom>
          <a:solidFill>
            <a:srgbClr val="FE5C50"/>
          </a:solidFill>
          <a:ln/>
        </p:spPr>
      </p:sp>
      <p:sp>
        <p:nvSpPr>
          <p:cNvPr id="9" name="Shape 7"/>
          <p:cNvSpPr/>
          <p:nvPr/>
        </p:nvSpPr>
        <p:spPr>
          <a:xfrm>
            <a:off x="7315200" y="2731294"/>
            <a:ext cx="22860" cy="3146941"/>
          </a:xfrm>
          <a:prstGeom prst="roundRect">
            <a:avLst>
              <a:gd name="adj" fmla="val 284349"/>
            </a:avLst>
          </a:prstGeom>
          <a:solidFill>
            <a:srgbClr val="C0C1D7"/>
          </a:solidFill>
          <a:ln/>
        </p:spPr>
      </p:sp>
      <p:sp>
        <p:nvSpPr>
          <p:cNvPr id="10" name="Text 8"/>
          <p:cNvSpPr/>
          <p:nvPr/>
        </p:nvSpPr>
        <p:spPr>
          <a:xfrm>
            <a:off x="7616904" y="2851904"/>
            <a:ext cx="1934528" cy="241816"/>
          </a:xfrm>
          <a:prstGeom prst="rect">
            <a:avLst/>
          </a:prstGeom>
          <a:noFill/>
          <a:ln/>
        </p:spPr>
        <p:txBody>
          <a:bodyPr wrap="none" lIns="0" tIns="0" rIns="0" bIns="0" rtlCol="0" anchor="t"/>
          <a:lstStyle/>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Svantaggi</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7616904" y="3166110"/>
            <a:ext cx="5672257" cy="2591514"/>
          </a:xfrm>
          <a:prstGeom prst="rect">
            <a:avLst/>
          </a:prstGeom>
          <a:noFill/>
          <a:ln/>
        </p:spPr>
        <p:txBody>
          <a:bodyPr wrap="square" lIns="0" tIns="0" rIns="0" bIns="0" rtlCol="0" anchor="t"/>
          <a:lstStyle/>
          <a:p>
            <a:pPr marL="342900" marR="0" lvl="0" indent="-342900" algn="l" defTabSz="914400" rtl="0" eaLnBrk="1" fontAlgn="auto" latinLnBrk="0" hangingPunct="1">
              <a:lnSpc>
                <a:spcPts val="1700"/>
              </a:lnSpc>
              <a:spcBef>
                <a:spcPts val="0"/>
              </a:spcBef>
              <a:spcAft>
                <a:spcPts val="0"/>
              </a:spcAft>
              <a:buClrTx/>
              <a:buSzPct val="100000"/>
              <a:buFontTx/>
              <a:buChar char="•"/>
              <a:tabLst/>
              <a:defRPr/>
            </a:pPr>
            <a:r>
              <a:rPr kumimoji="0" lang="en-US" sz="14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Responsabilità illimitata</a:t>
            </a:r>
            <a:r>
              <a:rPr kumimoji="0" lang="en-US" sz="14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il titolare risponde dei debiti aziendali con tutto il patrimonio personale, presente e futuro — compresi beni immobili, conti correnti e risparmi.</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700"/>
              </a:lnSpc>
              <a:spcBef>
                <a:spcPts val="0"/>
              </a:spcBef>
              <a:spcAft>
                <a:spcPts val="0"/>
              </a:spcAft>
              <a:buClrTx/>
              <a:buSzPct val="100000"/>
              <a:buFontTx/>
              <a:buChar char="•"/>
              <a:tabLst/>
              <a:defRPr/>
            </a:pPr>
            <a:r>
              <a:rPr kumimoji="0" lang="en-US" sz="14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Difficoltà nel reperire capitali</a:t>
            </a:r>
            <a:r>
              <a:rPr kumimoji="0" lang="en-US" sz="14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impossibilità di emettere quote o azioni, accesso al credito spesso limitato.</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700"/>
              </a:lnSpc>
              <a:spcBef>
                <a:spcPts val="0"/>
              </a:spcBef>
              <a:spcAft>
                <a:spcPts val="0"/>
              </a:spcAft>
              <a:buClrTx/>
              <a:buSzPct val="100000"/>
              <a:buFontTx/>
              <a:buChar char="•"/>
              <a:tabLst/>
              <a:defRPr/>
            </a:pPr>
            <a:r>
              <a:rPr kumimoji="0" lang="en-US" sz="14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Continuità aziendale</a:t>
            </a:r>
            <a:r>
              <a:rPr kumimoji="0" lang="en-US" sz="14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l'impresa è strettamente legata alla persona fisica; in caso di decesso o incapacità, la continuazione è incerta.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700"/>
              </a:lnSpc>
              <a:spcBef>
                <a:spcPts val="0"/>
              </a:spcBef>
              <a:spcAft>
                <a:spcPts val="0"/>
              </a:spcAft>
              <a:buClrTx/>
              <a:buSzPct val="100000"/>
              <a:buFontTx/>
              <a:buChar char="•"/>
              <a:tabLst/>
              <a:defRPr/>
            </a:pPr>
            <a:r>
              <a:rPr kumimoji="0" lang="en-US" sz="14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Limitata credibilità esterna</a:t>
            </a:r>
            <a:r>
              <a:rPr kumimoji="0" lang="en-US" sz="14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percepita da alcuni mercati come struttura meno solida rispetto a una società di capitali.</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700"/>
              </a:lnSpc>
              <a:spcBef>
                <a:spcPts val="0"/>
              </a:spcBef>
              <a:spcAft>
                <a:spcPts val="0"/>
              </a:spcAft>
              <a:buClrTx/>
              <a:buSzPct val="100000"/>
              <a:buFontTx/>
              <a:buChar char="•"/>
              <a:tabLst/>
              <a:defRPr/>
            </a:pPr>
            <a:r>
              <a:rPr kumimoji="0" lang="en-US" sz="14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Carico contributivo elevato</a:t>
            </a:r>
            <a:r>
              <a:rPr kumimoji="0" lang="en-US" sz="14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i contributi INPS artigiani/commercianti possono risultare onerosi nei periodi di avvio.</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7121843" y="4111288"/>
            <a:ext cx="386834" cy="386834"/>
          </a:xfrm>
          <a:prstGeom prst="roundRect">
            <a:avLst>
              <a:gd name="adj" fmla="val 16804"/>
            </a:avLst>
          </a:prstGeom>
          <a:solidFill>
            <a:srgbClr val="FFFFFF"/>
          </a:solidFill>
          <a:ln w="22860">
            <a:solidFill>
              <a:srgbClr val="C0C1D7"/>
            </a:solidFill>
            <a:prstDash val="solid"/>
          </a:ln>
        </p:spPr>
      </p:sp>
      <p:pic>
        <p:nvPicPr>
          <p:cNvPr id="1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18521" y="4207966"/>
            <a:ext cx="193358" cy="193358"/>
          </a:xfrm>
          <a:prstGeom prst="rect">
            <a:avLst/>
          </a:prstGeom>
        </p:spPr>
      </p:pic>
      <p:sp>
        <p:nvSpPr>
          <p:cNvPr id="14" name="Shape 11"/>
          <p:cNvSpPr/>
          <p:nvPr/>
        </p:nvSpPr>
        <p:spPr>
          <a:xfrm>
            <a:off x="1235868" y="6572758"/>
            <a:ext cx="12204383" cy="1005840"/>
          </a:xfrm>
          <a:prstGeom prst="roundRect">
            <a:avLst>
              <a:gd name="adj" fmla="val 6462"/>
            </a:avLst>
          </a:prstGeom>
          <a:solidFill>
            <a:srgbClr val="CC6600"/>
          </a:solidFill>
          <a:ln/>
        </p:spPr>
      </p:sp>
      <p:sp>
        <p:nvSpPr>
          <p:cNvPr id="16" name="Text 12"/>
          <p:cNvSpPr/>
          <p:nvPr/>
        </p:nvSpPr>
        <p:spPr>
          <a:xfrm>
            <a:off x="1738550" y="6731945"/>
            <a:ext cx="11547038" cy="660797"/>
          </a:xfrm>
          <a:prstGeom prst="rect">
            <a:avLst/>
          </a:prstGeom>
          <a:noFill/>
          <a:ln/>
        </p:spPr>
        <p:txBody>
          <a:bodyPr wrap="square" lIns="0" tIns="0" rIns="0" bIns="0" rtlCol="0" anchor="t"/>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Quando è indicata?</a:t>
            </a:r>
            <a:r>
              <a:rPr kumimoji="0" lang="en-US" sz="140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 L'impresa individuale è ideale per attività di piccole dimensioni, commercianti, artigiani, liberi professionisti e chi intende testare un'idea imprenditoriale con investimento iniziale contenuto e rischio limitato. Con il regime forfettario, può risultare fiscalmente molto conveniente fino a 85.000 euro di ricavi annui.</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6991" y="1066443"/>
            <a:ext cx="7194233" cy="536615"/>
          </a:xfrm>
          <a:prstGeom prst="rect">
            <a:avLst/>
          </a:prstGeom>
          <a:noFill/>
          <a:ln/>
        </p:spPr>
        <p:txBody>
          <a:bodyPr wrap="none" lIns="0" tIns="0" rIns="0" bIns="0" rtlCol="0" anchor="t"/>
          <a:lstStyle/>
          <a:p>
            <a:pPr marL="0" marR="0" lvl="0" indent="0" algn="l" defTabSz="914400" rtl="0" eaLnBrk="1" fontAlgn="auto" latinLnBrk="0" hangingPunct="1">
              <a:lnSpc>
                <a:spcPts val="4200"/>
              </a:lnSpc>
              <a:spcBef>
                <a:spcPts val="0"/>
              </a:spcBef>
              <a:spcAft>
                <a:spcPts val="0"/>
              </a:spcAft>
              <a:buClrTx/>
              <a:buSzTx/>
              <a:buFontTx/>
              <a:buNone/>
              <a:tabLst/>
              <a:defRPr/>
            </a:pPr>
            <a:r>
              <a:rPr kumimoji="0" lang="en-US" sz="335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Società di Persone: SS, SNC e SAS</a:t>
            </a:r>
            <a:endParaRPr kumimoji="0" lang="en-US" sz="3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86991" y="1900238"/>
            <a:ext cx="13256419" cy="769025"/>
          </a:xfrm>
          <a:prstGeom prst="rect">
            <a:avLst/>
          </a:prstGeom>
          <a:noFill/>
          <a:ln/>
        </p:spPr>
        <p:txBody>
          <a:bodyPr wrap="square" lIns="0" tIns="0" rIns="0" bIns="0"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Le società di persone rappresentano una via di mezzo tra la gestione individuale e le strutture più complesse delle società di capitali. Si caratterizzano per il </a:t>
            </a:r>
            <a:r>
              <a:rPr kumimoji="0" lang="en-US" sz="13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forte legame fiduciario tra i soci</a:t>
            </a:r>
            <a:r>
              <a:rPr kumimoji="0" lang="en-US" sz="13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la semplicità organizzativa e la responsabilità — spesso illimitata — che i soci assumono verso i creditori sociali. Sono disciplinate principalmente dagli articoli 2251 e seguenti del Codice Civile italiano.</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686991" y="2836426"/>
            <a:ext cx="4319707" cy="4326612"/>
          </a:xfrm>
          <a:prstGeom prst="roundRect">
            <a:avLst>
              <a:gd name="adj" fmla="val 1670"/>
            </a:avLst>
          </a:prstGeom>
          <a:solidFill>
            <a:srgbClr val="FFFFFF"/>
          </a:solidFill>
          <a:ln w="22860">
            <a:solidFill>
              <a:srgbClr val="C0C1D7"/>
            </a:solidFill>
            <a:prstDash val="solid"/>
          </a:ln>
        </p:spPr>
      </p:sp>
      <p:sp>
        <p:nvSpPr>
          <p:cNvPr id="5" name="Shape 3"/>
          <p:cNvSpPr/>
          <p:nvPr/>
        </p:nvSpPr>
        <p:spPr>
          <a:xfrm>
            <a:off x="709851" y="2859286"/>
            <a:ext cx="4273987" cy="515183"/>
          </a:xfrm>
          <a:prstGeom prst="roundRect">
            <a:avLst>
              <a:gd name="adj" fmla="val 8678"/>
            </a:avLst>
          </a:prstGeom>
          <a:solidFill>
            <a:srgbClr val="DADBF1"/>
          </a:solidFill>
          <a:ln/>
        </p:spPr>
      </p:sp>
      <p:sp>
        <p:nvSpPr>
          <p:cNvPr id="6" name="Text 4"/>
          <p:cNvSpPr/>
          <p:nvPr/>
        </p:nvSpPr>
        <p:spPr>
          <a:xfrm>
            <a:off x="2718078" y="2952036"/>
            <a:ext cx="257532" cy="321945"/>
          </a:xfrm>
          <a:prstGeom prst="rect">
            <a:avLst/>
          </a:prstGeom>
          <a:noFill/>
          <a:ln/>
        </p:spPr>
        <p:txBody>
          <a:bodyPr wrap="none" lIns="0" tIns="0" rIns="0" bIns="0"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1</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881539" y="3523059"/>
            <a:ext cx="2445782" cy="268248"/>
          </a:xfrm>
          <a:prstGeom prst="rect">
            <a:avLst/>
          </a:prstGeom>
          <a:noFill/>
          <a:ln/>
        </p:spPr>
        <p:txBody>
          <a:bodyPr wrap="none" lIns="0" tIns="0" rIns="0" bIns="0" rtlCol="0" anchor="t"/>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Società Semplice (S.S.)</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81539" y="3880485"/>
            <a:ext cx="3930610" cy="2819757"/>
          </a:xfrm>
          <a:prstGeom prst="rect">
            <a:avLst/>
          </a:prstGeom>
          <a:noFill/>
          <a:ln/>
        </p:spPr>
        <p:txBody>
          <a:bodyPr wrap="square" lIns="0" tIns="0" rIns="0" bIns="0"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È la forma più elementare di società di persone, utilizzabile </a:t>
            </a:r>
            <a:r>
              <a:rPr kumimoji="0" lang="en-US" sz="13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esclusivamente per attività non commerciali</a:t>
            </a:r>
            <a:r>
              <a:rPr kumimoji="0" lang="en-US" sz="13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agricoltura, gestione di patrimoni immobiliari, attività professionali. Non è iscrivibile al Registro delle Imprese come impresa commerciale. I soci rispondono illimitatamente e solidalmente delle obbligazioni sociali, salvo patto contrario nei confronti dei terzi. La sua semplicità la rende adatta a piccoli gruppi che svolgono attività occasionali o collaterali.</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155287" y="2836426"/>
            <a:ext cx="4319707" cy="4326612"/>
          </a:xfrm>
          <a:prstGeom prst="roundRect">
            <a:avLst>
              <a:gd name="adj" fmla="val 1670"/>
            </a:avLst>
          </a:prstGeom>
          <a:solidFill>
            <a:srgbClr val="FFFFFF"/>
          </a:solidFill>
          <a:ln w="22860">
            <a:solidFill>
              <a:srgbClr val="C0C1D7"/>
            </a:solidFill>
            <a:prstDash val="solid"/>
          </a:ln>
        </p:spPr>
      </p:sp>
      <p:sp>
        <p:nvSpPr>
          <p:cNvPr id="10" name="Shape 8"/>
          <p:cNvSpPr/>
          <p:nvPr/>
        </p:nvSpPr>
        <p:spPr>
          <a:xfrm>
            <a:off x="5178147" y="2859286"/>
            <a:ext cx="4273987" cy="515183"/>
          </a:xfrm>
          <a:prstGeom prst="roundRect">
            <a:avLst>
              <a:gd name="adj" fmla="val 8678"/>
            </a:avLst>
          </a:prstGeom>
          <a:solidFill>
            <a:srgbClr val="DADBF1"/>
          </a:solidFill>
          <a:ln/>
        </p:spPr>
      </p:sp>
      <p:sp>
        <p:nvSpPr>
          <p:cNvPr id="11" name="Text 9"/>
          <p:cNvSpPr/>
          <p:nvPr/>
        </p:nvSpPr>
        <p:spPr>
          <a:xfrm>
            <a:off x="7186374" y="2952036"/>
            <a:ext cx="257532" cy="321945"/>
          </a:xfrm>
          <a:prstGeom prst="rect">
            <a:avLst/>
          </a:prstGeom>
          <a:noFill/>
          <a:ln/>
        </p:spPr>
        <p:txBody>
          <a:bodyPr wrap="none" lIns="0" tIns="0" rIns="0" bIns="0"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2</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349835" y="3523059"/>
            <a:ext cx="3635931" cy="268248"/>
          </a:xfrm>
          <a:prstGeom prst="rect">
            <a:avLst/>
          </a:prstGeom>
          <a:noFill/>
          <a:ln/>
        </p:spPr>
        <p:txBody>
          <a:bodyPr wrap="none" lIns="0" tIns="0" rIns="0" bIns="0" rtlCol="0" anchor="t"/>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Società in Nome Collettivo (S.N.C.)</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5349835" y="3880485"/>
            <a:ext cx="3930610" cy="3076099"/>
          </a:xfrm>
          <a:prstGeom prst="rect">
            <a:avLst/>
          </a:prstGeom>
          <a:noFill/>
          <a:ln/>
        </p:spPr>
        <p:txBody>
          <a:bodyPr wrap="square" lIns="0" tIns="0" rIns="0" bIns="0"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Tutti i soci rispondono </a:t>
            </a:r>
            <a:r>
              <a:rPr kumimoji="0" lang="en-US" sz="13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solidalmente e illimitatamente</a:t>
            </a:r>
            <a:r>
              <a:rPr kumimoji="0" lang="en-US" sz="13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per le obbligazioni sociali, e tale responsabilità non può essere derogata nei confronti dei terzi. È la forma tipica delle attività commerciali svolte in partnership. Offre grande flessibilità nella gestione interna e costi di costituzione contenuti (non è richiesto un capitale minimo). Il regime fiscale per trasparenza fa confluire i redditi proporzionalmente in capo ai soci (IRPEF). È la soluzione preferita da artigiani, commercianti e professionisti che avviano un'attività insieme.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9623584" y="2836426"/>
            <a:ext cx="4319707" cy="4326612"/>
          </a:xfrm>
          <a:prstGeom prst="roundRect">
            <a:avLst>
              <a:gd name="adj" fmla="val 1670"/>
            </a:avLst>
          </a:prstGeom>
          <a:solidFill>
            <a:srgbClr val="FFFFFF"/>
          </a:solidFill>
          <a:ln w="22860">
            <a:solidFill>
              <a:srgbClr val="C0C1D7"/>
            </a:solidFill>
            <a:prstDash val="solid"/>
          </a:ln>
        </p:spPr>
      </p:sp>
      <p:sp>
        <p:nvSpPr>
          <p:cNvPr id="15" name="Shape 13"/>
          <p:cNvSpPr/>
          <p:nvPr/>
        </p:nvSpPr>
        <p:spPr>
          <a:xfrm>
            <a:off x="9646444" y="2859286"/>
            <a:ext cx="4273987" cy="515183"/>
          </a:xfrm>
          <a:prstGeom prst="roundRect">
            <a:avLst>
              <a:gd name="adj" fmla="val 8678"/>
            </a:avLst>
          </a:prstGeom>
          <a:solidFill>
            <a:srgbClr val="DADBF1"/>
          </a:solidFill>
          <a:ln/>
        </p:spPr>
      </p:sp>
      <p:sp>
        <p:nvSpPr>
          <p:cNvPr id="16" name="Text 14"/>
          <p:cNvSpPr/>
          <p:nvPr/>
        </p:nvSpPr>
        <p:spPr>
          <a:xfrm>
            <a:off x="11654671" y="2952036"/>
            <a:ext cx="257532" cy="321945"/>
          </a:xfrm>
          <a:prstGeom prst="rect">
            <a:avLst/>
          </a:prstGeom>
          <a:noFill/>
          <a:ln/>
        </p:spPr>
        <p:txBody>
          <a:bodyPr wrap="none" lIns="0" tIns="0" rIns="0" bIns="0"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3</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9818132" y="3523059"/>
            <a:ext cx="3930610" cy="536496"/>
          </a:xfrm>
          <a:prstGeom prst="rect">
            <a:avLst/>
          </a:prstGeom>
          <a:noFill/>
          <a:ln/>
        </p:spPr>
        <p:txBody>
          <a:bodyPr wrap="square" lIns="0" tIns="0" rIns="0" bIns="0" rtlCol="0" anchor="t"/>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Società in Accomandita Semplice (S.A.S.)</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9818132" y="4148733"/>
            <a:ext cx="3930610" cy="2819757"/>
          </a:xfrm>
          <a:prstGeom prst="rect">
            <a:avLst/>
          </a:prstGeom>
          <a:noFill/>
          <a:ln/>
        </p:spPr>
        <p:txBody>
          <a:bodyPr wrap="square" lIns="0" tIns="0" rIns="0" bIns="0"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Presenta una struttura duale con due categorie di soci: i </a:t>
            </a:r>
            <a:r>
              <a:rPr kumimoji="0" lang="en-US" sz="13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soci accomandatari</a:t>
            </a:r>
            <a:r>
              <a:rPr kumimoji="0" lang="en-US" sz="13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che gestiscono l'impresa e rispondono illimitatamente delle obbligazioni sociali, e i </a:t>
            </a:r>
            <a:r>
              <a:rPr kumimoji="0" lang="en-US" sz="13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soci accomandanti</a:t>
            </a:r>
            <a:r>
              <a:rPr kumimoji="0" lang="en-US" sz="13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che limitano la propria responsabilità al capitale conferito e non partecipano alla gestione. Questa distinzione la rende utile quando si vuole attrarre investitori che non desiderano esporsi personalmente ai rischi aziendali. È ampiamente utilizzata in ambito familiare e nelle piccole imprese con esigenze di finanziamento esterno.</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8FA074E-818D-4750-82FE-9A25AA41F2FB}"/>
              </a:ext>
            </a:extLst>
          </p:cNvPr>
          <p:cNvSpPr/>
          <p:nvPr/>
        </p:nvSpPr>
        <p:spPr>
          <a:xfrm>
            <a:off x="1825347" y="575966"/>
            <a:ext cx="6705838" cy="433149"/>
          </a:xfrm>
          <a:prstGeom prst="rect">
            <a:avLst/>
          </a:prstGeom>
          <a:noFill/>
          <a:ln/>
        </p:spPr>
        <p:txBody>
          <a:bodyPr wrap="none" lIns="0" tIns="0" rIns="0" bIns="0" rtlCol="0" anchor="t"/>
          <a:lstStyle/>
          <a:p>
            <a:pPr marL="0" marR="0" lvl="0" indent="0" algn="l" defTabSz="914400" rtl="0" eaLnBrk="1" fontAlgn="auto" latinLnBrk="0" hangingPunct="1">
              <a:lnSpc>
                <a:spcPts val="34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Società a Responsabilità Limitata (S.r.l.)</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C1C5C25E-35FE-40FD-AACD-8861C6046AF7}"/>
              </a:ext>
            </a:extLst>
          </p:cNvPr>
          <p:cNvSpPr/>
          <p:nvPr/>
        </p:nvSpPr>
        <p:spPr>
          <a:xfrm>
            <a:off x="1879640" y="1429305"/>
            <a:ext cx="1929765" cy="216694"/>
          </a:xfrm>
          <a:prstGeom prst="rect">
            <a:avLst/>
          </a:prstGeom>
          <a:noFill/>
          <a:ln/>
        </p:spPr>
        <p:txBody>
          <a:bodyPr wrap="none" lIns="0" tIns="0" rIns="0" bIns="0" rtlCol="0" anchor="t"/>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Cos'è e come funziona</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24F1284A-2CD5-459F-B4A4-01BE6C818E54}"/>
              </a:ext>
            </a:extLst>
          </p:cNvPr>
          <p:cNvSpPr/>
          <p:nvPr/>
        </p:nvSpPr>
        <p:spPr>
          <a:xfrm>
            <a:off x="1879640" y="1742797"/>
            <a:ext cx="5297686" cy="1130856"/>
          </a:xfrm>
          <a:prstGeom prst="rect">
            <a:avLst/>
          </a:prstGeom>
          <a:noFill/>
          <a:ln/>
        </p:spPr>
        <p:txBody>
          <a:bodyPr wrap="squar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La </a:t>
            </a:r>
            <a:r>
              <a:rPr kumimoji="0" lang="en-US" sz="16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Società a Responsabilità Limitata</a:t>
            </a: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è la forma societaria di capitali più diffusa in Italia, amata da PMI, start-up e professionisti per la sua flessibilità e la protezione patrimoniale che offre ai soci. Il capitale sociale minimo è di soli </a:t>
            </a:r>
            <a:r>
              <a:rPr kumimoji="0" lang="en-US" sz="16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10.000 euro</a:t>
            </a: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(ridotto a 1 euro per la S.r.l. semplificata, SRLS), suddiviso in quote — non in azioni — non liberamente trasferibili senza il consenso degli altri soci, salvo diversa previsione statutaria.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501997A5-E498-4979-9548-9840E2068933}"/>
              </a:ext>
            </a:extLst>
          </p:cNvPr>
          <p:cNvSpPr/>
          <p:nvPr/>
        </p:nvSpPr>
        <p:spPr>
          <a:xfrm>
            <a:off x="1879640" y="3515127"/>
            <a:ext cx="5297686" cy="753904"/>
          </a:xfrm>
          <a:prstGeom prst="rect">
            <a:avLst/>
          </a:prstGeom>
          <a:noFill/>
          <a:ln/>
        </p:spPr>
        <p:txBody>
          <a:bodyPr wrap="squar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Il principio cardine è la </a:t>
            </a:r>
            <a:r>
              <a:rPr kumimoji="0" lang="en-US" sz="16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separazione tra patrimonio societario e patrimonio personale dei soci</a:t>
            </a: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i soci rispondono delle obbligazioni sociali esclusivamente nei limiti del capitale conferito. Questo scudo patrimoniale rappresenta il principale vantaggio rispetto alle società di persone e alle imprese individuali.</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089E3E92-E806-418E-97E3-598EDAB9FC4A}"/>
              </a:ext>
            </a:extLst>
          </p:cNvPr>
          <p:cNvSpPr/>
          <p:nvPr/>
        </p:nvSpPr>
        <p:spPr>
          <a:xfrm>
            <a:off x="1825347" y="5264939"/>
            <a:ext cx="1947505" cy="216694"/>
          </a:xfrm>
          <a:prstGeom prst="rect">
            <a:avLst/>
          </a:prstGeom>
          <a:noFill/>
          <a:ln/>
        </p:spPr>
        <p:txBody>
          <a:bodyPr wrap="none" lIns="0" tIns="0" rIns="0" bIns="0" rtlCol="0" anchor="t"/>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Struttura organizzativa</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852E0BBE-5900-4C9E-BECC-7FA9FE897B0C}"/>
              </a:ext>
            </a:extLst>
          </p:cNvPr>
          <p:cNvSpPr/>
          <p:nvPr/>
        </p:nvSpPr>
        <p:spPr>
          <a:xfrm>
            <a:off x="1825347" y="5578430"/>
            <a:ext cx="5297686" cy="1198483"/>
          </a:xfrm>
          <a:prstGeom prst="rect">
            <a:avLst/>
          </a:prstGeom>
          <a:noFill/>
          <a:ln/>
        </p:spPr>
        <p:txBody>
          <a:bodyPr wrap="square" lIns="0" tIns="0" rIns="0" bIns="0" rtlCol="0" anchor="t"/>
          <a:lstStyle/>
          <a:p>
            <a:pPr marL="342900" marR="0" lvl="0" indent="-342900" algn="l" defTabSz="914400" rtl="0" eaLnBrk="1" fontAlgn="auto" latinLnBrk="0" hangingPunct="1">
              <a:lnSpc>
                <a:spcPts val="1450"/>
              </a:lnSpc>
              <a:spcBef>
                <a:spcPts val="0"/>
              </a:spcBef>
              <a:spcAft>
                <a:spcPts val="0"/>
              </a:spcAft>
              <a:buClrTx/>
              <a:buSzPct val="100000"/>
              <a:buFontTx/>
              <a:buChar char="•"/>
              <a:tabLst/>
              <a:defRPr/>
            </a:pPr>
            <a:r>
              <a:rPr kumimoji="0" lang="en-US" sz="16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Assemblea dei soci</a:t>
            </a: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organo sovrano che delibera sulle questioni fondamentali (bilancio, modifiche statutarie, nomina amministratori).</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450"/>
              </a:lnSpc>
              <a:spcBef>
                <a:spcPts val="0"/>
              </a:spcBef>
              <a:spcAft>
                <a:spcPts val="0"/>
              </a:spcAft>
              <a:buClrTx/>
              <a:buSzPct val="100000"/>
              <a:buFontTx/>
              <a:buChar char="•"/>
              <a:tabLst/>
              <a:defRPr/>
            </a:pPr>
            <a:r>
              <a:rPr kumimoji="0" lang="en-US" sz="16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Organo amministrativo</a:t>
            </a: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può essere un amministratore unico o un consiglio di amministrazione, con ampi poteri di gestione.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450"/>
              </a:lnSpc>
              <a:spcBef>
                <a:spcPts val="0"/>
              </a:spcBef>
              <a:spcAft>
                <a:spcPts val="0"/>
              </a:spcAft>
              <a:buClrTx/>
              <a:buSzPct val="100000"/>
              <a:buFontTx/>
              <a:buChar char="•"/>
              <a:tabLst/>
              <a:defRPr/>
            </a:pPr>
            <a:r>
              <a:rPr kumimoji="0" lang="en-US" sz="16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Collegio sindacale</a:t>
            </a: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obbligatorio solo al superamento di determinati parametri dimensionali.</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622E5C68-9BBF-4507-B688-9FA7C870DB4F}"/>
              </a:ext>
            </a:extLst>
          </p:cNvPr>
          <p:cNvSpPr/>
          <p:nvPr/>
        </p:nvSpPr>
        <p:spPr>
          <a:xfrm>
            <a:off x="7453076" y="1702315"/>
            <a:ext cx="6058208" cy="4728172"/>
          </a:xfrm>
          <a:prstGeom prst="roundRect">
            <a:avLst>
              <a:gd name="adj" fmla="val 2480"/>
            </a:avLst>
          </a:prstGeom>
          <a:solidFill>
            <a:srgbClr val="002060"/>
          </a:solidFill>
          <a:ln/>
        </p:spPr>
      </p:sp>
      <p:sp>
        <p:nvSpPr>
          <p:cNvPr id="9" name="Text 7">
            <a:extLst>
              <a:ext uri="{FF2B5EF4-FFF2-40B4-BE49-F238E27FC236}">
                <a16:creationId xmlns:a16="http://schemas.microsoft.com/office/drawing/2014/main" id="{E8B04A40-A41C-4497-9BF2-899B8E936A31}"/>
              </a:ext>
            </a:extLst>
          </p:cNvPr>
          <p:cNvSpPr/>
          <p:nvPr/>
        </p:nvSpPr>
        <p:spPr>
          <a:xfrm>
            <a:off x="7591665" y="1799113"/>
            <a:ext cx="2000964" cy="216694"/>
          </a:xfrm>
          <a:prstGeom prst="rect">
            <a:avLst/>
          </a:prstGeom>
          <a:noFill/>
          <a:ln/>
        </p:spPr>
        <p:txBody>
          <a:bodyPr wrap="none" lIns="0" tIns="0" rIns="0" bIns="0" rtlCol="0" anchor="t"/>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Inter Bold" pitchFamily="34" charset="0"/>
                <a:ea typeface="Inter Bold" pitchFamily="34" charset="-122"/>
                <a:cs typeface="Inter Bold" pitchFamily="34" charset="-120"/>
              </a:rPr>
              <a:t>Punti di forza della S.r.l.</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a:extLst>
              <a:ext uri="{FF2B5EF4-FFF2-40B4-BE49-F238E27FC236}">
                <a16:creationId xmlns:a16="http://schemas.microsoft.com/office/drawing/2014/main" id="{5A139208-2CCB-4FEE-9DA5-521CFF0E9ECC}"/>
              </a:ext>
            </a:extLst>
          </p:cNvPr>
          <p:cNvSpPr/>
          <p:nvPr/>
        </p:nvSpPr>
        <p:spPr>
          <a:xfrm>
            <a:off x="7591665" y="2112605"/>
            <a:ext cx="5220057" cy="2053828"/>
          </a:xfrm>
          <a:prstGeom prst="rect">
            <a:avLst/>
          </a:prstGeom>
          <a:noFill/>
          <a:ln/>
        </p:spPr>
        <p:txBody>
          <a:bodyPr wrap="square" lIns="0" tIns="0" rIns="0" bIns="0" rtlCol="0" anchor="t"/>
          <a:lstStyle/>
          <a:p>
            <a:pPr marL="342900" marR="0" lvl="0" indent="-342900" algn="l" defTabSz="914400" rtl="0" eaLnBrk="1" fontAlgn="auto" latinLnBrk="0" hangingPunct="1">
              <a:lnSpc>
                <a:spcPts val="1450"/>
              </a:lnSpc>
              <a:spcBef>
                <a:spcPts val="0"/>
              </a:spcBef>
              <a:spcAft>
                <a:spcPts val="0"/>
              </a:spcAft>
              <a:buClrTx/>
              <a:buSzPct val="100000"/>
              <a:buFontTx/>
              <a:buChar char="•"/>
              <a:tabLst/>
              <a:defRPr/>
            </a:pPr>
            <a:r>
              <a:rPr kumimoji="0" lang="en-US" sz="1400" b="1"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Responsabilità limitata</a:t>
            </a:r>
            <a:r>
              <a:rPr kumimoji="0" lang="en-US" sz="14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al capitale conferito — protezione del patrimonio personale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450"/>
              </a:lnSpc>
              <a:spcBef>
                <a:spcPts val="0"/>
              </a:spcBef>
              <a:spcAft>
                <a:spcPts val="0"/>
              </a:spcAft>
              <a:buClrTx/>
              <a:buSzPct val="100000"/>
              <a:buFontTx/>
              <a:buChar char="•"/>
              <a:tabLst/>
              <a:defRPr/>
            </a:pPr>
            <a:r>
              <a:rPr kumimoji="0" lang="en-US" sz="1400" b="1"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Flessibilità statutaria</a:t>
            </a:r>
            <a:r>
              <a:rPr kumimoji="0" lang="en-US" sz="14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ampia autonomia nella definizione di diritti e doveri dei soci</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450"/>
              </a:lnSpc>
              <a:spcBef>
                <a:spcPts val="0"/>
              </a:spcBef>
              <a:spcAft>
                <a:spcPts val="0"/>
              </a:spcAft>
              <a:buClrTx/>
              <a:buSzPct val="100000"/>
              <a:buFontTx/>
              <a:buChar char="•"/>
              <a:tabLst/>
              <a:defRPr/>
            </a:pPr>
            <a:r>
              <a:rPr kumimoji="0" lang="en-US" sz="1400" b="1"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Tassazione IRES</a:t>
            </a:r>
            <a:r>
              <a:rPr kumimoji="0" lang="en-US" sz="14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al 24% + IRAP, con possibilità di ottimizzazione fiscale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450"/>
              </a:lnSpc>
              <a:spcBef>
                <a:spcPts val="0"/>
              </a:spcBef>
              <a:spcAft>
                <a:spcPts val="0"/>
              </a:spcAft>
              <a:buClrTx/>
              <a:buSzPct val="100000"/>
              <a:buFontTx/>
              <a:buChar char="•"/>
              <a:tabLst/>
              <a:defRPr/>
            </a:pPr>
            <a:r>
              <a:rPr kumimoji="0" lang="en-US" sz="1400" b="1"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Accesso al credito</a:t>
            </a:r>
            <a:r>
              <a:rPr kumimoji="0" lang="en-US" sz="14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più agevole rispetto alle forme non societarie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450"/>
              </a:lnSpc>
              <a:spcBef>
                <a:spcPts val="0"/>
              </a:spcBef>
              <a:spcAft>
                <a:spcPts val="0"/>
              </a:spcAft>
              <a:buClrTx/>
              <a:buSzPct val="100000"/>
              <a:buFontTx/>
              <a:buChar char="•"/>
              <a:tabLst/>
              <a:defRPr/>
            </a:pPr>
            <a:r>
              <a:rPr kumimoji="0" lang="en-US" sz="1400" b="1"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S.r.l. semplificata (SRLS)</a:t>
            </a:r>
            <a:r>
              <a:rPr kumimoji="0" lang="en-US" sz="14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costituibile con capitale da 1 euro, ideale per start-up giovani</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450"/>
              </a:lnSpc>
              <a:spcBef>
                <a:spcPts val="0"/>
              </a:spcBef>
              <a:spcAft>
                <a:spcPts val="0"/>
              </a:spcAft>
              <a:buClrTx/>
              <a:buSzPct val="100000"/>
              <a:buFontTx/>
              <a:buChar char="•"/>
              <a:tabLst/>
              <a:defRPr/>
            </a:pPr>
            <a:r>
              <a:rPr kumimoji="0" lang="en-US" sz="1400" b="1"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Quote personalizzabili</a:t>
            </a:r>
            <a:r>
              <a:rPr kumimoji="0" lang="en-US" sz="14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possibilità di creare categorie di quote con diritti differenziati</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a:extLst>
              <a:ext uri="{FF2B5EF4-FFF2-40B4-BE49-F238E27FC236}">
                <a16:creationId xmlns:a16="http://schemas.microsoft.com/office/drawing/2014/main" id="{175B962C-90FC-4CAE-A655-DBA58DBACA17}"/>
              </a:ext>
            </a:extLst>
          </p:cNvPr>
          <p:cNvSpPr/>
          <p:nvPr/>
        </p:nvSpPr>
        <p:spPr>
          <a:xfrm>
            <a:off x="7584996" y="4580182"/>
            <a:ext cx="1762839" cy="216694"/>
          </a:xfrm>
          <a:prstGeom prst="rect">
            <a:avLst/>
          </a:prstGeom>
          <a:noFill/>
          <a:ln/>
        </p:spPr>
        <p:txBody>
          <a:bodyPr wrap="none" lIns="0" tIns="0" rIns="0" bIns="0" rtlCol="0" anchor="t"/>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Inter Bold" pitchFamily="34" charset="0"/>
                <a:ea typeface="Inter Bold" pitchFamily="34" charset="-122"/>
                <a:cs typeface="Inter Bold" pitchFamily="34" charset="-120"/>
              </a:rPr>
              <a:t>Limiti da considerare</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a:extLst>
              <a:ext uri="{FF2B5EF4-FFF2-40B4-BE49-F238E27FC236}">
                <a16:creationId xmlns:a16="http://schemas.microsoft.com/office/drawing/2014/main" id="{D8AC1AC9-9A52-4D9F-BB3D-01E520281C36}"/>
              </a:ext>
            </a:extLst>
          </p:cNvPr>
          <p:cNvSpPr/>
          <p:nvPr/>
        </p:nvSpPr>
        <p:spPr>
          <a:xfrm>
            <a:off x="7584996" y="4945613"/>
            <a:ext cx="5220057" cy="855345"/>
          </a:xfrm>
          <a:prstGeom prst="rect">
            <a:avLst/>
          </a:prstGeom>
          <a:noFill/>
          <a:ln/>
        </p:spPr>
        <p:txBody>
          <a:bodyPr wrap="square" lIns="0" tIns="0" rIns="0" bIns="0" rtlCol="0" anchor="t"/>
          <a:lstStyle/>
          <a:p>
            <a:pPr marL="342900" marR="0" lvl="0" indent="-342900" algn="l" defTabSz="914400" rtl="0" eaLnBrk="1" fontAlgn="auto" latinLnBrk="0" hangingPunct="1">
              <a:lnSpc>
                <a:spcPts val="145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Costi di costituzione e gestione più elevati rispetto all'impresa individuale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45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Le quote non sono liberamente cedibili come le azioni di una S.p.A.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45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Obblighi contabili e di deposito del bilancio più stringenti</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45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Non può raccogliere capitale tramite offerta pubblica di sottoscrizione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a:extLst>
              <a:ext uri="{FF2B5EF4-FFF2-40B4-BE49-F238E27FC236}">
                <a16:creationId xmlns:a16="http://schemas.microsoft.com/office/drawing/2014/main" id="{475A3840-D8AB-465E-A75C-8AD6B8EEFF1F}"/>
              </a:ext>
            </a:extLst>
          </p:cNvPr>
          <p:cNvSpPr/>
          <p:nvPr/>
        </p:nvSpPr>
        <p:spPr>
          <a:xfrm>
            <a:off x="1491830" y="7362934"/>
            <a:ext cx="12381972" cy="753904"/>
          </a:xfrm>
          <a:prstGeom prst="roundRect">
            <a:avLst>
              <a:gd name="adj" fmla="val 8759"/>
            </a:avLst>
          </a:prstGeom>
          <a:solidFill>
            <a:srgbClr val="C7C9EA"/>
          </a:solidFill>
          <a:ln/>
        </p:spPr>
      </p:sp>
      <p:sp>
        <p:nvSpPr>
          <p:cNvPr id="15" name="Text 12">
            <a:extLst>
              <a:ext uri="{FF2B5EF4-FFF2-40B4-BE49-F238E27FC236}">
                <a16:creationId xmlns:a16="http://schemas.microsoft.com/office/drawing/2014/main" id="{D75D0AD5-7A9A-4896-A69F-98A285352632}"/>
              </a:ext>
            </a:extLst>
          </p:cNvPr>
          <p:cNvSpPr/>
          <p:nvPr/>
        </p:nvSpPr>
        <p:spPr>
          <a:xfrm>
            <a:off x="2158863" y="7442719"/>
            <a:ext cx="11714939" cy="427446"/>
          </a:xfrm>
          <a:prstGeom prst="rect">
            <a:avLst/>
          </a:prstGeom>
          <a:noFill/>
          <a:ln/>
        </p:spPr>
        <p:txBody>
          <a:bodyPr wrap="squar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Per chi è ideale?</a:t>
            </a:r>
            <a:r>
              <a:rPr kumimoji="0" lang="en-US" sz="140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 La S.r.l. è la scelta ottimale per imprenditori che desiderano proteggere il patrimonio personale, gestire un'attività strutturata con più soci e accedere a finanziamenti bancari o venture capital, mantenendo comunque una struttura gestionale agile e personalizzabile.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759664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369820" y="486358"/>
            <a:ext cx="4045148" cy="391954"/>
          </a:xfrm>
          <a:prstGeom prst="rect">
            <a:avLst/>
          </a:prstGeom>
          <a:noFill/>
          <a:ln/>
        </p:spPr>
        <p:txBody>
          <a:bodyPr wrap="none" lIns="0" tIns="0" rIns="0" bIns="0" rtlCol="0" anchor="t"/>
          <a:lstStyle/>
          <a:p>
            <a:pPr marL="0" marR="0" lvl="0" indent="0" algn="l" defTabSz="914400" rtl="0" eaLnBrk="1" fontAlgn="auto" latinLnBrk="0" hangingPunct="1">
              <a:lnSpc>
                <a:spcPts val="305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Società per Azioni (S.p.A.)</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2369820" y="1409267"/>
            <a:ext cx="9890641" cy="490776"/>
          </a:xfrm>
          <a:prstGeom prst="rect">
            <a:avLst/>
          </a:prstGeom>
          <a:noFill/>
          <a:ln/>
        </p:spPr>
        <p:txBody>
          <a:bodyPr wrap="square" lIns="0" tIns="0" rIns="0" bIns="0" rtlCol="0" anchor="t"/>
          <a:lstStyle/>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La </a:t>
            </a:r>
            <a:r>
              <a:rPr kumimoji="0" lang="en-US" sz="12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Società per Azioni</a:t>
            </a: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rappresenta la forma societaria più evoluta e complessa del diritto italiano, concepita per raccogliere ingenti capitali da una pluralità di investitori e sostenere progetti imprenditoriali di grande portata. È la struttura tipica delle grandi imprese, delle società quotate in borsa e dei gruppi industriali. Richiede un capitale sociale minimo di </a:t>
            </a:r>
            <a:r>
              <a:rPr kumimoji="0" lang="en-US" sz="12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50.000 euro</a:t>
            </a: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almeno il 25% dei quali versato al momento della costituzione.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69820" y="2426613"/>
            <a:ext cx="313492" cy="313492"/>
          </a:xfrm>
          <a:prstGeom prst="rect">
            <a:avLst/>
          </a:prstGeom>
        </p:spPr>
      </p:pic>
      <p:sp>
        <p:nvSpPr>
          <p:cNvPr id="5" name="Text 2"/>
          <p:cNvSpPr/>
          <p:nvPr/>
        </p:nvSpPr>
        <p:spPr>
          <a:xfrm>
            <a:off x="2369820" y="2839164"/>
            <a:ext cx="1567815" cy="195977"/>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Le Azioni</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2369820" y="3082647"/>
            <a:ext cx="4895731" cy="654368"/>
          </a:xfrm>
          <a:prstGeom prst="rect">
            <a:avLst/>
          </a:prstGeom>
          <a:noFill/>
          <a:ln/>
        </p:spPr>
        <p:txBody>
          <a:bodyPr wrap="square" lIns="0" tIns="0" rIns="0" bIns="0" rtlCol="0" anchor="t"/>
          <a:lstStyle/>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Il capitale è suddiviso in </a:t>
            </a:r>
            <a:r>
              <a:rPr kumimoji="0" lang="en-US" sz="12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azioni</a:t>
            </a: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titoli di credito liberamente trasferibili (salvo clausole limitative) che possono essere di diverse categorie: ordinarie, privilegiate, di risparmio, con o senza diritto di voto. Questa flessibilità consente di attrarre diverse tipologie di investitori con diversi profili di rischio e rendimento.</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64611" y="2426613"/>
            <a:ext cx="313492" cy="313492"/>
          </a:xfrm>
          <a:prstGeom prst="rect">
            <a:avLst/>
          </a:prstGeom>
        </p:spPr>
      </p:pic>
      <p:sp>
        <p:nvSpPr>
          <p:cNvPr id="8" name="Text 4"/>
          <p:cNvSpPr/>
          <p:nvPr/>
        </p:nvSpPr>
        <p:spPr>
          <a:xfrm>
            <a:off x="7364611" y="2839164"/>
            <a:ext cx="1802725" cy="195977"/>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Governance Strutturata</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5"/>
          <p:cNvSpPr/>
          <p:nvPr/>
        </p:nvSpPr>
        <p:spPr>
          <a:xfrm>
            <a:off x="7364611" y="3082647"/>
            <a:ext cx="4895850" cy="817959"/>
          </a:xfrm>
          <a:prstGeom prst="rect">
            <a:avLst/>
          </a:prstGeom>
          <a:noFill/>
          <a:ln/>
        </p:spPr>
        <p:txBody>
          <a:bodyPr wrap="square" lIns="0" tIns="0" rIns="0" bIns="0" rtlCol="0" anchor="t"/>
          <a:lstStyle/>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La S.p.A. può adottare tre modelli di amministrazione: il </a:t>
            </a:r>
            <a:r>
              <a:rPr kumimoji="0" lang="en-US" sz="12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sistema tradizionale</a:t>
            </a: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(CDA + Collegio Sindacale), il </a:t>
            </a:r>
            <a:r>
              <a:rPr kumimoji="0" lang="en-US" sz="12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sistema dualistico</a:t>
            </a: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(Consiglio di Gestione + Consiglio di Sorveglianza) o il </a:t>
            </a:r>
            <a:r>
              <a:rPr kumimoji="0" lang="en-US" sz="12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sistema monistico</a:t>
            </a: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(CDA con Comitato per il Controllo). Questa varietà permette di adattare la governance alle specifiche esigenze della compagine societaria.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362438" y="4235791"/>
            <a:ext cx="313492" cy="313492"/>
          </a:xfrm>
          <a:prstGeom prst="rect">
            <a:avLst/>
          </a:prstGeom>
        </p:spPr>
      </p:pic>
      <p:sp>
        <p:nvSpPr>
          <p:cNvPr id="11" name="Text 6"/>
          <p:cNvSpPr/>
          <p:nvPr/>
        </p:nvSpPr>
        <p:spPr>
          <a:xfrm>
            <a:off x="2362438" y="4648342"/>
            <a:ext cx="1567815" cy="195977"/>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Quotazione in Borsa</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7"/>
          <p:cNvSpPr/>
          <p:nvPr/>
        </p:nvSpPr>
        <p:spPr>
          <a:xfrm>
            <a:off x="2362438" y="4891825"/>
            <a:ext cx="4895731" cy="817959"/>
          </a:xfrm>
          <a:prstGeom prst="rect">
            <a:avLst/>
          </a:prstGeom>
          <a:noFill/>
          <a:ln/>
        </p:spPr>
        <p:txBody>
          <a:bodyPr wrap="square" lIns="0" tIns="0" rIns="0" bIns="0" rtlCol="0" anchor="t"/>
          <a:lstStyle/>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A differenza della S.r.l., la S.p.A. può accedere ai </a:t>
            </a:r>
            <a:r>
              <a:rPr kumimoji="0" lang="en-US" sz="12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mercati regolamentati</a:t>
            </a: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(Borsa Italiana, Euronext) per raccogliere capitali tramite IPO (Initial Public Offering). La quotazione aumenta la visibilità, facilita la raccolta di capitali e fornisce una valutazione di mercato oggettiva dell'impresa, ma comporta obblighi informativi e di trasparenza molto stringenti.</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64611" y="4314967"/>
            <a:ext cx="313492" cy="313492"/>
          </a:xfrm>
          <a:prstGeom prst="rect">
            <a:avLst/>
          </a:prstGeom>
        </p:spPr>
      </p:pic>
      <p:sp>
        <p:nvSpPr>
          <p:cNvPr id="14" name="Text 8"/>
          <p:cNvSpPr/>
          <p:nvPr/>
        </p:nvSpPr>
        <p:spPr>
          <a:xfrm>
            <a:off x="7364611" y="4727518"/>
            <a:ext cx="1780342" cy="195977"/>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Responsabilità Limitata</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9"/>
          <p:cNvSpPr/>
          <p:nvPr/>
        </p:nvSpPr>
        <p:spPr>
          <a:xfrm>
            <a:off x="7364611" y="4971001"/>
            <a:ext cx="4895850" cy="654368"/>
          </a:xfrm>
          <a:prstGeom prst="rect">
            <a:avLst/>
          </a:prstGeom>
          <a:noFill/>
          <a:ln/>
        </p:spPr>
        <p:txBody>
          <a:bodyPr wrap="square" lIns="0" tIns="0" rIns="0" bIns="0" rtlCol="0" anchor="t"/>
          <a:lstStyle/>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Come nella S.r.l., i soci (azionisti) rispondono delle obbligazioni sociali </a:t>
            </a:r>
            <a:r>
              <a:rPr kumimoji="0" lang="en-US" sz="12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esclusivamente nei limiti del capitale conferito</a:t>
            </a: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Il rischio massimo per ogni azionista è la perdita del valore delle azioni possedute, senza alcun coinvolgimento del patrimonio personale nei debiti della società.</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0"/>
          <p:cNvSpPr/>
          <p:nvPr/>
        </p:nvSpPr>
        <p:spPr>
          <a:xfrm>
            <a:off x="2362438" y="6028979"/>
            <a:ext cx="1567815" cy="195977"/>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Vantaggi principali</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1"/>
          <p:cNvSpPr/>
          <p:nvPr/>
        </p:nvSpPr>
        <p:spPr>
          <a:xfrm>
            <a:off x="2362438" y="6304132"/>
            <a:ext cx="4792266" cy="928926"/>
          </a:xfrm>
          <a:prstGeom prst="rect">
            <a:avLst/>
          </a:prstGeom>
          <a:noFill/>
          <a:ln/>
        </p:spPr>
        <p:txBody>
          <a:bodyPr wrap="square" lIns="0" tIns="0" rIns="0" bIns="0" rtlCol="0" anchor="t"/>
          <a:lstStyle/>
          <a:p>
            <a:pPr marL="342900" marR="0" lvl="0" indent="-342900" algn="l" defTabSz="914400" rtl="0" eaLnBrk="1" fontAlgn="auto" latinLnBrk="0" hangingPunct="1">
              <a:lnSpc>
                <a:spcPts val="125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Massima capacità di raccolta del capitale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25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Azioni liberamente trasferibili — alta liquidità per gli investitori</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25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Credibilità e prestigio elevati sul mercato</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25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Accesso ai mercati finanziari e alla quotazione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25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Continuità aziendale indipendente dai singoli soci</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2"/>
          <p:cNvSpPr/>
          <p:nvPr/>
        </p:nvSpPr>
        <p:spPr>
          <a:xfrm>
            <a:off x="7475696" y="5957196"/>
            <a:ext cx="1567815" cy="195977"/>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Limiti e oneri</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3"/>
          <p:cNvSpPr/>
          <p:nvPr/>
        </p:nvSpPr>
        <p:spPr>
          <a:xfrm>
            <a:off x="7475696" y="6232349"/>
            <a:ext cx="4792266" cy="928926"/>
          </a:xfrm>
          <a:prstGeom prst="rect">
            <a:avLst/>
          </a:prstGeom>
          <a:noFill/>
          <a:ln/>
        </p:spPr>
        <p:txBody>
          <a:bodyPr wrap="square" lIns="0" tIns="0" rIns="0" bIns="0" rtlCol="0" anchor="t"/>
          <a:lstStyle/>
          <a:p>
            <a:pPr marL="342900" marR="0" lvl="0" indent="-342900" algn="l" defTabSz="914400" rtl="0" eaLnBrk="1" fontAlgn="auto" latinLnBrk="0" hangingPunct="1">
              <a:lnSpc>
                <a:spcPts val="125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Costi di costituzione e gestione molto elevati</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25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Obblighi di trasparenza e pubblicità molto stringenti</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25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Struttura organizzativa complessa e rigida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25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Capitale minimo di 50.000 euro</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25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Revisione legale dei conti obbligatoria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045488" y="1137999"/>
            <a:ext cx="8611433" cy="496848"/>
          </a:xfrm>
          <a:prstGeom prst="rect">
            <a:avLst/>
          </a:prstGeom>
          <a:noFill/>
          <a:ln/>
        </p:spPr>
        <p:txBody>
          <a:bodyPr wrap="none" lIns="0" tIns="0" rIns="0" bIns="0" rtlCol="0" anchor="t"/>
          <a:lstStyle/>
          <a:p>
            <a:pPr marL="0" marR="0" lvl="0" indent="0" algn="l" defTabSz="914400" rtl="0" eaLnBrk="1" fontAlgn="auto" latinLnBrk="0" hangingPunct="1">
              <a:lnSpc>
                <a:spcPts val="3900"/>
              </a:lnSpc>
              <a:spcBef>
                <a:spcPts val="0"/>
              </a:spcBef>
              <a:spcAft>
                <a:spcPts val="0"/>
              </a:spcAft>
              <a:buClrTx/>
              <a:buSzTx/>
              <a:buFontTx/>
              <a:buNone/>
              <a:tabLst/>
              <a:defRPr/>
            </a:pPr>
            <a:r>
              <a:rPr kumimoji="0" lang="en-US" sz="310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Società in Accomandita per Azioni (S.a.p.A.)</a:t>
            </a:r>
            <a:endParaRPr kumimoji="0" lang="en-US" sz="3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1045488" y="1889641"/>
            <a:ext cx="12539424" cy="687586"/>
          </a:xfrm>
          <a:prstGeom prst="rect">
            <a:avLst/>
          </a:prstGeom>
          <a:noFill/>
          <a:ln/>
        </p:spPr>
        <p:txBody>
          <a:bodyPr wrap="square" lIns="0" tIns="0" rIns="0" bIns="0" rtlCol="0" anchor="t"/>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La </a:t>
            </a:r>
            <a:r>
              <a:rPr kumimoji="0" lang="en-US" sz="12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Società in Accomandita per Azioni</a:t>
            </a:r>
            <a:r>
              <a:rPr kumimoji="0" lang="en-US" sz="12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è una forma societaria ibrida e relativamente rara nel panorama italiano, che fonde elementi tipici delle società di persone con la struttura delle società di capitali. Regolata dagli articoli 2452–2461 del Codice Civile, si caratterizza per la coesistenza di due categorie di soci con ruoli e responsabilità radicalmente diversi.</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1045488" y="2720459"/>
            <a:ext cx="4094798" cy="3179088"/>
          </a:xfrm>
          <a:prstGeom prst="roundRect">
            <a:avLst>
              <a:gd name="adj" fmla="val 2101"/>
            </a:avLst>
          </a:prstGeom>
          <a:solidFill>
            <a:schemeClr val="accent2">
              <a:lumMod val="40000"/>
              <a:lumOff val="60000"/>
            </a:schemeClr>
          </a:solidFill>
          <a:ln w="7620">
            <a:solidFill>
              <a:srgbClr val="C0C1D7"/>
            </a:solidFill>
            <a:prstDash val="solid"/>
          </a:ln>
        </p:spPr>
      </p:sp>
      <p:sp>
        <p:nvSpPr>
          <p:cNvPr id="5" name="Text 3"/>
          <p:cNvSpPr/>
          <p:nvPr/>
        </p:nvSpPr>
        <p:spPr>
          <a:xfrm>
            <a:off x="1212056" y="2887028"/>
            <a:ext cx="1987629" cy="248364"/>
          </a:xfrm>
          <a:prstGeom prst="rect">
            <a:avLst/>
          </a:prstGeom>
          <a:noFill/>
          <a:ln/>
        </p:spPr>
        <p:txBody>
          <a:bodyPr wrap="none" lIns="0" tIns="0" rIns="0" bIns="0" rtlCol="0" anchor="t"/>
          <a:lstStyle/>
          <a:p>
            <a:pPr marL="0" marR="0" lvl="0" indent="0" algn="l" defTabSz="914400" rtl="0" eaLnBrk="1" fontAlgn="auto" latinLnBrk="0" hangingPunct="1">
              <a:lnSpc>
                <a:spcPts val="195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Soci Accomandatari</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1212056" y="3211830"/>
            <a:ext cx="3761661" cy="2521148"/>
          </a:xfrm>
          <a:prstGeom prst="rect">
            <a:avLst/>
          </a:prstGeom>
          <a:noFill/>
          <a:ln/>
        </p:spPr>
        <p:txBody>
          <a:bodyPr wrap="square" lIns="0" tIns="0" rIns="0" bIns="0" rtlCol="0" anchor="t"/>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Sono i </a:t>
            </a:r>
            <a:r>
              <a:rPr kumimoji="0" lang="en-US" sz="12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gestori dell'impresa</a:t>
            </a:r>
            <a:r>
              <a:rPr kumimoji="0" lang="en-US" sz="12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assumono la responsabilità illimitata e solidale per le obbligazioni sociali, esattamente come i soci di una SNC. In cambio, detengono il controllo esclusivo della gestione e sono </a:t>
            </a:r>
            <a:r>
              <a:rPr kumimoji="0" lang="en-US" sz="12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amministratori di diritto</a:t>
            </a:r>
            <a:r>
              <a:rPr kumimoji="0" lang="en-US" sz="12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 non possono essere rimossi dalla carica se non con la loro stessa approvazione o per giusta causa deliberata dall'assemblea. Questo elemento li differenzia nettamente dagli amministratori di una S.p.A., liberamente revocabili.</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267682" y="2720459"/>
            <a:ext cx="4094917" cy="3179088"/>
          </a:xfrm>
          <a:prstGeom prst="roundRect">
            <a:avLst>
              <a:gd name="adj" fmla="val 2101"/>
            </a:avLst>
          </a:prstGeom>
          <a:solidFill>
            <a:schemeClr val="accent6">
              <a:lumMod val="40000"/>
              <a:lumOff val="60000"/>
            </a:schemeClr>
          </a:solidFill>
          <a:ln w="7620">
            <a:solidFill>
              <a:srgbClr val="C0C1D7"/>
            </a:solidFill>
            <a:prstDash val="solid"/>
          </a:ln>
        </p:spPr>
      </p:sp>
      <p:sp>
        <p:nvSpPr>
          <p:cNvPr id="8" name="Text 6"/>
          <p:cNvSpPr/>
          <p:nvPr/>
        </p:nvSpPr>
        <p:spPr>
          <a:xfrm>
            <a:off x="5434251" y="2887028"/>
            <a:ext cx="1987629" cy="248364"/>
          </a:xfrm>
          <a:prstGeom prst="rect">
            <a:avLst/>
          </a:prstGeom>
          <a:noFill/>
          <a:ln/>
        </p:spPr>
        <p:txBody>
          <a:bodyPr wrap="none" lIns="0" tIns="0" rIns="0" bIns="0" rtlCol="0" anchor="t"/>
          <a:lstStyle/>
          <a:p>
            <a:pPr marL="0" marR="0" lvl="0" indent="0" algn="l" defTabSz="914400" rtl="0" eaLnBrk="1" fontAlgn="auto" latinLnBrk="0" hangingPunct="1">
              <a:lnSpc>
                <a:spcPts val="195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Soci Accomandanti</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5434251" y="3211830"/>
            <a:ext cx="3761780" cy="2062758"/>
          </a:xfrm>
          <a:prstGeom prst="rect">
            <a:avLst/>
          </a:prstGeom>
          <a:noFill/>
          <a:ln/>
        </p:spPr>
        <p:txBody>
          <a:bodyPr wrap="square" lIns="0" tIns="0" rIns="0" bIns="0" rtlCol="0" anchor="t"/>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Sono i </a:t>
            </a:r>
            <a:r>
              <a:rPr kumimoji="0" lang="en-US" sz="12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finanziatori dell'impresa</a:t>
            </a:r>
            <a:r>
              <a:rPr kumimoji="0" lang="en-US" sz="12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detengono azioni (come in una S.p.A.) e rispondono delle obbligazioni sociali </a:t>
            </a:r>
            <a:r>
              <a:rPr kumimoji="0" lang="en-US" sz="12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nei soli limiti del capitale conferito</a:t>
            </a:r>
            <a:r>
              <a:rPr kumimoji="0" lang="en-US" sz="12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Non partecipano alla gestione ordinaria, ma esercitano poteri di controllo tramite l'assemblea degli azionisti, la quale nomina il Collegio Sindacale e approva il bilancio. Possono influenzare le decisioni straordinarie ma non possono interferire nella gestione corrente.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9489996" y="2720459"/>
            <a:ext cx="4094798" cy="3179088"/>
          </a:xfrm>
          <a:prstGeom prst="roundRect">
            <a:avLst>
              <a:gd name="adj" fmla="val 2101"/>
            </a:avLst>
          </a:prstGeom>
          <a:solidFill>
            <a:srgbClr val="DADBF1"/>
          </a:solidFill>
          <a:ln w="7620">
            <a:solidFill>
              <a:srgbClr val="C0C1D7"/>
            </a:solidFill>
            <a:prstDash val="solid"/>
          </a:ln>
        </p:spPr>
      </p:sp>
      <p:sp>
        <p:nvSpPr>
          <p:cNvPr id="11" name="Text 9"/>
          <p:cNvSpPr/>
          <p:nvPr/>
        </p:nvSpPr>
        <p:spPr>
          <a:xfrm>
            <a:off x="9656564" y="2887028"/>
            <a:ext cx="2415064" cy="248364"/>
          </a:xfrm>
          <a:prstGeom prst="rect">
            <a:avLst/>
          </a:prstGeom>
          <a:noFill/>
          <a:ln/>
        </p:spPr>
        <p:txBody>
          <a:bodyPr wrap="none" lIns="0" tIns="0" rIns="0" bIns="0" rtlCol="0" anchor="t"/>
          <a:lstStyle/>
          <a:p>
            <a:pPr marL="0" marR="0" lvl="0" indent="0" algn="l" defTabSz="914400" rtl="0" eaLnBrk="1" fontAlgn="auto" latinLnBrk="0" hangingPunct="1">
              <a:lnSpc>
                <a:spcPts val="195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Caratteristiche Distintive</a:t>
            </a:r>
            <a:endParaRPr kumimoji="0" lang="en-US" sz="1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9656564" y="3211830"/>
            <a:ext cx="3761661" cy="2291953"/>
          </a:xfrm>
          <a:prstGeom prst="rect">
            <a:avLst/>
          </a:prstGeom>
          <a:noFill/>
          <a:ln/>
        </p:spPr>
        <p:txBody>
          <a:bodyPr wrap="square" lIns="0" tIns="0" rIns="0" bIns="0" rtlCol="0" anchor="t"/>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La S.a.p.A. richiede un </a:t>
            </a:r>
            <a:r>
              <a:rPr kumimoji="0" lang="en-US" sz="12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capitale minimo di 120.000 euro</a:t>
            </a:r>
            <a:r>
              <a:rPr kumimoji="0" lang="en-US" sz="12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e segue in gran parte le norme della S.p.A. per quanto riguarda la struttura organizzativa, i bilanci e la pubblicità legale. È particolarmente diffusa nelle </a:t>
            </a:r>
            <a:r>
              <a:rPr kumimoji="0" lang="en-US" sz="12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imprese familiari di grandi dimensioni</a:t>
            </a:r>
            <a:r>
              <a:rPr kumimoji="0" lang="en-US" sz="12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dove la famiglia fondatrice — come soci accomandatari — vuole mantenere il controllo strategico e operativo, raccogliendo capitali da investitori esterni (accomandanti) senza cedere il potere gestionale.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1045488" y="6042779"/>
            <a:ext cx="12539424" cy="1048703"/>
          </a:xfrm>
          <a:prstGeom prst="roundRect">
            <a:avLst>
              <a:gd name="adj" fmla="val 6368"/>
            </a:avLst>
          </a:prstGeom>
          <a:solidFill>
            <a:schemeClr val="bg2">
              <a:lumMod val="75000"/>
            </a:schemeClr>
          </a:solidFill>
          <a:ln/>
        </p:spPr>
      </p:sp>
      <p:sp>
        <p:nvSpPr>
          <p:cNvPr id="15" name="Text 12"/>
          <p:cNvSpPr/>
          <p:nvPr/>
        </p:nvSpPr>
        <p:spPr>
          <a:xfrm>
            <a:off x="1562100" y="6209824"/>
            <a:ext cx="11863864" cy="687586"/>
          </a:xfrm>
          <a:prstGeom prst="rect">
            <a:avLst/>
          </a:prstGeom>
          <a:noFill/>
          <a:ln/>
        </p:spPr>
        <p:txBody>
          <a:bodyPr wrap="square" lIns="0" tIns="0" rIns="0" bIns="0" rtlCol="0" anchor="t"/>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Curiosità storica e utilizzo attuale:</a:t>
            </a:r>
            <a:r>
              <a:rPr kumimoji="0" lang="en-US" sz="125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 Storicamente la S.a.p.A. è stata utilizzata da alcune delle più importanti famiglie imprenditoriali italiane per mantenere il controllo di grandi gruppi industriali pur aprendo il capitale a investitori terzi. Oggi rimane una forma di nicchia, preferita in contesti dove il fondatore intende preservare l'identità e la direzione strategica dell'impresa nel lungo periodo, proteggendola da scalate ostili o da ingerenze esterne nella gestione.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361128" y="589358"/>
            <a:ext cx="5433060" cy="392549"/>
          </a:xfrm>
          <a:prstGeom prst="rect">
            <a:avLst/>
          </a:prstGeom>
          <a:noFill/>
          <a:ln/>
        </p:spPr>
        <p:txBody>
          <a:bodyPr wrap="none" lIns="0" tIns="0" rIns="0" bIns="0" rtlCol="0" anchor="t"/>
          <a:lstStyle/>
          <a:p>
            <a:pPr marL="0" marR="0" lvl="0" indent="0" algn="l" defTabSz="914400" rtl="0" eaLnBrk="1" fontAlgn="auto" latinLnBrk="0" hangingPunct="1">
              <a:lnSpc>
                <a:spcPts val="305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Le Cooperative: Principi e Tipologie</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1883391" y="3042999"/>
            <a:ext cx="5368944" cy="4110038"/>
          </a:xfrm>
          <a:prstGeom prst="roundRect">
            <a:avLst>
              <a:gd name="adj" fmla="val 2201"/>
            </a:avLst>
          </a:prstGeom>
          <a:solidFill>
            <a:srgbClr val="4950BC"/>
          </a:solidFill>
          <a:ln/>
        </p:spPr>
      </p:sp>
      <p:sp>
        <p:nvSpPr>
          <p:cNvPr id="5" name="Text 3"/>
          <p:cNvSpPr/>
          <p:nvPr/>
        </p:nvSpPr>
        <p:spPr>
          <a:xfrm>
            <a:off x="2214078" y="3246953"/>
            <a:ext cx="2320370" cy="196215"/>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Inter Bold" pitchFamily="34" charset="0"/>
                <a:ea typeface="Inter Bold" pitchFamily="34" charset="-122"/>
                <a:cs typeface="Inter Bold" pitchFamily="34" charset="-120"/>
              </a:rPr>
              <a:t>I 7 Principi Cooperativi (ICA)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1985630" y="3647121"/>
            <a:ext cx="5098193" cy="2211943"/>
          </a:xfrm>
          <a:prstGeom prst="rect">
            <a:avLst/>
          </a:prstGeom>
          <a:noFill/>
          <a:ln/>
        </p:spPr>
        <p:txBody>
          <a:bodyPr wrap="square" lIns="0" tIns="0" rIns="0" bIns="0" rtlCol="0" anchor="t"/>
          <a:lstStyle/>
          <a:p>
            <a:pPr marL="342900" marR="0" lvl="0" indent="-342900" algn="l" defTabSz="914400" rtl="0" eaLnBrk="1" fontAlgn="auto" latinLnBrk="0" hangingPunct="1">
              <a:lnSpc>
                <a:spcPts val="1250"/>
              </a:lnSpc>
              <a:spcBef>
                <a:spcPts val="0"/>
              </a:spcBef>
              <a:spcAft>
                <a:spcPts val="0"/>
              </a:spcAft>
              <a:buClrTx/>
              <a:buSzPct val="100000"/>
              <a:buFont typeface="+mj-lt"/>
              <a:buAutoNum type="arabicPeriod"/>
              <a:tabLst/>
              <a:defRPr/>
            </a:pPr>
            <a:r>
              <a:rPr kumimoji="0" lang="en-US" sz="1200" b="1"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Adesione libera e volontaria</a:t>
            </a:r>
            <a:r>
              <a:rPr kumimoji="0" lang="en-US" sz="12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le porte sono aperte a chiunque possa utilizzare i servizi e assumersi le responsabilità.</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250"/>
              </a:lnSpc>
              <a:spcBef>
                <a:spcPts val="0"/>
              </a:spcBef>
              <a:spcAft>
                <a:spcPts val="0"/>
              </a:spcAft>
              <a:buClrTx/>
              <a:buSzPct val="100000"/>
              <a:buFont typeface="+mj-lt"/>
              <a:buAutoNum type="arabicPeriod" startAt="2"/>
              <a:tabLst/>
              <a:defRPr/>
            </a:pPr>
            <a:r>
              <a:rPr kumimoji="0" lang="en-US" sz="1200" b="1"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Controllo democratico dei soci</a:t>
            </a:r>
            <a:r>
              <a:rPr kumimoji="0" lang="en-US" sz="12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un socio, un voto — indipendentemente dalla quota di capitale.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250"/>
              </a:lnSpc>
              <a:spcBef>
                <a:spcPts val="0"/>
              </a:spcBef>
              <a:spcAft>
                <a:spcPts val="0"/>
              </a:spcAft>
              <a:buClrTx/>
              <a:buSzPct val="100000"/>
              <a:buFont typeface="+mj-lt"/>
              <a:buAutoNum type="arabicPeriod" startAt="3"/>
              <a:tabLst/>
              <a:defRPr/>
            </a:pPr>
            <a:r>
              <a:rPr kumimoji="0" lang="en-US" sz="1200" b="1"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Partecipazione economica dei soci</a:t>
            </a:r>
            <a:r>
              <a:rPr kumimoji="0" lang="en-US" sz="12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il capitale è collettivo e i ristorni sono distribuiti in base all'attività svolta.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250"/>
              </a:lnSpc>
              <a:spcBef>
                <a:spcPts val="0"/>
              </a:spcBef>
              <a:spcAft>
                <a:spcPts val="0"/>
              </a:spcAft>
              <a:buClrTx/>
              <a:buSzPct val="100000"/>
              <a:buFont typeface="+mj-lt"/>
              <a:buAutoNum type="arabicPeriod" startAt="4"/>
              <a:tabLst/>
              <a:defRPr/>
            </a:pPr>
            <a:r>
              <a:rPr kumimoji="0" lang="en-US" sz="1200" b="1"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Autonomia e indipendenza</a:t>
            </a:r>
            <a:r>
              <a:rPr kumimoji="0" lang="en-US" sz="12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le cooperative sono organizzazioni autonome gestite dai propri soci.</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250"/>
              </a:lnSpc>
              <a:spcBef>
                <a:spcPts val="0"/>
              </a:spcBef>
              <a:spcAft>
                <a:spcPts val="0"/>
              </a:spcAft>
              <a:buClrTx/>
              <a:buSzPct val="100000"/>
              <a:buFont typeface="+mj-lt"/>
              <a:buAutoNum type="arabicPeriod" startAt="5"/>
              <a:tabLst/>
              <a:defRPr/>
            </a:pPr>
            <a:r>
              <a:rPr kumimoji="0" lang="en-US" sz="1200" b="1"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Educazione, formazione e informazione</a:t>
            </a:r>
            <a:r>
              <a:rPr kumimoji="0" lang="en-US" sz="12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investimento continuo nella crescita dei soci e dei lavoratori.</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250"/>
              </a:lnSpc>
              <a:spcBef>
                <a:spcPts val="0"/>
              </a:spcBef>
              <a:spcAft>
                <a:spcPts val="0"/>
              </a:spcAft>
              <a:buClrTx/>
              <a:buSzPct val="100000"/>
              <a:buFont typeface="+mj-lt"/>
              <a:buAutoNum type="arabicPeriod" startAt="6"/>
              <a:tabLst/>
              <a:defRPr/>
            </a:pPr>
            <a:r>
              <a:rPr kumimoji="0" lang="en-US" sz="1200" b="1"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Cooperazione tra cooperative</a:t>
            </a:r>
            <a:r>
              <a:rPr kumimoji="0" lang="en-US" sz="12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rafforzamento del movimento cooperativo attraverso reti e strutture comuni.</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250"/>
              </a:lnSpc>
              <a:spcBef>
                <a:spcPts val="0"/>
              </a:spcBef>
              <a:spcAft>
                <a:spcPts val="0"/>
              </a:spcAft>
              <a:buClrTx/>
              <a:buSzPct val="100000"/>
              <a:buFont typeface="+mj-lt"/>
              <a:buAutoNum type="arabicPeriod" startAt="7"/>
              <a:tabLst/>
              <a:defRPr/>
            </a:pPr>
            <a:r>
              <a:rPr kumimoji="0" lang="en-US" sz="1200" b="1"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Interesse verso la comunità</a:t>
            </a:r>
            <a:r>
              <a:rPr kumimoji="0" lang="en-US" sz="1200" b="0" i="0" u="none" strike="noStrike" kern="1200" cap="none" spc="0" normalizeH="0" baseline="0" noProof="0" dirty="0">
                <a:ln>
                  <a:noFill/>
                </a:ln>
                <a:solidFill>
                  <a:srgbClr val="FFFFFF"/>
                </a:solidFill>
                <a:effectLst/>
                <a:uLnTx/>
                <a:uFillTx/>
                <a:latin typeface="Inter" pitchFamily="34" charset="0"/>
                <a:ea typeface="Inter" pitchFamily="34" charset="-122"/>
                <a:cs typeface="Inter" pitchFamily="34" charset="-120"/>
              </a:rPr>
              <a:t>: sviluppo sostenibile delle comunità locali.</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353848" y="3122532"/>
            <a:ext cx="1692639" cy="196215"/>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Principali Tipologie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7292440" y="3408163"/>
            <a:ext cx="2544028" cy="1705928"/>
          </a:xfrm>
          <a:prstGeom prst="roundRect">
            <a:avLst>
              <a:gd name="adj" fmla="val 4288"/>
            </a:avLst>
          </a:prstGeom>
          <a:solidFill>
            <a:srgbClr val="FFFFFF"/>
          </a:solidFill>
          <a:ln w="15240">
            <a:solidFill>
              <a:srgbClr val="C0C1D7"/>
            </a:solidFill>
            <a:prstDash val="solid"/>
          </a:ln>
        </p:spPr>
      </p:sp>
      <p:sp>
        <p:nvSpPr>
          <p:cNvPr id="9" name="Shape 7"/>
          <p:cNvSpPr/>
          <p:nvPr/>
        </p:nvSpPr>
        <p:spPr>
          <a:xfrm>
            <a:off x="7389288" y="3408163"/>
            <a:ext cx="65699" cy="1705928"/>
          </a:xfrm>
          <a:prstGeom prst="roundRect">
            <a:avLst>
              <a:gd name="adj" fmla="val 86567"/>
            </a:avLst>
          </a:prstGeom>
          <a:solidFill>
            <a:srgbClr val="4950BC"/>
          </a:solidFill>
          <a:ln/>
        </p:spPr>
      </p:sp>
      <p:sp>
        <p:nvSpPr>
          <p:cNvPr id="10" name="Text 8"/>
          <p:cNvSpPr/>
          <p:nvPr/>
        </p:nvSpPr>
        <p:spPr>
          <a:xfrm>
            <a:off x="7532172" y="3549014"/>
            <a:ext cx="1806971" cy="196215"/>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Cooperative di Lavoro</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7504463" y="3824763"/>
            <a:ext cx="2191154" cy="1148477"/>
          </a:xfrm>
          <a:prstGeom prst="rect">
            <a:avLst/>
          </a:prstGeom>
          <a:noFill/>
          <a:ln/>
        </p:spPr>
        <p:txBody>
          <a:bodyPr wrap="square" lIns="0" tIns="0" rIns="0" bIns="0" rtlCol="0" anchor="t"/>
          <a:lstStyle/>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I soci sono al contempo lavoratori e proprietari dell'impresa. Diffuse nell'edilizia, nei servizi sociali, nelle pulizie e nella logistica. Garantiscono stabilità occupazionale e partecipazione ai risultati aziendali.</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9928871" y="3392090"/>
            <a:ext cx="3021657" cy="1705928"/>
          </a:xfrm>
          <a:prstGeom prst="roundRect">
            <a:avLst>
              <a:gd name="adj" fmla="val 4288"/>
            </a:avLst>
          </a:prstGeom>
          <a:solidFill>
            <a:srgbClr val="FFFFFF"/>
          </a:solidFill>
          <a:ln w="15240">
            <a:solidFill>
              <a:srgbClr val="C0C1D7"/>
            </a:solidFill>
            <a:prstDash val="solid"/>
          </a:ln>
        </p:spPr>
      </p:sp>
      <p:sp>
        <p:nvSpPr>
          <p:cNvPr id="13" name="Shape 11"/>
          <p:cNvSpPr/>
          <p:nvPr/>
        </p:nvSpPr>
        <p:spPr>
          <a:xfrm>
            <a:off x="9896022" y="3408163"/>
            <a:ext cx="65699" cy="1705928"/>
          </a:xfrm>
          <a:prstGeom prst="roundRect">
            <a:avLst>
              <a:gd name="adj" fmla="val 86567"/>
            </a:avLst>
          </a:prstGeom>
          <a:solidFill>
            <a:srgbClr val="4950BC"/>
          </a:solidFill>
          <a:ln/>
        </p:spPr>
      </p:sp>
      <p:sp>
        <p:nvSpPr>
          <p:cNvPr id="14" name="Text 12"/>
          <p:cNvSpPr/>
          <p:nvPr/>
        </p:nvSpPr>
        <p:spPr>
          <a:xfrm>
            <a:off x="10122901" y="3549014"/>
            <a:ext cx="2037815" cy="196215"/>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Cooperative di Consumo</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0150899" y="3824763"/>
            <a:ext cx="2191282" cy="984409"/>
          </a:xfrm>
          <a:prstGeom prst="rect">
            <a:avLst/>
          </a:prstGeom>
          <a:noFill/>
          <a:ln/>
        </p:spPr>
        <p:txBody>
          <a:bodyPr wrap="square" lIns="0" tIns="0" rIns="0" bIns="0" rtlCol="0" anchor="t"/>
          <a:lstStyle/>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Acquistano beni e servizi in nome e per conto dei soci-consumatori, garantendo prezzi più competitivi. Il modello Coop è l'esempio più noto in Italia, con milioni di soci e una rete capillare di punti vendita.</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7292440" y="5193625"/>
            <a:ext cx="2544028" cy="1869996"/>
          </a:xfrm>
          <a:prstGeom prst="roundRect">
            <a:avLst>
              <a:gd name="adj" fmla="val 3912"/>
            </a:avLst>
          </a:prstGeom>
          <a:solidFill>
            <a:srgbClr val="FFFFFF"/>
          </a:solidFill>
          <a:ln w="15240">
            <a:solidFill>
              <a:srgbClr val="C0C1D7"/>
            </a:solidFill>
            <a:prstDash val="solid"/>
          </a:ln>
        </p:spPr>
      </p:sp>
      <p:sp>
        <p:nvSpPr>
          <p:cNvPr id="17" name="Shape 15"/>
          <p:cNvSpPr/>
          <p:nvPr/>
        </p:nvSpPr>
        <p:spPr>
          <a:xfrm>
            <a:off x="7386439" y="5193625"/>
            <a:ext cx="65699" cy="1869996"/>
          </a:xfrm>
          <a:prstGeom prst="roundRect">
            <a:avLst>
              <a:gd name="adj" fmla="val 86567"/>
            </a:avLst>
          </a:prstGeom>
          <a:solidFill>
            <a:srgbClr val="4950BC"/>
          </a:solidFill>
          <a:ln/>
        </p:spPr>
      </p:sp>
      <p:sp>
        <p:nvSpPr>
          <p:cNvPr id="18" name="Text 16"/>
          <p:cNvSpPr/>
          <p:nvPr/>
        </p:nvSpPr>
        <p:spPr>
          <a:xfrm>
            <a:off x="7540419" y="5334476"/>
            <a:ext cx="1692639" cy="196215"/>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Cooperative Sociali</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7504463" y="5610224"/>
            <a:ext cx="2191154" cy="1148477"/>
          </a:xfrm>
          <a:prstGeom prst="rect">
            <a:avLst/>
          </a:prstGeom>
          <a:noFill/>
          <a:ln/>
        </p:spPr>
        <p:txBody>
          <a:bodyPr wrap="square" lIns="0" tIns="0" rIns="0" bIns="0" rtlCol="0" anchor="t"/>
          <a:lstStyle/>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Suddivise in tipo A (servizi socio-sanitari ed educativi) e tipo B (inserimento lavorativo di persone svantaggiate), svolgono un ruolo fondamentale nel welfare state italiano con forti agevolazioni fiscali e contributive.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9928871" y="5177552"/>
            <a:ext cx="3021657" cy="1869996"/>
          </a:xfrm>
          <a:prstGeom prst="roundRect">
            <a:avLst>
              <a:gd name="adj" fmla="val 3912"/>
            </a:avLst>
          </a:prstGeom>
          <a:solidFill>
            <a:srgbClr val="FFFFFF"/>
          </a:solidFill>
          <a:ln w="15240">
            <a:solidFill>
              <a:srgbClr val="C0C1D7"/>
            </a:solidFill>
            <a:prstDash val="solid"/>
          </a:ln>
        </p:spPr>
      </p:sp>
      <p:sp>
        <p:nvSpPr>
          <p:cNvPr id="21" name="Shape 19"/>
          <p:cNvSpPr/>
          <p:nvPr/>
        </p:nvSpPr>
        <p:spPr>
          <a:xfrm>
            <a:off x="9896022" y="5193625"/>
            <a:ext cx="65699" cy="1869996"/>
          </a:xfrm>
          <a:prstGeom prst="roundRect">
            <a:avLst>
              <a:gd name="adj" fmla="val 86567"/>
            </a:avLst>
          </a:prstGeom>
          <a:solidFill>
            <a:srgbClr val="4950BC"/>
          </a:solidFill>
          <a:ln/>
        </p:spPr>
      </p:sp>
      <p:sp>
        <p:nvSpPr>
          <p:cNvPr id="22" name="Text 20"/>
          <p:cNvSpPr/>
          <p:nvPr/>
        </p:nvSpPr>
        <p:spPr>
          <a:xfrm>
            <a:off x="10122901" y="5334476"/>
            <a:ext cx="1747431" cy="196215"/>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Cooperative Agricole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10094379" y="5576236"/>
            <a:ext cx="2191282" cy="1312545"/>
          </a:xfrm>
          <a:prstGeom prst="rect">
            <a:avLst/>
          </a:prstGeom>
          <a:noFill/>
          <a:ln/>
        </p:spPr>
        <p:txBody>
          <a:bodyPr wrap="square" lIns="0" tIns="0" rIns="0" bIns="0" rtlCol="0" anchor="t"/>
          <a:lstStyle/>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Aggregano produttori agricoli per ottimizzare acquisti, trasformazione e commercializzazione dei prodotti. Esempi illustri: Granarolo, Conserve Italia, Apofruit — realtà di rilievo nazionale e internazionale.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Rettangolo 23">
            <a:extLst>
              <a:ext uri="{FF2B5EF4-FFF2-40B4-BE49-F238E27FC236}">
                <a16:creationId xmlns:a16="http://schemas.microsoft.com/office/drawing/2014/main" id="{B8B24928-10AB-46E8-97C1-4910F8A42A6B}"/>
              </a:ext>
            </a:extLst>
          </p:cNvPr>
          <p:cNvSpPr/>
          <p:nvPr/>
        </p:nvSpPr>
        <p:spPr>
          <a:xfrm>
            <a:off x="1704887" y="1092418"/>
            <a:ext cx="11942874" cy="1555298"/>
          </a:xfrm>
          <a:prstGeom prst="rect">
            <a:avLst/>
          </a:prstGeom>
        </p:spPr>
        <p:txBody>
          <a:bodyPr wrap="square">
            <a:spAutoFit/>
          </a:bodyPr>
          <a:lstStyle/>
          <a:p>
            <a:pPr>
              <a:lnSpc>
                <a:spcPct val="107000"/>
              </a:lnSpc>
              <a:spcAft>
                <a:spcPts val="800"/>
              </a:spcAft>
            </a:pPr>
            <a:r>
              <a:rPr lang="en-US" dirty="0">
                <a:latin typeface="Inter" panose="020B0604020202020204" charset="0"/>
                <a:ea typeface="Inter" panose="020B0604020202020204" charset="0"/>
                <a:cs typeface="Times New Roman" panose="02020603050405020304" pitchFamily="18" charset="0"/>
              </a:rPr>
              <a:t>Le </a:t>
            </a:r>
            <a:r>
              <a:rPr lang="en-US" b="1" dirty="0" err="1">
                <a:latin typeface="Inter" panose="020B0604020202020204" charset="0"/>
                <a:ea typeface="Inter" panose="020B0604020202020204" charset="0"/>
                <a:cs typeface="Times New Roman" panose="02020603050405020304" pitchFamily="18" charset="0"/>
              </a:rPr>
              <a:t>società</a:t>
            </a:r>
            <a:r>
              <a:rPr lang="en-US" b="1" dirty="0">
                <a:latin typeface="Inter" panose="020B0604020202020204" charset="0"/>
                <a:ea typeface="Inter" panose="020B0604020202020204" charset="0"/>
                <a:cs typeface="Times New Roman" panose="02020603050405020304" pitchFamily="18" charset="0"/>
              </a:rPr>
              <a:t> cooperative</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rappresentano</a:t>
            </a:r>
            <a:r>
              <a:rPr lang="en-US" dirty="0">
                <a:latin typeface="Inter" panose="020B0604020202020204" charset="0"/>
                <a:ea typeface="Inter" panose="020B0604020202020204" charset="0"/>
                <a:cs typeface="Times New Roman" panose="02020603050405020304" pitchFamily="18" charset="0"/>
              </a:rPr>
              <a:t> un </a:t>
            </a:r>
            <a:r>
              <a:rPr lang="en-US" dirty="0" err="1">
                <a:latin typeface="Inter" panose="020B0604020202020204" charset="0"/>
                <a:ea typeface="Inter" panose="020B0604020202020204" charset="0"/>
                <a:cs typeface="Times New Roman" panose="02020603050405020304" pitchFamily="18" charset="0"/>
              </a:rPr>
              <a:t>modello</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imprenditoriale</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alternativo</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fondato</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su</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valori</a:t>
            </a:r>
            <a:r>
              <a:rPr lang="en-US" dirty="0">
                <a:latin typeface="Inter" panose="020B0604020202020204" charset="0"/>
                <a:ea typeface="Inter" panose="020B0604020202020204" charset="0"/>
                <a:cs typeface="Times New Roman" panose="02020603050405020304" pitchFamily="18" charset="0"/>
              </a:rPr>
              <a:t> di </a:t>
            </a:r>
            <a:r>
              <a:rPr lang="en-US" dirty="0" err="1">
                <a:latin typeface="Inter" panose="020B0604020202020204" charset="0"/>
                <a:ea typeface="Inter" panose="020B0604020202020204" charset="0"/>
                <a:cs typeface="Times New Roman" panose="02020603050405020304" pitchFamily="18" charset="0"/>
              </a:rPr>
              <a:t>mutualità</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democrazia</a:t>
            </a:r>
            <a:r>
              <a:rPr lang="en-US" dirty="0">
                <a:latin typeface="Inter" panose="020B0604020202020204" charset="0"/>
                <a:ea typeface="Inter" panose="020B0604020202020204" charset="0"/>
                <a:cs typeface="Times New Roman" panose="02020603050405020304" pitchFamily="18" charset="0"/>
              </a:rPr>
              <a:t> e </a:t>
            </a:r>
            <a:r>
              <a:rPr lang="en-US" dirty="0" err="1">
                <a:latin typeface="Inter" panose="020B0604020202020204" charset="0"/>
                <a:ea typeface="Inter" panose="020B0604020202020204" charset="0"/>
                <a:cs typeface="Times New Roman" panose="02020603050405020304" pitchFamily="18" charset="0"/>
              </a:rPr>
              <a:t>partecipazione</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piuttosto</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che</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sulla</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massimizzazione</a:t>
            </a:r>
            <a:r>
              <a:rPr lang="en-US" dirty="0">
                <a:latin typeface="Inter" panose="020B0604020202020204" charset="0"/>
                <a:ea typeface="Inter" panose="020B0604020202020204" charset="0"/>
                <a:cs typeface="Times New Roman" panose="02020603050405020304" pitchFamily="18" charset="0"/>
              </a:rPr>
              <a:t> del </a:t>
            </a:r>
            <a:r>
              <a:rPr lang="en-US" dirty="0" err="1">
                <a:latin typeface="Inter" panose="020B0604020202020204" charset="0"/>
                <a:ea typeface="Inter" panose="020B0604020202020204" charset="0"/>
                <a:cs typeface="Times New Roman" panose="02020603050405020304" pitchFamily="18" charset="0"/>
              </a:rPr>
              <a:t>profitto</a:t>
            </a:r>
            <a:r>
              <a:rPr lang="en-US" dirty="0">
                <a:latin typeface="Inter" panose="020B0604020202020204" charset="0"/>
                <a:ea typeface="Inter" panose="020B0604020202020204" charset="0"/>
                <a:cs typeface="Times New Roman" panose="02020603050405020304" pitchFamily="18" charset="0"/>
              </a:rPr>
              <a:t> per </a:t>
            </a:r>
            <a:r>
              <a:rPr lang="en-US" dirty="0" err="1">
                <a:latin typeface="Inter" panose="020B0604020202020204" charset="0"/>
                <a:ea typeface="Inter" panose="020B0604020202020204" charset="0"/>
                <a:cs typeface="Times New Roman" panose="02020603050405020304" pitchFamily="18" charset="0"/>
              </a:rPr>
              <a:t>i</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soci</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investitori</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Disciplinate</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dagli</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articoli</a:t>
            </a:r>
            <a:r>
              <a:rPr lang="en-US" dirty="0">
                <a:latin typeface="Inter" panose="020B0604020202020204" charset="0"/>
                <a:ea typeface="Inter" panose="020B0604020202020204" charset="0"/>
                <a:cs typeface="Times New Roman" panose="02020603050405020304" pitchFamily="18" charset="0"/>
              </a:rPr>
              <a:t> 2511 e </a:t>
            </a:r>
            <a:r>
              <a:rPr lang="en-US" dirty="0" err="1">
                <a:latin typeface="Inter" panose="020B0604020202020204" charset="0"/>
                <a:ea typeface="Inter" panose="020B0604020202020204" charset="0"/>
                <a:cs typeface="Times New Roman" panose="02020603050405020304" pitchFamily="18" charset="0"/>
              </a:rPr>
              <a:t>seguenti</a:t>
            </a:r>
            <a:r>
              <a:rPr lang="en-US" dirty="0">
                <a:latin typeface="Inter" panose="020B0604020202020204" charset="0"/>
                <a:ea typeface="Inter" panose="020B0604020202020204" charset="0"/>
                <a:cs typeface="Times New Roman" panose="02020603050405020304" pitchFamily="18" charset="0"/>
              </a:rPr>
              <a:t> del </a:t>
            </a:r>
            <a:r>
              <a:rPr lang="en-US" dirty="0" err="1">
                <a:latin typeface="Inter" panose="020B0604020202020204" charset="0"/>
                <a:ea typeface="Inter" panose="020B0604020202020204" charset="0"/>
                <a:cs typeface="Times New Roman" panose="02020603050405020304" pitchFamily="18" charset="0"/>
              </a:rPr>
              <a:t>Codice</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Civile</a:t>
            </a:r>
            <a:r>
              <a:rPr lang="en-US" dirty="0">
                <a:latin typeface="Inter" panose="020B0604020202020204" charset="0"/>
                <a:ea typeface="Inter" panose="020B0604020202020204" charset="0"/>
                <a:cs typeface="Times New Roman" panose="02020603050405020304" pitchFamily="18" charset="0"/>
              </a:rPr>
              <a:t> e </a:t>
            </a:r>
            <a:r>
              <a:rPr lang="en-US" dirty="0" err="1">
                <a:latin typeface="Inter" panose="020B0604020202020204" charset="0"/>
                <a:ea typeface="Inter" panose="020B0604020202020204" charset="0"/>
                <a:cs typeface="Times New Roman" panose="02020603050405020304" pitchFamily="18" charset="0"/>
              </a:rPr>
              <a:t>dalla</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legislazione</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speciale</a:t>
            </a:r>
            <a:r>
              <a:rPr lang="en-US" dirty="0">
                <a:latin typeface="Inter" panose="020B0604020202020204" charset="0"/>
                <a:ea typeface="Inter" panose="020B0604020202020204" charset="0"/>
                <a:cs typeface="Times New Roman" panose="02020603050405020304" pitchFamily="18" charset="0"/>
              </a:rPr>
              <a:t> (L. 59/1992, </a:t>
            </a:r>
            <a:r>
              <a:rPr lang="en-US" dirty="0" err="1">
                <a:latin typeface="Inter" panose="020B0604020202020204" charset="0"/>
                <a:ea typeface="Inter" panose="020B0604020202020204" charset="0"/>
                <a:cs typeface="Times New Roman" panose="02020603050405020304" pitchFamily="18" charset="0"/>
              </a:rPr>
              <a:t>D.Lgs</a:t>
            </a:r>
            <a:r>
              <a:rPr lang="en-US" dirty="0">
                <a:latin typeface="Inter" panose="020B0604020202020204" charset="0"/>
                <a:ea typeface="Inter" panose="020B0604020202020204" charset="0"/>
                <a:cs typeface="Times New Roman" panose="02020603050405020304" pitchFamily="18" charset="0"/>
              </a:rPr>
              <a:t>. 220/2002), </a:t>
            </a:r>
            <a:r>
              <a:rPr lang="en-US" dirty="0" err="1">
                <a:latin typeface="Inter" panose="020B0604020202020204" charset="0"/>
                <a:ea typeface="Inter" panose="020B0604020202020204" charset="0"/>
                <a:cs typeface="Times New Roman" panose="02020603050405020304" pitchFamily="18" charset="0"/>
              </a:rPr>
              <a:t>godono</a:t>
            </a:r>
            <a:r>
              <a:rPr lang="en-US" dirty="0">
                <a:latin typeface="Inter" panose="020B0604020202020204" charset="0"/>
                <a:ea typeface="Inter" panose="020B0604020202020204" charset="0"/>
                <a:cs typeface="Times New Roman" panose="02020603050405020304" pitchFamily="18" charset="0"/>
              </a:rPr>
              <a:t> di un </a:t>
            </a:r>
            <a:r>
              <a:rPr lang="en-US" dirty="0" err="1">
                <a:latin typeface="Inter" panose="020B0604020202020204" charset="0"/>
                <a:ea typeface="Inter" panose="020B0604020202020204" charset="0"/>
                <a:cs typeface="Times New Roman" panose="02020603050405020304" pitchFamily="18" charset="0"/>
              </a:rPr>
              <a:t>trattamento</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fiscale</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agevolato</a:t>
            </a:r>
            <a:r>
              <a:rPr lang="en-US" dirty="0">
                <a:latin typeface="Inter" panose="020B0604020202020204" charset="0"/>
                <a:ea typeface="Inter" panose="020B0604020202020204" charset="0"/>
                <a:cs typeface="Times New Roman" panose="02020603050405020304" pitchFamily="18" charset="0"/>
              </a:rPr>
              <a:t> in </a:t>
            </a:r>
            <a:r>
              <a:rPr lang="en-US" dirty="0" err="1">
                <a:latin typeface="Inter" panose="020B0604020202020204" charset="0"/>
                <a:ea typeface="Inter" panose="020B0604020202020204" charset="0"/>
                <a:cs typeface="Times New Roman" panose="02020603050405020304" pitchFamily="18" charset="0"/>
              </a:rPr>
              <a:t>ragione</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della</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loro</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funzione</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sociale</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riconosciuta</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dalla</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Costituzione</a:t>
            </a:r>
            <a:r>
              <a:rPr lang="en-US" dirty="0">
                <a:latin typeface="Inter" panose="020B0604020202020204" charset="0"/>
                <a:ea typeface="Inter" panose="020B0604020202020204" charset="0"/>
                <a:cs typeface="Times New Roman" panose="02020603050405020304" pitchFamily="18" charset="0"/>
              </a:rPr>
              <a:t> </a:t>
            </a:r>
            <a:r>
              <a:rPr lang="en-US" dirty="0" err="1">
                <a:latin typeface="Inter" panose="020B0604020202020204" charset="0"/>
                <a:ea typeface="Inter" panose="020B0604020202020204" charset="0"/>
                <a:cs typeface="Times New Roman" panose="02020603050405020304" pitchFamily="18" charset="0"/>
              </a:rPr>
              <a:t>italiana</a:t>
            </a:r>
            <a:r>
              <a:rPr lang="en-US" dirty="0">
                <a:latin typeface="Inter" panose="020B0604020202020204" charset="0"/>
                <a:ea typeface="Inter" panose="020B0604020202020204" charset="0"/>
                <a:cs typeface="Times New Roman" panose="02020603050405020304" pitchFamily="18" charset="0"/>
              </a:rPr>
              <a:t> (art. 45).</a:t>
            </a:r>
            <a:endParaRPr lang="it-IT" dirty="0">
              <a:latin typeface="Inter" panose="020B0604020202020204" charset="0"/>
              <a:ea typeface="Inter" panose="020B0604020202020204"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483587C-BD6B-48F8-9D4E-AC0B3770DD4B}"/>
              </a:ext>
            </a:extLst>
          </p:cNvPr>
          <p:cNvSpPr/>
          <p:nvPr/>
        </p:nvSpPr>
        <p:spPr>
          <a:xfrm>
            <a:off x="3192304" y="297894"/>
            <a:ext cx="8462884" cy="326827"/>
          </a:xfrm>
          <a:prstGeom prst="rect">
            <a:avLst/>
          </a:prstGeom>
          <a:noFill/>
          <a:ln/>
        </p:spPr>
        <p:txBody>
          <a:bodyPr wrap="none" lIns="0" tIns="0" rIns="0" bIns="0" rtlCol="0" anchor="t"/>
          <a:lstStyle/>
          <a:p>
            <a:pPr marL="0" marR="0" lvl="0" indent="0" algn="l" defTabSz="914400" rtl="0" eaLnBrk="1" fontAlgn="auto" latinLnBrk="0" hangingPunct="1">
              <a:lnSpc>
                <a:spcPts val="255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La Scelta Migliore: Fattori da Considerare</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Rettangolo 3">
            <a:extLst>
              <a:ext uri="{FF2B5EF4-FFF2-40B4-BE49-F238E27FC236}">
                <a16:creationId xmlns:a16="http://schemas.microsoft.com/office/drawing/2014/main" id="{A33C056B-2601-4DA7-B326-021C7BE9652C}"/>
              </a:ext>
            </a:extLst>
          </p:cNvPr>
          <p:cNvSpPr/>
          <p:nvPr/>
        </p:nvSpPr>
        <p:spPr>
          <a:xfrm>
            <a:off x="926777" y="766574"/>
            <a:ext cx="13324937" cy="671915"/>
          </a:xfrm>
          <a:prstGeom prst="rect">
            <a:avLst/>
          </a:prstGeom>
        </p:spPr>
        <p:txBody>
          <a:bodyPr wrap="squar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Non </a:t>
            </a:r>
            <a:r>
              <a:rPr lang="en-US" dirty="0" err="1">
                <a:latin typeface="Calibri" panose="020F0502020204030204" pitchFamily="34" charset="0"/>
                <a:ea typeface="Calibri" panose="020F0502020204030204" pitchFamily="34" charset="0"/>
                <a:cs typeface="Times New Roman" panose="02020603050405020304" pitchFamily="18" charset="0"/>
              </a:rPr>
              <a:t>esiste</a:t>
            </a:r>
            <a:r>
              <a:rPr lang="en-US" dirty="0">
                <a:latin typeface="Calibri" panose="020F0502020204030204" pitchFamily="34" charset="0"/>
                <a:ea typeface="Calibri" panose="020F0502020204030204" pitchFamily="34" charset="0"/>
                <a:cs typeface="Times New Roman" panose="02020603050405020304" pitchFamily="18" charset="0"/>
              </a:rPr>
              <a:t> una forma </a:t>
            </a:r>
            <a:r>
              <a:rPr lang="en-US" dirty="0" err="1">
                <a:latin typeface="Calibri" panose="020F0502020204030204" pitchFamily="34" charset="0"/>
                <a:ea typeface="Calibri" panose="020F0502020204030204" pitchFamily="34" charset="0"/>
                <a:cs typeface="Times New Roman" panose="02020603050405020304" pitchFamily="18" charset="0"/>
              </a:rPr>
              <a:t>giuridica</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universalmente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superiore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alle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altre</a:t>
            </a:r>
            <a:r>
              <a:rPr lang="en-US" dirty="0">
                <a:latin typeface="Calibri" panose="020F0502020204030204" pitchFamily="34" charset="0"/>
                <a:ea typeface="Calibri" panose="020F0502020204030204" pitchFamily="34" charset="0"/>
                <a:cs typeface="Times New Roman" panose="02020603050405020304" pitchFamily="18" charset="0"/>
              </a:rPr>
              <a:t>. La </a:t>
            </a:r>
            <a:r>
              <a:rPr lang="en-US" dirty="0" err="1">
                <a:latin typeface="Calibri" panose="020F0502020204030204" pitchFamily="34" charset="0"/>
                <a:ea typeface="Calibri" panose="020F0502020204030204" pitchFamily="34" charset="0"/>
                <a:cs typeface="Times New Roman" panose="02020603050405020304" pitchFamily="18" charset="0"/>
              </a:rPr>
              <a:t>scelta</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ottimale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dipende</a:t>
            </a:r>
            <a:r>
              <a:rPr lang="en-US" dirty="0">
                <a:latin typeface="Calibri" panose="020F0502020204030204" pitchFamily="34" charset="0"/>
                <a:ea typeface="Calibri" panose="020F0502020204030204" pitchFamily="34" charset="0"/>
                <a:cs typeface="Times New Roman" panose="02020603050405020304" pitchFamily="18" charset="0"/>
              </a:rPr>
              <a:t> da una </a:t>
            </a:r>
            <a:r>
              <a:rPr lang="en-US" dirty="0" err="1">
                <a:latin typeface="Calibri" panose="020F0502020204030204" pitchFamily="34" charset="0"/>
                <a:ea typeface="Calibri" panose="020F0502020204030204" pitchFamily="34" charset="0"/>
                <a:cs typeface="Times New Roman" panose="02020603050405020304" pitchFamily="18" charset="0"/>
              </a:rPr>
              <a:t>valutazione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ponderata</a:t>
            </a:r>
            <a:r>
              <a:rPr lang="en-US" dirty="0">
                <a:latin typeface="Calibri" panose="020F0502020204030204" pitchFamily="34" charset="0"/>
                <a:ea typeface="Calibri" panose="020F0502020204030204" pitchFamily="34" charset="0"/>
                <a:cs typeface="Times New Roman" panose="02020603050405020304" pitchFamily="18" charset="0"/>
              </a:rPr>
              <a:t> di </a:t>
            </a:r>
            <a:r>
              <a:rPr lang="en-US" dirty="0" err="1">
                <a:latin typeface="Calibri" panose="020F0502020204030204" pitchFamily="34" charset="0"/>
                <a:ea typeface="Calibri" panose="020F0502020204030204" pitchFamily="34" charset="0"/>
                <a:cs typeface="Times New Roman" panose="02020603050405020304" pitchFamily="18" charset="0"/>
              </a:rPr>
              <a:t>molteplici</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variabili</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specifiche</a:t>
            </a:r>
            <a:r>
              <a:rPr lang="en-US" dirty="0">
                <a:latin typeface="Calibri" panose="020F0502020204030204" pitchFamily="34" charset="0"/>
                <a:ea typeface="Calibri" panose="020F0502020204030204" pitchFamily="34" charset="0"/>
                <a:cs typeface="Times New Roman" panose="02020603050405020304" pitchFamily="18" charset="0"/>
              </a:rPr>
              <a:t> al </a:t>
            </a:r>
            <a:r>
              <a:rPr lang="en-US" dirty="0" err="1">
                <a:latin typeface="Calibri" panose="020F0502020204030204" pitchFamily="34" charset="0"/>
                <a:ea typeface="Calibri" panose="020F0502020204030204" pitchFamily="34" charset="0"/>
                <a:cs typeface="Times New Roman" panose="02020603050405020304" pitchFamily="18" charset="0"/>
              </a:rPr>
              <a:t>progetto</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imprenditoriale</a:t>
            </a:r>
            <a:r>
              <a:rPr lang="en-US" dirty="0">
                <a:latin typeface="Calibri" panose="020F0502020204030204" pitchFamily="34" charset="0"/>
                <a:ea typeface="Calibri" panose="020F0502020204030204" pitchFamily="34" charset="0"/>
                <a:cs typeface="Times New Roman" panose="02020603050405020304" pitchFamily="18" charset="0"/>
              </a:rPr>
              <a:t>. Di </a:t>
            </a:r>
            <a:r>
              <a:rPr lang="en-US" dirty="0" err="1">
                <a:latin typeface="Calibri" panose="020F0502020204030204" pitchFamily="34" charset="0"/>
                <a:ea typeface="Calibri" panose="020F0502020204030204" pitchFamily="34" charset="0"/>
                <a:cs typeface="Times New Roman" panose="02020603050405020304" pitchFamily="18" charset="0"/>
              </a:rPr>
              <a:t>seguito</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i</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principali</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fattori</a:t>
            </a:r>
            <a:r>
              <a:rPr lang="en-US" dirty="0">
                <a:latin typeface="Calibri" panose="020F0502020204030204" pitchFamily="34" charset="0"/>
                <a:ea typeface="Calibri" panose="020F0502020204030204" pitchFamily="34" charset="0"/>
                <a:cs typeface="Times New Roman" panose="02020603050405020304" pitchFamily="18" charset="0"/>
              </a:rPr>
              <a:t> di </a:t>
            </a:r>
            <a:r>
              <a:rPr lang="en-US" dirty="0" err="1">
                <a:latin typeface="Calibri" panose="020F0502020204030204" pitchFamily="34" charset="0"/>
                <a:ea typeface="Calibri" panose="020F0502020204030204" pitchFamily="34" charset="0"/>
                <a:cs typeface="Times New Roman" panose="02020603050405020304" pitchFamily="18" charset="0"/>
              </a:rPr>
              <a:t>analisi</a:t>
            </a:r>
            <a:r>
              <a:rPr lang="en-US" dirty="0">
                <a:latin typeface="Calibri" panose="020F0502020204030204" pitchFamily="34" charset="0"/>
                <a:ea typeface="Calibri" panose="020F0502020204030204" pitchFamily="34" charset="0"/>
                <a:cs typeface="Times New Roman" panose="02020603050405020304" pitchFamily="18" charset="0"/>
              </a:rPr>
              <a:t> e una </a:t>
            </a:r>
            <a:r>
              <a:rPr lang="en-US" dirty="0" err="1">
                <a:latin typeface="Calibri" panose="020F0502020204030204" pitchFamily="34" charset="0"/>
                <a:ea typeface="Calibri" panose="020F0502020204030204" pitchFamily="34" charset="0"/>
                <a:cs typeface="Times New Roman" panose="02020603050405020304" pitchFamily="18" charset="0"/>
              </a:rPr>
              <a:t>mappa</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orientativa</a:t>
            </a:r>
            <a:r>
              <a:rPr lang="en-US" dirty="0">
                <a:latin typeface="Calibri" panose="020F0502020204030204" pitchFamily="34" charset="0"/>
                <a:ea typeface="Calibri" panose="020F0502020204030204" pitchFamily="34" charset="0"/>
                <a:cs typeface="Times New Roman" panose="02020603050405020304" pitchFamily="18" charset="0"/>
              </a:rPr>
              <a:t> per </a:t>
            </a:r>
            <a:r>
              <a:rPr lang="en-US" dirty="0" err="1">
                <a:latin typeface="Calibri" panose="020F0502020204030204" pitchFamily="34" charset="0"/>
                <a:ea typeface="Calibri" panose="020F0502020204030204" pitchFamily="34" charset="0"/>
                <a:cs typeface="Times New Roman" panose="02020603050405020304" pitchFamily="18" charset="0"/>
              </a:rPr>
              <a:t>guidare</a:t>
            </a:r>
            <a:r>
              <a:rPr lang="en-US" dirty="0">
                <a:latin typeface="Calibri" panose="020F0502020204030204" pitchFamily="34" charset="0"/>
                <a:ea typeface="Calibri" panose="020F0502020204030204" pitchFamily="34" charset="0"/>
                <a:cs typeface="Times New Roman" panose="02020603050405020304" pitchFamily="18" charset="0"/>
              </a:rPr>
              <a:t> la </a:t>
            </a:r>
            <a:r>
              <a:rPr lang="en-US" dirty="0" err="1">
                <a:latin typeface="Calibri" panose="020F0502020204030204" pitchFamily="34" charset="0"/>
                <a:ea typeface="Calibri" panose="020F0502020204030204" pitchFamily="34" charset="0"/>
                <a:cs typeface="Times New Roman" panose="02020603050405020304" pitchFamily="18" charset="0"/>
              </a:rPr>
              <a:t>decisione</a:t>
            </a:r>
            <a:r>
              <a:rPr lang="en-US" dirty="0">
                <a:latin typeface="Calibri" panose="020F0502020204030204" pitchFamily="34" charset="0"/>
                <a:ea typeface="Calibri" panose="020F0502020204030204" pitchFamily="34" charset="0"/>
                <a:cs typeface="Times New Roman" panose="02020603050405020304" pitchFamily="18" charset="0"/>
              </a:rPr>
              <a:t>.</a:t>
            </a:r>
            <a:endParaRPr lang="it-IT"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 0" descr="preencoded.png">
            <a:extLst>
              <a:ext uri="{FF2B5EF4-FFF2-40B4-BE49-F238E27FC236}">
                <a16:creationId xmlns:a16="http://schemas.microsoft.com/office/drawing/2014/main" id="{2B661DE2-514E-4461-ADF6-9469C96EF109}"/>
              </a:ext>
            </a:extLst>
          </p:cNvPr>
          <p:cNvPicPr>
            <a:picLocks noChangeAspect="1"/>
          </p:cNvPicPr>
          <p:nvPr/>
        </p:nvPicPr>
        <p:blipFill>
          <a:blip r:embed="rId2"/>
          <a:stretch>
            <a:fillRect/>
          </a:stretch>
        </p:blipFill>
        <p:spPr>
          <a:xfrm>
            <a:off x="1415002" y="1961513"/>
            <a:ext cx="1454123" cy="898671"/>
          </a:xfrm>
          <a:prstGeom prst="rect">
            <a:avLst/>
          </a:prstGeom>
        </p:spPr>
      </p:pic>
      <p:sp>
        <p:nvSpPr>
          <p:cNvPr id="7" name="Rettangolo 6">
            <a:extLst>
              <a:ext uri="{FF2B5EF4-FFF2-40B4-BE49-F238E27FC236}">
                <a16:creationId xmlns:a16="http://schemas.microsoft.com/office/drawing/2014/main" id="{B5D9F1B7-5B50-4D84-92A8-3C1872E775D6}"/>
              </a:ext>
            </a:extLst>
          </p:cNvPr>
          <p:cNvSpPr/>
          <p:nvPr/>
        </p:nvSpPr>
        <p:spPr>
          <a:xfrm>
            <a:off x="599231" y="3581501"/>
            <a:ext cx="3085666" cy="4228273"/>
          </a:xfrm>
          <a:prstGeom prst="rect">
            <a:avLst/>
          </a:prstGeom>
        </p:spPr>
        <p:txBody>
          <a:bodyPr wrap="square">
            <a:spAutoFit/>
          </a:bodyPr>
          <a:lstStyle/>
          <a:p>
            <a:pPr algn="just">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Il primo </a:t>
            </a:r>
            <a:r>
              <a:rPr lang="en-US" dirty="0" err="1">
                <a:latin typeface="Calibri" panose="020F0502020204030204" pitchFamily="34" charset="0"/>
                <a:ea typeface="Calibri" panose="020F0502020204030204" pitchFamily="34" charset="0"/>
                <a:cs typeface="Times New Roman" panose="02020603050405020304" pitchFamily="18" charset="0"/>
              </a:rPr>
              <a:t>fattore</a:t>
            </a:r>
            <a:r>
              <a:rPr lang="en-US" dirty="0">
                <a:latin typeface="Calibri" panose="020F0502020204030204" pitchFamily="34" charset="0"/>
                <a:ea typeface="Calibri" panose="020F0502020204030204" pitchFamily="34" charset="0"/>
                <a:cs typeface="Times New Roman" panose="02020603050405020304" pitchFamily="18" charset="0"/>
              </a:rPr>
              <a:t> da </a:t>
            </a:r>
            <a:r>
              <a:rPr lang="en-US" dirty="0" err="1">
                <a:latin typeface="Calibri" panose="020F0502020204030204" pitchFamily="34" charset="0"/>
                <a:ea typeface="Calibri" panose="020F0502020204030204" pitchFamily="34" charset="0"/>
                <a:cs typeface="Times New Roman" panose="02020603050405020304" pitchFamily="18" charset="0"/>
              </a:rPr>
              <a:t>valutare</a:t>
            </a:r>
            <a:r>
              <a:rPr lang="en-US" dirty="0">
                <a:latin typeface="Calibri" panose="020F0502020204030204" pitchFamily="34" charset="0"/>
                <a:ea typeface="Calibri" panose="020F0502020204030204" pitchFamily="34" charset="0"/>
                <a:cs typeface="Times New Roman" panose="02020603050405020304" pitchFamily="18" charset="0"/>
              </a:rPr>
              <a:t> è la propria </a:t>
            </a:r>
            <a:r>
              <a:rPr lang="en-US" b="1" dirty="0" err="1">
                <a:latin typeface="Calibri" panose="020F0502020204030204" pitchFamily="34" charset="0"/>
                <a:ea typeface="Calibri" panose="020F0502020204030204" pitchFamily="34" charset="0"/>
                <a:cs typeface="Times New Roman" panose="02020603050405020304" pitchFamily="18" charset="0"/>
              </a:rPr>
              <a:t>tolleranza</a:t>
            </a:r>
            <a:r>
              <a:rPr lang="en-US" b="1" dirty="0">
                <a:latin typeface="Calibri" panose="020F0502020204030204" pitchFamily="34" charset="0"/>
                <a:ea typeface="Calibri" panose="020F0502020204030204" pitchFamily="34" charset="0"/>
                <a:cs typeface="Times New Roman" panose="02020603050405020304" pitchFamily="18" charset="0"/>
              </a:rPr>
              <a:t> al </a:t>
            </a:r>
            <a:r>
              <a:rPr lang="en-US" b="1" dirty="0" err="1">
                <a:latin typeface="Calibri" panose="020F0502020204030204" pitchFamily="34" charset="0"/>
                <a:ea typeface="Calibri" panose="020F0502020204030204" pitchFamily="34" charset="0"/>
                <a:cs typeface="Times New Roman" panose="02020603050405020304" pitchFamily="18" charset="0"/>
              </a:rPr>
              <a:t>rischio</a:t>
            </a:r>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b="1" dirty="0" err="1">
                <a:latin typeface="Calibri" panose="020F0502020204030204" pitchFamily="34" charset="0"/>
                <a:ea typeface="Calibri" panose="020F0502020204030204" pitchFamily="34" charset="0"/>
                <a:cs typeface="Times New Roman" panose="02020603050405020304" pitchFamily="18" charset="0"/>
              </a:rPr>
              <a:t>patrimoniale</a:t>
            </a:r>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b="1" dirty="0" err="1">
                <a:latin typeface="Calibri" panose="020F0502020204030204" pitchFamily="34" charset="0"/>
                <a:ea typeface="Calibri" panose="020F0502020204030204" pitchFamily="34" charset="0"/>
                <a:cs typeface="Times New Roman" panose="02020603050405020304" pitchFamily="18" charset="0"/>
              </a:rPr>
              <a:t>personale</a:t>
            </a:r>
            <a:r>
              <a:rPr lang="en-US" dirty="0">
                <a:latin typeface="Calibri" panose="020F0502020204030204" pitchFamily="34" charset="0"/>
                <a:ea typeface="Calibri" panose="020F0502020204030204" pitchFamily="34" charset="0"/>
                <a:cs typeface="Times New Roman" panose="02020603050405020304" pitchFamily="18" charset="0"/>
              </a:rPr>
              <a:t>. Se </a:t>
            </a:r>
            <a:r>
              <a:rPr lang="en-US" dirty="0" err="1">
                <a:latin typeface="Calibri" panose="020F0502020204030204" pitchFamily="34" charset="0"/>
                <a:ea typeface="Calibri" panose="020F0502020204030204" pitchFamily="34" charset="0"/>
                <a:cs typeface="Times New Roman" panose="02020603050405020304" pitchFamily="18" charset="0"/>
              </a:rPr>
              <a:t>l'attività</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presenta</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rischi</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elevati</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debiti</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contenziosi</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responsabilità</a:t>
            </a:r>
            <a:r>
              <a:rPr lang="en-US" dirty="0">
                <a:latin typeface="Calibri" panose="020F0502020204030204" pitchFamily="34" charset="0"/>
                <a:ea typeface="Calibri" panose="020F0502020204030204" pitchFamily="34" charset="0"/>
                <a:cs typeface="Times New Roman" panose="02020603050405020304" pitchFamily="18" charset="0"/>
              </a:rPr>
              <a:t> verso </a:t>
            </a:r>
            <a:r>
              <a:rPr lang="en-US" dirty="0" err="1">
                <a:latin typeface="Calibri" panose="020F0502020204030204" pitchFamily="34" charset="0"/>
                <a:ea typeface="Calibri" panose="020F0502020204030204" pitchFamily="34" charset="0"/>
                <a:cs typeface="Times New Roman" panose="02020603050405020304" pitchFamily="18" charset="0"/>
              </a:rPr>
              <a:t>terzi</a:t>
            </a:r>
            <a:r>
              <a:rPr lang="en-US" dirty="0">
                <a:latin typeface="Calibri" panose="020F0502020204030204" pitchFamily="34" charset="0"/>
                <a:ea typeface="Calibri" panose="020F0502020204030204" pitchFamily="34" charset="0"/>
                <a:cs typeface="Times New Roman" panose="02020603050405020304" pitchFamily="18" charset="0"/>
              </a:rPr>
              <a:t>), è </a:t>
            </a:r>
            <a:r>
              <a:rPr lang="en-US" dirty="0" err="1">
                <a:latin typeface="Calibri" panose="020F0502020204030204" pitchFamily="34" charset="0"/>
                <a:ea typeface="Calibri" panose="020F0502020204030204" pitchFamily="34" charset="0"/>
                <a:cs typeface="Times New Roman" panose="02020603050405020304" pitchFamily="18" charset="0"/>
              </a:rPr>
              <a:t>essenziale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optare</a:t>
            </a:r>
            <a:r>
              <a:rPr lang="en-US" dirty="0">
                <a:latin typeface="Calibri" panose="020F0502020204030204" pitchFamily="34" charset="0"/>
                <a:ea typeface="Calibri" panose="020F0502020204030204" pitchFamily="34" charset="0"/>
                <a:cs typeface="Times New Roman" panose="02020603050405020304" pitchFamily="18" charset="0"/>
              </a:rPr>
              <a:t> per una </a:t>
            </a:r>
            <a:r>
              <a:rPr lang="en-US" dirty="0" err="1">
                <a:latin typeface="Calibri" panose="020F0502020204030204" pitchFamily="34" charset="0"/>
                <a:ea typeface="Calibri" panose="020F0502020204030204" pitchFamily="34" charset="0"/>
                <a:cs typeface="Times New Roman" panose="02020603050405020304" pitchFamily="18" charset="0"/>
              </a:rPr>
              <a:t>struttura</a:t>
            </a:r>
            <a:r>
              <a:rPr lang="en-US" dirty="0">
                <a:latin typeface="Calibri" panose="020F0502020204030204" pitchFamily="34" charset="0"/>
                <a:ea typeface="Calibri" panose="020F0502020204030204" pitchFamily="34" charset="0"/>
                <a:cs typeface="Times New Roman" panose="02020603050405020304" pitchFamily="18" charset="0"/>
              </a:rPr>
              <a:t> a </a:t>
            </a:r>
            <a:r>
              <a:rPr lang="en-US" dirty="0" err="1">
                <a:latin typeface="Calibri" panose="020F0502020204030204" pitchFamily="34" charset="0"/>
                <a:ea typeface="Calibri" panose="020F0502020204030204" pitchFamily="34" charset="0"/>
                <a:cs typeface="Times New Roman" panose="02020603050405020304" pitchFamily="18" charset="0"/>
              </a:rPr>
              <a:t>responsabilità</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limitata</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S.r.l</a:t>
            </a:r>
            <a:r>
              <a:rPr lang="en-US" dirty="0">
                <a:latin typeface="Calibri" panose="020F0502020204030204" pitchFamily="34" charset="0"/>
                <a:ea typeface="Calibri" panose="020F0502020204030204" pitchFamily="34" charset="0"/>
                <a:cs typeface="Times New Roman" panose="02020603050405020304" pitchFamily="18" charset="0"/>
              </a:rPr>
              <a:t>. o S.p.A.) </a:t>
            </a:r>
            <a:r>
              <a:rPr lang="en-US" dirty="0" err="1">
                <a:latin typeface="Calibri" panose="020F0502020204030204" pitchFamily="34" charset="0"/>
                <a:ea typeface="Calibri" panose="020F0502020204030204" pitchFamily="34" charset="0"/>
                <a:cs typeface="Times New Roman" panose="02020603050405020304" pitchFamily="18" charset="0"/>
              </a:rPr>
              <a:t>che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protegga</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il</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patrimonio</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personale</a:t>
            </a:r>
            <a:r>
              <a:rPr lang="en-US" dirty="0">
                <a:latin typeface="Calibri" panose="020F0502020204030204" pitchFamily="34" charset="0"/>
                <a:ea typeface="Calibri" panose="020F0502020204030204" pitchFamily="34" charset="0"/>
                <a:cs typeface="Times New Roman" panose="02020603050405020304" pitchFamily="18" charset="0"/>
              </a:rPr>
              <a:t>. Per </a:t>
            </a:r>
            <a:r>
              <a:rPr lang="en-US" dirty="0" err="1">
                <a:latin typeface="Calibri" panose="020F0502020204030204" pitchFamily="34" charset="0"/>
                <a:ea typeface="Calibri" panose="020F0502020204030204" pitchFamily="34" charset="0"/>
                <a:cs typeface="Times New Roman" panose="02020603050405020304" pitchFamily="18" charset="0"/>
              </a:rPr>
              <a:t>attività</a:t>
            </a:r>
            <a:r>
              <a:rPr lang="en-US" dirty="0">
                <a:latin typeface="Calibri" panose="020F0502020204030204" pitchFamily="34" charset="0"/>
                <a:ea typeface="Calibri" panose="020F0502020204030204" pitchFamily="34" charset="0"/>
                <a:cs typeface="Times New Roman" panose="02020603050405020304" pitchFamily="18" charset="0"/>
              </a:rPr>
              <a:t> a basso </a:t>
            </a:r>
            <a:r>
              <a:rPr lang="en-US" dirty="0" err="1">
                <a:latin typeface="Calibri" panose="020F0502020204030204" pitchFamily="34" charset="0"/>
                <a:ea typeface="Calibri" panose="020F0502020204030204" pitchFamily="34" charset="0"/>
                <a:cs typeface="Times New Roman" panose="02020603050405020304" pitchFamily="18" charset="0"/>
              </a:rPr>
              <a:t>rischio</a:t>
            </a:r>
            <a:r>
              <a:rPr lang="en-US" dirty="0">
                <a:latin typeface="Calibri" panose="020F0502020204030204" pitchFamily="34" charset="0"/>
                <a:ea typeface="Calibri" panose="020F0502020204030204" pitchFamily="34" charset="0"/>
                <a:cs typeface="Times New Roman" panose="02020603050405020304" pitchFamily="18" charset="0"/>
              </a:rPr>
              <a:t> con </a:t>
            </a:r>
            <a:r>
              <a:rPr lang="en-US" dirty="0" err="1">
                <a:latin typeface="Calibri" panose="020F0502020204030204" pitchFamily="34" charset="0"/>
                <a:ea typeface="Calibri" panose="020F0502020204030204" pitchFamily="34" charset="0"/>
                <a:cs typeface="Times New Roman" panose="02020603050405020304" pitchFamily="18" charset="0"/>
              </a:rPr>
              <a:t>ricavi</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contenuti</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l'impresa</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individuale</a:t>
            </a:r>
            <a:r>
              <a:rPr lang="en-US" dirty="0">
                <a:latin typeface="Calibri" panose="020F0502020204030204" pitchFamily="34" charset="0"/>
                <a:ea typeface="Calibri" panose="020F0502020204030204" pitchFamily="34" charset="0"/>
                <a:cs typeface="Times New Roman" panose="02020603050405020304" pitchFamily="18" charset="0"/>
              </a:rPr>
              <a:t> o la SNC </a:t>
            </a:r>
            <a:r>
              <a:rPr lang="en-US" dirty="0" err="1">
                <a:latin typeface="Calibri" panose="020F0502020204030204" pitchFamily="34" charset="0"/>
                <a:ea typeface="Calibri" panose="020F0502020204030204" pitchFamily="34" charset="0"/>
                <a:cs typeface="Times New Roman" panose="02020603050405020304" pitchFamily="18" charset="0"/>
              </a:rPr>
              <a:t>possono</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essere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sufficienti</a:t>
            </a:r>
            <a:r>
              <a:rPr lang="en-US" dirty="0">
                <a:latin typeface="Calibri" panose="020F0502020204030204" pitchFamily="34" charset="0"/>
                <a:ea typeface="Calibri" panose="020F0502020204030204" pitchFamily="34" charset="0"/>
                <a:cs typeface="Times New Roman" panose="02020603050405020304" pitchFamily="18" charset="0"/>
              </a:rPr>
              <a:t>.</a:t>
            </a:r>
            <a:endParaRPr lang="it-IT" dirty="0">
              <a:latin typeface="Calibri" panose="020F0502020204030204" pitchFamily="34" charset="0"/>
              <a:ea typeface="Calibri" panose="020F0502020204030204" pitchFamily="34" charset="0"/>
              <a:cs typeface="Times New Roman" panose="02020603050405020304" pitchFamily="18" charset="0"/>
            </a:endParaRPr>
          </a:p>
        </p:txBody>
      </p:sp>
      <p:sp>
        <p:nvSpPr>
          <p:cNvPr id="8" name="Rettangolo 7">
            <a:extLst>
              <a:ext uri="{FF2B5EF4-FFF2-40B4-BE49-F238E27FC236}">
                <a16:creationId xmlns:a16="http://schemas.microsoft.com/office/drawing/2014/main" id="{16556B54-1AF8-4B30-A4CC-F41D38E11587}"/>
              </a:ext>
            </a:extLst>
          </p:cNvPr>
          <p:cNvSpPr/>
          <p:nvPr/>
        </p:nvSpPr>
        <p:spPr>
          <a:xfrm>
            <a:off x="904802" y="3053136"/>
            <a:ext cx="2474524" cy="375552"/>
          </a:xfrm>
          <a:prstGeom prst="rect">
            <a:avLst/>
          </a:prstGeom>
        </p:spPr>
        <p:txBody>
          <a:bodyPr wrap="none">
            <a:spAutoFit/>
          </a:bodyPr>
          <a:lstStyle/>
          <a:p>
            <a:pPr>
              <a:lnSpc>
                <a:spcPct val="107000"/>
              </a:lnSpc>
              <a:spcAft>
                <a:spcPts val="800"/>
              </a:spcAft>
            </a:pPr>
            <a:r>
              <a:rPr lang="en-US" b="1" dirty="0" err="1">
                <a:latin typeface="Calibri" panose="020F0502020204030204" pitchFamily="34" charset="0"/>
                <a:ea typeface="Calibri" panose="020F0502020204030204" pitchFamily="34" charset="0"/>
                <a:cs typeface="Times New Roman" panose="02020603050405020304" pitchFamily="18" charset="0"/>
              </a:rPr>
              <a:t>Responsabilità</a:t>
            </a:r>
            <a:r>
              <a:rPr lang="en-US" b="1" dirty="0">
                <a:latin typeface="Calibri" panose="020F0502020204030204" pitchFamily="34" charset="0"/>
                <a:ea typeface="Calibri" panose="020F0502020204030204" pitchFamily="34" charset="0"/>
                <a:cs typeface="Times New Roman" panose="02020603050405020304" pitchFamily="18" charset="0"/>
              </a:rPr>
              <a:t> e </a:t>
            </a:r>
            <a:r>
              <a:rPr lang="en-US" b="1" dirty="0" err="1">
                <a:latin typeface="Calibri" panose="020F0502020204030204" pitchFamily="34" charset="0"/>
                <a:ea typeface="Calibri" panose="020F0502020204030204" pitchFamily="34" charset="0"/>
                <a:cs typeface="Times New Roman" panose="02020603050405020304" pitchFamily="18" charset="0"/>
              </a:rPr>
              <a:t>Rischio</a:t>
            </a:r>
            <a:endParaRPr lang="it-IT" dirty="0">
              <a:latin typeface="Calibri" panose="020F0502020204030204" pitchFamily="34" charset="0"/>
              <a:ea typeface="Calibri" panose="020F0502020204030204" pitchFamily="34" charset="0"/>
              <a:cs typeface="Times New Roman" panose="02020603050405020304" pitchFamily="18" charset="0"/>
            </a:endParaRPr>
          </a:p>
        </p:txBody>
      </p:sp>
      <p:pic>
        <p:nvPicPr>
          <p:cNvPr id="9" name="Image 1" descr="preencoded.png">
            <a:extLst>
              <a:ext uri="{FF2B5EF4-FFF2-40B4-BE49-F238E27FC236}">
                <a16:creationId xmlns:a16="http://schemas.microsoft.com/office/drawing/2014/main" id="{964C625B-C4A1-4E9E-BD72-138D18602844}"/>
              </a:ext>
            </a:extLst>
          </p:cNvPr>
          <p:cNvPicPr>
            <a:picLocks noChangeAspect="1"/>
          </p:cNvPicPr>
          <p:nvPr/>
        </p:nvPicPr>
        <p:blipFill>
          <a:blip r:embed="rId3"/>
          <a:stretch>
            <a:fillRect/>
          </a:stretch>
        </p:blipFill>
        <p:spPr>
          <a:xfrm>
            <a:off x="4956998" y="1981611"/>
            <a:ext cx="1454123" cy="898671"/>
          </a:xfrm>
          <a:prstGeom prst="rect">
            <a:avLst/>
          </a:prstGeom>
        </p:spPr>
      </p:pic>
      <p:sp>
        <p:nvSpPr>
          <p:cNvPr id="10" name="Rettangolo 9">
            <a:extLst>
              <a:ext uri="{FF2B5EF4-FFF2-40B4-BE49-F238E27FC236}">
                <a16:creationId xmlns:a16="http://schemas.microsoft.com/office/drawing/2014/main" id="{673A2003-750F-404B-8264-42435877E37D}"/>
              </a:ext>
            </a:extLst>
          </p:cNvPr>
          <p:cNvSpPr/>
          <p:nvPr/>
        </p:nvSpPr>
        <p:spPr>
          <a:xfrm>
            <a:off x="4246935" y="3053136"/>
            <a:ext cx="2874248" cy="375552"/>
          </a:xfrm>
          <a:prstGeom prst="rect">
            <a:avLst/>
          </a:prstGeom>
        </p:spPr>
        <p:txBody>
          <a:bodyPr wrap="none">
            <a:spAutoFit/>
          </a:bodyPr>
          <a:lstStyle/>
          <a:p>
            <a:pPr>
              <a:lnSpc>
                <a:spcPct val="107000"/>
              </a:lnSpc>
              <a:spcAft>
                <a:spcPts val="800"/>
              </a:spcAft>
            </a:pPr>
            <a:r>
              <a:rPr lang="en-US" b="1" dirty="0" err="1">
                <a:latin typeface="Calibri" panose="020F0502020204030204" pitchFamily="34" charset="0"/>
                <a:ea typeface="Calibri" panose="020F0502020204030204" pitchFamily="34" charset="0"/>
                <a:cs typeface="Times New Roman" panose="02020603050405020304" pitchFamily="18" charset="0"/>
              </a:rPr>
              <a:t>Fiscalità</a:t>
            </a:r>
            <a:r>
              <a:rPr lang="en-US" b="1" dirty="0">
                <a:latin typeface="Calibri" panose="020F0502020204030204" pitchFamily="34" charset="0"/>
                <a:ea typeface="Calibri" panose="020F0502020204030204" pitchFamily="34" charset="0"/>
                <a:cs typeface="Times New Roman" panose="02020603050405020304" pitchFamily="18" charset="0"/>
              </a:rPr>
              <a:t> e Regime </a:t>
            </a:r>
            <a:r>
              <a:rPr lang="en-US" b="1" dirty="0" err="1">
                <a:latin typeface="Calibri" panose="020F0502020204030204" pitchFamily="34" charset="0"/>
                <a:ea typeface="Calibri" panose="020F0502020204030204" pitchFamily="34" charset="0"/>
                <a:cs typeface="Times New Roman" panose="02020603050405020304" pitchFamily="18" charset="0"/>
              </a:rPr>
              <a:t>Tributario</a:t>
            </a:r>
            <a:endParaRPr lang="it-IT" dirty="0">
              <a:latin typeface="Calibri" panose="020F0502020204030204" pitchFamily="34" charset="0"/>
              <a:ea typeface="Calibri" panose="020F0502020204030204" pitchFamily="34" charset="0"/>
              <a:cs typeface="Times New Roman" panose="02020603050405020304" pitchFamily="18" charset="0"/>
            </a:endParaRPr>
          </a:p>
        </p:txBody>
      </p:sp>
      <p:sp>
        <p:nvSpPr>
          <p:cNvPr id="11" name="Rettangolo 10">
            <a:extLst>
              <a:ext uri="{FF2B5EF4-FFF2-40B4-BE49-F238E27FC236}">
                <a16:creationId xmlns:a16="http://schemas.microsoft.com/office/drawing/2014/main" id="{04EB3D10-64F2-4AED-B00C-3DC14AE29640}"/>
              </a:ext>
            </a:extLst>
          </p:cNvPr>
          <p:cNvSpPr/>
          <p:nvPr/>
        </p:nvSpPr>
        <p:spPr>
          <a:xfrm>
            <a:off x="4141226" y="3567640"/>
            <a:ext cx="3085666" cy="4228273"/>
          </a:xfrm>
          <a:prstGeom prst="rect">
            <a:avLst/>
          </a:prstGeom>
        </p:spPr>
        <p:txBody>
          <a:bodyPr wrap="square">
            <a:spAutoFit/>
          </a:bodyPr>
          <a:lstStyle/>
          <a:p>
            <a:pPr algn="just">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Il </a:t>
            </a:r>
            <a:r>
              <a:rPr lang="en-US" b="1" dirty="0" err="1">
                <a:latin typeface="Calibri" panose="020F0502020204030204" pitchFamily="34" charset="0"/>
                <a:ea typeface="Calibri" panose="020F0502020204030204" pitchFamily="34" charset="0"/>
                <a:cs typeface="Times New Roman" panose="02020603050405020304" pitchFamily="18" charset="0"/>
              </a:rPr>
              <a:t>carico</a:t>
            </a:r>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b="1" dirty="0" err="1">
                <a:latin typeface="Calibri" panose="020F0502020204030204" pitchFamily="34" charset="0"/>
                <a:ea typeface="Calibri" panose="020F0502020204030204" pitchFamily="34" charset="0"/>
                <a:cs typeface="Times New Roman" panose="02020603050405020304" pitchFamily="18" charset="0"/>
              </a:rPr>
              <a:t>fiscale</a:t>
            </a:r>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b="1" dirty="0" err="1">
                <a:latin typeface="Calibri" panose="020F0502020204030204" pitchFamily="34" charset="0"/>
                <a:ea typeface="Calibri" panose="020F0502020204030204" pitchFamily="34" charset="0"/>
                <a:cs typeface="Times New Roman" panose="02020603050405020304" pitchFamily="18" charset="0"/>
              </a:rPr>
              <a:t>complessivo</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varia</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significativamente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tra</a:t>
            </a:r>
            <a:r>
              <a:rPr lang="en-US" dirty="0">
                <a:latin typeface="Calibri" panose="020F0502020204030204" pitchFamily="34" charset="0"/>
                <a:ea typeface="Calibri" panose="020F0502020204030204" pitchFamily="34" charset="0"/>
                <a:cs typeface="Times New Roman" panose="02020603050405020304" pitchFamily="18" charset="0"/>
              </a:rPr>
              <a:t> le </a:t>
            </a:r>
            <a:r>
              <a:rPr lang="en-US" dirty="0" err="1">
                <a:latin typeface="Calibri" panose="020F0502020204030204" pitchFamily="34" charset="0"/>
                <a:ea typeface="Calibri" panose="020F0502020204030204" pitchFamily="34" charset="0"/>
                <a:cs typeface="Times New Roman" panose="02020603050405020304" pitchFamily="18" charset="0"/>
              </a:rPr>
              <a:t>forme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giuridiche</a:t>
            </a:r>
            <a:r>
              <a:rPr lang="en-US" dirty="0">
                <a:latin typeface="Calibri" panose="020F0502020204030204" pitchFamily="34" charset="0"/>
                <a:ea typeface="Calibri" panose="020F0502020204030204" pitchFamily="34" charset="0"/>
                <a:cs typeface="Times New Roman" panose="02020603050405020304" pitchFamily="18" charset="0"/>
              </a:rPr>
              <a:t>. Il regime </a:t>
            </a:r>
            <a:r>
              <a:rPr lang="en-US" dirty="0" err="1">
                <a:latin typeface="Calibri" panose="020F0502020204030204" pitchFamily="34" charset="0"/>
                <a:ea typeface="Calibri" panose="020F0502020204030204" pitchFamily="34" charset="0"/>
                <a:cs typeface="Times New Roman" panose="02020603050405020304" pitchFamily="18" charset="0"/>
              </a:rPr>
              <a:t>forfettario</a:t>
            </a:r>
            <a:r>
              <a:rPr lang="en-US" dirty="0">
                <a:latin typeface="Calibri" panose="020F0502020204030204" pitchFamily="34" charset="0"/>
                <a:ea typeface="Calibri" panose="020F0502020204030204" pitchFamily="34" charset="0"/>
                <a:cs typeface="Times New Roman" panose="02020603050405020304" pitchFamily="18" charset="0"/>
              </a:rPr>
              <a:t> (flat tax 15%) </a:t>
            </a:r>
            <a:r>
              <a:rPr lang="en-US" dirty="0" err="1">
                <a:latin typeface="Calibri" panose="020F0502020204030204" pitchFamily="34" charset="0"/>
                <a:ea typeface="Calibri" panose="020F0502020204030204" pitchFamily="34" charset="0"/>
                <a:cs typeface="Times New Roman" panose="02020603050405020304" pitchFamily="18" charset="0"/>
              </a:rPr>
              <a:t>rende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conveniente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l'impresa</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individuale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fino</a:t>
            </a:r>
            <a:r>
              <a:rPr lang="en-US" dirty="0">
                <a:latin typeface="Calibri" panose="020F0502020204030204" pitchFamily="34" charset="0"/>
                <a:ea typeface="Calibri" panose="020F0502020204030204" pitchFamily="34" charset="0"/>
                <a:cs typeface="Times New Roman" panose="02020603050405020304" pitchFamily="18" charset="0"/>
              </a:rPr>
              <a:t> a 85.000 euro. Le </a:t>
            </a:r>
            <a:r>
              <a:rPr lang="en-US" dirty="0" err="1">
                <a:latin typeface="Calibri" panose="020F0502020204030204" pitchFamily="34" charset="0"/>
                <a:ea typeface="Calibri" panose="020F0502020204030204" pitchFamily="34" charset="0"/>
                <a:cs typeface="Times New Roman" panose="02020603050405020304" pitchFamily="18" charset="0"/>
              </a:rPr>
              <a:t>società</a:t>
            </a:r>
            <a:r>
              <a:rPr lang="en-US" dirty="0">
                <a:latin typeface="Calibri" panose="020F0502020204030204" pitchFamily="34" charset="0"/>
                <a:ea typeface="Calibri" panose="020F0502020204030204" pitchFamily="34" charset="0"/>
                <a:cs typeface="Times New Roman" panose="02020603050405020304" pitchFamily="18" charset="0"/>
              </a:rPr>
              <a:t> di </a:t>
            </a:r>
            <a:r>
              <a:rPr lang="en-US" dirty="0" err="1">
                <a:latin typeface="Calibri" panose="020F0502020204030204" pitchFamily="34" charset="0"/>
                <a:ea typeface="Calibri" panose="020F0502020204030204" pitchFamily="34" charset="0"/>
                <a:cs typeface="Times New Roman" panose="02020603050405020304" pitchFamily="18" charset="0"/>
              </a:rPr>
              <a:t>persone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tassano</a:t>
            </a:r>
            <a:r>
              <a:rPr lang="en-US" dirty="0">
                <a:latin typeface="Calibri" panose="020F0502020204030204" pitchFamily="34" charset="0"/>
                <a:ea typeface="Calibri" panose="020F0502020204030204" pitchFamily="34" charset="0"/>
                <a:cs typeface="Times New Roman" panose="02020603050405020304" pitchFamily="18" charset="0"/>
              </a:rPr>
              <a:t> per </a:t>
            </a:r>
            <a:r>
              <a:rPr lang="en-US" dirty="0" err="1">
                <a:latin typeface="Calibri" panose="020F0502020204030204" pitchFamily="34" charset="0"/>
                <a:ea typeface="Calibri" panose="020F0502020204030204" pitchFamily="34" charset="0"/>
                <a:cs typeface="Times New Roman" panose="02020603050405020304" pitchFamily="18" charset="0"/>
              </a:rPr>
              <a:t>trasparenza</a:t>
            </a:r>
            <a:r>
              <a:rPr lang="en-US" dirty="0">
                <a:latin typeface="Calibri" panose="020F0502020204030204" pitchFamily="34" charset="0"/>
                <a:ea typeface="Calibri" panose="020F0502020204030204" pitchFamily="34" charset="0"/>
                <a:cs typeface="Times New Roman" panose="02020603050405020304" pitchFamily="18" charset="0"/>
              </a:rPr>
              <a:t> con IRPEF (</a:t>
            </a:r>
            <a:r>
              <a:rPr lang="en-US" dirty="0" err="1">
                <a:latin typeface="Calibri" panose="020F0502020204030204" pitchFamily="34" charset="0"/>
                <a:ea typeface="Calibri" panose="020F0502020204030204" pitchFamily="34" charset="0"/>
                <a:cs typeface="Times New Roman" panose="02020603050405020304" pitchFamily="18" charset="0"/>
              </a:rPr>
              <a:t>fino</a:t>
            </a:r>
            <a:r>
              <a:rPr lang="en-US" dirty="0">
                <a:latin typeface="Calibri" panose="020F0502020204030204" pitchFamily="34" charset="0"/>
                <a:ea typeface="Calibri" panose="020F0502020204030204" pitchFamily="34" charset="0"/>
                <a:cs typeface="Times New Roman" panose="02020603050405020304" pitchFamily="18" charset="0"/>
              </a:rPr>
              <a:t> al 43%). Le </a:t>
            </a:r>
            <a:r>
              <a:rPr lang="en-US" dirty="0" err="1">
                <a:latin typeface="Calibri" panose="020F0502020204030204" pitchFamily="34" charset="0"/>
                <a:ea typeface="Calibri" panose="020F0502020204030204" pitchFamily="34" charset="0"/>
                <a:cs typeface="Times New Roman" panose="02020603050405020304" pitchFamily="18" charset="0"/>
              </a:rPr>
              <a:t>società</a:t>
            </a:r>
            <a:r>
              <a:rPr lang="en-US" dirty="0">
                <a:latin typeface="Calibri" panose="020F0502020204030204" pitchFamily="34" charset="0"/>
                <a:ea typeface="Calibri" panose="020F0502020204030204" pitchFamily="34" charset="0"/>
                <a:cs typeface="Times New Roman" panose="02020603050405020304" pitchFamily="18" charset="0"/>
              </a:rPr>
              <a:t> di </a:t>
            </a:r>
            <a:r>
              <a:rPr lang="en-US" dirty="0" err="1">
                <a:latin typeface="Calibri" panose="020F0502020204030204" pitchFamily="34" charset="0"/>
                <a:ea typeface="Calibri" panose="020F0502020204030204" pitchFamily="34" charset="0"/>
                <a:cs typeface="Times New Roman" panose="02020603050405020304" pitchFamily="18" charset="0"/>
              </a:rPr>
              <a:t>capitali</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applicano</a:t>
            </a:r>
            <a:r>
              <a:rPr lang="en-US" dirty="0">
                <a:latin typeface="Calibri" panose="020F0502020204030204" pitchFamily="34" charset="0"/>
                <a:ea typeface="Calibri" panose="020F0502020204030204" pitchFamily="34" charset="0"/>
                <a:cs typeface="Times New Roman" panose="02020603050405020304" pitchFamily="18" charset="0"/>
              </a:rPr>
              <a:t> IRES al 24% + IRAP, con </a:t>
            </a:r>
            <a:r>
              <a:rPr lang="en-US" dirty="0" err="1">
                <a:latin typeface="Calibri" panose="020F0502020204030204" pitchFamily="34" charset="0"/>
                <a:ea typeface="Calibri" panose="020F0502020204030204" pitchFamily="34" charset="0"/>
                <a:cs typeface="Times New Roman" panose="02020603050405020304" pitchFamily="18" charset="0"/>
              </a:rPr>
              <a:t>possibilità</a:t>
            </a:r>
            <a:r>
              <a:rPr lang="en-US" dirty="0">
                <a:latin typeface="Calibri" panose="020F0502020204030204" pitchFamily="34" charset="0"/>
                <a:ea typeface="Calibri" panose="020F0502020204030204" pitchFamily="34" charset="0"/>
                <a:cs typeface="Times New Roman" panose="02020603050405020304" pitchFamily="18" charset="0"/>
              </a:rPr>
              <a:t> di </a:t>
            </a:r>
            <a:r>
              <a:rPr lang="en-US" dirty="0" err="1">
                <a:latin typeface="Calibri" panose="020F0502020204030204" pitchFamily="34" charset="0"/>
                <a:ea typeface="Calibri" panose="020F0502020204030204" pitchFamily="34" charset="0"/>
                <a:cs typeface="Times New Roman" panose="02020603050405020304" pitchFamily="18" charset="0"/>
              </a:rPr>
              <a:t>pianificazione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fiscale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più</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sofisticata</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tramite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compensi</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agli</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amministratori</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dividendi</a:t>
            </a:r>
            <a:r>
              <a:rPr lang="en-US" dirty="0">
                <a:latin typeface="Calibri" panose="020F0502020204030204" pitchFamily="34" charset="0"/>
                <a:ea typeface="Calibri" panose="020F0502020204030204" pitchFamily="34" charset="0"/>
                <a:cs typeface="Times New Roman" panose="02020603050405020304" pitchFamily="18" charset="0"/>
              </a:rPr>
              <a:t> e </a:t>
            </a:r>
            <a:r>
              <a:rPr lang="en-US" dirty="0" err="1">
                <a:latin typeface="Calibri" panose="020F0502020204030204" pitchFamily="34" charset="0"/>
                <a:ea typeface="Calibri" panose="020F0502020204030204" pitchFamily="34" charset="0"/>
                <a:cs typeface="Times New Roman" panose="02020603050405020304" pitchFamily="18" charset="0"/>
              </a:rPr>
              <a:t>riserve</a:t>
            </a:r>
            <a:r>
              <a:rPr lang="en-US" dirty="0">
                <a:latin typeface="Calibri" panose="020F0502020204030204" pitchFamily="34" charset="0"/>
                <a:ea typeface="Calibri" panose="020F0502020204030204" pitchFamily="34" charset="0"/>
                <a:cs typeface="Times New Roman" panose="02020603050405020304" pitchFamily="18" charset="0"/>
              </a:rPr>
              <a:t>.</a:t>
            </a:r>
            <a:endParaRPr lang="it-IT" dirty="0">
              <a:latin typeface="Calibri" panose="020F0502020204030204" pitchFamily="34" charset="0"/>
              <a:ea typeface="Calibri" panose="020F0502020204030204" pitchFamily="34" charset="0"/>
              <a:cs typeface="Times New Roman" panose="02020603050405020304" pitchFamily="18" charset="0"/>
            </a:endParaRPr>
          </a:p>
        </p:txBody>
      </p:sp>
      <p:pic>
        <p:nvPicPr>
          <p:cNvPr id="12" name="Image 2" descr="preencoded.png">
            <a:extLst>
              <a:ext uri="{FF2B5EF4-FFF2-40B4-BE49-F238E27FC236}">
                <a16:creationId xmlns:a16="http://schemas.microsoft.com/office/drawing/2014/main" id="{CB6392BE-3985-4397-8A3C-9723A9529048}"/>
              </a:ext>
            </a:extLst>
          </p:cNvPr>
          <p:cNvPicPr>
            <a:picLocks noChangeAspect="1"/>
          </p:cNvPicPr>
          <p:nvPr/>
        </p:nvPicPr>
        <p:blipFill>
          <a:blip r:embed="rId4"/>
          <a:stretch>
            <a:fillRect/>
          </a:stretch>
        </p:blipFill>
        <p:spPr>
          <a:xfrm>
            <a:off x="8498994" y="1981611"/>
            <a:ext cx="1454123" cy="898671"/>
          </a:xfrm>
          <a:prstGeom prst="rect">
            <a:avLst/>
          </a:prstGeom>
        </p:spPr>
      </p:pic>
      <p:pic>
        <p:nvPicPr>
          <p:cNvPr id="13" name="Image 3" descr="preencoded.png">
            <a:extLst>
              <a:ext uri="{FF2B5EF4-FFF2-40B4-BE49-F238E27FC236}">
                <a16:creationId xmlns:a16="http://schemas.microsoft.com/office/drawing/2014/main" id="{496EAE6E-AA1F-48C6-AB04-3196F0EAB1AF}"/>
              </a:ext>
            </a:extLst>
          </p:cNvPr>
          <p:cNvPicPr>
            <a:picLocks noChangeAspect="1"/>
          </p:cNvPicPr>
          <p:nvPr/>
        </p:nvPicPr>
        <p:blipFill>
          <a:blip r:embed="rId5"/>
          <a:stretch>
            <a:fillRect/>
          </a:stretch>
        </p:blipFill>
        <p:spPr>
          <a:xfrm>
            <a:off x="12040990" y="1961514"/>
            <a:ext cx="1454123" cy="898670"/>
          </a:xfrm>
          <a:prstGeom prst="rect">
            <a:avLst/>
          </a:prstGeom>
        </p:spPr>
      </p:pic>
      <p:sp>
        <p:nvSpPr>
          <p:cNvPr id="14" name="Rettangolo 13">
            <a:extLst>
              <a:ext uri="{FF2B5EF4-FFF2-40B4-BE49-F238E27FC236}">
                <a16:creationId xmlns:a16="http://schemas.microsoft.com/office/drawing/2014/main" id="{5752D11F-6C41-417B-B5B5-9BDF5B7BE11D}"/>
              </a:ext>
            </a:extLst>
          </p:cNvPr>
          <p:cNvSpPr/>
          <p:nvPr/>
        </p:nvSpPr>
        <p:spPr>
          <a:xfrm>
            <a:off x="8058363" y="3043019"/>
            <a:ext cx="2335383" cy="375552"/>
          </a:xfrm>
          <a:prstGeom prst="rect">
            <a:avLst/>
          </a:prstGeom>
        </p:spPr>
        <p:txBody>
          <a:bodyPr wrap="none">
            <a:spAutoFit/>
          </a:bodyPr>
          <a:lstStyle/>
          <a:p>
            <a:pPr>
              <a:lnSpc>
                <a:spcPct val="107000"/>
              </a:lnSpc>
              <a:spcAft>
                <a:spcPts val="800"/>
              </a:spcAft>
            </a:pPr>
            <a:r>
              <a:rPr lang="en-US" b="1" dirty="0" err="1">
                <a:latin typeface="Calibri" panose="020F0502020204030204" pitchFamily="34" charset="0"/>
                <a:ea typeface="Calibri" panose="020F0502020204030204" pitchFamily="34" charset="0"/>
                <a:cs typeface="Times New Roman" panose="02020603050405020304" pitchFamily="18" charset="0"/>
              </a:rPr>
              <a:t>Fabbisogno</a:t>
            </a:r>
            <a:r>
              <a:rPr lang="en-US" b="1" dirty="0">
                <a:latin typeface="Calibri" panose="020F0502020204030204" pitchFamily="34" charset="0"/>
                <a:ea typeface="Calibri" panose="020F0502020204030204" pitchFamily="34" charset="0"/>
                <a:cs typeface="Times New Roman" panose="02020603050405020304" pitchFamily="18" charset="0"/>
              </a:rPr>
              <a:t> di </a:t>
            </a:r>
            <a:r>
              <a:rPr lang="en-US" b="1" dirty="0" err="1">
                <a:latin typeface="Calibri" panose="020F0502020204030204" pitchFamily="34" charset="0"/>
                <a:ea typeface="Calibri" panose="020F0502020204030204" pitchFamily="34" charset="0"/>
                <a:cs typeface="Times New Roman" panose="02020603050405020304" pitchFamily="18" charset="0"/>
              </a:rPr>
              <a:t>Capitale</a:t>
            </a:r>
            <a:endParaRPr lang="it-IT" dirty="0">
              <a:latin typeface="Calibri" panose="020F0502020204030204" pitchFamily="34" charset="0"/>
              <a:ea typeface="Calibri" panose="020F0502020204030204" pitchFamily="34" charset="0"/>
              <a:cs typeface="Times New Roman" panose="02020603050405020304" pitchFamily="18" charset="0"/>
            </a:endParaRPr>
          </a:p>
        </p:txBody>
      </p:sp>
      <p:sp>
        <p:nvSpPr>
          <p:cNvPr id="15" name="Rettangolo 14">
            <a:extLst>
              <a:ext uri="{FF2B5EF4-FFF2-40B4-BE49-F238E27FC236}">
                <a16:creationId xmlns:a16="http://schemas.microsoft.com/office/drawing/2014/main" id="{5FBD587A-2B60-4DD3-97D3-D4AEC77389C8}"/>
              </a:ext>
            </a:extLst>
          </p:cNvPr>
          <p:cNvSpPr/>
          <p:nvPr/>
        </p:nvSpPr>
        <p:spPr>
          <a:xfrm>
            <a:off x="7479140" y="3567640"/>
            <a:ext cx="3493827" cy="3635547"/>
          </a:xfrm>
          <a:prstGeom prst="rect">
            <a:avLst/>
          </a:prstGeom>
        </p:spPr>
        <p:txBody>
          <a:bodyPr wrap="square">
            <a:spAutoFit/>
          </a:bodyPr>
          <a:lstStyle/>
          <a:p>
            <a:pPr algn="just">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Chi </a:t>
            </a:r>
            <a:r>
              <a:rPr lang="en-US" dirty="0" err="1">
                <a:latin typeface="Calibri" panose="020F0502020204030204" pitchFamily="34" charset="0"/>
                <a:ea typeface="Calibri" panose="020F0502020204030204" pitchFamily="34" charset="0"/>
                <a:cs typeface="Times New Roman" panose="02020603050405020304" pitchFamily="18" charset="0"/>
              </a:rPr>
              <a:t>necessita</a:t>
            </a:r>
            <a:r>
              <a:rPr lang="en-US" dirty="0">
                <a:latin typeface="Calibri" panose="020F0502020204030204" pitchFamily="34" charset="0"/>
                <a:ea typeface="Calibri" panose="020F0502020204030204" pitchFamily="34" charset="0"/>
                <a:cs typeface="Times New Roman" panose="02020603050405020304" pitchFamily="18" charset="0"/>
              </a:rPr>
              <a:t> di </a:t>
            </a:r>
            <a:r>
              <a:rPr lang="en-US" b="1" dirty="0" err="1">
                <a:latin typeface="Calibri" panose="020F0502020204030204" pitchFamily="34" charset="0"/>
                <a:ea typeface="Calibri" panose="020F0502020204030204" pitchFamily="34" charset="0"/>
                <a:cs typeface="Times New Roman" panose="02020603050405020304" pitchFamily="18" charset="0"/>
              </a:rPr>
              <a:t>capitali</a:t>
            </a:r>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b="1" dirty="0" err="1">
                <a:latin typeface="Calibri" panose="020F0502020204030204" pitchFamily="34" charset="0"/>
                <a:ea typeface="Calibri" panose="020F0502020204030204" pitchFamily="34" charset="0"/>
                <a:cs typeface="Times New Roman" panose="02020603050405020304" pitchFamily="18" charset="0"/>
              </a:rPr>
              <a:t>elevati</a:t>
            </a:r>
            <a:r>
              <a:rPr lang="en-US" dirty="0">
                <a:latin typeface="Calibri" panose="020F0502020204030204" pitchFamily="34" charset="0"/>
                <a:ea typeface="Calibri" panose="020F0502020204030204" pitchFamily="34" charset="0"/>
                <a:cs typeface="Times New Roman" panose="02020603050405020304" pitchFamily="18" charset="0"/>
              </a:rPr>
              <a:t> per </a:t>
            </a:r>
            <a:r>
              <a:rPr lang="en-US" dirty="0" err="1">
                <a:latin typeface="Calibri" panose="020F0502020204030204" pitchFamily="34" charset="0"/>
                <a:ea typeface="Calibri" panose="020F0502020204030204" pitchFamily="34" charset="0"/>
                <a:cs typeface="Times New Roman" panose="02020603050405020304" pitchFamily="18" charset="0"/>
              </a:rPr>
              <a:t>avviare</a:t>
            </a:r>
            <a:r>
              <a:rPr lang="en-US" dirty="0">
                <a:latin typeface="Calibri" panose="020F0502020204030204" pitchFamily="34" charset="0"/>
                <a:ea typeface="Calibri" panose="020F0502020204030204" pitchFamily="34" charset="0"/>
                <a:cs typeface="Times New Roman" panose="02020603050405020304" pitchFamily="18" charset="0"/>
              </a:rPr>
              <a:t> o </a:t>
            </a:r>
            <a:r>
              <a:rPr lang="en-US" dirty="0" err="1">
                <a:latin typeface="Calibri" panose="020F0502020204030204" pitchFamily="34" charset="0"/>
                <a:ea typeface="Calibri" panose="020F0502020204030204" pitchFamily="34" charset="0"/>
                <a:cs typeface="Times New Roman" panose="02020603050405020304" pitchFamily="18" charset="0"/>
              </a:rPr>
              <a:t>espandere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l'attività</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deve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orientarsi</a:t>
            </a:r>
            <a:r>
              <a:rPr lang="en-US" dirty="0">
                <a:latin typeface="Calibri" panose="020F0502020204030204" pitchFamily="34" charset="0"/>
                <a:ea typeface="Calibri" panose="020F0502020204030204" pitchFamily="34" charset="0"/>
                <a:cs typeface="Times New Roman" panose="02020603050405020304" pitchFamily="18" charset="0"/>
              </a:rPr>
              <a:t> verso le </a:t>
            </a:r>
            <a:r>
              <a:rPr lang="en-US" dirty="0" err="1">
                <a:latin typeface="Calibri" panose="020F0502020204030204" pitchFamily="34" charset="0"/>
                <a:ea typeface="Calibri" panose="020F0502020204030204" pitchFamily="34" charset="0"/>
                <a:cs typeface="Times New Roman" panose="02020603050405020304" pitchFamily="18" charset="0"/>
              </a:rPr>
              <a:t>società</a:t>
            </a:r>
            <a:r>
              <a:rPr lang="en-US" dirty="0">
                <a:latin typeface="Calibri" panose="020F0502020204030204" pitchFamily="34" charset="0"/>
                <a:ea typeface="Calibri" panose="020F0502020204030204" pitchFamily="34" charset="0"/>
                <a:cs typeface="Times New Roman" panose="02020603050405020304" pitchFamily="18" charset="0"/>
              </a:rPr>
              <a:t> di </a:t>
            </a:r>
            <a:r>
              <a:rPr lang="en-US" dirty="0" err="1">
                <a:latin typeface="Calibri" panose="020F0502020204030204" pitchFamily="34" charset="0"/>
                <a:ea typeface="Calibri" panose="020F0502020204030204" pitchFamily="34" charset="0"/>
                <a:cs typeface="Times New Roman" panose="02020603050405020304" pitchFamily="18" charset="0"/>
              </a:rPr>
              <a:t>capitali</a:t>
            </a:r>
            <a:r>
              <a:rPr lang="en-US" dirty="0">
                <a:latin typeface="Calibri" panose="020F0502020204030204" pitchFamily="34" charset="0"/>
                <a:ea typeface="Calibri" panose="020F0502020204030204" pitchFamily="34" charset="0"/>
                <a:cs typeface="Times New Roman" panose="02020603050405020304" pitchFamily="18" charset="0"/>
              </a:rPr>
              <a:t>. La </a:t>
            </a:r>
            <a:r>
              <a:rPr lang="en-US" dirty="0" err="1">
                <a:latin typeface="Calibri" panose="020F0502020204030204" pitchFamily="34" charset="0"/>
                <a:ea typeface="Calibri" panose="020F0502020204030204" pitchFamily="34" charset="0"/>
                <a:cs typeface="Times New Roman" panose="02020603050405020304" pitchFamily="18" charset="0"/>
              </a:rPr>
              <a:t>S.r.l</a:t>
            </a:r>
            <a:r>
              <a:rPr lang="en-US" dirty="0">
                <a:latin typeface="Calibri" panose="020F0502020204030204" pitchFamily="34" charset="0"/>
                <a:ea typeface="Calibri" panose="020F0502020204030204" pitchFamily="34" charset="0"/>
                <a:cs typeface="Times New Roman" panose="02020603050405020304" pitchFamily="18" charset="0"/>
              </a:rPr>
              <a:t>. è </a:t>
            </a:r>
            <a:r>
              <a:rPr lang="en-US" dirty="0" err="1">
                <a:latin typeface="Calibri" panose="020F0502020204030204" pitchFamily="34" charset="0"/>
                <a:ea typeface="Calibri" panose="020F0502020204030204" pitchFamily="34" charset="0"/>
                <a:cs typeface="Times New Roman" panose="02020603050405020304" pitchFamily="18" charset="0"/>
              </a:rPr>
              <a:t>adatta</a:t>
            </a:r>
            <a:r>
              <a:rPr lang="en-US" dirty="0">
                <a:latin typeface="Calibri" panose="020F0502020204030204" pitchFamily="34" charset="0"/>
                <a:ea typeface="Calibri" panose="020F0502020204030204" pitchFamily="34" charset="0"/>
                <a:cs typeface="Times New Roman" panose="02020603050405020304" pitchFamily="18" charset="0"/>
              </a:rPr>
              <a:t> per round di </a:t>
            </a:r>
            <a:r>
              <a:rPr lang="en-US" dirty="0" err="1">
                <a:latin typeface="Calibri" panose="020F0502020204030204" pitchFamily="34" charset="0"/>
                <a:ea typeface="Calibri" panose="020F0502020204030204" pitchFamily="34" charset="0"/>
                <a:cs typeface="Times New Roman" panose="02020603050405020304" pitchFamily="18" charset="0"/>
              </a:rPr>
              <a:t>investimento</a:t>
            </a:r>
            <a:r>
              <a:rPr lang="en-US" dirty="0">
                <a:latin typeface="Calibri" panose="020F0502020204030204" pitchFamily="34" charset="0"/>
                <a:ea typeface="Calibri" panose="020F0502020204030204" pitchFamily="34" charset="0"/>
                <a:cs typeface="Times New Roman" panose="02020603050405020304" pitchFamily="18" charset="0"/>
              </a:rPr>
              <a:t> con venture capital e business angel. La S.p.A. è </a:t>
            </a:r>
            <a:r>
              <a:rPr lang="en-US" dirty="0" err="1">
                <a:latin typeface="Calibri" panose="020F0502020204030204" pitchFamily="34" charset="0"/>
                <a:ea typeface="Calibri" panose="020F0502020204030204" pitchFamily="34" charset="0"/>
                <a:cs typeface="Times New Roman" panose="02020603050405020304" pitchFamily="18" charset="0"/>
              </a:rPr>
              <a:t>indispensabile</a:t>
            </a:r>
            <a:r>
              <a:rPr lang="en-US" dirty="0">
                <a:latin typeface="Calibri" panose="020F0502020204030204" pitchFamily="34" charset="0"/>
                <a:ea typeface="Calibri" panose="020F0502020204030204" pitchFamily="34" charset="0"/>
                <a:cs typeface="Times New Roman" panose="02020603050405020304" pitchFamily="18" charset="0"/>
              </a:rPr>
              <a:t> per </a:t>
            </a:r>
            <a:r>
              <a:rPr lang="en-US" dirty="0" err="1">
                <a:latin typeface="Calibri" panose="020F0502020204030204" pitchFamily="34" charset="0"/>
                <a:ea typeface="Calibri" panose="020F0502020204030204" pitchFamily="34" charset="0"/>
                <a:cs typeface="Times New Roman" panose="02020603050405020304" pitchFamily="18" charset="0"/>
              </a:rPr>
              <a:t>accedere</a:t>
            </a:r>
            <a:r>
              <a:rPr lang="en-US" dirty="0">
                <a:latin typeface="Calibri" panose="020F0502020204030204" pitchFamily="34" charset="0"/>
                <a:ea typeface="Calibri" panose="020F0502020204030204" pitchFamily="34" charset="0"/>
                <a:cs typeface="Times New Roman" panose="02020603050405020304" pitchFamily="18" charset="0"/>
              </a:rPr>
              <a:t> ai </a:t>
            </a:r>
            <a:r>
              <a:rPr lang="en-US" dirty="0" err="1">
                <a:latin typeface="Calibri" panose="020F0502020204030204" pitchFamily="34" charset="0"/>
                <a:ea typeface="Calibri" panose="020F0502020204030204" pitchFamily="34" charset="0"/>
                <a:cs typeface="Times New Roman" panose="02020603050405020304" pitchFamily="18" charset="0"/>
              </a:rPr>
              <a:t>mercati</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finanziari</a:t>
            </a:r>
            <a:r>
              <a:rPr lang="en-US" dirty="0">
                <a:latin typeface="Calibri" panose="020F0502020204030204" pitchFamily="34" charset="0"/>
                <a:ea typeface="Calibri" panose="020F0502020204030204" pitchFamily="34" charset="0"/>
                <a:cs typeface="Times New Roman" panose="02020603050405020304" pitchFamily="18" charset="0"/>
              </a:rPr>
              <a:t> o </a:t>
            </a:r>
            <a:r>
              <a:rPr lang="en-US" dirty="0" err="1">
                <a:latin typeface="Calibri" panose="020F0502020204030204" pitchFamily="34" charset="0"/>
                <a:ea typeface="Calibri" panose="020F0502020204030204" pitchFamily="34" charset="0"/>
                <a:cs typeface="Times New Roman" panose="02020603050405020304" pitchFamily="18" charset="0"/>
              </a:rPr>
              <a:t>attrarre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investitori</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istituzionali</a:t>
            </a:r>
            <a:r>
              <a:rPr lang="en-US" dirty="0">
                <a:latin typeface="Calibri" panose="020F0502020204030204" pitchFamily="34" charset="0"/>
                <a:ea typeface="Calibri" panose="020F0502020204030204" pitchFamily="34" charset="0"/>
                <a:cs typeface="Times New Roman" panose="02020603050405020304" pitchFamily="18" charset="0"/>
              </a:rPr>
              <a:t>. Le </a:t>
            </a:r>
            <a:r>
              <a:rPr lang="en-US" dirty="0" err="1">
                <a:latin typeface="Calibri" panose="020F0502020204030204" pitchFamily="34" charset="0"/>
                <a:ea typeface="Calibri" panose="020F0502020204030204" pitchFamily="34" charset="0"/>
                <a:cs typeface="Times New Roman" panose="02020603050405020304" pitchFamily="18" charset="0"/>
              </a:rPr>
              <a:t>forme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più</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semplici</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sono</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invece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adeguate</a:t>
            </a:r>
            <a:r>
              <a:rPr lang="en-US" dirty="0">
                <a:latin typeface="Calibri" panose="020F0502020204030204" pitchFamily="34" charset="0"/>
                <a:ea typeface="Calibri" panose="020F0502020204030204" pitchFamily="34" charset="0"/>
                <a:cs typeface="Times New Roman" panose="02020603050405020304" pitchFamily="18" charset="0"/>
              </a:rPr>
              <a:t> per </a:t>
            </a:r>
            <a:r>
              <a:rPr lang="en-US" dirty="0" err="1">
                <a:latin typeface="Calibri" panose="020F0502020204030204" pitchFamily="34" charset="0"/>
                <a:ea typeface="Calibri" panose="020F0502020204030204" pitchFamily="34" charset="0"/>
                <a:cs typeface="Times New Roman" panose="02020603050405020304" pitchFamily="18" charset="0"/>
              </a:rPr>
              <a:t>attività</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autofinanziate</a:t>
            </a:r>
            <a:r>
              <a:rPr lang="en-US" dirty="0">
                <a:latin typeface="Calibri" panose="020F0502020204030204" pitchFamily="34" charset="0"/>
                <a:ea typeface="Calibri" panose="020F0502020204030204" pitchFamily="34" charset="0"/>
                <a:cs typeface="Times New Roman" panose="02020603050405020304" pitchFamily="18" charset="0"/>
              </a:rPr>
              <a:t> o con basso </a:t>
            </a:r>
            <a:r>
              <a:rPr lang="en-US" dirty="0" err="1">
                <a:latin typeface="Calibri" panose="020F0502020204030204" pitchFamily="34" charset="0"/>
                <a:ea typeface="Calibri" panose="020F0502020204030204" pitchFamily="34" charset="0"/>
                <a:cs typeface="Times New Roman" panose="02020603050405020304" pitchFamily="18" charset="0"/>
              </a:rPr>
              <a:t>fabbisogno</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iniziale</a:t>
            </a:r>
            <a:r>
              <a:rPr lang="en-US" dirty="0">
                <a:latin typeface="Calibri" panose="020F0502020204030204" pitchFamily="34" charset="0"/>
                <a:ea typeface="Calibri" panose="020F0502020204030204" pitchFamily="34" charset="0"/>
                <a:cs typeface="Times New Roman" panose="02020603050405020304" pitchFamily="18" charset="0"/>
              </a:rPr>
              <a:t>.</a:t>
            </a:r>
            <a:endParaRPr lang="it-IT" dirty="0">
              <a:latin typeface="Calibri" panose="020F0502020204030204" pitchFamily="34" charset="0"/>
              <a:ea typeface="Calibri" panose="020F0502020204030204" pitchFamily="34" charset="0"/>
              <a:cs typeface="Times New Roman" panose="02020603050405020304" pitchFamily="18" charset="0"/>
            </a:endParaRPr>
          </a:p>
        </p:txBody>
      </p:sp>
      <p:sp>
        <p:nvSpPr>
          <p:cNvPr id="16" name="Rettangolo 15">
            <a:extLst>
              <a:ext uri="{FF2B5EF4-FFF2-40B4-BE49-F238E27FC236}">
                <a16:creationId xmlns:a16="http://schemas.microsoft.com/office/drawing/2014/main" id="{3853CE3C-294C-4488-B923-F25FE17CA807}"/>
              </a:ext>
            </a:extLst>
          </p:cNvPr>
          <p:cNvSpPr/>
          <p:nvPr/>
        </p:nvSpPr>
        <p:spPr>
          <a:xfrm>
            <a:off x="11611933" y="3043019"/>
            <a:ext cx="2312236" cy="375552"/>
          </a:xfrm>
          <a:prstGeom prst="rect">
            <a:avLst/>
          </a:prstGeom>
        </p:spPr>
        <p:txBody>
          <a:bodyPr wrap="none">
            <a:spAutoFit/>
          </a:bodyPr>
          <a:lstStyle/>
          <a:p>
            <a:pPr>
              <a:lnSpc>
                <a:spcPct val="107000"/>
              </a:lnSpc>
              <a:spcAft>
                <a:spcPts val="800"/>
              </a:spcAft>
            </a:pPr>
            <a:r>
              <a:rPr lang="en-US" b="1" dirty="0" err="1">
                <a:latin typeface="Calibri" panose="020F0502020204030204" pitchFamily="34" charset="0"/>
                <a:ea typeface="Calibri" panose="020F0502020204030204" pitchFamily="34" charset="0"/>
                <a:cs typeface="Times New Roman" panose="02020603050405020304" pitchFamily="18" charset="0"/>
              </a:rPr>
              <a:t>Prospettive</a:t>
            </a:r>
            <a:r>
              <a:rPr lang="en-US" b="1" dirty="0">
                <a:latin typeface="Calibri" panose="020F0502020204030204" pitchFamily="34" charset="0"/>
                <a:ea typeface="Calibri" panose="020F0502020204030204" pitchFamily="34" charset="0"/>
                <a:cs typeface="Times New Roman" panose="02020603050405020304" pitchFamily="18" charset="0"/>
              </a:rPr>
              <a:t> di </a:t>
            </a:r>
            <a:r>
              <a:rPr lang="en-US" b="1" dirty="0" err="1">
                <a:latin typeface="Calibri" panose="020F0502020204030204" pitchFamily="34" charset="0"/>
                <a:ea typeface="Calibri" panose="020F0502020204030204" pitchFamily="34" charset="0"/>
                <a:cs typeface="Times New Roman" panose="02020603050405020304" pitchFamily="18" charset="0"/>
              </a:rPr>
              <a:t>Crescita</a:t>
            </a:r>
            <a:endParaRPr lang="it-IT" dirty="0">
              <a:latin typeface="Calibri" panose="020F0502020204030204" pitchFamily="34" charset="0"/>
              <a:ea typeface="Calibri" panose="020F0502020204030204" pitchFamily="34" charset="0"/>
              <a:cs typeface="Times New Roman" panose="02020603050405020304" pitchFamily="18" charset="0"/>
            </a:endParaRPr>
          </a:p>
        </p:txBody>
      </p:sp>
      <p:sp>
        <p:nvSpPr>
          <p:cNvPr id="17" name="Rettangolo 16">
            <a:extLst>
              <a:ext uri="{FF2B5EF4-FFF2-40B4-BE49-F238E27FC236}">
                <a16:creationId xmlns:a16="http://schemas.microsoft.com/office/drawing/2014/main" id="{1CC35237-7106-4814-820E-1287CCA99455}"/>
              </a:ext>
            </a:extLst>
          </p:cNvPr>
          <p:cNvSpPr/>
          <p:nvPr/>
        </p:nvSpPr>
        <p:spPr>
          <a:xfrm>
            <a:off x="11396451" y="3531116"/>
            <a:ext cx="2743200" cy="3931910"/>
          </a:xfrm>
          <a:prstGeom prst="rect">
            <a:avLst/>
          </a:prstGeom>
        </p:spPr>
        <p:txBody>
          <a:bodyPr wrap="square">
            <a:spAutoFit/>
          </a:bodyPr>
          <a:lstStyle/>
          <a:p>
            <a:pPr algn="just">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Se </a:t>
            </a:r>
            <a:r>
              <a:rPr lang="en-US" dirty="0" err="1">
                <a:latin typeface="Calibri" panose="020F0502020204030204" pitchFamily="34" charset="0"/>
                <a:ea typeface="Calibri" panose="020F0502020204030204" pitchFamily="34" charset="0"/>
                <a:cs typeface="Times New Roman" panose="02020603050405020304" pitchFamily="18" charset="0"/>
              </a:rPr>
              <a:t>il</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progetto</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prevede</a:t>
            </a:r>
            <a:r>
              <a:rPr lang="en-US" dirty="0">
                <a:latin typeface="Calibri" panose="020F0502020204030204" pitchFamily="34" charset="0"/>
                <a:ea typeface="Calibri" panose="020F0502020204030204" pitchFamily="34" charset="0"/>
                <a:cs typeface="Times New Roman" panose="02020603050405020304" pitchFamily="18" charset="0"/>
              </a:rPr>
              <a:t> una </a:t>
            </a:r>
            <a:r>
              <a:rPr lang="en-US" b="1" dirty="0" err="1">
                <a:latin typeface="Calibri" panose="020F0502020204030204" pitchFamily="34" charset="0"/>
                <a:ea typeface="Calibri" panose="020F0502020204030204" pitchFamily="34" charset="0"/>
                <a:cs typeface="Times New Roman" panose="02020603050405020304" pitchFamily="18" charset="0"/>
              </a:rPr>
              <a:t>crescita</a:t>
            </a:r>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b="1" dirty="0" err="1">
                <a:latin typeface="Calibri" panose="020F0502020204030204" pitchFamily="34" charset="0"/>
                <a:ea typeface="Calibri" panose="020F0502020204030204" pitchFamily="34" charset="0"/>
                <a:cs typeface="Times New Roman" panose="02020603050405020304" pitchFamily="18" charset="0"/>
              </a:rPr>
              <a:t>rapida</a:t>
            </a:r>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b="1" dirty="0" err="1">
                <a:latin typeface="Calibri" panose="020F0502020204030204" pitchFamily="34" charset="0"/>
                <a:ea typeface="Calibri" panose="020F0502020204030204" pitchFamily="34" charset="0"/>
                <a:cs typeface="Times New Roman" panose="02020603050405020304" pitchFamily="18" charset="0"/>
              </a:rPr>
              <a:t>l'ingresso</a:t>
            </a:r>
            <a:r>
              <a:rPr lang="en-US" b="1" dirty="0">
                <a:latin typeface="Calibri" panose="020F0502020204030204" pitchFamily="34" charset="0"/>
                <a:ea typeface="Calibri" panose="020F0502020204030204" pitchFamily="34" charset="0"/>
                <a:cs typeface="Times New Roman" panose="02020603050405020304" pitchFamily="18" charset="0"/>
              </a:rPr>
              <a:t> di </a:t>
            </a:r>
            <a:r>
              <a:rPr lang="en-US" b="1" dirty="0" err="1">
                <a:latin typeface="Calibri" panose="020F0502020204030204" pitchFamily="34" charset="0"/>
                <a:ea typeface="Calibri" panose="020F0502020204030204" pitchFamily="34" charset="0"/>
                <a:cs typeface="Times New Roman" panose="02020603050405020304" pitchFamily="18" charset="0"/>
              </a:rPr>
              <a:t>nuovi</a:t>
            </a:r>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b="1" dirty="0" err="1">
                <a:latin typeface="Calibri" panose="020F0502020204030204" pitchFamily="34" charset="0"/>
                <a:ea typeface="Calibri" panose="020F0502020204030204" pitchFamily="34" charset="0"/>
                <a:cs typeface="Times New Roman" panose="02020603050405020304" pitchFamily="18" charset="0"/>
              </a:rPr>
              <a:t>soci</a:t>
            </a:r>
            <a:r>
              <a:rPr lang="en-US" b="1" dirty="0">
                <a:latin typeface="Calibri" panose="020F0502020204030204" pitchFamily="34" charset="0"/>
                <a:ea typeface="Calibri" panose="020F0502020204030204" pitchFamily="34" charset="0"/>
                <a:cs typeface="Times New Roman" panose="02020603050405020304" pitchFamily="18" charset="0"/>
              </a:rPr>
              <a:t> o partner, o una </a:t>
            </a:r>
            <a:r>
              <a:rPr lang="en-US" b="1" dirty="0" err="1">
                <a:latin typeface="Calibri" panose="020F0502020204030204" pitchFamily="34" charset="0"/>
                <a:ea typeface="Calibri" panose="020F0502020204030204" pitchFamily="34" charset="0"/>
                <a:cs typeface="Times New Roman" panose="02020603050405020304" pitchFamily="18" charset="0"/>
              </a:rPr>
              <a:t>futura</a:t>
            </a:r>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b="1" dirty="0" err="1">
                <a:latin typeface="Calibri" panose="020F0502020204030204" pitchFamily="34" charset="0"/>
                <a:ea typeface="Calibri" panose="020F0502020204030204" pitchFamily="34" charset="0"/>
                <a:cs typeface="Times New Roman" panose="02020603050405020304" pitchFamily="18" charset="0"/>
              </a:rPr>
              <a:t>cessione</a:t>
            </a:r>
            <a:r>
              <a:rPr lang="en-US" dirty="0">
                <a:latin typeface="Calibri" panose="020F0502020204030204" pitchFamily="34" charset="0"/>
                <a:ea typeface="Calibri" panose="020F0502020204030204" pitchFamily="34" charset="0"/>
                <a:cs typeface="Times New Roman" panose="02020603050405020304" pitchFamily="18" charset="0"/>
              </a:rPr>
              <a:t>, è </a:t>
            </a:r>
            <a:r>
              <a:rPr lang="en-US" dirty="0" err="1">
                <a:latin typeface="Calibri" panose="020F0502020204030204" pitchFamily="34" charset="0"/>
                <a:ea typeface="Calibri" panose="020F0502020204030204" pitchFamily="34" charset="0"/>
                <a:cs typeface="Times New Roman" panose="02020603050405020304" pitchFamily="18" charset="0"/>
              </a:rPr>
              <a:t>preferibile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strutturarsi</a:t>
            </a:r>
            <a:r>
              <a:rPr lang="en-US" dirty="0">
                <a:latin typeface="Calibri" panose="020F0502020204030204" pitchFamily="34" charset="0"/>
                <a:ea typeface="Calibri" panose="020F0502020204030204" pitchFamily="34" charset="0"/>
                <a:cs typeface="Times New Roman" panose="02020603050405020304" pitchFamily="18" charset="0"/>
              </a:rPr>
              <a:t> fin </a:t>
            </a:r>
            <a:r>
              <a:rPr lang="en-US" dirty="0" err="1">
                <a:latin typeface="Calibri" panose="020F0502020204030204" pitchFamily="34" charset="0"/>
                <a:ea typeface="Calibri" panose="020F0502020204030204" pitchFamily="34" charset="0"/>
                <a:cs typeface="Times New Roman" panose="02020603050405020304" pitchFamily="18" charset="0"/>
              </a:rPr>
              <a:t>dall'inizio</a:t>
            </a:r>
            <a:r>
              <a:rPr lang="en-US" dirty="0">
                <a:latin typeface="Calibri" panose="020F0502020204030204" pitchFamily="34" charset="0"/>
                <a:ea typeface="Calibri" panose="020F0502020204030204" pitchFamily="34" charset="0"/>
                <a:cs typeface="Times New Roman" panose="02020603050405020304" pitchFamily="18" charset="0"/>
              </a:rPr>
              <a:t> con una </a:t>
            </a:r>
            <a:r>
              <a:rPr lang="en-US" dirty="0" err="1">
                <a:latin typeface="Calibri" panose="020F0502020204030204" pitchFamily="34" charset="0"/>
                <a:ea typeface="Calibri" panose="020F0502020204030204" pitchFamily="34" charset="0"/>
                <a:cs typeface="Times New Roman" panose="02020603050405020304" pitchFamily="18" charset="0"/>
              </a:rPr>
              <a:t>S.r.l</a:t>
            </a:r>
            <a:r>
              <a:rPr lang="en-US" dirty="0">
                <a:latin typeface="Calibri" panose="020F0502020204030204" pitchFamily="34" charset="0"/>
                <a:ea typeface="Calibri" panose="020F0502020204030204" pitchFamily="34" charset="0"/>
                <a:cs typeface="Times New Roman" panose="02020603050405020304" pitchFamily="18" charset="0"/>
              </a:rPr>
              <a:t>. o S.p.A., </a:t>
            </a:r>
            <a:r>
              <a:rPr lang="en-US" dirty="0" err="1">
                <a:latin typeface="Calibri" panose="020F0502020204030204" pitchFamily="34" charset="0"/>
                <a:ea typeface="Calibri" panose="020F0502020204030204" pitchFamily="34" charset="0"/>
                <a:cs typeface="Times New Roman" panose="02020603050405020304" pitchFamily="18" charset="0"/>
              </a:rPr>
              <a:t>evitando</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costose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trasformazioni</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societarie</a:t>
            </a:r>
            <a:r>
              <a:rPr lang="en-US" dirty="0">
                <a:latin typeface="Calibri" panose="020F0502020204030204" pitchFamily="34" charset="0"/>
                <a:ea typeface="Calibri" panose="020F0502020204030204" pitchFamily="34" charset="0"/>
                <a:cs typeface="Times New Roman" panose="02020603050405020304" pitchFamily="18" charset="0"/>
              </a:rPr>
              <a:t> in una </a:t>
            </a:r>
            <a:r>
              <a:rPr lang="en-US" dirty="0" err="1">
                <a:latin typeface="Calibri" panose="020F0502020204030204" pitchFamily="34" charset="0"/>
                <a:ea typeface="Calibri" panose="020F0502020204030204" pitchFamily="34" charset="0"/>
                <a:cs typeface="Times New Roman" panose="02020603050405020304" pitchFamily="18" charset="0"/>
              </a:rPr>
              <a:t>fase</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critica</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dello</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sviluppo</a:t>
            </a:r>
            <a:r>
              <a:rPr lang="en-US" dirty="0">
                <a:latin typeface="Calibri" panose="020F0502020204030204" pitchFamily="34" charset="0"/>
                <a:ea typeface="Calibri" panose="020F0502020204030204" pitchFamily="34" charset="0"/>
                <a:cs typeface="Times New Roman" panose="02020603050405020304" pitchFamily="18" charset="0"/>
              </a:rPr>
              <a:t>. La </a:t>
            </a:r>
            <a:r>
              <a:rPr lang="en-US" dirty="0" err="1">
                <a:latin typeface="Calibri" panose="020F0502020204030204" pitchFamily="34" charset="0"/>
                <a:ea typeface="Calibri" panose="020F0502020204030204" pitchFamily="34" charset="0"/>
                <a:cs typeface="Times New Roman" panose="02020603050405020304" pitchFamily="18" charset="0"/>
              </a:rPr>
              <a:t>scalabilità</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della</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struttura</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giuridica</a:t>
            </a:r>
            <a:r>
              <a:rPr lang="en-US" dirty="0">
                <a:latin typeface="Calibri" panose="020F0502020204030204" pitchFamily="34" charset="0"/>
                <a:ea typeface="Calibri" panose="020F0502020204030204" pitchFamily="34" charset="0"/>
                <a:cs typeface="Times New Roman" panose="02020603050405020304" pitchFamily="18" charset="0"/>
              </a:rPr>
              <a:t> è un </a:t>
            </a:r>
            <a:r>
              <a:rPr lang="en-US" dirty="0" err="1">
                <a:latin typeface="Calibri" panose="020F0502020204030204" pitchFamily="34" charset="0"/>
                <a:ea typeface="Calibri" panose="020F0502020204030204" pitchFamily="34" charset="0"/>
                <a:cs typeface="Times New Roman" panose="02020603050405020304" pitchFamily="18" charset="0"/>
              </a:rPr>
              <a:t>investimento</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strategico</a:t>
            </a:r>
            <a:r>
              <a:rPr lang="en-US" dirty="0">
                <a:latin typeface="Calibri" panose="020F0502020204030204" pitchFamily="34" charset="0"/>
                <a:ea typeface="Calibri" panose="020F0502020204030204" pitchFamily="34" charset="0"/>
                <a:cs typeface="Times New Roman" panose="02020603050405020304" pitchFamily="18" charset="0"/>
              </a:rPr>
              <a:t> a </a:t>
            </a:r>
            <a:r>
              <a:rPr lang="en-US" dirty="0" err="1">
                <a:latin typeface="Calibri" panose="020F0502020204030204" pitchFamily="34" charset="0"/>
                <a:ea typeface="Calibri" panose="020F0502020204030204" pitchFamily="34" charset="0"/>
                <a:cs typeface="Times New Roman" panose="02020603050405020304" pitchFamily="18" charset="0"/>
              </a:rPr>
              <a:t>lungo</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termine</a:t>
            </a:r>
            <a:r>
              <a:rPr lang="en-US" dirty="0">
                <a:latin typeface="Calibri" panose="020F0502020204030204" pitchFamily="34" charset="0"/>
                <a:ea typeface="Calibri" panose="020F0502020204030204" pitchFamily="34" charset="0"/>
                <a:cs typeface="Times New Roman" panose="02020603050405020304" pitchFamily="18" charset="0"/>
              </a:rPr>
              <a:t>.</a:t>
            </a:r>
            <a:endParaRPr lang="it-IT"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871879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4" descr="preencoded.png"/>
          <p:cNvPicPr>
            <a:picLocks noChangeAspect="1"/>
          </p:cNvPicPr>
          <p:nvPr/>
        </p:nvPicPr>
        <p:blipFill>
          <a:blip r:embed="rId3"/>
          <a:stretch>
            <a:fillRect/>
          </a:stretch>
        </p:blipFill>
        <p:spPr>
          <a:xfrm>
            <a:off x="919296" y="484259"/>
            <a:ext cx="12791808" cy="7139439"/>
          </a:xfrm>
          <a:prstGeom prst="rect">
            <a:avLst/>
          </a:prstGeom>
        </p:spPr>
      </p:pic>
    </p:spTree>
    <p:extLst>
      <p:ext uri="{BB962C8B-B14F-4D97-AF65-F5344CB8AC3E}">
        <p14:creationId xmlns:p14="http://schemas.microsoft.com/office/powerpoint/2010/main" val="2922591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780461" y="1228844"/>
            <a:ext cx="8940046" cy="438745"/>
          </a:xfrm>
          <a:prstGeom prst="rect">
            <a:avLst/>
          </a:prstGeom>
          <a:noFill/>
          <a:ln/>
        </p:spPr>
        <p:txBody>
          <a:bodyPr wrap="none" lIns="0" tIns="0" rIns="0" bIns="0" rtlCol="0" anchor="t"/>
          <a:lstStyle/>
          <a:p>
            <a:pPr marL="0" marR="0" lvl="0" indent="0" algn="l" defTabSz="914400" rtl="0" eaLnBrk="1" fontAlgn="auto" latinLnBrk="0" hangingPunct="1">
              <a:lnSpc>
                <a:spcPts val="3450"/>
              </a:lnSpc>
              <a:spcBef>
                <a:spcPts val="0"/>
              </a:spcBef>
              <a:spcAft>
                <a:spcPts val="0"/>
              </a:spcAft>
              <a:buClrTx/>
              <a:buSzTx/>
              <a:buFontTx/>
              <a:buNone/>
              <a:tabLst/>
              <a:defRPr/>
            </a:pPr>
            <a:r>
              <a:rPr kumimoji="0" lang="en-US" sz="2750" b="1" i="0" u="none" strike="noStrike" kern="1200" cap="none" spc="0" normalizeH="0" baseline="0" noProof="0" dirty="0">
                <a:ln>
                  <a:noFill/>
                </a:ln>
                <a:solidFill>
                  <a:srgbClr val="000000"/>
                </a:solidFill>
                <a:effectLst/>
                <a:uLnTx/>
                <a:uFillTx/>
                <a:latin typeface="Inter Bold" pitchFamily="34" charset="0"/>
                <a:ea typeface="Inter Bold" pitchFamily="34" charset="-122"/>
                <a:cs typeface="Inter Bold" pitchFamily="34" charset="-120"/>
              </a:rPr>
              <a:t>Domande e Risposte: Il Tuo Percorso Imprenditoriale</a:t>
            </a:r>
            <a:endParaRPr kumimoji="0" lang="en-US" sz="2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1780461" y="1866067"/>
            <a:ext cx="11069479" cy="383381"/>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Ogni percorso imprenditoriale è unico e merita una valutazione personalizzata. Di seguito, alcune delle domande più frequenti che emergono nella scelta della forma giuridica, con risposte pratiche e orientamenti concreti.</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33086" y="2365534"/>
            <a:ext cx="210503" cy="210502"/>
          </a:xfrm>
          <a:prstGeom prst="rect">
            <a:avLst/>
          </a:prstGeom>
        </p:spPr>
      </p:pic>
      <p:sp>
        <p:nvSpPr>
          <p:cNvPr id="5" name="Text 2"/>
          <p:cNvSpPr/>
          <p:nvPr/>
        </p:nvSpPr>
        <p:spPr>
          <a:xfrm>
            <a:off x="2236589" y="2361128"/>
            <a:ext cx="3571875" cy="219313"/>
          </a:xfrm>
          <a:prstGeom prst="rect">
            <a:avLst/>
          </a:prstGeom>
          <a:noFill/>
          <a:ln/>
        </p:spPr>
        <p:txBody>
          <a:bodyPr wrap="none" lIns="0" tIns="0" rIns="0" bIns="0" rtlCol="0" anchor="t"/>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Posso cambiare forma giuridica in futuro?</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2236589" y="2639973"/>
            <a:ext cx="5016579" cy="1341834"/>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Sì, è possibile attraverso una procedura di </a:t>
            </a:r>
            <a:r>
              <a:rPr kumimoji="0" lang="en-US" sz="11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trasformazione societaria</a:t>
            </a:r>
            <a:r>
              <a:rPr kumimoji="0" lang="en-US" sz="11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regolata dagli artt. 2498-2500 del Codice Civile. Ad esempio, una SNC può trasformarsi in S.r.l. per beneficiare della responsabilità limitata con la crescita del business. La trasformazione richiede un atto notarile, la delibera dei soci e l'iscrizione nel Registro delle Imprese. È consigliabile pianificarla con un commercialista e un legale per valutare i costi e le implicazioni fiscali.</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29857" y="2365534"/>
            <a:ext cx="210503" cy="210502"/>
          </a:xfrm>
          <a:prstGeom prst="rect">
            <a:avLst/>
          </a:prstGeom>
        </p:spPr>
      </p:pic>
      <p:sp>
        <p:nvSpPr>
          <p:cNvPr id="8" name="Text 4"/>
          <p:cNvSpPr/>
          <p:nvPr/>
        </p:nvSpPr>
        <p:spPr>
          <a:xfrm>
            <a:off x="7833360" y="2361128"/>
            <a:ext cx="3844052" cy="219313"/>
          </a:xfrm>
          <a:prstGeom prst="rect">
            <a:avLst/>
          </a:prstGeom>
          <a:noFill/>
          <a:ln/>
        </p:spPr>
        <p:txBody>
          <a:bodyPr wrap="none" lIns="0" tIns="0" rIns="0" bIns="0" rtlCol="0" anchor="t"/>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Qual è la forma più conveniente fiscalmente?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5"/>
          <p:cNvSpPr/>
          <p:nvPr/>
        </p:nvSpPr>
        <p:spPr>
          <a:xfrm>
            <a:off x="7833360" y="2639973"/>
            <a:ext cx="5016579" cy="1150144"/>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Dipende dal volume di ricavi e dalla struttura dei costi. Per ricavi fino a 85.000 euro, il </a:t>
            </a:r>
            <a:r>
              <a:rPr kumimoji="0" lang="en-US" sz="11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regime forfettario</a:t>
            </a:r>
            <a:r>
              <a:rPr kumimoji="0" lang="en-US" sz="11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per ditte individuali offre spesso il miglior trattamento fiscale (15% flat). Oltre quella soglia, la S.r.l. con pianificazione fiscale ottimizzata (mix di stipendio amministratore + dividendi) può risultare più efficiente. Non esiste una risposta universale: è indispensabile una simulazione personalizzata con un commercialista.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33086" y="4184690"/>
            <a:ext cx="210503" cy="210502"/>
          </a:xfrm>
          <a:prstGeom prst="rect">
            <a:avLst/>
          </a:prstGeom>
        </p:spPr>
      </p:pic>
      <p:sp>
        <p:nvSpPr>
          <p:cNvPr id="11" name="Text 6"/>
          <p:cNvSpPr/>
          <p:nvPr/>
        </p:nvSpPr>
        <p:spPr>
          <a:xfrm>
            <a:off x="2236589" y="4180284"/>
            <a:ext cx="5016579" cy="438626"/>
          </a:xfrm>
          <a:prstGeom prst="rect">
            <a:avLst/>
          </a:prstGeom>
          <a:noFill/>
          <a:ln/>
        </p:spPr>
        <p:txBody>
          <a:bodyPr wrap="square" lIns="0" tIns="0" rIns="0" bIns="0" rtlCol="0" anchor="t"/>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Quanto costa aprire una S.r.l. rispetto a una ditta individuale?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7"/>
          <p:cNvSpPr/>
          <p:nvPr/>
        </p:nvSpPr>
        <p:spPr>
          <a:xfrm>
            <a:off x="2236589" y="4678442"/>
            <a:ext cx="5016579" cy="1341834"/>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Una </a:t>
            </a:r>
            <a:r>
              <a:rPr kumimoji="0" lang="en-US" sz="11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ditta individuale</a:t>
            </a:r>
            <a:r>
              <a:rPr kumimoji="0" lang="en-US" sz="11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costa poche centinaia di euro (iscrizione CCIAA + eventuale apertura partita IVA). Una </a:t>
            </a:r>
            <a:r>
              <a:rPr kumimoji="0" lang="en-US" sz="11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S.r.l. ordinaria</a:t>
            </a:r>
            <a:r>
              <a:rPr kumimoji="0" lang="en-US" sz="11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richiede invece oneri notarili (1.500–3.000 euro), tasse di registro, e il versamento del capitale minimo (10.000 euro, di cui almeno 2.500 al momento della costituzione). La </a:t>
            </a:r>
            <a:r>
              <a:rPr kumimoji="0" lang="en-US" sz="11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SRLS</a:t>
            </a:r>
            <a:r>
              <a:rPr kumimoji="0" lang="en-US" sz="11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riduce i costi notarili a zero (atto standard gratuito) ma ha meno flessibilità statutaria. I costi annui di gestione (commercialista, deposito bilancio, revisione) sono significativamente più alti per le società di capitali.</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29857" y="4184690"/>
            <a:ext cx="210503" cy="210502"/>
          </a:xfrm>
          <a:prstGeom prst="rect">
            <a:avLst/>
          </a:prstGeom>
        </p:spPr>
      </p:pic>
      <p:sp>
        <p:nvSpPr>
          <p:cNvPr id="14" name="Text 8"/>
          <p:cNvSpPr/>
          <p:nvPr/>
        </p:nvSpPr>
        <p:spPr>
          <a:xfrm>
            <a:off x="7833360" y="4180284"/>
            <a:ext cx="2865001" cy="219313"/>
          </a:xfrm>
          <a:prstGeom prst="rect">
            <a:avLst/>
          </a:prstGeom>
          <a:noFill/>
          <a:ln/>
        </p:spPr>
        <p:txBody>
          <a:bodyPr wrap="none" lIns="0" tIns="0" rIns="0" bIns="0" rtlCol="0" anchor="t"/>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272525"/>
                </a:solidFill>
                <a:effectLst/>
                <a:uLnTx/>
                <a:uFillTx/>
                <a:latin typeface="Inter Bold" pitchFamily="34" charset="0"/>
                <a:ea typeface="Inter Bold" pitchFamily="34" charset="-122"/>
                <a:cs typeface="Inter Bold" pitchFamily="34" charset="-120"/>
              </a:rPr>
              <a:t>Come procedere concretamente?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9"/>
          <p:cNvSpPr/>
          <p:nvPr/>
        </p:nvSpPr>
        <p:spPr>
          <a:xfrm>
            <a:off x="7833360" y="4459129"/>
            <a:ext cx="5016579" cy="1533525"/>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Il percorso ideale prevede: </a:t>
            </a:r>
            <a:r>
              <a:rPr kumimoji="0" lang="en-US" sz="11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1)</a:t>
            </a:r>
            <a:r>
              <a:rPr kumimoji="0" lang="en-US" sz="11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Definire il modello di business e fare proiezioni finanziarie a 3-5 anni. </a:t>
            </a:r>
            <a:r>
              <a:rPr kumimoji="0" lang="en-US" sz="11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2)</a:t>
            </a:r>
            <a:r>
              <a:rPr kumimoji="0" lang="en-US" sz="11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Consultare un commercialista per la simulazione fiscale e contributiva. </a:t>
            </a:r>
            <a:r>
              <a:rPr kumimoji="0" lang="en-US" sz="11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3)</a:t>
            </a:r>
            <a:r>
              <a:rPr kumimoji="0" lang="en-US" sz="11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Consultare un avvocato per valutare i profili di rischio e responsabilità. </a:t>
            </a:r>
            <a:r>
              <a:rPr kumimoji="0" lang="en-US" sz="11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4)</a:t>
            </a:r>
            <a:r>
              <a:rPr kumimoji="0" lang="en-US" sz="11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Scegliere la forma giuridica e procedere con la costituzione presso un notaio (per le società) o tramite Sportello Unico delle Attività Produttive — SUAP (per le imprese individuali). </a:t>
            </a:r>
            <a:r>
              <a:rPr kumimoji="0" lang="en-US" sz="11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5)</a:t>
            </a:r>
            <a:r>
              <a:rPr kumimoji="0" lang="en-US" sz="11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Iscriversi al Registro delle Imprese e alla gestione previdenziale INPS competente.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0"/>
          <p:cNvSpPr/>
          <p:nvPr/>
        </p:nvSpPr>
        <p:spPr>
          <a:xfrm>
            <a:off x="1780461" y="6406872"/>
            <a:ext cx="11069479" cy="868680"/>
          </a:xfrm>
          <a:prstGeom prst="roundRect">
            <a:avLst>
              <a:gd name="adj" fmla="val 6787"/>
            </a:avLst>
          </a:prstGeom>
          <a:solidFill>
            <a:srgbClr val="C7C9EA"/>
          </a:solidFill>
          <a:ln/>
        </p:spPr>
      </p:sp>
      <p:sp>
        <p:nvSpPr>
          <p:cNvPr id="18" name="Text 11"/>
          <p:cNvSpPr/>
          <p:nvPr/>
        </p:nvSpPr>
        <p:spPr>
          <a:xfrm>
            <a:off x="2236589" y="6541055"/>
            <a:ext cx="10472976" cy="575072"/>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Consulenza professionale:</a:t>
            </a:r>
            <a:r>
              <a:rPr kumimoji="0" lang="en-US" sz="1100" b="0" i="0" u="none" strike="noStrike" kern="1200" cap="none" spc="0" normalizeH="0" baseline="0" noProof="0" dirty="0">
                <a:ln>
                  <a:noFill/>
                </a:ln>
                <a:solidFill>
                  <a:srgbClr val="000000"/>
                </a:solidFill>
                <a:effectLst/>
                <a:uLnTx/>
                <a:uFillTx/>
                <a:latin typeface="Inter" pitchFamily="34" charset="0"/>
                <a:ea typeface="Inter" pitchFamily="34" charset="-122"/>
                <a:cs typeface="Inter" pitchFamily="34" charset="-120"/>
              </a:rPr>
              <a:t> La scelta della forma giuridica è una decisione con conseguenze legali, fiscali e patrimoniali di lungo periodo. Si raccomanda vivamente di affidarsi a professionisti qualificati — commercialista, consulente del lavoro e avvocato — prima di procedere. Un investimento in consulenza iniziale può evitare costi molto maggiori in futuro.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EADD803C0F48442AB4649F39F36D470" ma:contentTypeVersion="3" ma:contentTypeDescription="Creare un nuovo documento." ma:contentTypeScope="" ma:versionID="d35b2196341eb729f5da875762150e16">
  <xsd:schema xmlns:xsd="http://www.w3.org/2001/XMLSchema" xmlns:xs="http://www.w3.org/2001/XMLSchema" xmlns:p="http://schemas.microsoft.com/office/2006/metadata/properties" xmlns:ns2="e77681ba-7771-496a-b5df-ee3e7b098b60" targetNamespace="http://schemas.microsoft.com/office/2006/metadata/properties" ma:root="true" ma:fieldsID="a7b6408fcc08daad0ede9d1b64b7a63e" ns2:_="">
    <xsd:import namespace="e77681ba-7771-496a-b5df-ee3e7b098b6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7681ba-7771-496a-b5df-ee3e7b098b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FE412A9-D1B1-424D-801E-E942D7AA5950}"/>
</file>

<file path=customXml/itemProps2.xml><?xml version="1.0" encoding="utf-8"?>
<ds:datastoreItem xmlns:ds="http://schemas.openxmlformats.org/officeDocument/2006/customXml" ds:itemID="{A895918E-F57C-41F6-9D2C-64F89367B8E7}"/>
</file>

<file path=customXml/itemProps3.xml><?xml version="1.0" encoding="utf-8"?>
<ds:datastoreItem xmlns:ds="http://schemas.openxmlformats.org/officeDocument/2006/customXml" ds:itemID="{7ED151AB-48A7-48D9-8E5D-A8F9684AB2D1}"/>
</file>

<file path=docProps/app.xml><?xml version="1.0" encoding="utf-8"?>
<Properties xmlns="http://schemas.openxmlformats.org/officeDocument/2006/extended-properties" xmlns:vt="http://schemas.openxmlformats.org/officeDocument/2006/docPropsVTypes">
  <TotalTime>368</TotalTime>
  <Words>4581</Words>
  <Application>Microsoft Office PowerPoint</Application>
  <PresentationFormat>Personalizzato</PresentationFormat>
  <Paragraphs>274</Paragraphs>
  <Slides>26</Slides>
  <Notes>23</Notes>
  <HiddenSlides>0</HiddenSlides>
  <MMClips>0</MMClips>
  <ScaleCrop>false</ScaleCrop>
  <HeadingPairs>
    <vt:vector size="6" baseType="variant">
      <vt:variant>
        <vt:lpstr>Caratteri utilizzati</vt:lpstr>
      </vt:variant>
      <vt:variant>
        <vt:i4>7</vt:i4>
      </vt:variant>
      <vt:variant>
        <vt:lpstr>Tema</vt:lpstr>
      </vt:variant>
      <vt:variant>
        <vt:i4>2</vt:i4>
      </vt:variant>
      <vt:variant>
        <vt:lpstr>Titoli diapositive</vt:lpstr>
      </vt:variant>
      <vt:variant>
        <vt:i4>26</vt:i4>
      </vt:variant>
    </vt:vector>
  </HeadingPairs>
  <TitlesOfParts>
    <vt:vector size="35" baseType="lpstr">
      <vt:lpstr>Poppins SemiBold</vt:lpstr>
      <vt:lpstr>Inter Bold</vt:lpstr>
      <vt:lpstr>Inter</vt:lpstr>
      <vt:lpstr>Arial</vt:lpstr>
      <vt:lpstr>Calibri</vt:lpstr>
      <vt:lpstr>Poppins</vt:lpstr>
      <vt:lpstr>Times New Roman</vt:lpstr>
      <vt:lpstr>Office Theme</vt:lpstr>
      <vt:lpstr>1_Office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subject/>
  <dc:creator/>
  <cp:lastModifiedBy>Piccirillo Giuseppe</cp:lastModifiedBy>
  <cp:revision>30</cp:revision>
  <dcterms:created xsi:type="dcterms:W3CDTF">2026-03-10T12:10:13Z</dcterms:created>
  <dcterms:modified xsi:type="dcterms:W3CDTF">2026-04-14T07:50:36Z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0x010100CEADD803C0F48442AB4649F39F36D470</vt:lpwstr>
  </property>
</Properties>
</file>