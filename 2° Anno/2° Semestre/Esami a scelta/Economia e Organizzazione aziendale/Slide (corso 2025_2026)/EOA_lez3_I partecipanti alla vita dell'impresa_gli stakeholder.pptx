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8.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39.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3.xml" ContentType="application/vnd.openxmlformats-officedocument.presentationml.slide+xml"/>
  <Override PartName="/ppt/notesSlides/notesSlide3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Masters/slideMaster2.xml" ContentType="application/vnd.openxmlformats-officedocument.presentationml.slideMaster+xml"/>
  <Override PartName="/ppt/notesSlides/notesSlide17.xml" ContentType="application/vnd.openxmlformats-officedocument.presentationml.notesSlide+xml"/>
  <Override PartName="/ppt/notesSlides/notesSlide26.xml" ContentType="application/vnd.openxmlformats-officedocument.presentationml.notesSlide+xml"/>
  <Override PartName="/ppt/notesSlides/notesSlide34.xml" ContentType="application/vnd.openxmlformats-officedocument.presentationml.notesSlide+xml"/>
  <Override PartName="/ppt/slideMasters/slideMaster1.xml" ContentType="application/vnd.openxmlformats-officedocument.presentationml.slideMaster+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3.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slideMasters/slideMaster3.xml" ContentType="application/vnd.openxmlformats-officedocument.presentationml.slideMaster+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 id="2147483672" r:id="rId3"/>
  </p:sldMasterIdLst>
  <p:notesMasterIdLst>
    <p:notesMasterId r:id="rId43"/>
  </p:notesMasterIdLst>
  <p:sldIdLst>
    <p:sldId id="367" r:id="rId4"/>
    <p:sldId id="257" r:id="rId5"/>
    <p:sldId id="329" r:id="rId6"/>
    <p:sldId id="302" r:id="rId7"/>
    <p:sldId id="260" r:id="rId8"/>
    <p:sldId id="331" r:id="rId9"/>
    <p:sldId id="262" r:id="rId10"/>
    <p:sldId id="333" r:id="rId11"/>
    <p:sldId id="264" r:id="rId12"/>
    <p:sldId id="335" r:id="rId13"/>
    <p:sldId id="337" r:id="rId14"/>
    <p:sldId id="266" r:id="rId15"/>
    <p:sldId id="355" r:id="rId16"/>
    <p:sldId id="339" r:id="rId17"/>
    <p:sldId id="345" r:id="rId18"/>
    <p:sldId id="272" r:id="rId19"/>
    <p:sldId id="347" r:id="rId20"/>
    <p:sldId id="354" r:id="rId21"/>
    <p:sldId id="356" r:id="rId22"/>
    <p:sldId id="278" r:id="rId23"/>
    <p:sldId id="279" r:id="rId24"/>
    <p:sldId id="280" r:id="rId25"/>
    <p:sldId id="281" r:id="rId26"/>
    <p:sldId id="282" r:id="rId27"/>
    <p:sldId id="298" r:id="rId28"/>
    <p:sldId id="283" r:id="rId29"/>
    <p:sldId id="341" r:id="rId30"/>
    <p:sldId id="287" r:id="rId31"/>
    <p:sldId id="342" r:id="rId32"/>
    <p:sldId id="286" r:id="rId33"/>
    <p:sldId id="344" r:id="rId34"/>
    <p:sldId id="290" r:id="rId35"/>
    <p:sldId id="291" r:id="rId36"/>
    <p:sldId id="292" r:id="rId37"/>
    <p:sldId id="293" r:id="rId38"/>
    <p:sldId id="294" r:id="rId39"/>
    <p:sldId id="295" r:id="rId40"/>
    <p:sldId id="296" r:id="rId41"/>
    <p:sldId id="297" r:id="rId42"/>
  </p:sldIdLst>
  <p:sldSz cx="9144000" cy="6858000" type="screen4x3"/>
  <p:notesSz cx="6858000" cy="9144000"/>
  <p:embeddedFontLst>
    <p:embeddedFont>
      <p:font typeface="Calibri" panose="020F0502020204030204" pitchFamily="34" charset="0"/>
      <p:regular r:id="rId44"/>
      <p:bold r:id="rId45"/>
      <p:italic r:id="rId46"/>
      <p:boldItalic r:id="rId47"/>
    </p:embeddedFont>
    <p:embeddedFont>
      <p:font typeface="Calibri Light" panose="020F0302020204030204" pitchFamily="34" charset="0"/>
      <p:regular r:id="rId48"/>
      <p:italic r:id="rId49"/>
    </p:embeddedFont>
    <p:embeddedFont>
      <p:font typeface="Georgia" panose="02040502050405020303" pitchFamily="18" charset="0"/>
      <p:regular r:id="rId50"/>
      <p:bold r:id="rId51"/>
      <p:italic r:id="rId52"/>
      <p:boldItalic r:id="rId53"/>
    </p:embeddedFont>
    <p:embeddedFont>
      <p:font typeface="Poppins" panose="020B0604020202020204" charset="0"/>
      <p:regular r:id="rId54"/>
      <p:bold r:id="rId55"/>
      <p:italic r:id="rId56"/>
      <p:boldItalic r:id="rId57"/>
    </p:embeddedFont>
    <p:embeddedFont>
      <p:font typeface="Poppins SemiBold" panose="020B0604020202020204" charset="0"/>
      <p:bold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8" roundtripDataSignature="AMtx7mg7PAWhXJQmo3lPgQy8J3J+f46l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8E0FCA-8794-4F3D-BA54-FF5EEB395FAC}" v="1" dt="2022-07-18T11:24:06.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076" autoAdjust="0"/>
  </p:normalViewPr>
  <p:slideViewPr>
    <p:cSldViewPr snapToGrid="0">
      <p:cViewPr varScale="1">
        <p:scale>
          <a:sx n="68" d="100"/>
          <a:sy n="68" d="100"/>
        </p:scale>
        <p:origin x="1882" y="6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font" Target="fonts/font4.fntdata"/><Relationship Id="rId84"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79" Type="http://schemas.openxmlformats.org/officeDocument/2006/relationships/presProps" Target="presProps.xml"/><Relationship Id="rId87" Type="http://schemas.openxmlformats.org/officeDocument/2006/relationships/customXml" Target="../customXml/item3.xml"/><Relationship Id="rId5" Type="http://schemas.openxmlformats.org/officeDocument/2006/relationships/slide" Target="slides/slide2.xml"/><Relationship Id="rId82"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8" Type="http://schemas.openxmlformats.org/officeDocument/2006/relationships/slide" Target="slides/slide5.xml"/><Relationship Id="rId51" Type="http://schemas.openxmlformats.org/officeDocument/2006/relationships/font" Target="fonts/font8.fntdata"/><Relationship Id="rId80" Type="http://schemas.openxmlformats.org/officeDocument/2006/relationships/viewProps" Target="viewProps.xml"/><Relationship Id="rId85" Type="http://schemas.openxmlformats.org/officeDocument/2006/relationships/customXml" Target="../customXml/item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3.fntdata"/><Relationship Id="rId59" Type="http://schemas.openxmlformats.org/officeDocument/2006/relationships/font" Target="fonts/font16.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1.fntdata"/><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1.fntdata"/><Relationship Id="rId52" Type="http://schemas.openxmlformats.org/officeDocument/2006/relationships/font" Target="fonts/font9.fntdata"/><Relationship Id="rId78" Type="http://customschemas.google.com/relationships/presentationmetadata" Target="metadata"/><Relationship Id="rId81" Type="http://schemas.openxmlformats.org/officeDocument/2006/relationships/theme" Target="theme/theme1.xml"/><Relationship Id="rId86"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font" Target="fonts/font7.fntdata"/><Relationship Id="rId55"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ROSALBA ANGRISANI" userId="478df574-db9e-4150-8747-be9b561b464a" providerId="ADAL" clId="{0A8E0FCA-8794-4F3D-BA54-FF5EEB395FAC}"/>
    <pc:docChg chg="modSld modNotesMaster">
      <pc:chgData name="MARIAROSALBA ANGRISANI" userId="478df574-db9e-4150-8747-be9b561b464a" providerId="ADAL" clId="{0A8E0FCA-8794-4F3D-BA54-FF5EEB395FAC}" dt="2022-07-18T11:24:06.324" v="0"/>
      <pc:docMkLst>
        <pc:docMk/>
      </pc:docMkLst>
      <pc:sldChg chg="modNotes">
        <pc:chgData name="MARIAROSALBA ANGRISANI" userId="478df574-db9e-4150-8747-be9b561b464a" providerId="ADAL" clId="{0A8E0FCA-8794-4F3D-BA54-FF5EEB395FAC}" dt="2022-07-18T11:24:06.324" v="0"/>
        <pc:sldMkLst>
          <pc:docMk/>
          <pc:sldMk cId="0" sldId="256"/>
        </pc:sldMkLst>
      </pc:sldChg>
      <pc:sldChg chg="modNotes">
        <pc:chgData name="MARIAROSALBA ANGRISANI" userId="478df574-db9e-4150-8747-be9b561b464a" providerId="ADAL" clId="{0A8E0FCA-8794-4F3D-BA54-FF5EEB395FAC}" dt="2022-07-18T11:24:06.324" v="0"/>
        <pc:sldMkLst>
          <pc:docMk/>
          <pc:sldMk cId="0" sldId="257"/>
        </pc:sldMkLst>
      </pc:sldChg>
      <pc:sldChg chg="modNotes">
        <pc:chgData name="MARIAROSALBA ANGRISANI" userId="478df574-db9e-4150-8747-be9b561b464a" providerId="ADAL" clId="{0A8E0FCA-8794-4F3D-BA54-FF5EEB395FAC}" dt="2022-07-18T11:24:06.324" v="0"/>
        <pc:sldMkLst>
          <pc:docMk/>
          <pc:sldMk cId="0" sldId="258"/>
        </pc:sldMkLst>
      </pc:sldChg>
      <pc:sldChg chg="modNotes">
        <pc:chgData name="MARIAROSALBA ANGRISANI" userId="478df574-db9e-4150-8747-be9b561b464a" providerId="ADAL" clId="{0A8E0FCA-8794-4F3D-BA54-FF5EEB395FAC}" dt="2022-07-18T11:24:06.324" v="0"/>
        <pc:sldMkLst>
          <pc:docMk/>
          <pc:sldMk cId="0" sldId="260"/>
        </pc:sldMkLst>
      </pc:sldChg>
      <pc:sldChg chg="modNotes">
        <pc:chgData name="MARIAROSALBA ANGRISANI" userId="478df574-db9e-4150-8747-be9b561b464a" providerId="ADAL" clId="{0A8E0FCA-8794-4F3D-BA54-FF5EEB395FAC}" dt="2022-07-18T11:24:06.324" v="0"/>
        <pc:sldMkLst>
          <pc:docMk/>
          <pc:sldMk cId="0" sldId="261"/>
        </pc:sldMkLst>
      </pc:sldChg>
      <pc:sldChg chg="modNotes">
        <pc:chgData name="MARIAROSALBA ANGRISANI" userId="478df574-db9e-4150-8747-be9b561b464a" providerId="ADAL" clId="{0A8E0FCA-8794-4F3D-BA54-FF5EEB395FAC}" dt="2022-07-18T11:24:06.324" v="0"/>
        <pc:sldMkLst>
          <pc:docMk/>
          <pc:sldMk cId="0" sldId="262"/>
        </pc:sldMkLst>
      </pc:sldChg>
      <pc:sldChg chg="modNotes">
        <pc:chgData name="MARIAROSALBA ANGRISANI" userId="478df574-db9e-4150-8747-be9b561b464a" providerId="ADAL" clId="{0A8E0FCA-8794-4F3D-BA54-FF5EEB395FAC}" dt="2022-07-18T11:24:06.324" v="0"/>
        <pc:sldMkLst>
          <pc:docMk/>
          <pc:sldMk cId="0" sldId="263"/>
        </pc:sldMkLst>
      </pc:sldChg>
      <pc:sldChg chg="modNotes">
        <pc:chgData name="MARIAROSALBA ANGRISANI" userId="478df574-db9e-4150-8747-be9b561b464a" providerId="ADAL" clId="{0A8E0FCA-8794-4F3D-BA54-FF5EEB395FAC}" dt="2022-07-18T11:24:06.324" v="0"/>
        <pc:sldMkLst>
          <pc:docMk/>
          <pc:sldMk cId="0" sldId="264"/>
        </pc:sldMkLst>
      </pc:sldChg>
      <pc:sldChg chg="modNotes">
        <pc:chgData name="MARIAROSALBA ANGRISANI" userId="478df574-db9e-4150-8747-be9b561b464a" providerId="ADAL" clId="{0A8E0FCA-8794-4F3D-BA54-FF5EEB395FAC}" dt="2022-07-18T11:24:06.324" v="0"/>
        <pc:sldMkLst>
          <pc:docMk/>
          <pc:sldMk cId="0" sldId="265"/>
        </pc:sldMkLst>
      </pc:sldChg>
      <pc:sldChg chg="modNotes">
        <pc:chgData name="MARIAROSALBA ANGRISANI" userId="478df574-db9e-4150-8747-be9b561b464a" providerId="ADAL" clId="{0A8E0FCA-8794-4F3D-BA54-FF5EEB395FAC}" dt="2022-07-18T11:24:06.324" v="0"/>
        <pc:sldMkLst>
          <pc:docMk/>
          <pc:sldMk cId="0" sldId="266"/>
        </pc:sldMkLst>
      </pc:sldChg>
      <pc:sldChg chg="modNotes">
        <pc:chgData name="MARIAROSALBA ANGRISANI" userId="478df574-db9e-4150-8747-be9b561b464a" providerId="ADAL" clId="{0A8E0FCA-8794-4F3D-BA54-FF5EEB395FAC}" dt="2022-07-18T11:24:06.324" v="0"/>
        <pc:sldMkLst>
          <pc:docMk/>
          <pc:sldMk cId="0" sldId="267"/>
        </pc:sldMkLst>
      </pc:sldChg>
      <pc:sldChg chg="modNotes">
        <pc:chgData name="MARIAROSALBA ANGRISANI" userId="478df574-db9e-4150-8747-be9b561b464a" providerId="ADAL" clId="{0A8E0FCA-8794-4F3D-BA54-FF5EEB395FAC}" dt="2022-07-18T11:24:06.324" v="0"/>
        <pc:sldMkLst>
          <pc:docMk/>
          <pc:sldMk cId="0" sldId="269"/>
        </pc:sldMkLst>
      </pc:sldChg>
      <pc:sldChg chg="modNotes">
        <pc:chgData name="MARIAROSALBA ANGRISANI" userId="478df574-db9e-4150-8747-be9b561b464a" providerId="ADAL" clId="{0A8E0FCA-8794-4F3D-BA54-FF5EEB395FAC}" dt="2022-07-18T11:24:06.324" v="0"/>
        <pc:sldMkLst>
          <pc:docMk/>
          <pc:sldMk cId="0" sldId="270"/>
        </pc:sldMkLst>
      </pc:sldChg>
      <pc:sldChg chg="modNotes">
        <pc:chgData name="MARIAROSALBA ANGRISANI" userId="478df574-db9e-4150-8747-be9b561b464a" providerId="ADAL" clId="{0A8E0FCA-8794-4F3D-BA54-FF5EEB395FAC}" dt="2022-07-18T11:24:06.324" v="0"/>
        <pc:sldMkLst>
          <pc:docMk/>
          <pc:sldMk cId="0" sldId="271"/>
        </pc:sldMkLst>
      </pc:sldChg>
      <pc:sldChg chg="modNotes">
        <pc:chgData name="MARIAROSALBA ANGRISANI" userId="478df574-db9e-4150-8747-be9b561b464a" providerId="ADAL" clId="{0A8E0FCA-8794-4F3D-BA54-FF5EEB395FAC}" dt="2022-07-18T11:24:06.324" v="0"/>
        <pc:sldMkLst>
          <pc:docMk/>
          <pc:sldMk cId="0" sldId="272"/>
        </pc:sldMkLst>
      </pc:sldChg>
      <pc:sldChg chg="modNotes">
        <pc:chgData name="MARIAROSALBA ANGRISANI" userId="478df574-db9e-4150-8747-be9b561b464a" providerId="ADAL" clId="{0A8E0FCA-8794-4F3D-BA54-FF5EEB395FAC}" dt="2022-07-18T11:24:06.324" v="0"/>
        <pc:sldMkLst>
          <pc:docMk/>
          <pc:sldMk cId="0" sldId="273"/>
        </pc:sldMkLst>
      </pc:sldChg>
      <pc:sldChg chg="modNotes">
        <pc:chgData name="MARIAROSALBA ANGRISANI" userId="478df574-db9e-4150-8747-be9b561b464a" providerId="ADAL" clId="{0A8E0FCA-8794-4F3D-BA54-FF5EEB395FAC}" dt="2022-07-18T11:24:06.324" v="0"/>
        <pc:sldMkLst>
          <pc:docMk/>
          <pc:sldMk cId="0" sldId="274"/>
        </pc:sldMkLst>
      </pc:sldChg>
      <pc:sldChg chg="modNotes">
        <pc:chgData name="MARIAROSALBA ANGRISANI" userId="478df574-db9e-4150-8747-be9b561b464a" providerId="ADAL" clId="{0A8E0FCA-8794-4F3D-BA54-FF5EEB395FAC}" dt="2022-07-18T11:24:06.324" v="0"/>
        <pc:sldMkLst>
          <pc:docMk/>
          <pc:sldMk cId="0" sldId="275"/>
        </pc:sldMkLst>
      </pc:sldChg>
      <pc:sldChg chg="modNotes">
        <pc:chgData name="MARIAROSALBA ANGRISANI" userId="478df574-db9e-4150-8747-be9b561b464a" providerId="ADAL" clId="{0A8E0FCA-8794-4F3D-BA54-FF5EEB395FAC}" dt="2022-07-18T11:24:06.324" v="0"/>
        <pc:sldMkLst>
          <pc:docMk/>
          <pc:sldMk cId="0" sldId="276"/>
        </pc:sldMkLst>
      </pc:sldChg>
      <pc:sldChg chg="modNotes">
        <pc:chgData name="MARIAROSALBA ANGRISANI" userId="478df574-db9e-4150-8747-be9b561b464a" providerId="ADAL" clId="{0A8E0FCA-8794-4F3D-BA54-FF5EEB395FAC}" dt="2022-07-18T11:24:06.324" v="0"/>
        <pc:sldMkLst>
          <pc:docMk/>
          <pc:sldMk cId="0" sldId="277"/>
        </pc:sldMkLst>
      </pc:sldChg>
      <pc:sldChg chg="modNotes">
        <pc:chgData name="MARIAROSALBA ANGRISANI" userId="478df574-db9e-4150-8747-be9b561b464a" providerId="ADAL" clId="{0A8E0FCA-8794-4F3D-BA54-FF5EEB395FAC}" dt="2022-07-18T11:24:06.324" v="0"/>
        <pc:sldMkLst>
          <pc:docMk/>
          <pc:sldMk cId="0" sldId="278"/>
        </pc:sldMkLst>
      </pc:sldChg>
      <pc:sldChg chg="modNotes">
        <pc:chgData name="MARIAROSALBA ANGRISANI" userId="478df574-db9e-4150-8747-be9b561b464a" providerId="ADAL" clId="{0A8E0FCA-8794-4F3D-BA54-FF5EEB395FAC}" dt="2022-07-18T11:24:06.324" v="0"/>
        <pc:sldMkLst>
          <pc:docMk/>
          <pc:sldMk cId="0" sldId="279"/>
        </pc:sldMkLst>
      </pc:sldChg>
      <pc:sldChg chg="modNotes">
        <pc:chgData name="MARIAROSALBA ANGRISANI" userId="478df574-db9e-4150-8747-be9b561b464a" providerId="ADAL" clId="{0A8E0FCA-8794-4F3D-BA54-FF5EEB395FAC}" dt="2022-07-18T11:24:06.324" v="0"/>
        <pc:sldMkLst>
          <pc:docMk/>
          <pc:sldMk cId="0" sldId="280"/>
        </pc:sldMkLst>
      </pc:sldChg>
      <pc:sldChg chg="modNotes">
        <pc:chgData name="MARIAROSALBA ANGRISANI" userId="478df574-db9e-4150-8747-be9b561b464a" providerId="ADAL" clId="{0A8E0FCA-8794-4F3D-BA54-FF5EEB395FAC}" dt="2022-07-18T11:24:06.324" v="0"/>
        <pc:sldMkLst>
          <pc:docMk/>
          <pc:sldMk cId="0" sldId="281"/>
        </pc:sldMkLst>
      </pc:sldChg>
      <pc:sldChg chg="modNotes">
        <pc:chgData name="MARIAROSALBA ANGRISANI" userId="478df574-db9e-4150-8747-be9b561b464a" providerId="ADAL" clId="{0A8E0FCA-8794-4F3D-BA54-FF5EEB395FAC}" dt="2022-07-18T11:24:06.324" v="0"/>
        <pc:sldMkLst>
          <pc:docMk/>
          <pc:sldMk cId="0" sldId="282"/>
        </pc:sldMkLst>
      </pc:sldChg>
      <pc:sldChg chg="modNotes">
        <pc:chgData name="MARIAROSALBA ANGRISANI" userId="478df574-db9e-4150-8747-be9b561b464a" providerId="ADAL" clId="{0A8E0FCA-8794-4F3D-BA54-FF5EEB395FAC}" dt="2022-07-18T11:24:06.324" v="0"/>
        <pc:sldMkLst>
          <pc:docMk/>
          <pc:sldMk cId="0" sldId="283"/>
        </pc:sldMkLst>
      </pc:sldChg>
      <pc:sldChg chg="modNotes">
        <pc:chgData name="MARIAROSALBA ANGRISANI" userId="478df574-db9e-4150-8747-be9b561b464a" providerId="ADAL" clId="{0A8E0FCA-8794-4F3D-BA54-FF5EEB395FAC}" dt="2022-07-18T11:24:06.324" v="0"/>
        <pc:sldMkLst>
          <pc:docMk/>
          <pc:sldMk cId="0" sldId="284"/>
        </pc:sldMkLst>
      </pc:sldChg>
      <pc:sldChg chg="modNotes">
        <pc:chgData name="MARIAROSALBA ANGRISANI" userId="478df574-db9e-4150-8747-be9b561b464a" providerId="ADAL" clId="{0A8E0FCA-8794-4F3D-BA54-FF5EEB395FAC}" dt="2022-07-18T11:24:06.324" v="0"/>
        <pc:sldMkLst>
          <pc:docMk/>
          <pc:sldMk cId="0" sldId="285"/>
        </pc:sldMkLst>
      </pc:sldChg>
      <pc:sldChg chg="modNotes">
        <pc:chgData name="MARIAROSALBA ANGRISANI" userId="478df574-db9e-4150-8747-be9b561b464a" providerId="ADAL" clId="{0A8E0FCA-8794-4F3D-BA54-FF5EEB395FAC}" dt="2022-07-18T11:24:06.324" v="0"/>
        <pc:sldMkLst>
          <pc:docMk/>
          <pc:sldMk cId="0" sldId="286"/>
        </pc:sldMkLst>
      </pc:sldChg>
      <pc:sldChg chg="modNotes">
        <pc:chgData name="MARIAROSALBA ANGRISANI" userId="478df574-db9e-4150-8747-be9b561b464a" providerId="ADAL" clId="{0A8E0FCA-8794-4F3D-BA54-FF5EEB395FAC}" dt="2022-07-18T11:24:06.324" v="0"/>
        <pc:sldMkLst>
          <pc:docMk/>
          <pc:sldMk cId="0" sldId="287"/>
        </pc:sldMkLst>
      </pc:sldChg>
      <pc:sldChg chg="modNotes">
        <pc:chgData name="MARIAROSALBA ANGRISANI" userId="478df574-db9e-4150-8747-be9b561b464a" providerId="ADAL" clId="{0A8E0FCA-8794-4F3D-BA54-FF5EEB395FAC}" dt="2022-07-18T11:24:06.324" v="0"/>
        <pc:sldMkLst>
          <pc:docMk/>
          <pc:sldMk cId="0" sldId="288"/>
        </pc:sldMkLst>
      </pc:sldChg>
      <pc:sldChg chg="modNotes">
        <pc:chgData name="MARIAROSALBA ANGRISANI" userId="478df574-db9e-4150-8747-be9b561b464a" providerId="ADAL" clId="{0A8E0FCA-8794-4F3D-BA54-FF5EEB395FAC}" dt="2022-07-18T11:24:06.324" v="0"/>
        <pc:sldMkLst>
          <pc:docMk/>
          <pc:sldMk cId="0" sldId="289"/>
        </pc:sldMkLst>
      </pc:sldChg>
      <pc:sldChg chg="modNotes">
        <pc:chgData name="MARIAROSALBA ANGRISANI" userId="478df574-db9e-4150-8747-be9b561b464a" providerId="ADAL" clId="{0A8E0FCA-8794-4F3D-BA54-FF5EEB395FAC}" dt="2022-07-18T11:24:06.324" v="0"/>
        <pc:sldMkLst>
          <pc:docMk/>
          <pc:sldMk cId="0" sldId="290"/>
        </pc:sldMkLst>
      </pc:sldChg>
      <pc:sldChg chg="modNotes">
        <pc:chgData name="MARIAROSALBA ANGRISANI" userId="478df574-db9e-4150-8747-be9b561b464a" providerId="ADAL" clId="{0A8E0FCA-8794-4F3D-BA54-FF5EEB395FAC}" dt="2022-07-18T11:24:06.324" v="0"/>
        <pc:sldMkLst>
          <pc:docMk/>
          <pc:sldMk cId="0" sldId="291"/>
        </pc:sldMkLst>
      </pc:sldChg>
      <pc:sldChg chg="modNotes">
        <pc:chgData name="MARIAROSALBA ANGRISANI" userId="478df574-db9e-4150-8747-be9b561b464a" providerId="ADAL" clId="{0A8E0FCA-8794-4F3D-BA54-FF5EEB395FAC}" dt="2022-07-18T11:24:06.324" v="0"/>
        <pc:sldMkLst>
          <pc:docMk/>
          <pc:sldMk cId="0" sldId="292"/>
        </pc:sldMkLst>
      </pc:sldChg>
      <pc:sldChg chg="modNotes">
        <pc:chgData name="MARIAROSALBA ANGRISANI" userId="478df574-db9e-4150-8747-be9b561b464a" providerId="ADAL" clId="{0A8E0FCA-8794-4F3D-BA54-FF5EEB395FAC}" dt="2022-07-18T11:24:06.324" v="0"/>
        <pc:sldMkLst>
          <pc:docMk/>
          <pc:sldMk cId="0" sldId="293"/>
        </pc:sldMkLst>
      </pc:sldChg>
      <pc:sldChg chg="modNotes">
        <pc:chgData name="MARIAROSALBA ANGRISANI" userId="478df574-db9e-4150-8747-be9b561b464a" providerId="ADAL" clId="{0A8E0FCA-8794-4F3D-BA54-FF5EEB395FAC}" dt="2022-07-18T11:24:06.324" v="0"/>
        <pc:sldMkLst>
          <pc:docMk/>
          <pc:sldMk cId="0" sldId="294"/>
        </pc:sldMkLst>
      </pc:sldChg>
      <pc:sldChg chg="modNotes">
        <pc:chgData name="MARIAROSALBA ANGRISANI" userId="478df574-db9e-4150-8747-be9b561b464a" providerId="ADAL" clId="{0A8E0FCA-8794-4F3D-BA54-FF5EEB395FAC}" dt="2022-07-18T11:24:06.324" v="0"/>
        <pc:sldMkLst>
          <pc:docMk/>
          <pc:sldMk cId="0" sldId="295"/>
        </pc:sldMkLst>
      </pc:sldChg>
      <pc:sldChg chg="modNotes">
        <pc:chgData name="MARIAROSALBA ANGRISANI" userId="478df574-db9e-4150-8747-be9b561b464a" providerId="ADAL" clId="{0A8E0FCA-8794-4F3D-BA54-FF5EEB395FAC}" dt="2022-07-18T11:24:06.324" v="0"/>
        <pc:sldMkLst>
          <pc:docMk/>
          <pc:sldMk cId="0" sldId="296"/>
        </pc:sldMkLst>
      </pc:sldChg>
      <pc:sldChg chg="modNotes">
        <pc:chgData name="MARIAROSALBA ANGRISANI" userId="478df574-db9e-4150-8747-be9b561b464a" providerId="ADAL" clId="{0A8E0FCA-8794-4F3D-BA54-FF5EEB395FAC}" dt="2022-07-18T11:24:06.324" v="0"/>
        <pc:sldMkLst>
          <pc:docMk/>
          <pc:sldMk cId="0" sldId="297"/>
        </pc:sldMkLst>
      </pc:sldChg>
      <pc:sldChg chg="modNotes">
        <pc:chgData name="MARIAROSALBA ANGRISANI" userId="478df574-db9e-4150-8747-be9b561b464a" providerId="ADAL" clId="{0A8E0FCA-8794-4F3D-BA54-FF5EEB395FAC}" dt="2022-07-18T11:24:06.324" v="0"/>
        <pc:sldMkLst>
          <pc:docMk/>
          <pc:sldMk cId="0" sldId="298"/>
        </pc:sldMkLst>
      </pc:sldChg>
      <pc:sldChg chg="modNotes">
        <pc:chgData name="MARIAROSALBA ANGRISANI" userId="478df574-db9e-4150-8747-be9b561b464a" providerId="ADAL" clId="{0A8E0FCA-8794-4F3D-BA54-FF5EEB395FAC}" dt="2022-07-18T11:24:06.324" v="0"/>
        <pc:sldMkLst>
          <pc:docMk/>
          <pc:sldMk cId="0" sldId="299"/>
        </pc:sldMkLst>
      </pc:sldChg>
      <pc:sldChg chg="modNotes">
        <pc:chgData name="MARIAROSALBA ANGRISANI" userId="478df574-db9e-4150-8747-be9b561b464a" providerId="ADAL" clId="{0A8E0FCA-8794-4F3D-BA54-FF5EEB395FAC}" dt="2022-07-18T11:24:06.324" v="0"/>
        <pc:sldMkLst>
          <pc:docMk/>
          <pc:sldMk cId="0" sldId="300"/>
        </pc:sldMkLst>
      </pc:sldChg>
      <pc:sldChg chg="modNotes">
        <pc:chgData name="MARIAROSALBA ANGRISANI" userId="478df574-db9e-4150-8747-be9b561b464a" providerId="ADAL" clId="{0A8E0FCA-8794-4F3D-BA54-FF5EEB395FAC}" dt="2022-07-18T11:24:06.324" v="0"/>
        <pc:sldMkLst>
          <pc:docMk/>
          <pc:sldMk cId="0" sldId="301"/>
        </pc:sldMkLst>
      </pc:sldChg>
      <pc:sldChg chg="modNotes">
        <pc:chgData name="MARIAROSALBA ANGRISANI" userId="478df574-db9e-4150-8747-be9b561b464a" providerId="ADAL" clId="{0A8E0FCA-8794-4F3D-BA54-FF5EEB395FAC}" dt="2022-07-18T11:24:06.324" v="0"/>
        <pc:sldMkLst>
          <pc:docMk/>
          <pc:sldMk cId="3926551539" sldId="302"/>
        </pc:sldMkLst>
      </pc:sldChg>
      <pc:sldChg chg="modNotes">
        <pc:chgData name="MARIAROSALBA ANGRISANI" userId="478df574-db9e-4150-8747-be9b561b464a" providerId="ADAL" clId="{0A8E0FCA-8794-4F3D-BA54-FF5EEB395FAC}" dt="2022-07-18T11:24:06.324" v="0"/>
        <pc:sldMkLst>
          <pc:docMk/>
          <pc:sldMk cId="3133832394" sldId="3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7305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6823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8902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7339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1389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036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7036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1541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841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99948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9" name="Google Shape;46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4" name="Google Shape;494;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48"/>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100" b="1" i="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8"/>
          <p:cNvSpPr txBox="1">
            <a:spLocks noGrp="1"/>
          </p:cNvSpPr>
          <p:nvPr>
            <p:ph type="body" idx="1"/>
          </p:nvPr>
        </p:nvSpPr>
        <p:spPr>
          <a:xfrm>
            <a:off x="1476375" y="2020696"/>
            <a:ext cx="6409055" cy="268795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48"/>
          <p:cNvSpPr txBox="1">
            <a:spLocks noGrp="1"/>
          </p:cNvSpPr>
          <p:nvPr>
            <p:ph type="ftr" idx="11"/>
          </p:nvPr>
        </p:nvSpPr>
        <p:spPr>
          <a:xfrm>
            <a:off x="394817" y="6640874"/>
            <a:ext cx="6297930" cy="1670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00" b="0" i="0">
                <a:solidFill>
                  <a:srgbClr val="330066"/>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it-IT"/>
              <a:t>‹N›</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7"/>
        <p:cNvGrpSpPr/>
        <p:nvPr/>
      </p:nvGrpSpPr>
      <p:grpSpPr>
        <a:xfrm>
          <a:off x="0" y="0"/>
          <a:ext cx="0" cy="0"/>
          <a:chOff x="0" y="0"/>
          <a:chExt cx="0" cy="0"/>
        </a:xfrm>
      </p:grpSpPr>
      <p:sp>
        <p:nvSpPr>
          <p:cNvPr id="18" name="Google Shape;18;p49"/>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100" b="1" i="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9"/>
          <p:cNvSpPr txBox="1">
            <a:spLocks noGrp="1"/>
          </p:cNvSpPr>
          <p:nvPr>
            <p:ph type="body" idx="1"/>
          </p:nvPr>
        </p:nvSpPr>
        <p:spPr>
          <a:xfrm>
            <a:off x="728878" y="1726438"/>
            <a:ext cx="2980054" cy="35179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000" b="1" i="0">
                <a:solidFill>
                  <a:srgbClr val="669999"/>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 name="Google Shape;20;p49"/>
          <p:cNvSpPr txBox="1">
            <a:spLocks noGrp="1"/>
          </p:cNvSpPr>
          <p:nvPr>
            <p:ph type="body" idx="2"/>
          </p:nvPr>
        </p:nvSpPr>
        <p:spPr>
          <a:xfrm>
            <a:off x="5373115" y="1846833"/>
            <a:ext cx="2982595" cy="362013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000" b="1" i="0">
                <a:solidFill>
                  <a:srgbClr val="669999"/>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 name="Google Shape;21;p49"/>
          <p:cNvSpPr txBox="1">
            <a:spLocks noGrp="1"/>
          </p:cNvSpPr>
          <p:nvPr>
            <p:ph type="ftr" idx="11"/>
          </p:nvPr>
        </p:nvSpPr>
        <p:spPr>
          <a:xfrm>
            <a:off x="394817" y="6640874"/>
            <a:ext cx="6297930" cy="1670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00" b="0" i="0">
                <a:solidFill>
                  <a:srgbClr val="330066"/>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it-IT"/>
              <a:t>‹N›</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31"/>
        <p:cNvGrpSpPr/>
        <p:nvPr/>
      </p:nvGrpSpPr>
      <p:grpSpPr>
        <a:xfrm>
          <a:off x="0" y="0"/>
          <a:ext cx="0" cy="0"/>
          <a:chOff x="0" y="0"/>
          <a:chExt cx="0" cy="0"/>
        </a:xfrm>
      </p:grpSpPr>
      <p:sp>
        <p:nvSpPr>
          <p:cNvPr id="32" name="Google Shape;32;p51"/>
          <p:cNvSpPr txBox="1">
            <a:spLocks noGrp="1"/>
          </p:cNvSpPr>
          <p:nvPr>
            <p:ph type="title"/>
          </p:nvPr>
        </p:nvSpPr>
        <p:spPr>
          <a:xfrm>
            <a:off x="1941910" y="2604220"/>
            <a:ext cx="6686549" cy="923330"/>
          </a:xfrm>
          <a:prstGeom prst="rect">
            <a:avLst/>
          </a:prstGeom>
          <a:noFill/>
          <a:ln>
            <a:noFill/>
          </a:ln>
        </p:spPr>
        <p:txBody>
          <a:bodyPr spcFirstLastPara="1" wrap="square" lIns="0" tIns="0" rIns="0" bIns="0" anchor="b" anchorCtr="0">
            <a:spAutoFit/>
          </a:bodyPr>
          <a:lstStyle>
            <a:lvl1pPr lvl="0" algn="l">
              <a:spcBef>
                <a:spcPts val="0"/>
              </a:spcBef>
              <a:spcAft>
                <a:spcPts val="0"/>
              </a:spcAft>
              <a:buSzPts val="1400"/>
              <a:buNone/>
              <a:defRPr sz="3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1"/>
          <p:cNvSpPr txBox="1">
            <a:spLocks noGrp="1"/>
          </p:cNvSpPr>
          <p:nvPr>
            <p:ph type="body" idx="1"/>
          </p:nvPr>
        </p:nvSpPr>
        <p:spPr>
          <a:xfrm>
            <a:off x="1941910" y="3530129"/>
            <a:ext cx="6686549" cy="23083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rgbClr val="595959"/>
              </a:buClr>
              <a:buSzPts val="1500"/>
              <a:buFont typeface="Calibri"/>
              <a:buNone/>
              <a:defRPr sz="1500">
                <a:solidFill>
                  <a:srgbClr val="595959"/>
                </a:solidFill>
              </a:defRPr>
            </a:lvl1pPr>
            <a:lvl2pPr marL="914400" lvl="1" indent="-228600" algn="l">
              <a:spcBef>
                <a:spcPts val="0"/>
              </a:spcBef>
              <a:spcAft>
                <a:spcPts val="0"/>
              </a:spcAft>
              <a:buClr>
                <a:srgbClr val="888888"/>
              </a:buClr>
              <a:buSzPts val="1350"/>
              <a:buFont typeface="Calibri"/>
              <a:buNone/>
              <a:defRPr sz="1350">
                <a:solidFill>
                  <a:srgbClr val="888888"/>
                </a:solidFill>
              </a:defRPr>
            </a:lvl2pPr>
            <a:lvl3pPr marL="1371600" lvl="2" indent="-228600" algn="l">
              <a:spcBef>
                <a:spcPts val="0"/>
              </a:spcBef>
              <a:spcAft>
                <a:spcPts val="0"/>
              </a:spcAft>
              <a:buClr>
                <a:srgbClr val="888888"/>
              </a:buClr>
              <a:buSzPts val="1200"/>
              <a:buFont typeface="Calibri"/>
              <a:buNone/>
              <a:defRPr sz="1200">
                <a:solidFill>
                  <a:srgbClr val="888888"/>
                </a:solidFill>
              </a:defRPr>
            </a:lvl3pPr>
            <a:lvl4pPr marL="1828800" lvl="3" indent="-228600" algn="l">
              <a:spcBef>
                <a:spcPts val="0"/>
              </a:spcBef>
              <a:spcAft>
                <a:spcPts val="0"/>
              </a:spcAft>
              <a:buClr>
                <a:srgbClr val="888888"/>
              </a:buClr>
              <a:buSzPts val="1050"/>
              <a:buFont typeface="Calibri"/>
              <a:buNone/>
              <a:defRPr sz="1050">
                <a:solidFill>
                  <a:srgbClr val="888888"/>
                </a:solidFill>
              </a:defRPr>
            </a:lvl4pPr>
            <a:lvl5pPr marL="2286000" lvl="4" indent="-228600" algn="l">
              <a:spcBef>
                <a:spcPts val="0"/>
              </a:spcBef>
              <a:spcAft>
                <a:spcPts val="0"/>
              </a:spcAft>
              <a:buClr>
                <a:srgbClr val="888888"/>
              </a:buClr>
              <a:buSzPts val="1050"/>
              <a:buFont typeface="Calibri"/>
              <a:buNone/>
              <a:defRPr sz="1050">
                <a:solidFill>
                  <a:srgbClr val="888888"/>
                </a:solidFill>
              </a:defRPr>
            </a:lvl5pPr>
            <a:lvl6pPr marL="2743200" lvl="5" indent="-228600" algn="l">
              <a:spcBef>
                <a:spcPts val="0"/>
              </a:spcBef>
              <a:spcAft>
                <a:spcPts val="0"/>
              </a:spcAft>
              <a:buClr>
                <a:srgbClr val="888888"/>
              </a:buClr>
              <a:buSzPts val="1050"/>
              <a:buFont typeface="Calibri"/>
              <a:buNone/>
              <a:defRPr sz="1050">
                <a:solidFill>
                  <a:srgbClr val="888888"/>
                </a:solidFill>
              </a:defRPr>
            </a:lvl6pPr>
            <a:lvl7pPr marL="3200400" lvl="6" indent="-228600" algn="l">
              <a:spcBef>
                <a:spcPts val="0"/>
              </a:spcBef>
              <a:spcAft>
                <a:spcPts val="0"/>
              </a:spcAft>
              <a:buClr>
                <a:srgbClr val="888888"/>
              </a:buClr>
              <a:buSzPts val="1050"/>
              <a:buFont typeface="Calibri"/>
              <a:buNone/>
              <a:defRPr sz="1050">
                <a:solidFill>
                  <a:srgbClr val="888888"/>
                </a:solidFill>
              </a:defRPr>
            </a:lvl7pPr>
            <a:lvl8pPr marL="3657600" lvl="7" indent="-228600" algn="l">
              <a:spcBef>
                <a:spcPts val="0"/>
              </a:spcBef>
              <a:spcAft>
                <a:spcPts val="0"/>
              </a:spcAft>
              <a:buClr>
                <a:srgbClr val="888888"/>
              </a:buClr>
              <a:buSzPts val="1050"/>
              <a:buFont typeface="Calibri"/>
              <a:buNone/>
              <a:defRPr sz="1050">
                <a:solidFill>
                  <a:srgbClr val="888888"/>
                </a:solidFill>
              </a:defRPr>
            </a:lvl8pPr>
            <a:lvl9pPr marL="4114800" lvl="8" indent="-228600" algn="l">
              <a:spcBef>
                <a:spcPts val="0"/>
              </a:spcBef>
              <a:spcAft>
                <a:spcPts val="0"/>
              </a:spcAft>
              <a:buClr>
                <a:srgbClr val="888888"/>
              </a:buClr>
              <a:buSzPts val="1050"/>
              <a:buFont typeface="Calibri"/>
              <a:buNone/>
              <a:defRPr sz="1050">
                <a:solidFill>
                  <a:srgbClr val="888888"/>
                </a:solidFill>
              </a:defRPr>
            </a:lvl9pPr>
          </a:lstStyle>
          <a:p>
            <a:endParaRPr/>
          </a:p>
        </p:txBody>
      </p:sp>
      <p:sp>
        <p:nvSpPr>
          <p:cNvPr id="34" name="Google Shape;34;p51"/>
          <p:cNvSpPr txBox="1">
            <a:spLocks noGrp="1"/>
          </p:cNvSpPr>
          <p:nvPr>
            <p:ph type="dt" idx="10"/>
          </p:nvPr>
        </p:nvSpPr>
        <p:spPr>
          <a:xfrm>
            <a:off x="457200" y="6377940"/>
            <a:ext cx="210312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1"/>
          <p:cNvSpPr txBox="1">
            <a:spLocks noGrp="1"/>
          </p:cNvSpPr>
          <p:nvPr>
            <p:ph type="ftr" idx="11"/>
          </p:nvPr>
        </p:nvSpPr>
        <p:spPr>
          <a:xfrm>
            <a:off x="394817" y="6640874"/>
            <a:ext cx="6297930" cy="15388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1"/>
          <p:cNvSpPr/>
          <p:nvPr/>
        </p:nvSpPr>
        <p:spPr>
          <a:xfrm rot="10800000" flipH="1">
            <a:off x="-3141" y="3178176"/>
            <a:ext cx="1191395"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1"/>
          <p:cNvSpPr txBox="1">
            <a:spLocks noGrp="1"/>
          </p:cNvSpPr>
          <p:nvPr>
            <p:ph type="sldNum" idx="12"/>
          </p:nvPr>
        </p:nvSpPr>
        <p:spPr>
          <a:xfrm>
            <a:off x="398860" y="3244140"/>
            <a:ext cx="584825" cy="276999"/>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38"/>
        <p:cNvGrpSpPr/>
        <p:nvPr/>
      </p:nvGrpSpPr>
      <p:grpSpPr>
        <a:xfrm>
          <a:off x="0" y="0"/>
          <a:ext cx="0" cy="0"/>
          <a:chOff x="0" y="0"/>
          <a:chExt cx="0" cy="0"/>
        </a:xfrm>
      </p:grpSpPr>
      <p:sp>
        <p:nvSpPr>
          <p:cNvPr id="39" name="Google Shape;39;p52"/>
          <p:cNvSpPr txBox="1">
            <a:spLocks noGrp="1"/>
          </p:cNvSpPr>
          <p:nvPr>
            <p:ph type="dt" idx="10"/>
          </p:nvPr>
        </p:nvSpPr>
        <p:spPr>
          <a:xfrm>
            <a:off x="457200" y="6377940"/>
            <a:ext cx="210312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2"/>
          <p:cNvSpPr txBox="1">
            <a:spLocks noGrp="1"/>
          </p:cNvSpPr>
          <p:nvPr>
            <p:ph type="ftr" idx="11"/>
          </p:nvPr>
        </p:nvSpPr>
        <p:spPr>
          <a:xfrm>
            <a:off x="394817" y="6640874"/>
            <a:ext cx="6297930" cy="15388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2"/>
          <p:cNvSpPr/>
          <p:nvPr/>
        </p:nvSpPr>
        <p:spPr>
          <a:xfrm rot="10800000" flipH="1">
            <a:off x="-3141" y="714376"/>
            <a:ext cx="1191395"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2"/>
          <p:cNvSpPr txBox="1">
            <a:spLocks noGrp="1"/>
          </p:cNvSpPr>
          <p:nvPr>
            <p:ph type="sldNum" idx="12"/>
          </p:nvPr>
        </p:nvSpPr>
        <p:spPr>
          <a:xfrm>
            <a:off x="6583680" y="6377940"/>
            <a:ext cx="2103120" cy="276999"/>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2124329" y="1902028"/>
            <a:ext cx="4895341" cy="252376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dt" idx="10"/>
          </p:nvPr>
        </p:nvSpPr>
        <p:spPr>
          <a:xfrm>
            <a:off x="457200" y="6377940"/>
            <a:ext cx="210312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53"/>
          <p:cNvSpPr txBox="1">
            <a:spLocks noGrp="1"/>
          </p:cNvSpPr>
          <p:nvPr>
            <p:ph type="ftr" idx="11"/>
          </p:nvPr>
        </p:nvSpPr>
        <p:spPr>
          <a:xfrm>
            <a:off x="394817" y="6640874"/>
            <a:ext cx="6297930" cy="15388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3"/>
          <p:cNvSpPr/>
          <p:nvPr/>
        </p:nvSpPr>
        <p:spPr>
          <a:xfrm rot="10800000" flipH="1">
            <a:off x="-3141" y="714376"/>
            <a:ext cx="1191395"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3"/>
          <p:cNvSpPr txBox="1">
            <a:spLocks noGrp="1"/>
          </p:cNvSpPr>
          <p:nvPr>
            <p:ph type="sldNum" idx="12"/>
          </p:nvPr>
        </p:nvSpPr>
        <p:spPr>
          <a:xfrm>
            <a:off x="6583680" y="6377940"/>
            <a:ext cx="2103120" cy="276999"/>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49"/>
        <p:cNvGrpSpPr/>
        <p:nvPr/>
      </p:nvGrpSpPr>
      <p:grpSpPr>
        <a:xfrm>
          <a:off x="0" y="0"/>
          <a:ext cx="0" cy="0"/>
          <a:chOff x="0" y="0"/>
          <a:chExt cx="0" cy="0"/>
        </a:xfrm>
      </p:grpSpPr>
      <p:sp>
        <p:nvSpPr>
          <p:cNvPr id="50" name="Google Shape;50;p54"/>
          <p:cNvSpPr/>
          <p:nvPr/>
        </p:nvSpPr>
        <p:spPr>
          <a:xfrm>
            <a:off x="7315200" y="1066800"/>
            <a:ext cx="0" cy="4495800"/>
          </a:xfrm>
          <a:custGeom>
            <a:avLst/>
            <a:gdLst/>
            <a:ahLst/>
            <a:cxnLst/>
            <a:rect l="l" t="t" r="r" b="b"/>
            <a:pathLst>
              <a:path w="120000" h="4495800" extrusionOk="0">
                <a:moveTo>
                  <a:pt x="0" y="0"/>
                </a:moveTo>
                <a:lnTo>
                  <a:pt x="0" y="449580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 name="Google Shape;51;p54"/>
          <p:cNvSpPr/>
          <p:nvPr/>
        </p:nvSpPr>
        <p:spPr>
          <a:xfrm>
            <a:off x="7493507" y="2993135"/>
            <a:ext cx="201168" cy="201167"/>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54"/>
          <p:cNvSpPr/>
          <p:nvPr/>
        </p:nvSpPr>
        <p:spPr>
          <a:xfrm>
            <a:off x="8061959" y="2993135"/>
            <a:ext cx="201168" cy="20116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53;p54"/>
          <p:cNvSpPr/>
          <p:nvPr/>
        </p:nvSpPr>
        <p:spPr>
          <a:xfrm>
            <a:off x="7776971" y="2993135"/>
            <a:ext cx="201168" cy="20116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54;p54"/>
          <p:cNvSpPr/>
          <p:nvPr/>
        </p:nvSpPr>
        <p:spPr>
          <a:xfrm>
            <a:off x="7493507" y="3276600"/>
            <a:ext cx="201168" cy="20116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 name="Google Shape;55;p54"/>
          <p:cNvSpPr/>
          <p:nvPr/>
        </p:nvSpPr>
        <p:spPr>
          <a:xfrm>
            <a:off x="8061959" y="3276600"/>
            <a:ext cx="201168" cy="20116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54"/>
          <p:cNvSpPr/>
          <p:nvPr/>
        </p:nvSpPr>
        <p:spPr>
          <a:xfrm>
            <a:off x="7776971" y="3276600"/>
            <a:ext cx="201168" cy="20116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 name="Google Shape;57;p54"/>
          <p:cNvSpPr/>
          <p:nvPr/>
        </p:nvSpPr>
        <p:spPr>
          <a:xfrm>
            <a:off x="8345423" y="3276600"/>
            <a:ext cx="201168" cy="20116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58;p54"/>
          <p:cNvSpPr/>
          <p:nvPr/>
        </p:nvSpPr>
        <p:spPr>
          <a:xfrm>
            <a:off x="7493507" y="3560064"/>
            <a:ext cx="201168" cy="202692"/>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 name="Google Shape;59;p54"/>
          <p:cNvSpPr/>
          <p:nvPr/>
        </p:nvSpPr>
        <p:spPr>
          <a:xfrm>
            <a:off x="7776971" y="3560064"/>
            <a:ext cx="201168" cy="202692"/>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 name="Google Shape;60;p54"/>
          <p:cNvSpPr/>
          <p:nvPr/>
        </p:nvSpPr>
        <p:spPr>
          <a:xfrm>
            <a:off x="8345423" y="3560064"/>
            <a:ext cx="201168" cy="202692"/>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54"/>
          <p:cNvSpPr/>
          <p:nvPr/>
        </p:nvSpPr>
        <p:spPr>
          <a:xfrm>
            <a:off x="8061959" y="3560064"/>
            <a:ext cx="201168" cy="202692"/>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 name="Google Shape;62;p54"/>
          <p:cNvSpPr/>
          <p:nvPr/>
        </p:nvSpPr>
        <p:spPr>
          <a:xfrm>
            <a:off x="8630411" y="3560064"/>
            <a:ext cx="201168" cy="202692"/>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 name="Google Shape;63;p54"/>
          <p:cNvSpPr/>
          <p:nvPr/>
        </p:nvSpPr>
        <p:spPr>
          <a:xfrm>
            <a:off x="7493507" y="3843528"/>
            <a:ext cx="201168" cy="202692"/>
          </a:xfrm>
          <a:prstGeom prst="rect">
            <a:avLst/>
          </a:prstGeom>
          <a:blipFill rotWithShape="1">
            <a:blip r:embed="rId1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64;p54"/>
          <p:cNvSpPr/>
          <p:nvPr/>
        </p:nvSpPr>
        <p:spPr>
          <a:xfrm>
            <a:off x="8061959" y="3843528"/>
            <a:ext cx="201168" cy="202692"/>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65;p54"/>
          <p:cNvSpPr/>
          <p:nvPr/>
        </p:nvSpPr>
        <p:spPr>
          <a:xfrm>
            <a:off x="7776971" y="3843528"/>
            <a:ext cx="201168" cy="202692"/>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 name="Google Shape;66;p54"/>
          <p:cNvSpPr/>
          <p:nvPr/>
        </p:nvSpPr>
        <p:spPr>
          <a:xfrm>
            <a:off x="8345423" y="3843528"/>
            <a:ext cx="201168" cy="202692"/>
          </a:xfrm>
          <a:prstGeom prst="rect">
            <a:avLst/>
          </a:prstGeom>
          <a:blipFill rotWithShape="1">
            <a:blip r:embed="rId1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54"/>
          <p:cNvSpPr/>
          <p:nvPr/>
        </p:nvSpPr>
        <p:spPr>
          <a:xfrm>
            <a:off x="7493507" y="4126991"/>
            <a:ext cx="201168" cy="204215"/>
          </a:xfrm>
          <a:prstGeom prst="rect">
            <a:avLst/>
          </a:prstGeom>
          <a:blipFill rotWithShape="1">
            <a:blip r:embed="rId1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54"/>
          <p:cNvSpPr/>
          <p:nvPr/>
        </p:nvSpPr>
        <p:spPr>
          <a:xfrm>
            <a:off x="7776971" y="4126991"/>
            <a:ext cx="201168" cy="204215"/>
          </a:xfrm>
          <a:prstGeom prst="rect">
            <a:avLst/>
          </a:prstGeom>
          <a:blipFill rotWithShape="1">
            <a:blip r:embed="rId1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 name="Google Shape;69;p54"/>
          <p:cNvSpPr/>
          <p:nvPr/>
        </p:nvSpPr>
        <p:spPr>
          <a:xfrm>
            <a:off x="8061959" y="4126991"/>
            <a:ext cx="201168" cy="204215"/>
          </a:xfrm>
          <a:prstGeom prst="rect">
            <a:avLst/>
          </a:prstGeom>
          <a:blipFill rotWithShape="1">
            <a:blip r:embed="rId1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70;p54"/>
          <p:cNvSpPr/>
          <p:nvPr/>
        </p:nvSpPr>
        <p:spPr>
          <a:xfrm>
            <a:off x="8345423" y="4126991"/>
            <a:ext cx="201168" cy="204215"/>
          </a:xfrm>
          <a:prstGeom prst="rect">
            <a:avLst/>
          </a:prstGeom>
          <a:blipFill rotWithShape="1">
            <a:blip r:embed="rId1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71;p54"/>
          <p:cNvSpPr/>
          <p:nvPr/>
        </p:nvSpPr>
        <p:spPr>
          <a:xfrm>
            <a:off x="8630411" y="4126991"/>
            <a:ext cx="201168" cy="204215"/>
          </a:xfrm>
          <a:prstGeom prst="rect">
            <a:avLst/>
          </a:prstGeom>
          <a:blipFill rotWithShape="1">
            <a:blip r:embed="rId1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72;p54"/>
          <p:cNvSpPr/>
          <p:nvPr/>
        </p:nvSpPr>
        <p:spPr>
          <a:xfrm>
            <a:off x="7493507" y="4411979"/>
            <a:ext cx="201168" cy="201168"/>
          </a:xfrm>
          <a:prstGeom prst="rect">
            <a:avLst/>
          </a:prstGeom>
          <a:blipFill rotWithShape="1">
            <a:blip r:embed="rId20">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 name="Google Shape;73;p54"/>
          <p:cNvSpPr/>
          <p:nvPr/>
        </p:nvSpPr>
        <p:spPr>
          <a:xfrm>
            <a:off x="8061959" y="4411979"/>
            <a:ext cx="201168" cy="201168"/>
          </a:xfrm>
          <a:prstGeom prst="rect">
            <a:avLst/>
          </a:prstGeom>
          <a:blipFill rotWithShape="1">
            <a:blip r:embed="rId2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74;p54"/>
          <p:cNvSpPr/>
          <p:nvPr/>
        </p:nvSpPr>
        <p:spPr>
          <a:xfrm>
            <a:off x="7776971" y="4411979"/>
            <a:ext cx="201168" cy="201168"/>
          </a:xfrm>
          <a:prstGeom prst="rect">
            <a:avLst/>
          </a:prstGeom>
          <a:blipFill rotWithShape="1">
            <a:blip r:embed="rId2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 name="Google Shape;75;p54"/>
          <p:cNvSpPr/>
          <p:nvPr/>
        </p:nvSpPr>
        <p:spPr>
          <a:xfrm>
            <a:off x="8345423" y="4411979"/>
            <a:ext cx="201168" cy="201168"/>
          </a:xfrm>
          <a:prstGeom prst="rect">
            <a:avLst/>
          </a:prstGeom>
          <a:blipFill rotWithShape="1">
            <a:blip r:embed="rId2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76;p54"/>
          <p:cNvSpPr/>
          <p:nvPr/>
        </p:nvSpPr>
        <p:spPr>
          <a:xfrm>
            <a:off x="7493507" y="4695444"/>
            <a:ext cx="201168" cy="202692"/>
          </a:xfrm>
          <a:prstGeom prst="rect">
            <a:avLst/>
          </a:prstGeom>
          <a:blipFill rotWithShape="1">
            <a:blip r:embed="rId2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54"/>
          <p:cNvSpPr/>
          <p:nvPr/>
        </p:nvSpPr>
        <p:spPr>
          <a:xfrm>
            <a:off x="7776971" y="4695444"/>
            <a:ext cx="201168" cy="202692"/>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 name="Google Shape;78;p54"/>
          <p:cNvSpPr/>
          <p:nvPr/>
        </p:nvSpPr>
        <p:spPr>
          <a:xfrm>
            <a:off x="8061959" y="4695444"/>
            <a:ext cx="201168" cy="202692"/>
          </a:xfrm>
          <a:prstGeom prst="rect">
            <a:avLst/>
          </a:prstGeom>
          <a:blipFill rotWithShape="1">
            <a:blip r:embed="rId2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54"/>
          <p:cNvSpPr/>
          <p:nvPr/>
        </p:nvSpPr>
        <p:spPr>
          <a:xfrm>
            <a:off x="7776971" y="4980432"/>
            <a:ext cx="201168" cy="201168"/>
          </a:xfrm>
          <a:prstGeom prst="rect">
            <a:avLst/>
          </a:prstGeom>
          <a:blipFill rotWithShape="1">
            <a:blip r:embed="rId2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 name="Google Shape;80;p54"/>
          <p:cNvSpPr/>
          <p:nvPr/>
        </p:nvSpPr>
        <p:spPr>
          <a:xfrm>
            <a:off x="8345423" y="4695444"/>
            <a:ext cx="201168" cy="202692"/>
          </a:xfrm>
          <a:prstGeom prst="rect">
            <a:avLst/>
          </a:prstGeom>
          <a:blipFill rotWithShape="1">
            <a:blip r:embed="rId2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 name="Google Shape;81;p54"/>
          <p:cNvSpPr/>
          <p:nvPr/>
        </p:nvSpPr>
        <p:spPr>
          <a:xfrm>
            <a:off x="8345423" y="4980432"/>
            <a:ext cx="201168" cy="201168"/>
          </a:xfrm>
          <a:prstGeom prst="rect">
            <a:avLst/>
          </a:prstGeom>
          <a:blipFill rotWithShape="1">
            <a:blip r:embed="rId2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 name="Google Shape;82;p54"/>
          <p:cNvSpPr/>
          <p:nvPr/>
        </p:nvSpPr>
        <p:spPr>
          <a:xfrm>
            <a:off x="304800" y="2819400"/>
            <a:ext cx="8229600" cy="0"/>
          </a:xfrm>
          <a:custGeom>
            <a:avLst/>
            <a:gdLst/>
            <a:ahLst/>
            <a:cxnLst/>
            <a:rect l="l" t="t" r="r" b="b"/>
            <a:pathLst>
              <a:path w="8229600" h="120000" extrusionOk="0">
                <a:moveTo>
                  <a:pt x="0" y="0"/>
                </a:moveTo>
                <a:lnTo>
                  <a:pt x="82296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54"/>
          <p:cNvSpPr txBox="1">
            <a:spLocks noGrp="1"/>
          </p:cNvSpPr>
          <p:nvPr>
            <p:ph type="ctrTitle"/>
          </p:nvPr>
        </p:nvSpPr>
        <p:spPr>
          <a:xfrm>
            <a:off x="2124837" y="1902028"/>
            <a:ext cx="4894325" cy="65151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100" b="1" i="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54"/>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4"/>
          <p:cNvSpPr txBox="1">
            <a:spLocks noGrp="1"/>
          </p:cNvSpPr>
          <p:nvPr>
            <p:ph type="ftr" idx="11"/>
          </p:nvPr>
        </p:nvSpPr>
        <p:spPr>
          <a:xfrm>
            <a:off x="394817" y="6640874"/>
            <a:ext cx="6297930" cy="1670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00" b="0" i="0">
                <a:solidFill>
                  <a:srgbClr val="330066"/>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5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it-IT"/>
              <a:t>‹N›</a:t>
            </a:fld>
            <a:endParaRPr sz="1800">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8"/>
        <p:cNvGrpSpPr/>
        <p:nvPr/>
      </p:nvGrpSpPr>
      <p:grpSpPr>
        <a:xfrm>
          <a:off x="0" y="0"/>
          <a:ext cx="0" cy="0"/>
          <a:chOff x="0" y="0"/>
          <a:chExt cx="0" cy="0"/>
        </a:xfrm>
      </p:grpSpPr>
      <p:sp>
        <p:nvSpPr>
          <p:cNvPr id="89" name="Google Shape;89;p55"/>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100" b="1" i="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55"/>
          <p:cNvSpPr txBox="1">
            <a:spLocks noGrp="1"/>
          </p:cNvSpPr>
          <p:nvPr>
            <p:ph type="ftr" idx="11"/>
          </p:nvPr>
        </p:nvSpPr>
        <p:spPr>
          <a:xfrm>
            <a:off x="394817" y="6640874"/>
            <a:ext cx="6297930" cy="1670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00" b="0" i="0">
                <a:solidFill>
                  <a:srgbClr val="330066"/>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it-IT"/>
              <a:t>‹N›</a:t>
            </a:fld>
            <a:endParaRPr sz="1800">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3"/>
        <p:cNvGrpSpPr/>
        <p:nvPr/>
      </p:nvGrpSpPr>
      <p:grpSpPr>
        <a:xfrm>
          <a:off x="0" y="0"/>
          <a:ext cx="0" cy="0"/>
          <a:chOff x="0" y="0"/>
          <a:chExt cx="0" cy="0"/>
        </a:xfrm>
      </p:grpSpPr>
      <p:sp>
        <p:nvSpPr>
          <p:cNvPr id="94" name="Google Shape;94;p56"/>
          <p:cNvSpPr txBox="1">
            <a:spLocks noGrp="1"/>
          </p:cNvSpPr>
          <p:nvPr>
            <p:ph type="ftr" idx="11"/>
          </p:nvPr>
        </p:nvSpPr>
        <p:spPr>
          <a:xfrm>
            <a:off x="394817" y="6640874"/>
            <a:ext cx="6297930" cy="1670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00" b="0" i="0">
                <a:solidFill>
                  <a:srgbClr val="330066"/>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56"/>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5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it-IT"/>
              <a:t>‹N›</a:t>
            </a:fld>
            <a:endParaRPr sz="1800">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367AC0-BB0E-EE45-B67E-6606AB89C3E0}"/>
              </a:ext>
            </a:extLst>
          </p:cNvPr>
          <p:cNvSpPr>
            <a:spLocks noGrp="1"/>
          </p:cNvSpPr>
          <p:nvPr>
            <p:ph type="ctrTitle"/>
          </p:nvPr>
        </p:nvSpPr>
        <p:spPr>
          <a:xfrm>
            <a:off x="1143000" y="1122363"/>
            <a:ext cx="6858000" cy="2387600"/>
          </a:xfrm>
        </p:spPr>
        <p:txBody>
          <a:bodyPr anchor="b"/>
          <a:lstStyle>
            <a:lvl1pPr algn="ctr">
              <a:defRPr sz="45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FF53AB7-2040-6A4E-B8ED-67778AF88E5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7FF3A72-D704-1841-96AA-28EC3DD8E2CE}"/>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A9CA5FEA-D3F6-8D4F-BD4F-ECA6856542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EAAD52E-67DD-4B40-8F63-C3017CBE6B68}"/>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528255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36CF00-FD7E-3F4B-9F94-8678F6E867F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92E0252-69EC-B644-974B-5C54AEBC12B1}"/>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6FA8D48-3180-EF46-9462-2E11F852B0FF}"/>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6E8CBD3E-9CC2-AB4D-9F84-714C51B156A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39A2179-0F5D-7A48-8EB5-044E5DCF17D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4140931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D9337D-EA32-C342-971D-6F706E94AAA7}"/>
              </a:ext>
            </a:extLst>
          </p:cNvPr>
          <p:cNvSpPr>
            <a:spLocks noGrp="1"/>
          </p:cNvSpPr>
          <p:nvPr>
            <p:ph type="title"/>
          </p:nvPr>
        </p:nvSpPr>
        <p:spPr>
          <a:xfrm>
            <a:off x="623888" y="1709739"/>
            <a:ext cx="7886700" cy="2852737"/>
          </a:xfrm>
        </p:spPr>
        <p:txBody>
          <a:bodyPr anchor="b"/>
          <a:lstStyle>
            <a:lvl1pPr>
              <a:defRPr sz="45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F038567C-11D6-3149-815B-596D4EE5068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3841DE1-40FA-5541-A83E-AFF6A60DA277}"/>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DDE33406-5847-C144-9808-ECE09FA3E14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DE7CB0-65E2-9D44-9CF8-6BF203218AB3}"/>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841067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A7A561-BA9A-1247-922E-6C11556BBC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C522E11-E4F4-3542-8669-453F68FA8398}"/>
              </a:ext>
            </a:extLst>
          </p:cNvPr>
          <p:cNvSpPr>
            <a:spLocks noGrp="1"/>
          </p:cNvSpPr>
          <p:nvPr>
            <p:ph sz="half" idx="1"/>
          </p:nvPr>
        </p:nvSpPr>
        <p:spPr>
          <a:xfrm>
            <a:off x="6286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0F52616-68E6-BB4A-96A9-1B7ACBF51BEC}"/>
              </a:ext>
            </a:extLst>
          </p:cNvPr>
          <p:cNvSpPr>
            <a:spLocks noGrp="1"/>
          </p:cNvSpPr>
          <p:nvPr>
            <p:ph sz="half" idx="2"/>
          </p:nvPr>
        </p:nvSpPr>
        <p:spPr>
          <a:xfrm>
            <a:off x="46291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7CC6BDC-A9E5-AA42-A8A5-C1103F0C3C64}"/>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6" name="Segnaposto piè di pagina 5">
            <a:extLst>
              <a:ext uri="{FF2B5EF4-FFF2-40B4-BE49-F238E27FC236}">
                <a16:creationId xmlns:a16="http://schemas.microsoft.com/office/drawing/2014/main" id="{42F679D5-D7D6-4749-9054-BD128D89C9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89AA0E8-25D9-1E40-804D-997B6AEA01BD}"/>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639831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B8D5F3-5523-B347-8B04-827E78F83122}"/>
              </a:ext>
            </a:extLst>
          </p:cNvPr>
          <p:cNvSpPr>
            <a:spLocks noGrp="1"/>
          </p:cNvSpPr>
          <p:nvPr>
            <p:ph type="title"/>
          </p:nvPr>
        </p:nvSpPr>
        <p:spPr>
          <a:xfrm>
            <a:off x="629841" y="365126"/>
            <a:ext cx="78867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B603646-5E6A-2F41-B712-8E476B6A62E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98D5E67-11E2-1046-A296-1CC9171C7BAB}"/>
              </a:ext>
            </a:extLst>
          </p:cNvPr>
          <p:cNvSpPr>
            <a:spLocks noGrp="1"/>
          </p:cNvSpPr>
          <p:nvPr>
            <p:ph sz="half" idx="2"/>
          </p:nvPr>
        </p:nvSpPr>
        <p:spPr>
          <a:xfrm>
            <a:off x="629842" y="2505075"/>
            <a:ext cx="3868340"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D30E96A8-2A9D-BA44-82AB-B82F09212EC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8018130-58EC-284C-A192-C371081C2517}"/>
              </a:ext>
            </a:extLst>
          </p:cNvPr>
          <p:cNvSpPr>
            <a:spLocks noGrp="1"/>
          </p:cNvSpPr>
          <p:nvPr>
            <p:ph sz="quarter" idx="4"/>
          </p:nvPr>
        </p:nvSpPr>
        <p:spPr>
          <a:xfrm>
            <a:off x="4629150" y="2505075"/>
            <a:ext cx="3887391"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CB29458A-6CF3-B94E-B727-939D1A471561}"/>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8" name="Segnaposto piè di pagina 7">
            <a:extLst>
              <a:ext uri="{FF2B5EF4-FFF2-40B4-BE49-F238E27FC236}">
                <a16:creationId xmlns:a16="http://schemas.microsoft.com/office/drawing/2014/main" id="{59E19C0E-0F91-0940-9385-12ABA967BD6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0768A48-068F-974D-98D6-0EC1DDB35679}"/>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784834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ED85C5-357B-0E40-828C-67A5C373E61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53762B7-CE4C-5348-82D8-7D04F258B97C}"/>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4" name="Segnaposto piè di pagina 3">
            <a:extLst>
              <a:ext uri="{FF2B5EF4-FFF2-40B4-BE49-F238E27FC236}">
                <a16:creationId xmlns:a16="http://schemas.microsoft.com/office/drawing/2014/main" id="{64DB46E7-B21B-A941-B987-55316164A5D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BEEB6E9-366B-B649-B905-E5A56D276216}"/>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898561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8D75B54-E12A-5442-8D55-468B050E0F6F}"/>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3" name="Segnaposto piè di pagina 2">
            <a:extLst>
              <a:ext uri="{FF2B5EF4-FFF2-40B4-BE49-F238E27FC236}">
                <a16:creationId xmlns:a16="http://schemas.microsoft.com/office/drawing/2014/main" id="{FAB2A5C5-1808-2946-8DFE-67203370BD8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F6E26AB-A10A-934A-A0EC-30A1322A1E35}"/>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190219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E5C40B-E968-214F-8001-CA7591B0DD2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825A044-FBFB-9644-BF3A-2594AC0412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2B36071-4534-D54F-AFF1-F727D2DC2AB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8641952-BC71-5A4B-BC34-62A2DD8CBCC3}"/>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6" name="Segnaposto piè di pagina 5">
            <a:extLst>
              <a:ext uri="{FF2B5EF4-FFF2-40B4-BE49-F238E27FC236}">
                <a16:creationId xmlns:a16="http://schemas.microsoft.com/office/drawing/2014/main" id="{0E0AA137-16A9-154E-87E2-05B30FB762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F91609-B2E7-2840-A72D-7EDA1C24F960}"/>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067515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F754E3-2D14-8F40-B464-14B90BB9B1E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4E2F00A2-A169-3647-A99A-786F0618B58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it-IT"/>
          </a:p>
        </p:txBody>
      </p:sp>
      <p:sp>
        <p:nvSpPr>
          <p:cNvPr id="4" name="Segnaposto testo 3">
            <a:extLst>
              <a:ext uri="{FF2B5EF4-FFF2-40B4-BE49-F238E27FC236}">
                <a16:creationId xmlns:a16="http://schemas.microsoft.com/office/drawing/2014/main" id="{CACC0AB3-6414-2145-B265-67BDAB7EE15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BB4EDBE-6213-DF4D-A4EE-AAF863ADF158}"/>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6" name="Segnaposto piè di pagina 5">
            <a:extLst>
              <a:ext uri="{FF2B5EF4-FFF2-40B4-BE49-F238E27FC236}">
                <a16:creationId xmlns:a16="http://schemas.microsoft.com/office/drawing/2014/main" id="{DDBE1ECD-E8FF-E24F-9FBA-9BB14237E8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FBF896D-807F-2149-A5ED-B820001F78E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862986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EE0EDF-6CF5-A14C-99B4-55F664CB25B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6562458-A655-544A-A151-8A948B62E3A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AF6DD5-DF38-A143-851C-B8924309AC7C}"/>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D3174AE1-61D9-8F49-9F60-D7301C88E36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B979509-6812-5346-836E-1B19A053E28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351612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E2465E9-337A-1545-8D0B-9B65F6A3D8D8}"/>
              </a:ext>
            </a:extLst>
          </p:cNvPr>
          <p:cNvSpPr>
            <a:spLocks noGrp="1"/>
          </p:cNvSpPr>
          <p:nvPr>
            <p:ph type="title" orient="vert"/>
          </p:nvPr>
        </p:nvSpPr>
        <p:spPr>
          <a:xfrm>
            <a:off x="6543675" y="365125"/>
            <a:ext cx="1971675"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430FEB-0602-2D4E-AF90-10E335830C3A}"/>
              </a:ext>
            </a:extLst>
          </p:cNvPr>
          <p:cNvSpPr>
            <a:spLocks noGrp="1"/>
          </p:cNvSpPr>
          <p:nvPr>
            <p:ph type="body" orient="vert" idx="1"/>
          </p:nvPr>
        </p:nvSpPr>
        <p:spPr>
          <a:xfrm>
            <a:off x="628650" y="365125"/>
            <a:ext cx="5800725"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C2387C-14AF-1547-87D4-20939D3E801F}"/>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9B85970C-D285-FC46-9BB1-94A16BE1E3F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5CA9C2E-F38A-3642-A45E-1F01AE95919B}"/>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781763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78" b="1" i="0">
                <a:solidFill>
                  <a:srgbClr val="330065"/>
                </a:solidFill>
                <a:latin typeface="Arial"/>
                <a:cs typeface="Arial"/>
              </a:defRPr>
            </a:lvl1pPr>
          </a:lstStyle>
          <a:p>
            <a:endParaRPr/>
          </a:p>
        </p:txBody>
      </p:sp>
      <p:sp>
        <p:nvSpPr>
          <p:cNvPr id="3" name="Holder 3"/>
          <p:cNvSpPr>
            <a:spLocks noGrp="1"/>
          </p:cNvSpPr>
          <p:nvPr>
            <p:ph sz="half" idx="2"/>
          </p:nvPr>
        </p:nvSpPr>
        <p:spPr>
          <a:xfrm>
            <a:off x="457201" y="1577340"/>
            <a:ext cx="397764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1" y="1577340"/>
            <a:ext cx="3977640" cy="2908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45" b="0" i="0">
                <a:solidFill>
                  <a:schemeClr val="tx1"/>
                </a:solidFill>
                <a:latin typeface="Arial"/>
                <a:cs typeface="Arial"/>
              </a:defRPr>
            </a:lvl1pPr>
          </a:lstStyle>
          <a:p>
            <a:pPr marL="8645">
              <a:spcBef>
                <a:spcPts val="17"/>
              </a:spcBef>
            </a:pPr>
            <a:r>
              <a:rPr lang="it-IT"/>
              <a:t>Sergio Sciarelli - </a:t>
            </a:r>
            <a:r>
              <a:rPr lang="it-IT" spc="-4"/>
              <a:t>La gestione dell'impresa CEDAM </a:t>
            </a:r>
            <a:r>
              <a:rPr lang="it-IT"/>
              <a:t>© </a:t>
            </a:r>
            <a:r>
              <a:rPr lang="it-IT" spc="-4"/>
              <a:t>2011 </a:t>
            </a:r>
            <a:r>
              <a:rPr lang="it-IT"/>
              <a:t>Wolters Kluwer Italia</a:t>
            </a:r>
            <a:r>
              <a:rPr lang="it-IT" spc="-41"/>
              <a:t> </a:t>
            </a:r>
            <a:r>
              <a:rPr lang="it-IT"/>
              <a:t>S.r.l.</a:t>
            </a:r>
            <a:endParaRPr lang="it-IT"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633432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674223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42900" y="1420283"/>
            <a:ext cx="38862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685800" y="2590800"/>
            <a:ext cx="3200400" cy="1168400"/>
          </a:xfrm>
          <a:prstGeom prst="rect">
            <a:avLst/>
          </a:prstGeom>
          <a:noFill/>
          <a:ln>
            <a:noFill/>
          </a:ln>
        </p:spPr>
        <p:txBody>
          <a:bodyPr spcFirstLastPara="1" wrap="square" lIns="91425" tIns="45700" rIns="91425" bIns="45700" anchor="t" anchorCtr="0">
            <a:normAutofit/>
          </a:bodyPr>
          <a:lstStyle>
            <a:lvl1pPr lvl="0" algn="ctr">
              <a:spcBef>
                <a:spcPts val="320"/>
              </a:spcBef>
              <a:spcAft>
                <a:spcPts val="0"/>
              </a:spcAft>
              <a:buClr>
                <a:srgbClr val="888888"/>
              </a:buClr>
              <a:buSzPts val="3200"/>
              <a:buNone/>
              <a:defRPr>
                <a:solidFill>
                  <a:srgbClr val="888888"/>
                </a:solidFill>
              </a:defRPr>
            </a:lvl1pPr>
            <a:lvl2pPr lvl="1" algn="ctr">
              <a:spcBef>
                <a:spcPts val="280"/>
              </a:spcBef>
              <a:spcAft>
                <a:spcPts val="0"/>
              </a:spcAft>
              <a:buClr>
                <a:srgbClr val="888888"/>
              </a:buClr>
              <a:buSzPts val="2800"/>
              <a:buNone/>
              <a:defRPr>
                <a:solidFill>
                  <a:srgbClr val="888888"/>
                </a:solidFill>
              </a:defRPr>
            </a:lvl2pPr>
            <a:lvl3pPr lvl="2" algn="ctr">
              <a:spcBef>
                <a:spcPts val="240"/>
              </a:spcBef>
              <a:spcAft>
                <a:spcPts val="0"/>
              </a:spcAft>
              <a:buClr>
                <a:srgbClr val="888888"/>
              </a:buClr>
              <a:buSzPts val="2400"/>
              <a:buNone/>
              <a:defRPr>
                <a:solidFill>
                  <a:srgbClr val="888888"/>
                </a:solidFill>
              </a:defRPr>
            </a:lvl3pPr>
            <a:lvl4pPr lvl="3" algn="ctr">
              <a:spcBef>
                <a:spcPts val="200"/>
              </a:spcBef>
              <a:spcAft>
                <a:spcPts val="0"/>
              </a:spcAft>
              <a:buClr>
                <a:srgbClr val="888888"/>
              </a:buClr>
              <a:buSzPts val="2000"/>
              <a:buNone/>
              <a:defRPr>
                <a:solidFill>
                  <a:srgbClr val="888888"/>
                </a:solidFill>
              </a:defRPr>
            </a:lvl4pPr>
            <a:lvl5pPr lvl="4" algn="ctr">
              <a:spcBef>
                <a:spcPts val="200"/>
              </a:spcBef>
              <a:spcAft>
                <a:spcPts val="0"/>
              </a:spcAft>
              <a:buClr>
                <a:srgbClr val="888888"/>
              </a:buClr>
              <a:buSzPts val="2000"/>
              <a:buNone/>
              <a:defRPr>
                <a:solidFill>
                  <a:srgbClr val="888888"/>
                </a:solidFill>
              </a:defRPr>
            </a:lvl5pPr>
            <a:lvl6pPr lvl="5" algn="ctr">
              <a:spcBef>
                <a:spcPts val="200"/>
              </a:spcBef>
              <a:spcAft>
                <a:spcPts val="0"/>
              </a:spcAft>
              <a:buClr>
                <a:srgbClr val="888888"/>
              </a:buClr>
              <a:buSzPts val="2000"/>
              <a:buNone/>
              <a:defRPr>
                <a:solidFill>
                  <a:srgbClr val="888888"/>
                </a:solidFill>
              </a:defRPr>
            </a:lvl6pPr>
            <a:lvl7pPr lvl="6" algn="ctr">
              <a:spcBef>
                <a:spcPts val="200"/>
              </a:spcBef>
              <a:spcAft>
                <a:spcPts val="0"/>
              </a:spcAft>
              <a:buClr>
                <a:srgbClr val="888888"/>
              </a:buClr>
              <a:buSzPts val="2000"/>
              <a:buNone/>
              <a:defRPr>
                <a:solidFill>
                  <a:srgbClr val="888888"/>
                </a:solidFill>
              </a:defRPr>
            </a:lvl7pPr>
            <a:lvl8pPr lvl="7" algn="ctr">
              <a:spcBef>
                <a:spcPts val="200"/>
              </a:spcBef>
              <a:spcAft>
                <a:spcPts val="0"/>
              </a:spcAft>
              <a:buClr>
                <a:srgbClr val="888888"/>
              </a:buClr>
              <a:buSzPts val="2000"/>
              <a:buNone/>
              <a:defRPr>
                <a:solidFill>
                  <a:srgbClr val="888888"/>
                </a:solidFill>
              </a:defRPr>
            </a:lvl8pPr>
            <a:lvl9pPr lvl="8" algn="ctr">
              <a:spcBef>
                <a:spcPts val="2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7398486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6575971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61157" y="2937934"/>
            <a:ext cx="38862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361157" y="1937810"/>
            <a:ext cx="3886200" cy="1000125"/>
          </a:xfrm>
          <a:prstGeom prst="rect">
            <a:avLst/>
          </a:prstGeom>
          <a:noFill/>
          <a:ln>
            <a:noFill/>
          </a:ln>
        </p:spPr>
        <p:txBody>
          <a:bodyPr spcFirstLastPara="1" wrap="square" lIns="91425" tIns="45700" rIns="91425" bIns="45700" anchor="b" anchorCtr="0">
            <a:normAutofit/>
          </a:bodyPr>
          <a:lstStyle>
            <a:lvl1pPr marL="228611" lvl="0" indent="-114306" algn="l">
              <a:spcBef>
                <a:spcPts val="200"/>
              </a:spcBef>
              <a:spcAft>
                <a:spcPts val="0"/>
              </a:spcAft>
              <a:buClr>
                <a:srgbClr val="888888"/>
              </a:buClr>
              <a:buSzPts val="2000"/>
              <a:buNone/>
              <a:defRPr sz="1000">
                <a:solidFill>
                  <a:srgbClr val="888888"/>
                </a:solidFill>
              </a:defRPr>
            </a:lvl1pPr>
            <a:lvl2pPr marL="457223" lvl="1" indent="-114306" algn="l">
              <a:spcBef>
                <a:spcPts val="180"/>
              </a:spcBef>
              <a:spcAft>
                <a:spcPts val="0"/>
              </a:spcAft>
              <a:buClr>
                <a:srgbClr val="888888"/>
              </a:buClr>
              <a:buSzPts val="1800"/>
              <a:buNone/>
              <a:defRPr sz="900">
                <a:solidFill>
                  <a:srgbClr val="888888"/>
                </a:solidFill>
              </a:defRPr>
            </a:lvl2pPr>
            <a:lvl3pPr marL="685835" lvl="2" indent="-114306" algn="l">
              <a:spcBef>
                <a:spcPts val="160"/>
              </a:spcBef>
              <a:spcAft>
                <a:spcPts val="0"/>
              </a:spcAft>
              <a:buClr>
                <a:srgbClr val="888888"/>
              </a:buClr>
              <a:buSzPts val="1600"/>
              <a:buNone/>
              <a:defRPr sz="800">
                <a:solidFill>
                  <a:srgbClr val="888888"/>
                </a:solidFill>
              </a:defRPr>
            </a:lvl3pPr>
            <a:lvl4pPr marL="914446" lvl="3" indent="-114306" algn="l">
              <a:spcBef>
                <a:spcPts val="140"/>
              </a:spcBef>
              <a:spcAft>
                <a:spcPts val="0"/>
              </a:spcAft>
              <a:buClr>
                <a:srgbClr val="888888"/>
              </a:buClr>
              <a:buSzPts val="1400"/>
              <a:buNone/>
              <a:defRPr sz="700">
                <a:solidFill>
                  <a:srgbClr val="888888"/>
                </a:solidFill>
              </a:defRPr>
            </a:lvl4pPr>
            <a:lvl5pPr marL="1143057" lvl="4" indent="-114306" algn="l">
              <a:spcBef>
                <a:spcPts val="140"/>
              </a:spcBef>
              <a:spcAft>
                <a:spcPts val="0"/>
              </a:spcAft>
              <a:buClr>
                <a:srgbClr val="888888"/>
              </a:buClr>
              <a:buSzPts val="1400"/>
              <a:buNone/>
              <a:defRPr sz="700">
                <a:solidFill>
                  <a:srgbClr val="888888"/>
                </a:solidFill>
              </a:defRPr>
            </a:lvl5pPr>
            <a:lvl6pPr marL="1371668" lvl="5" indent="-114306" algn="l">
              <a:spcBef>
                <a:spcPts val="140"/>
              </a:spcBef>
              <a:spcAft>
                <a:spcPts val="0"/>
              </a:spcAft>
              <a:buClr>
                <a:srgbClr val="888888"/>
              </a:buClr>
              <a:buSzPts val="1400"/>
              <a:buNone/>
              <a:defRPr sz="700">
                <a:solidFill>
                  <a:srgbClr val="888888"/>
                </a:solidFill>
              </a:defRPr>
            </a:lvl6pPr>
            <a:lvl7pPr marL="1600280" lvl="6" indent="-114306" algn="l">
              <a:spcBef>
                <a:spcPts val="140"/>
              </a:spcBef>
              <a:spcAft>
                <a:spcPts val="0"/>
              </a:spcAft>
              <a:buClr>
                <a:srgbClr val="888888"/>
              </a:buClr>
              <a:buSzPts val="1400"/>
              <a:buNone/>
              <a:defRPr sz="700">
                <a:solidFill>
                  <a:srgbClr val="888888"/>
                </a:solidFill>
              </a:defRPr>
            </a:lvl7pPr>
            <a:lvl8pPr marL="1828892" lvl="7" indent="-114306" algn="l">
              <a:spcBef>
                <a:spcPts val="140"/>
              </a:spcBef>
              <a:spcAft>
                <a:spcPts val="0"/>
              </a:spcAft>
              <a:buClr>
                <a:srgbClr val="888888"/>
              </a:buClr>
              <a:buSzPts val="1400"/>
              <a:buNone/>
              <a:defRPr sz="700">
                <a:solidFill>
                  <a:srgbClr val="888888"/>
                </a:solidFill>
              </a:defRPr>
            </a:lvl8pPr>
            <a:lvl9pPr marL="2057503" lvl="8" indent="-114306" algn="l">
              <a:spcBef>
                <a:spcPts val="140"/>
              </a:spcBef>
              <a:spcAft>
                <a:spcPts val="0"/>
              </a:spcAft>
              <a:buClr>
                <a:srgbClr val="888888"/>
              </a:buClr>
              <a:buSzPts val="1400"/>
              <a:buNone/>
              <a:defRPr sz="700">
                <a:solidFill>
                  <a:srgbClr val="888888"/>
                </a:solidFill>
              </a:defRPr>
            </a:lvl9pPr>
          </a:lstStyle>
          <a:p>
            <a:endParaRPr/>
          </a:p>
        </p:txBody>
      </p:sp>
      <p:sp>
        <p:nvSpPr>
          <p:cNvPr id="30" name="Google Shape;30;p5"/>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2628893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86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6" name="Google Shape;36;p6"/>
          <p:cNvSpPr txBox="1">
            <a:spLocks noGrp="1"/>
          </p:cNvSpPr>
          <p:nvPr>
            <p:ph type="body" idx="2"/>
          </p:nvPr>
        </p:nvSpPr>
        <p:spPr>
          <a:xfrm>
            <a:off x="23241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7" name="Google Shape;37;p6"/>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0825124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8601" y="1023409"/>
            <a:ext cx="2020094"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3" name="Google Shape;43;p7"/>
          <p:cNvSpPr txBox="1">
            <a:spLocks noGrp="1"/>
          </p:cNvSpPr>
          <p:nvPr>
            <p:ph type="body" idx="2"/>
          </p:nvPr>
        </p:nvSpPr>
        <p:spPr>
          <a:xfrm>
            <a:off x="228601" y="1449917"/>
            <a:ext cx="2020094"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4" name="Google Shape;44;p7"/>
          <p:cNvSpPr txBox="1">
            <a:spLocks noGrp="1"/>
          </p:cNvSpPr>
          <p:nvPr>
            <p:ph type="body" idx="3"/>
          </p:nvPr>
        </p:nvSpPr>
        <p:spPr>
          <a:xfrm>
            <a:off x="2322513" y="1023409"/>
            <a:ext cx="2020888"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5" name="Google Shape;45;p7"/>
          <p:cNvSpPr txBox="1">
            <a:spLocks noGrp="1"/>
          </p:cNvSpPr>
          <p:nvPr>
            <p:ph type="body" idx="4"/>
          </p:nvPr>
        </p:nvSpPr>
        <p:spPr>
          <a:xfrm>
            <a:off x="2322513" y="1449917"/>
            <a:ext cx="2020888"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6" name="Google Shape;46;p7"/>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3509031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5024127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8600" y="182033"/>
            <a:ext cx="1504157"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787526" y="182035"/>
            <a:ext cx="2555875" cy="3902075"/>
          </a:xfrm>
          <a:prstGeom prst="rect">
            <a:avLst/>
          </a:prstGeom>
          <a:noFill/>
          <a:ln>
            <a:noFill/>
          </a:ln>
        </p:spPr>
        <p:txBody>
          <a:bodyPr spcFirstLastPara="1" wrap="square" lIns="91425" tIns="45700" rIns="91425" bIns="45700" anchor="t" anchorCtr="0">
            <a:normAutofit/>
          </a:bodyPr>
          <a:lstStyle>
            <a:lvl1pPr marL="228611" lvl="0" indent="-215911" algn="l">
              <a:spcBef>
                <a:spcPts val="320"/>
              </a:spcBef>
              <a:spcAft>
                <a:spcPts val="0"/>
              </a:spcAft>
              <a:buClr>
                <a:schemeClr val="dk1"/>
              </a:buClr>
              <a:buSzPts val="3200"/>
              <a:buChar char="•"/>
              <a:defRPr sz="1600"/>
            </a:lvl1pPr>
            <a:lvl2pPr marL="457223" lvl="1" indent="-203210" algn="l">
              <a:spcBef>
                <a:spcPts val="280"/>
              </a:spcBef>
              <a:spcAft>
                <a:spcPts val="0"/>
              </a:spcAft>
              <a:buClr>
                <a:schemeClr val="dk1"/>
              </a:buClr>
              <a:buSzPts val="2800"/>
              <a:buChar char="–"/>
              <a:defRPr sz="1400"/>
            </a:lvl2pPr>
            <a:lvl3pPr marL="685835" lvl="2" indent="-190510" algn="l">
              <a:spcBef>
                <a:spcPts val="240"/>
              </a:spcBef>
              <a:spcAft>
                <a:spcPts val="0"/>
              </a:spcAft>
              <a:buClr>
                <a:schemeClr val="dk1"/>
              </a:buClr>
              <a:buSzPts val="2400"/>
              <a:buChar char="•"/>
              <a:defRPr sz="1200"/>
            </a:lvl3pPr>
            <a:lvl4pPr marL="914446" lvl="3" indent="-177809" algn="l">
              <a:spcBef>
                <a:spcPts val="200"/>
              </a:spcBef>
              <a:spcAft>
                <a:spcPts val="0"/>
              </a:spcAft>
              <a:buClr>
                <a:schemeClr val="dk1"/>
              </a:buClr>
              <a:buSzPts val="2000"/>
              <a:buChar char="–"/>
              <a:defRPr sz="1000"/>
            </a:lvl4pPr>
            <a:lvl5pPr marL="1143057" lvl="4" indent="-177809" algn="l">
              <a:spcBef>
                <a:spcPts val="200"/>
              </a:spcBef>
              <a:spcAft>
                <a:spcPts val="0"/>
              </a:spcAft>
              <a:buClr>
                <a:schemeClr val="dk1"/>
              </a:buClr>
              <a:buSzPts val="2000"/>
              <a:buChar char="»"/>
              <a:defRPr sz="1000"/>
            </a:lvl5pPr>
            <a:lvl6pPr marL="1371668" lvl="5" indent="-177809" algn="l">
              <a:spcBef>
                <a:spcPts val="200"/>
              </a:spcBef>
              <a:spcAft>
                <a:spcPts val="0"/>
              </a:spcAft>
              <a:buClr>
                <a:schemeClr val="dk1"/>
              </a:buClr>
              <a:buSzPts val="2000"/>
              <a:buChar char="•"/>
              <a:defRPr sz="1000"/>
            </a:lvl6pPr>
            <a:lvl7pPr marL="1600280" lvl="6" indent="-177809" algn="l">
              <a:spcBef>
                <a:spcPts val="200"/>
              </a:spcBef>
              <a:spcAft>
                <a:spcPts val="0"/>
              </a:spcAft>
              <a:buClr>
                <a:schemeClr val="dk1"/>
              </a:buClr>
              <a:buSzPts val="2000"/>
              <a:buChar char="•"/>
              <a:defRPr sz="1000"/>
            </a:lvl7pPr>
            <a:lvl8pPr marL="1828892" lvl="7" indent="-177809" algn="l">
              <a:spcBef>
                <a:spcPts val="200"/>
              </a:spcBef>
              <a:spcAft>
                <a:spcPts val="0"/>
              </a:spcAft>
              <a:buClr>
                <a:schemeClr val="dk1"/>
              </a:buClr>
              <a:buSzPts val="2000"/>
              <a:buChar char="•"/>
              <a:defRPr sz="1000"/>
            </a:lvl8pPr>
            <a:lvl9pPr marL="2057503" lvl="8" indent="-177809" algn="l">
              <a:spcBef>
                <a:spcPts val="200"/>
              </a:spcBef>
              <a:spcAft>
                <a:spcPts val="0"/>
              </a:spcAft>
              <a:buClr>
                <a:schemeClr val="dk1"/>
              </a:buClr>
              <a:buSzPts val="2000"/>
              <a:buChar char="•"/>
              <a:defRPr sz="1000"/>
            </a:lvl9pPr>
          </a:lstStyle>
          <a:p>
            <a:endParaRPr/>
          </a:p>
        </p:txBody>
      </p:sp>
      <p:sp>
        <p:nvSpPr>
          <p:cNvPr id="57" name="Google Shape;57;p9"/>
          <p:cNvSpPr txBox="1">
            <a:spLocks noGrp="1"/>
          </p:cNvSpPr>
          <p:nvPr>
            <p:ph type="body" idx="2"/>
          </p:nvPr>
        </p:nvSpPr>
        <p:spPr>
          <a:xfrm>
            <a:off x="228600" y="956735"/>
            <a:ext cx="1504157" cy="31273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58" name="Google Shape;58;p9"/>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3011559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96144" y="3200401"/>
            <a:ext cx="27432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896144" y="408517"/>
            <a:ext cx="2743200" cy="2743200"/>
          </a:xfrm>
          <a:prstGeom prst="rect">
            <a:avLst/>
          </a:prstGeom>
          <a:noFill/>
          <a:ln>
            <a:noFill/>
          </a:ln>
        </p:spPr>
      </p:sp>
      <p:sp>
        <p:nvSpPr>
          <p:cNvPr id="64" name="Google Shape;64;p10"/>
          <p:cNvSpPr txBox="1">
            <a:spLocks noGrp="1"/>
          </p:cNvSpPr>
          <p:nvPr>
            <p:ph type="body" idx="1"/>
          </p:nvPr>
        </p:nvSpPr>
        <p:spPr>
          <a:xfrm>
            <a:off x="896144" y="3578226"/>
            <a:ext cx="2743200" cy="5365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65" name="Google Shape;65;p10"/>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5438048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777346" y="518055"/>
            <a:ext cx="3017309" cy="41148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9740586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878542" y="1619251"/>
            <a:ext cx="3901017" cy="10287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216958" y="628650"/>
            <a:ext cx="3901017" cy="30099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601285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7"/>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100" b="1" i="0" u="none" strike="noStrike" cap="none">
                <a:solidFill>
                  <a:srgbClr val="33006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7"/>
          <p:cNvSpPr txBox="1">
            <a:spLocks noGrp="1"/>
          </p:cNvSpPr>
          <p:nvPr>
            <p:ph type="body" idx="1"/>
          </p:nvPr>
        </p:nvSpPr>
        <p:spPr>
          <a:xfrm>
            <a:off x="1476375" y="2020696"/>
            <a:ext cx="6409055" cy="268795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47"/>
          <p:cNvSpPr txBox="1">
            <a:spLocks noGrp="1"/>
          </p:cNvSpPr>
          <p:nvPr>
            <p:ph type="ftr" idx="11"/>
          </p:nvPr>
        </p:nvSpPr>
        <p:spPr>
          <a:xfrm>
            <a:off x="394817" y="6640874"/>
            <a:ext cx="6297930" cy="16700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000" b="0" i="0" u="none" strike="noStrike" cap="none">
                <a:solidFill>
                  <a:srgbClr val="330066"/>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3FA82C02-2C4D-1F4D-851E-B56DA3E878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830BE5C-47B3-8640-86D1-69594D99527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585972A-A66B-ED47-A758-27225C85438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87CFA4B0-5065-6C44-81B0-58ACBBDA063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6DE9C76E-E86C-AF43-9FF0-BF8CC7B7DD0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5E9258-7551-F54F-B974-076C20A398B3}" type="slidenum">
              <a:rPr lang="it-IT" smtClean="0"/>
              <a:t>‹N›</a:t>
            </a:fld>
            <a:endParaRPr lang="it-IT"/>
          </a:p>
        </p:txBody>
      </p:sp>
    </p:spTree>
    <p:extLst>
      <p:ext uri="{BB962C8B-B14F-4D97-AF65-F5344CB8AC3E}">
        <p14:creationId xmlns:p14="http://schemas.microsoft.com/office/powerpoint/2010/main" val="310997712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61284143"/>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openxmlformats.org/officeDocument/2006/relationships/image" Target="../media/image28.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2.xml"/><Relationship Id="rId1" Type="http://schemas.openxmlformats.org/officeDocument/2006/relationships/video" Target="https://www.youtube.com/embed/6Ot_GKFNP1I"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hemeOverride" Target="../theme/themeOverride1.xml"/><Relationship Id="rId6" Type="http://schemas.openxmlformats.org/officeDocument/2006/relationships/image" Target="../media/image35.png"/><Relationship Id="rId5" Type="http://schemas.openxmlformats.org/officeDocument/2006/relationships/image" Target="../media/image34.jpe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16.xml"/><Relationship Id="rId7" Type="http://schemas.openxmlformats.org/officeDocument/2006/relationships/image" Target="../media/image39.png"/><Relationship Id="rId2" Type="http://schemas.openxmlformats.org/officeDocument/2006/relationships/slideLayout" Target="../slideLayouts/slideLayout8.xml"/><Relationship Id="rId1" Type="http://schemas.openxmlformats.org/officeDocument/2006/relationships/themeOverride" Target="../theme/themeOverride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8.xml"/><Relationship Id="rId1" Type="http://schemas.openxmlformats.org/officeDocument/2006/relationships/video" Target="https://www.youtube.com/embed/xb-9btgGSDg"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514350" y="1482961"/>
            <a:ext cx="2029975" cy="721763"/>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5825763" y="3143850"/>
            <a:ext cx="2803888" cy="2229091"/>
          </a:xfrm>
          <a:prstGeom prst="rect">
            <a:avLst/>
          </a:prstGeom>
          <a:noFill/>
          <a:ln>
            <a:noFill/>
          </a:ln>
        </p:spPr>
      </p:pic>
      <p:sp>
        <p:nvSpPr>
          <p:cNvPr id="86" name="Google Shape;86;p13"/>
          <p:cNvSpPr txBox="1"/>
          <p:nvPr/>
        </p:nvSpPr>
        <p:spPr>
          <a:xfrm>
            <a:off x="514350" y="3258471"/>
            <a:ext cx="3624493" cy="775597"/>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00"/>
              </a:lnSpc>
              <a:spcBef>
                <a:spcPts val="0"/>
              </a:spcBef>
              <a:spcAft>
                <a:spcPts val="0"/>
              </a:spcAft>
              <a:buClr>
                <a:srgbClr val="000000"/>
              </a:buClr>
              <a:buSzTx/>
              <a:buFontTx/>
              <a:buNone/>
              <a:tabLst/>
              <a:defRPr/>
            </a:pPr>
            <a:r>
              <a:rPr kumimoji="0" lang="en-US" sz="4200" b="1" i="0" u="none" strike="noStrike" kern="0" cap="none" spc="0" normalizeH="0" baseline="0" noProof="0" dirty="0">
                <a:ln>
                  <a:noFill/>
                </a:ln>
                <a:solidFill>
                  <a:srgbClr val="FFFFFF"/>
                </a:solidFill>
                <a:effectLst/>
                <a:uLnTx/>
                <a:uFillTx/>
                <a:latin typeface="Poppins SemiBold"/>
                <a:ea typeface="Poppins SemiBold"/>
                <a:cs typeface="Poppins SemiBold"/>
                <a:sym typeface="Poppins SemiBold"/>
              </a:rPr>
              <a:t>Corso EOA</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7" name="Google Shape;87;p13"/>
          <p:cNvSpPr txBox="1"/>
          <p:nvPr/>
        </p:nvSpPr>
        <p:spPr>
          <a:xfrm>
            <a:off x="2689059" y="1534035"/>
            <a:ext cx="2363986" cy="247760"/>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61030"/>
              </a:lnSpc>
              <a:spcBef>
                <a:spcPts val="0"/>
              </a:spcBef>
              <a:spcAft>
                <a:spcPts val="0"/>
              </a:spcAft>
              <a:buClr>
                <a:srgbClr val="000000"/>
              </a:buClr>
              <a:buSzTx/>
              <a:buFontTx/>
              <a:buNone/>
              <a:tabLst/>
              <a:defRPr/>
            </a:pPr>
            <a:r>
              <a:rPr kumimoji="0" lang="en-US" sz="1000" b="1" i="0" u="none" strike="noStrike" kern="0" cap="none" spc="0" normalizeH="0" baseline="0" noProof="0" dirty="0">
                <a:ln>
                  <a:noFill/>
                </a:ln>
                <a:solidFill>
                  <a:srgbClr val="FFFFFF"/>
                </a:solidFill>
                <a:effectLst/>
                <a:uLnTx/>
                <a:uFillTx/>
                <a:latin typeface="Poppins"/>
                <a:ea typeface="Poppins"/>
                <a:cs typeface="Poppins"/>
                <a:sym typeface="Poppins"/>
              </a:rPr>
              <a:t>LAUREA TRIENNALE IN INFORMATICA </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8" name="Google Shape;88;p13"/>
          <p:cNvSpPr txBox="1"/>
          <p:nvPr/>
        </p:nvSpPr>
        <p:spPr>
          <a:xfrm>
            <a:off x="515759" y="4004430"/>
            <a:ext cx="3355293" cy="443198"/>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400" b="1" i="0" u="none" strike="noStrike" kern="0" cap="none" spc="0" normalizeH="0" baseline="0" noProof="0" dirty="0">
                <a:ln>
                  <a:noFill/>
                </a:ln>
                <a:solidFill>
                  <a:srgbClr val="FFFFFF"/>
                </a:solidFill>
                <a:effectLst/>
                <a:uLnTx/>
                <a:uFillTx/>
                <a:latin typeface="Poppins"/>
                <a:ea typeface="Poppins"/>
                <a:cs typeface="Poppins"/>
                <a:sym typeface="Poppins"/>
              </a:rPr>
              <a:t>Prof. Giuseppe </a:t>
            </a:r>
            <a:r>
              <a:rPr kumimoji="0" lang="en-US" sz="1400" b="1" i="0" u="none" strike="noStrike" kern="0" cap="none" spc="0" normalizeH="0" baseline="0" noProof="0" dirty="0" err="1">
                <a:ln>
                  <a:noFill/>
                </a:ln>
                <a:solidFill>
                  <a:srgbClr val="FFFFFF"/>
                </a:solidFill>
                <a:effectLst/>
                <a:uLnTx/>
                <a:uFillTx/>
                <a:latin typeface="Poppins"/>
                <a:ea typeface="Poppins"/>
                <a:cs typeface="Poppins"/>
                <a:sym typeface="Poppins"/>
              </a:rPr>
              <a:t>Piccirillo</a:t>
            </a:r>
            <a:endParaRPr kumimoji="0" sz="10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457223" rtl="0" eaLnBrk="1" fontAlgn="auto" latinLnBrk="0" hangingPunct="1">
              <a:lnSpc>
                <a:spcPct val="120010"/>
              </a:lnSpc>
              <a:spcBef>
                <a:spcPts val="0"/>
              </a:spcBef>
              <a:spcAft>
                <a:spcPts val="0"/>
              </a:spcAft>
              <a:buClr>
                <a:srgbClr val="000000"/>
              </a:buClr>
              <a:buSzTx/>
              <a:buFontTx/>
              <a:buNone/>
              <a:tabLst/>
              <a:defRPr/>
            </a:pPr>
            <a:endParaRPr kumimoji="0" sz="1000" b="1" i="0" u="none" strike="noStrike" kern="0" cap="none" spc="0" normalizeH="0" baseline="0" noProof="0" dirty="0">
              <a:ln>
                <a:noFill/>
              </a:ln>
              <a:solidFill>
                <a:srgbClr val="FFFFFF"/>
              </a:solidFill>
              <a:effectLst/>
              <a:uLnTx/>
              <a:uFillTx/>
              <a:latin typeface="Poppins"/>
              <a:ea typeface="Poppins"/>
              <a:cs typeface="Poppins"/>
              <a:sym typeface="Poppins"/>
            </a:endParaRPr>
          </a:p>
        </p:txBody>
      </p:sp>
      <p:sp>
        <p:nvSpPr>
          <p:cNvPr id="89" name="Google Shape;89;p13"/>
          <p:cNvSpPr txBox="1"/>
          <p:nvPr/>
        </p:nvSpPr>
        <p:spPr>
          <a:xfrm>
            <a:off x="5225617" y="1576898"/>
            <a:ext cx="2770550" cy="369332"/>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000" b="1" i="0" u="none" strike="noStrike" kern="0" cap="none" spc="0" normalizeH="0" baseline="0" noProof="0" dirty="0">
                <a:ln>
                  <a:noFill/>
                </a:ln>
                <a:solidFill>
                  <a:srgbClr val="FFFFFF"/>
                </a:solidFill>
                <a:effectLst/>
                <a:uLnTx/>
                <a:uFillTx/>
                <a:latin typeface="Poppins"/>
                <a:ea typeface="Poppins"/>
                <a:cs typeface="Poppins"/>
                <a:sym typeface="Poppins"/>
              </a:rPr>
              <a:t>CORSO II SEMESTRE</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000" b="1" i="0" u="none" strike="noStrike" kern="0" cap="none" spc="0" normalizeH="0" baseline="0" noProof="0" dirty="0">
                <a:ln>
                  <a:noFill/>
                </a:ln>
                <a:solidFill>
                  <a:srgbClr val="FFFFFF"/>
                </a:solidFill>
                <a:effectLst/>
                <a:uLnTx/>
                <a:uFillTx/>
                <a:latin typeface="Poppins"/>
                <a:ea typeface="Poppins"/>
                <a:cs typeface="Poppins"/>
                <a:sym typeface="Poppins"/>
              </a:rPr>
              <a:t>2025 </a:t>
            </a:r>
            <a:r>
              <a:rPr kumimoji="0" lang="en-US" sz="1000" b="1" i="0" u="none" strike="noStrike" kern="0" cap="none" spc="0" normalizeH="0" baseline="0" noProof="0">
                <a:ln>
                  <a:noFill/>
                </a:ln>
                <a:solidFill>
                  <a:srgbClr val="FFFFFF"/>
                </a:solidFill>
                <a:effectLst/>
                <a:uLnTx/>
                <a:uFillTx/>
                <a:latin typeface="Poppins"/>
                <a:ea typeface="Poppins"/>
                <a:cs typeface="Poppins"/>
                <a:sym typeface="Poppins"/>
              </a:rPr>
              <a:t>- 2026</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1" name="Google Shape;91;p13"/>
          <p:cNvSpPr txBox="1"/>
          <p:nvPr/>
        </p:nvSpPr>
        <p:spPr>
          <a:xfrm>
            <a:off x="514350" y="2697341"/>
            <a:ext cx="7593594" cy="276871"/>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06"/>
              </a:lnSpc>
              <a:spcBef>
                <a:spcPts val="0"/>
              </a:spcBef>
              <a:spcAft>
                <a:spcPts val="0"/>
              </a:spcAft>
              <a:buClr>
                <a:srgbClr val="000000"/>
              </a:buClr>
              <a:buSzTx/>
              <a:buFontTx/>
              <a:buNone/>
              <a:tabLst/>
              <a:defRPr/>
            </a:pPr>
            <a:r>
              <a:rPr kumimoji="0" lang="en-US" sz="1499" b="1" i="0" u="none" strike="noStrike" kern="0" cap="none" spc="0" normalizeH="0" baseline="0" noProof="0" dirty="0">
                <a:ln>
                  <a:noFill/>
                </a:ln>
                <a:solidFill>
                  <a:srgbClr val="FFFFFF"/>
                </a:solidFill>
                <a:effectLst/>
                <a:uLnTx/>
                <a:uFillTx/>
                <a:latin typeface="Poppins"/>
                <a:ea typeface="Poppins"/>
                <a:cs typeface="Poppins"/>
                <a:sym typeface="Poppins"/>
              </a:rPr>
              <a:t>LEZIONE. 3 -  I PARTECIPANTI ALLA VITA DELL’IMPRESA</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7"/>
        <p:cNvGrpSpPr/>
        <p:nvPr/>
      </p:nvGrpSpPr>
      <p:grpSpPr>
        <a:xfrm>
          <a:off x="0" y="0"/>
          <a:ext cx="0" cy="0"/>
          <a:chOff x="0" y="0"/>
          <a:chExt cx="0" cy="0"/>
        </a:xfrm>
      </p:grpSpPr>
      <p:sp>
        <p:nvSpPr>
          <p:cNvPr id="108" name="Google Shape;108;p2"/>
          <p:cNvSpPr txBox="1">
            <a:spLocks noGrp="1"/>
          </p:cNvSpPr>
          <p:nvPr>
            <p:ph type="title"/>
          </p:nvPr>
        </p:nvSpPr>
        <p:spPr>
          <a:xfrm>
            <a:off x="2776764" y="205486"/>
            <a:ext cx="3800529"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3600" dirty="0">
                <a:solidFill>
                  <a:srgbClr val="0070C0"/>
                </a:solidFill>
                <a:latin typeface="Poppins" panose="020B0604020202020204"/>
                <a:ea typeface="Calibri Light" panose="020F0302020204030204" pitchFamily="34" charset="0"/>
                <a:cs typeface="Calibri Light" panose="020F0302020204030204" pitchFamily="34" charset="0"/>
              </a:rPr>
              <a:t>L’imprenditore</a:t>
            </a:r>
            <a:endParaRPr sz="3600" dirty="0">
              <a:solidFill>
                <a:srgbClr val="0070C0"/>
              </a:solidFill>
              <a:latin typeface="Poppins" panose="020B0604020202020204"/>
              <a:ea typeface="Calibri Light" panose="020F0302020204030204" pitchFamily="34" charset="0"/>
              <a:cs typeface="Calibri Light" panose="020F0302020204030204" pitchFamily="34" charset="0"/>
            </a:endParaRPr>
          </a:p>
        </p:txBody>
      </p:sp>
      <p:sp>
        <p:nvSpPr>
          <p:cNvPr id="109" name="Google Shape;109;p2"/>
          <p:cNvSpPr txBox="1"/>
          <p:nvPr/>
        </p:nvSpPr>
        <p:spPr>
          <a:xfrm>
            <a:off x="523812" y="921903"/>
            <a:ext cx="8306434" cy="5014193"/>
          </a:xfrm>
          <a:prstGeom prst="rect">
            <a:avLst/>
          </a:prstGeom>
          <a:noFill/>
          <a:ln>
            <a:noFill/>
          </a:ln>
        </p:spPr>
        <p:txBody>
          <a:bodyPr spcFirstLastPara="1" wrap="square" lIns="0" tIns="12700" rIns="0" bIns="0" anchor="t" anchorCtr="0">
            <a:spAutoFit/>
          </a:bodyPr>
          <a:lstStyle/>
          <a:p>
            <a:pPr marL="48895" marR="147955" lvl="0" indent="0" algn="just" rtl="0">
              <a:lnSpc>
                <a:spcPct val="100000"/>
              </a:lnSpc>
              <a:spcBef>
                <a:spcPts val="0"/>
              </a:spcBef>
              <a:spcAft>
                <a:spcPts val="0"/>
              </a:spcAft>
              <a:buNone/>
            </a:pP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Soggetto economico che decide di rischiare i propri capitali e di dedicare le sue capacità professionali alla produzione di beni e servizi da cedere a terzi.</a:t>
            </a:r>
            <a:endParaRPr sz="2400" dirty="0">
              <a:solidFill>
                <a:srgbClr val="0070C0"/>
              </a:solidFill>
              <a:latin typeface="Poppins" panose="020B0604020202020204"/>
              <a:ea typeface="Calibri" panose="020F0502020204030204" pitchFamily="34" charset="0"/>
              <a:cs typeface="Calibri" panose="020F0502020204030204" pitchFamily="34" charset="0"/>
              <a:sym typeface="Arial"/>
            </a:endParaRPr>
          </a:p>
          <a:p>
            <a:pPr marL="12700" marR="163195" lvl="0" indent="0" algn="just" rtl="0">
              <a:lnSpc>
                <a:spcPct val="100000"/>
              </a:lnSpc>
              <a:spcBef>
                <a:spcPts val="2140"/>
              </a:spcBef>
              <a:spcAft>
                <a:spcPts val="0"/>
              </a:spcAft>
              <a:buNone/>
            </a:pPr>
            <a:r>
              <a:rPr lang="it-IT" sz="2400" i="1" dirty="0">
                <a:solidFill>
                  <a:srgbClr val="0070C0"/>
                </a:solidFill>
                <a:latin typeface="Poppins" panose="020B0604020202020204"/>
                <a:ea typeface="Calibri" panose="020F0502020204030204" pitchFamily="34" charset="0"/>
                <a:cs typeface="Calibri" panose="020F0502020204030204" pitchFamily="34" charset="0"/>
                <a:sym typeface="Arial"/>
              </a:rPr>
              <a:t>Secondo Schumpeter, il focus dell’imprenditorialità è da rinvenire nella promozione dell’</a:t>
            </a:r>
            <a:r>
              <a:rPr lang="it-IT" sz="2400" b="1" i="1" dirty="0">
                <a:solidFill>
                  <a:srgbClr val="0070C0"/>
                </a:solidFill>
                <a:latin typeface="Poppins" panose="020B0604020202020204"/>
                <a:ea typeface="Calibri" panose="020F0502020204030204" pitchFamily="34" charset="0"/>
                <a:cs typeface="Calibri" panose="020F0502020204030204" pitchFamily="34" charset="0"/>
                <a:sym typeface="Arial"/>
              </a:rPr>
              <a:t>innovazione</a:t>
            </a:r>
            <a:r>
              <a:rPr lang="it-IT" sz="2400" i="1" dirty="0">
                <a:solidFill>
                  <a:srgbClr val="0070C0"/>
                </a:solidFill>
                <a:latin typeface="Poppins" panose="020B0604020202020204"/>
                <a:ea typeface="Calibri" panose="020F0502020204030204" pitchFamily="34" charset="0"/>
                <a:cs typeface="Calibri" panose="020F0502020204030204" pitchFamily="34" charset="0"/>
                <a:sym typeface="Arial"/>
              </a:rPr>
              <a:t>.</a:t>
            </a:r>
            <a:endParaRPr sz="2400" dirty="0">
              <a:solidFill>
                <a:srgbClr val="0070C0"/>
              </a:solidFill>
              <a:latin typeface="Poppins" panose="020B0604020202020204"/>
              <a:ea typeface="Calibri" panose="020F0502020204030204" pitchFamily="34" charset="0"/>
              <a:cs typeface="Calibri" panose="020F0502020204030204" pitchFamily="34" charset="0"/>
              <a:sym typeface="Arial"/>
            </a:endParaRPr>
          </a:p>
          <a:p>
            <a:pPr marL="0" marR="0" lvl="0" indent="0" algn="l" rtl="0">
              <a:lnSpc>
                <a:spcPct val="100000"/>
              </a:lnSpc>
              <a:spcBef>
                <a:spcPts val="40"/>
              </a:spcBef>
              <a:spcAft>
                <a:spcPts val="0"/>
              </a:spcAft>
              <a:buNone/>
            </a:pPr>
            <a:endParaRPr sz="2350" dirty="0">
              <a:solidFill>
                <a:srgbClr val="0070C0"/>
              </a:solidFill>
              <a:latin typeface="Poppins" panose="020B0604020202020204"/>
              <a:ea typeface="Calibri" panose="020F0502020204030204" pitchFamily="34" charset="0"/>
              <a:cs typeface="Calibri" panose="020F0502020204030204" pitchFamily="34" charset="0"/>
              <a:sym typeface="Arial"/>
            </a:endParaRPr>
          </a:p>
          <a:p>
            <a:pPr marL="48895" marR="0" lvl="0" indent="0" algn="l" rtl="0">
              <a:lnSpc>
                <a:spcPct val="100000"/>
              </a:lnSpc>
              <a:spcBef>
                <a:spcPts val="0"/>
              </a:spcBef>
              <a:spcAft>
                <a:spcPts val="0"/>
              </a:spcAft>
              <a:buNone/>
            </a:pP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Le qualità fondamentali dell’imprenditore:</a:t>
            </a:r>
            <a:endParaRPr sz="2400" dirty="0">
              <a:solidFill>
                <a:srgbClr val="0070C0"/>
              </a:solidFill>
              <a:latin typeface="Poppins" panose="020B0604020202020204"/>
              <a:ea typeface="Calibri" panose="020F0502020204030204" pitchFamily="34" charset="0"/>
              <a:cs typeface="Calibri" panose="020F0502020204030204" pitchFamily="34" charset="0"/>
              <a:sym typeface="Arial"/>
            </a:endParaRPr>
          </a:p>
          <a:p>
            <a:pPr marL="230504" marR="0" lvl="0" indent="-182245" rtl="0">
              <a:lnSpc>
                <a:spcPct val="100000"/>
              </a:lnSpc>
              <a:spcBef>
                <a:spcPts val="575"/>
              </a:spcBef>
              <a:spcAft>
                <a:spcPts val="0"/>
              </a:spcAft>
              <a:buClr>
                <a:srgbClr val="330066"/>
              </a:buClr>
              <a:buSzPts val="1650"/>
              <a:buFont typeface="Noto Sans Symbols"/>
              <a:buChar char="▪"/>
            </a:pP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capacità di previsione e intuito;</a:t>
            </a:r>
            <a:endParaRPr sz="2400" dirty="0">
              <a:solidFill>
                <a:srgbClr val="0070C0"/>
              </a:solidFill>
              <a:latin typeface="Poppins" panose="020B0604020202020204"/>
              <a:ea typeface="Calibri" panose="020F0502020204030204" pitchFamily="34" charset="0"/>
              <a:cs typeface="Calibri" panose="020F0502020204030204" pitchFamily="34" charset="0"/>
              <a:sym typeface="Arial"/>
            </a:endParaRPr>
          </a:p>
          <a:p>
            <a:pPr marL="231775" marR="0" lvl="0" indent="-183515" rtl="0">
              <a:lnSpc>
                <a:spcPct val="100000"/>
              </a:lnSpc>
              <a:spcBef>
                <a:spcPts val="580"/>
              </a:spcBef>
              <a:spcAft>
                <a:spcPts val="0"/>
              </a:spcAft>
              <a:buClr>
                <a:srgbClr val="330066"/>
              </a:buClr>
              <a:buSzPts val="1650"/>
              <a:buFont typeface="Noto Sans Symbols"/>
              <a:buChar char="▪"/>
            </a:pP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spirito di</a:t>
            </a:r>
            <a:r>
              <a:rPr lang="it-IT" sz="2400" dirty="0">
                <a:solidFill>
                  <a:srgbClr val="0070C0"/>
                </a:solidFill>
                <a:latin typeface="Poppins" panose="020B0604020202020204"/>
                <a:ea typeface="Calibri" panose="020F0502020204030204" pitchFamily="34" charset="0"/>
                <a:cs typeface="Calibri" panose="020F0502020204030204" pitchFamily="34" charset="0"/>
              </a:rPr>
              <a:t> </a:t>
            </a: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iniziativa, forte</a:t>
            </a:r>
            <a:r>
              <a:rPr lang="it-IT" sz="2400" dirty="0">
                <a:solidFill>
                  <a:srgbClr val="0070C0"/>
                </a:solidFill>
                <a:latin typeface="Poppins" panose="020B0604020202020204"/>
                <a:ea typeface="Calibri" panose="020F0502020204030204" pitchFamily="34" charset="0"/>
                <a:cs typeface="Calibri" panose="020F0502020204030204" pitchFamily="34" charset="0"/>
              </a:rPr>
              <a:t> </a:t>
            </a: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volontà realizzativa;	</a:t>
            </a:r>
          </a:p>
          <a:p>
            <a:pPr marL="231775" marR="0" lvl="0" indent="-183515" rtl="0">
              <a:lnSpc>
                <a:spcPct val="100000"/>
              </a:lnSpc>
              <a:spcBef>
                <a:spcPts val="580"/>
              </a:spcBef>
              <a:spcAft>
                <a:spcPts val="0"/>
              </a:spcAft>
              <a:buClr>
                <a:srgbClr val="330066"/>
              </a:buClr>
              <a:buSzPts val="1650"/>
              <a:buFont typeface="Noto Sans Symbols"/>
              <a:buChar char="▪"/>
            </a:pPr>
            <a:r>
              <a:rPr lang="it-IT" sz="2400" dirty="0">
                <a:solidFill>
                  <a:srgbClr val="0070C0"/>
                </a:solidFill>
                <a:latin typeface="Poppins" panose="020B0604020202020204"/>
                <a:ea typeface="Calibri" panose="020F0502020204030204" pitchFamily="34" charset="0"/>
                <a:cs typeface="Calibri" panose="020F0502020204030204" pitchFamily="34" charset="0"/>
              </a:rPr>
              <a:t>l</a:t>
            </a: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ibertà</a:t>
            </a:r>
            <a:r>
              <a:rPr lang="it-IT" sz="2400" dirty="0">
                <a:solidFill>
                  <a:srgbClr val="0070C0"/>
                </a:solidFill>
                <a:latin typeface="Poppins" panose="020B0604020202020204"/>
                <a:ea typeface="Calibri" panose="020F0502020204030204" pitchFamily="34" charset="0"/>
                <a:cs typeface="Calibri" panose="020F0502020204030204" pitchFamily="34" charset="0"/>
              </a:rPr>
              <a:t> </a:t>
            </a: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intellettuale;</a:t>
            </a:r>
            <a:endParaRPr lang="it-IT" sz="2400" dirty="0">
              <a:solidFill>
                <a:srgbClr val="0070C0"/>
              </a:solidFill>
              <a:latin typeface="Poppins" panose="020B0604020202020204"/>
              <a:ea typeface="Calibri" panose="020F0502020204030204" pitchFamily="34" charset="0"/>
              <a:cs typeface="Calibri" panose="020F0502020204030204" pitchFamily="34" charset="0"/>
            </a:endParaRPr>
          </a:p>
          <a:p>
            <a:pPr marL="231775" marR="0" lvl="0" indent="-183515" rtl="0">
              <a:lnSpc>
                <a:spcPct val="100000"/>
              </a:lnSpc>
              <a:spcBef>
                <a:spcPts val="580"/>
              </a:spcBef>
              <a:spcAft>
                <a:spcPts val="0"/>
              </a:spcAft>
              <a:buClr>
                <a:srgbClr val="330066"/>
              </a:buClr>
              <a:buSzPts val="1650"/>
              <a:buFont typeface="Noto Sans Symbols"/>
              <a:buChar char="▪"/>
            </a:pPr>
            <a:r>
              <a:rPr lang="it-IT" sz="2400" dirty="0">
                <a:solidFill>
                  <a:srgbClr val="0070C0"/>
                </a:solidFill>
                <a:latin typeface="Poppins" panose="020B0604020202020204"/>
                <a:ea typeface="Calibri" panose="020F0502020204030204" pitchFamily="34" charset="0"/>
                <a:cs typeface="Calibri" panose="020F0502020204030204" pitchFamily="34" charset="0"/>
                <a:sym typeface="Arial"/>
              </a:rPr>
              <a:t>autorevolezza, capacità di “leadership” nei confronti  dei collaboratori.</a:t>
            </a:r>
            <a:endParaRPr sz="2400" dirty="0">
              <a:solidFill>
                <a:srgbClr val="0070C0"/>
              </a:solidFill>
              <a:latin typeface="Poppins" panose="020B0604020202020204"/>
              <a:ea typeface="Calibri" panose="020F0502020204030204" pitchFamily="34" charset="0"/>
              <a:cs typeface="Calibri" panose="020F0502020204030204" pitchFamily="34"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14"/>
        <p:cNvGrpSpPr/>
        <p:nvPr/>
      </p:nvGrpSpPr>
      <p:grpSpPr>
        <a:xfrm>
          <a:off x="0" y="0"/>
          <a:ext cx="0" cy="0"/>
          <a:chOff x="0" y="0"/>
          <a:chExt cx="0" cy="0"/>
        </a:xfrm>
      </p:grpSpPr>
      <p:sp>
        <p:nvSpPr>
          <p:cNvPr id="115" name="Google Shape;115;p3"/>
          <p:cNvSpPr txBox="1">
            <a:spLocks noGrp="1"/>
          </p:cNvSpPr>
          <p:nvPr>
            <p:ph type="title"/>
          </p:nvPr>
        </p:nvSpPr>
        <p:spPr>
          <a:xfrm>
            <a:off x="1566673" y="356315"/>
            <a:ext cx="6275705" cy="5137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3200" dirty="0">
                <a:solidFill>
                  <a:srgbClr val="0070C0"/>
                </a:solidFill>
                <a:latin typeface="Poppins"/>
              </a:rPr>
              <a:t>Imprenditorialità e managerialità</a:t>
            </a:r>
            <a:endParaRPr sz="3200" dirty="0">
              <a:solidFill>
                <a:srgbClr val="0070C0"/>
              </a:solidFill>
              <a:latin typeface="Poppins"/>
            </a:endParaRPr>
          </a:p>
        </p:txBody>
      </p:sp>
      <p:grpSp>
        <p:nvGrpSpPr>
          <p:cNvPr id="116" name="Google Shape;116;p3"/>
          <p:cNvGrpSpPr/>
          <p:nvPr/>
        </p:nvGrpSpPr>
        <p:grpSpPr>
          <a:xfrm>
            <a:off x="612522" y="1463254"/>
            <a:ext cx="3385185" cy="721360"/>
            <a:chOff x="612648" y="1557527"/>
            <a:chExt cx="3385185" cy="721360"/>
          </a:xfrm>
        </p:grpSpPr>
        <p:sp>
          <p:nvSpPr>
            <p:cNvPr id="117" name="Google Shape;117;p3"/>
            <p:cNvSpPr/>
            <p:nvPr/>
          </p:nvSpPr>
          <p:spPr>
            <a:xfrm>
              <a:off x="612648" y="1557527"/>
              <a:ext cx="3385185" cy="721360"/>
            </a:xfrm>
            <a:custGeom>
              <a:avLst/>
              <a:gdLst/>
              <a:ahLst/>
              <a:cxnLst/>
              <a:rect l="l" t="t" r="r" b="b"/>
              <a:pathLst>
                <a:path w="3385185" h="721360" extrusionOk="0">
                  <a:moveTo>
                    <a:pt x="1692402" y="0"/>
                  </a:moveTo>
                  <a:lnTo>
                    <a:pt x="1618986" y="333"/>
                  </a:lnTo>
                  <a:lnTo>
                    <a:pt x="1546370" y="1323"/>
                  </a:lnTo>
                  <a:lnTo>
                    <a:pt x="1474616" y="2957"/>
                  </a:lnTo>
                  <a:lnTo>
                    <a:pt x="1403789" y="5221"/>
                  </a:lnTo>
                  <a:lnTo>
                    <a:pt x="1333951" y="8101"/>
                  </a:lnTo>
                  <a:lnTo>
                    <a:pt x="1265166" y="11585"/>
                  </a:lnTo>
                  <a:lnTo>
                    <a:pt x="1197498" y="15658"/>
                  </a:lnTo>
                  <a:lnTo>
                    <a:pt x="1131010" y="20307"/>
                  </a:lnTo>
                  <a:lnTo>
                    <a:pt x="1065765" y="25518"/>
                  </a:lnTo>
                  <a:lnTo>
                    <a:pt x="1001827" y="31278"/>
                  </a:lnTo>
                  <a:lnTo>
                    <a:pt x="939260" y="37574"/>
                  </a:lnTo>
                  <a:lnTo>
                    <a:pt x="878127" y="44391"/>
                  </a:lnTo>
                  <a:lnTo>
                    <a:pt x="818491" y="51717"/>
                  </a:lnTo>
                  <a:lnTo>
                    <a:pt x="760417" y="59537"/>
                  </a:lnTo>
                  <a:lnTo>
                    <a:pt x="703966" y="67838"/>
                  </a:lnTo>
                  <a:lnTo>
                    <a:pt x="649204" y="76607"/>
                  </a:lnTo>
                  <a:lnTo>
                    <a:pt x="596194" y="85830"/>
                  </a:lnTo>
                  <a:lnTo>
                    <a:pt x="544998" y="95494"/>
                  </a:lnTo>
                  <a:lnTo>
                    <a:pt x="495680" y="105584"/>
                  </a:lnTo>
                  <a:lnTo>
                    <a:pt x="448305" y="116088"/>
                  </a:lnTo>
                  <a:lnTo>
                    <a:pt x="402935" y="126992"/>
                  </a:lnTo>
                  <a:lnTo>
                    <a:pt x="359634" y="138282"/>
                  </a:lnTo>
                  <a:lnTo>
                    <a:pt x="318466" y="149945"/>
                  </a:lnTo>
                  <a:lnTo>
                    <a:pt x="279493" y="161968"/>
                  </a:lnTo>
                  <a:lnTo>
                    <a:pt x="242780" y="174336"/>
                  </a:lnTo>
                  <a:lnTo>
                    <a:pt x="176385" y="200056"/>
                  </a:lnTo>
                  <a:lnTo>
                    <a:pt x="119790" y="226996"/>
                  </a:lnTo>
                  <a:lnTo>
                    <a:pt x="73502" y="255048"/>
                  </a:lnTo>
                  <a:lnTo>
                    <a:pt x="38030" y="284104"/>
                  </a:lnTo>
                  <a:lnTo>
                    <a:pt x="13881" y="314056"/>
                  </a:lnTo>
                  <a:lnTo>
                    <a:pt x="0" y="360425"/>
                  </a:lnTo>
                  <a:lnTo>
                    <a:pt x="1563" y="376056"/>
                  </a:lnTo>
                  <a:lnTo>
                    <a:pt x="24508" y="421876"/>
                  </a:lnTo>
                  <a:lnTo>
                    <a:pt x="54383" y="451394"/>
                  </a:lnTo>
                  <a:lnTo>
                    <a:pt x="95326" y="479962"/>
                  </a:lnTo>
                  <a:lnTo>
                    <a:pt x="146831" y="507471"/>
                  </a:lnTo>
                  <a:lnTo>
                    <a:pt x="208389" y="533815"/>
                  </a:lnTo>
                  <a:lnTo>
                    <a:pt x="279493" y="558883"/>
                  </a:lnTo>
                  <a:lnTo>
                    <a:pt x="318466" y="570906"/>
                  </a:lnTo>
                  <a:lnTo>
                    <a:pt x="359634" y="582569"/>
                  </a:lnTo>
                  <a:lnTo>
                    <a:pt x="402935" y="593859"/>
                  </a:lnTo>
                  <a:lnTo>
                    <a:pt x="448305" y="604763"/>
                  </a:lnTo>
                  <a:lnTo>
                    <a:pt x="495680" y="615267"/>
                  </a:lnTo>
                  <a:lnTo>
                    <a:pt x="544998" y="625357"/>
                  </a:lnTo>
                  <a:lnTo>
                    <a:pt x="596194" y="635021"/>
                  </a:lnTo>
                  <a:lnTo>
                    <a:pt x="649204" y="644244"/>
                  </a:lnTo>
                  <a:lnTo>
                    <a:pt x="703966" y="653013"/>
                  </a:lnTo>
                  <a:lnTo>
                    <a:pt x="760417" y="661314"/>
                  </a:lnTo>
                  <a:lnTo>
                    <a:pt x="818491" y="669134"/>
                  </a:lnTo>
                  <a:lnTo>
                    <a:pt x="878127" y="676460"/>
                  </a:lnTo>
                  <a:lnTo>
                    <a:pt x="939260" y="683277"/>
                  </a:lnTo>
                  <a:lnTo>
                    <a:pt x="1001827" y="689573"/>
                  </a:lnTo>
                  <a:lnTo>
                    <a:pt x="1065765" y="695333"/>
                  </a:lnTo>
                  <a:lnTo>
                    <a:pt x="1131010" y="700544"/>
                  </a:lnTo>
                  <a:lnTo>
                    <a:pt x="1197498" y="705193"/>
                  </a:lnTo>
                  <a:lnTo>
                    <a:pt x="1265166" y="709266"/>
                  </a:lnTo>
                  <a:lnTo>
                    <a:pt x="1333951" y="712750"/>
                  </a:lnTo>
                  <a:lnTo>
                    <a:pt x="1403789" y="715630"/>
                  </a:lnTo>
                  <a:lnTo>
                    <a:pt x="1474616" y="717894"/>
                  </a:lnTo>
                  <a:lnTo>
                    <a:pt x="1546370" y="719528"/>
                  </a:lnTo>
                  <a:lnTo>
                    <a:pt x="1618986" y="720518"/>
                  </a:lnTo>
                  <a:lnTo>
                    <a:pt x="1692402" y="720851"/>
                  </a:lnTo>
                  <a:lnTo>
                    <a:pt x="1765817" y="720518"/>
                  </a:lnTo>
                  <a:lnTo>
                    <a:pt x="1838433" y="719528"/>
                  </a:lnTo>
                  <a:lnTo>
                    <a:pt x="1910187" y="717894"/>
                  </a:lnTo>
                  <a:lnTo>
                    <a:pt x="1981014" y="715630"/>
                  </a:lnTo>
                  <a:lnTo>
                    <a:pt x="2050852" y="712750"/>
                  </a:lnTo>
                  <a:lnTo>
                    <a:pt x="2119637" y="709266"/>
                  </a:lnTo>
                  <a:lnTo>
                    <a:pt x="2187305" y="705193"/>
                  </a:lnTo>
                  <a:lnTo>
                    <a:pt x="2253793" y="700544"/>
                  </a:lnTo>
                  <a:lnTo>
                    <a:pt x="2319038" y="695333"/>
                  </a:lnTo>
                  <a:lnTo>
                    <a:pt x="2382976" y="689573"/>
                  </a:lnTo>
                  <a:lnTo>
                    <a:pt x="2445543" y="683277"/>
                  </a:lnTo>
                  <a:lnTo>
                    <a:pt x="2506676" y="676460"/>
                  </a:lnTo>
                  <a:lnTo>
                    <a:pt x="2566312" y="669134"/>
                  </a:lnTo>
                  <a:lnTo>
                    <a:pt x="2624386" y="661314"/>
                  </a:lnTo>
                  <a:lnTo>
                    <a:pt x="2680837" y="653013"/>
                  </a:lnTo>
                  <a:lnTo>
                    <a:pt x="2735599" y="644244"/>
                  </a:lnTo>
                  <a:lnTo>
                    <a:pt x="2788609" y="635021"/>
                  </a:lnTo>
                  <a:lnTo>
                    <a:pt x="2839805" y="625357"/>
                  </a:lnTo>
                  <a:lnTo>
                    <a:pt x="2889123" y="615267"/>
                  </a:lnTo>
                  <a:lnTo>
                    <a:pt x="2936498" y="604763"/>
                  </a:lnTo>
                  <a:lnTo>
                    <a:pt x="2981868" y="593859"/>
                  </a:lnTo>
                  <a:lnTo>
                    <a:pt x="3025169" y="582569"/>
                  </a:lnTo>
                  <a:lnTo>
                    <a:pt x="3066337" y="570906"/>
                  </a:lnTo>
                  <a:lnTo>
                    <a:pt x="3105310" y="558883"/>
                  </a:lnTo>
                  <a:lnTo>
                    <a:pt x="3142023" y="546515"/>
                  </a:lnTo>
                  <a:lnTo>
                    <a:pt x="3208418" y="520795"/>
                  </a:lnTo>
                  <a:lnTo>
                    <a:pt x="3265013" y="493855"/>
                  </a:lnTo>
                  <a:lnTo>
                    <a:pt x="3311301" y="465803"/>
                  </a:lnTo>
                  <a:lnTo>
                    <a:pt x="3346773" y="436747"/>
                  </a:lnTo>
                  <a:lnTo>
                    <a:pt x="3370922" y="406795"/>
                  </a:lnTo>
                  <a:lnTo>
                    <a:pt x="3384804" y="360425"/>
                  </a:lnTo>
                  <a:lnTo>
                    <a:pt x="3383240" y="344795"/>
                  </a:lnTo>
                  <a:lnTo>
                    <a:pt x="3360295" y="298975"/>
                  </a:lnTo>
                  <a:lnTo>
                    <a:pt x="3330420" y="269457"/>
                  </a:lnTo>
                  <a:lnTo>
                    <a:pt x="3289477" y="240889"/>
                  </a:lnTo>
                  <a:lnTo>
                    <a:pt x="3237972" y="213380"/>
                  </a:lnTo>
                  <a:lnTo>
                    <a:pt x="3176414" y="187036"/>
                  </a:lnTo>
                  <a:lnTo>
                    <a:pt x="3105310" y="161968"/>
                  </a:lnTo>
                  <a:lnTo>
                    <a:pt x="3066337" y="149945"/>
                  </a:lnTo>
                  <a:lnTo>
                    <a:pt x="3025169" y="138282"/>
                  </a:lnTo>
                  <a:lnTo>
                    <a:pt x="2981868" y="126992"/>
                  </a:lnTo>
                  <a:lnTo>
                    <a:pt x="2936498" y="116088"/>
                  </a:lnTo>
                  <a:lnTo>
                    <a:pt x="2889123" y="105584"/>
                  </a:lnTo>
                  <a:lnTo>
                    <a:pt x="2839805" y="95494"/>
                  </a:lnTo>
                  <a:lnTo>
                    <a:pt x="2788609" y="85830"/>
                  </a:lnTo>
                  <a:lnTo>
                    <a:pt x="2735599" y="76607"/>
                  </a:lnTo>
                  <a:lnTo>
                    <a:pt x="2680837" y="67838"/>
                  </a:lnTo>
                  <a:lnTo>
                    <a:pt x="2624386" y="59537"/>
                  </a:lnTo>
                  <a:lnTo>
                    <a:pt x="2566312" y="51717"/>
                  </a:lnTo>
                  <a:lnTo>
                    <a:pt x="2506676" y="44391"/>
                  </a:lnTo>
                  <a:lnTo>
                    <a:pt x="2445543" y="37574"/>
                  </a:lnTo>
                  <a:lnTo>
                    <a:pt x="2382976" y="31278"/>
                  </a:lnTo>
                  <a:lnTo>
                    <a:pt x="2319038" y="25518"/>
                  </a:lnTo>
                  <a:lnTo>
                    <a:pt x="2253793" y="20307"/>
                  </a:lnTo>
                  <a:lnTo>
                    <a:pt x="2187305" y="15658"/>
                  </a:lnTo>
                  <a:lnTo>
                    <a:pt x="2119637" y="11585"/>
                  </a:lnTo>
                  <a:lnTo>
                    <a:pt x="2050852" y="8101"/>
                  </a:lnTo>
                  <a:lnTo>
                    <a:pt x="1981014" y="5221"/>
                  </a:lnTo>
                  <a:lnTo>
                    <a:pt x="1910187" y="2957"/>
                  </a:lnTo>
                  <a:lnTo>
                    <a:pt x="1838433" y="1323"/>
                  </a:lnTo>
                  <a:lnTo>
                    <a:pt x="1765817" y="333"/>
                  </a:lnTo>
                  <a:lnTo>
                    <a:pt x="1692402" y="0"/>
                  </a:lnTo>
                  <a:close/>
                </a:path>
              </a:pathLst>
            </a:custGeom>
            <a:solidFill>
              <a:srgbClr val="FFFF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p3"/>
            <p:cNvSpPr/>
            <p:nvPr/>
          </p:nvSpPr>
          <p:spPr>
            <a:xfrm>
              <a:off x="612648" y="1557527"/>
              <a:ext cx="3385185" cy="721360"/>
            </a:xfrm>
            <a:custGeom>
              <a:avLst/>
              <a:gdLst/>
              <a:ahLst/>
              <a:cxnLst/>
              <a:rect l="l" t="t" r="r" b="b"/>
              <a:pathLst>
                <a:path w="3385185" h="721360" extrusionOk="0">
                  <a:moveTo>
                    <a:pt x="0" y="360425"/>
                  </a:moveTo>
                  <a:lnTo>
                    <a:pt x="13881" y="314056"/>
                  </a:lnTo>
                  <a:lnTo>
                    <a:pt x="38030" y="284104"/>
                  </a:lnTo>
                  <a:lnTo>
                    <a:pt x="73502" y="255048"/>
                  </a:lnTo>
                  <a:lnTo>
                    <a:pt x="119790" y="226996"/>
                  </a:lnTo>
                  <a:lnTo>
                    <a:pt x="176385" y="200056"/>
                  </a:lnTo>
                  <a:lnTo>
                    <a:pt x="242780" y="174336"/>
                  </a:lnTo>
                  <a:lnTo>
                    <a:pt x="279493" y="161968"/>
                  </a:lnTo>
                  <a:lnTo>
                    <a:pt x="318466" y="149945"/>
                  </a:lnTo>
                  <a:lnTo>
                    <a:pt x="359634" y="138282"/>
                  </a:lnTo>
                  <a:lnTo>
                    <a:pt x="402935" y="126992"/>
                  </a:lnTo>
                  <a:lnTo>
                    <a:pt x="448305" y="116088"/>
                  </a:lnTo>
                  <a:lnTo>
                    <a:pt x="495680" y="105584"/>
                  </a:lnTo>
                  <a:lnTo>
                    <a:pt x="544998" y="95494"/>
                  </a:lnTo>
                  <a:lnTo>
                    <a:pt x="596194" y="85830"/>
                  </a:lnTo>
                  <a:lnTo>
                    <a:pt x="649204" y="76607"/>
                  </a:lnTo>
                  <a:lnTo>
                    <a:pt x="703966" y="67838"/>
                  </a:lnTo>
                  <a:lnTo>
                    <a:pt x="760417" y="59537"/>
                  </a:lnTo>
                  <a:lnTo>
                    <a:pt x="818491" y="51717"/>
                  </a:lnTo>
                  <a:lnTo>
                    <a:pt x="878127" y="44391"/>
                  </a:lnTo>
                  <a:lnTo>
                    <a:pt x="939260" y="37574"/>
                  </a:lnTo>
                  <a:lnTo>
                    <a:pt x="1001827" y="31278"/>
                  </a:lnTo>
                  <a:lnTo>
                    <a:pt x="1065765" y="25518"/>
                  </a:lnTo>
                  <a:lnTo>
                    <a:pt x="1131010" y="20307"/>
                  </a:lnTo>
                  <a:lnTo>
                    <a:pt x="1197498" y="15658"/>
                  </a:lnTo>
                  <a:lnTo>
                    <a:pt x="1265166" y="11585"/>
                  </a:lnTo>
                  <a:lnTo>
                    <a:pt x="1333951" y="8101"/>
                  </a:lnTo>
                  <a:lnTo>
                    <a:pt x="1403789" y="5221"/>
                  </a:lnTo>
                  <a:lnTo>
                    <a:pt x="1474616" y="2957"/>
                  </a:lnTo>
                  <a:lnTo>
                    <a:pt x="1546370" y="1323"/>
                  </a:lnTo>
                  <a:lnTo>
                    <a:pt x="1618986" y="333"/>
                  </a:lnTo>
                  <a:lnTo>
                    <a:pt x="1692402" y="0"/>
                  </a:lnTo>
                  <a:lnTo>
                    <a:pt x="1765817" y="333"/>
                  </a:lnTo>
                  <a:lnTo>
                    <a:pt x="1838433" y="1323"/>
                  </a:lnTo>
                  <a:lnTo>
                    <a:pt x="1910187" y="2957"/>
                  </a:lnTo>
                  <a:lnTo>
                    <a:pt x="1981014" y="5221"/>
                  </a:lnTo>
                  <a:lnTo>
                    <a:pt x="2050852" y="8101"/>
                  </a:lnTo>
                  <a:lnTo>
                    <a:pt x="2119637" y="11585"/>
                  </a:lnTo>
                  <a:lnTo>
                    <a:pt x="2187305" y="15658"/>
                  </a:lnTo>
                  <a:lnTo>
                    <a:pt x="2253793" y="20307"/>
                  </a:lnTo>
                  <a:lnTo>
                    <a:pt x="2319038" y="25518"/>
                  </a:lnTo>
                  <a:lnTo>
                    <a:pt x="2382976" y="31278"/>
                  </a:lnTo>
                  <a:lnTo>
                    <a:pt x="2445543" y="37574"/>
                  </a:lnTo>
                  <a:lnTo>
                    <a:pt x="2506676" y="44391"/>
                  </a:lnTo>
                  <a:lnTo>
                    <a:pt x="2566312" y="51717"/>
                  </a:lnTo>
                  <a:lnTo>
                    <a:pt x="2624386" y="59537"/>
                  </a:lnTo>
                  <a:lnTo>
                    <a:pt x="2680837" y="67838"/>
                  </a:lnTo>
                  <a:lnTo>
                    <a:pt x="2735599" y="76607"/>
                  </a:lnTo>
                  <a:lnTo>
                    <a:pt x="2788609" y="85830"/>
                  </a:lnTo>
                  <a:lnTo>
                    <a:pt x="2839805" y="95494"/>
                  </a:lnTo>
                  <a:lnTo>
                    <a:pt x="2889123" y="105584"/>
                  </a:lnTo>
                  <a:lnTo>
                    <a:pt x="2936498" y="116088"/>
                  </a:lnTo>
                  <a:lnTo>
                    <a:pt x="2981868" y="126992"/>
                  </a:lnTo>
                  <a:lnTo>
                    <a:pt x="3025169" y="138282"/>
                  </a:lnTo>
                  <a:lnTo>
                    <a:pt x="3066337" y="149945"/>
                  </a:lnTo>
                  <a:lnTo>
                    <a:pt x="3105310" y="161968"/>
                  </a:lnTo>
                  <a:lnTo>
                    <a:pt x="3142023" y="174336"/>
                  </a:lnTo>
                  <a:lnTo>
                    <a:pt x="3208418" y="200056"/>
                  </a:lnTo>
                  <a:lnTo>
                    <a:pt x="3265013" y="226996"/>
                  </a:lnTo>
                  <a:lnTo>
                    <a:pt x="3311301" y="255048"/>
                  </a:lnTo>
                  <a:lnTo>
                    <a:pt x="3346773" y="284104"/>
                  </a:lnTo>
                  <a:lnTo>
                    <a:pt x="3370922" y="314056"/>
                  </a:lnTo>
                  <a:lnTo>
                    <a:pt x="3384804" y="360425"/>
                  </a:lnTo>
                  <a:lnTo>
                    <a:pt x="3383240" y="376056"/>
                  </a:lnTo>
                  <a:lnTo>
                    <a:pt x="3360295" y="421876"/>
                  </a:lnTo>
                  <a:lnTo>
                    <a:pt x="3330420" y="451394"/>
                  </a:lnTo>
                  <a:lnTo>
                    <a:pt x="3289477" y="479962"/>
                  </a:lnTo>
                  <a:lnTo>
                    <a:pt x="3237972" y="507471"/>
                  </a:lnTo>
                  <a:lnTo>
                    <a:pt x="3176414" y="533815"/>
                  </a:lnTo>
                  <a:lnTo>
                    <a:pt x="3105310" y="558883"/>
                  </a:lnTo>
                  <a:lnTo>
                    <a:pt x="3066337" y="570906"/>
                  </a:lnTo>
                  <a:lnTo>
                    <a:pt x="3025169" y="582569"/>
                  </a:lnTo>
                  <a:lnTo>
                    <a:pt x="2981868" y="593859"/>
                  </a:lnTo>
                  <a:lnTo>
                    <a:pt x="2936498" y="604763"/>
                  </a:lnTo>
                  <a:lnTo>
                    <a:pt x="2889123" y="615267"/>
                  </a:lnTo>
                  <a:lnTo>
                    <a:pt x="2839805" y="625357"/>
                  </a:lnTo>
                  <a:lnTo>
                    <a:pt x="2788609" y="635021"/>
                  </a:lnTo>
                  <a:lnTo>
                    <a:pt x="2735599" y="644244"/>
                  </a:lnTo>
                  <a:lnTo>
                    <a:pt x="2680837" y="653013"/>
                  </a:lnTo>
                  <a:lnTo>
                    <a:pt x="2624386" y="661314"/>
                  </a:lnTo>
                  <a:lnTo>
                    <a:pt x="2566312" y="669134"/>
                  </a:lnTo>
                  <a:lnTo>
                    <a:pt x="2506676" y="676460"/>
                  </a:lnTo>
                  <a:lnTo>
                    <a:pt x="2445543" y="683277"/>
                  </a:lnTo>
                  <a:lnTo>
                    <a:pt x="2382976" y="689573"/>
                  </a:lnTo>
                  <a:lnTo>
                    <a:pt x="2319038" y="695333"/>
                  </a:lnTo>
                  <a:lnTo>
                    <a:pt x="2253793" y="700544"/>
                  </a:lnTo>
                  <a:lnTo>
                    <a:pt x="2187305" y="705193"/>
                  </a:lnTo>
                  <a:lnTo>
                    <a:pt x="2119637" y="709266"/>
                  </a:lnTo>
                  <a:lnTo>
                    <a:pt x="2050852" y="712750"/>
                  </a:lnTo>
                  <a:lnTo>
                    <a:pt x="1981014" y="715630"/>
                  </a:lnTo>
                  <a:lnTo>
                    <a:pt x="1910187" y="717894"/>
                  </a:lnTo>
                  <a:lnTo>
                    <a:pt x="1838433" y="719528"/>
                  </a:lnTo>
                  <a:lnTo>
                    <a:pt x="1765817" y="720518"/>
                  </a:lnTo>
                  <a:lnTo>
                    <a:pt x="1692402" y="720851"/>
                  </a:lnTo>
                  <a:lnTo>
                    <a:pt x="1618986" y="720518"/>
                  </a:lnTo>
                  <a:lnTo>
                    <a:pt x="1546370" y="719528"/>
                  </a:lnTo>
                  <a:lnTo>
                    <a:pt x="1474616" y="717894"/>
                  </a:lnTo>
                  <a:lnTo>
                    <a:pt x="1403789" y="715630"/>
                  </a:lnTo>
                  <a:lnTo>
                    <a:pt x="1333951" y="712750"/>
                  </a:lnTo>
                  <a:lnTo>
                    <a:pt x="1265166" y="709266"/>
                  </a:lnTo>
                  <a:lnTo>
                    <a:pt x="1197498" y="705193"/>
                  </a:lnTo>
                  <a:lnTo>
                    <a:pt x="1131010" y="700544"/>
                  </a:lnTo>
                  <a:lnTo>
                    <a:pt x="1065765" y="695333"/>
                  </a:lnTo>
                  <a:lnTo>
                    <a:pt x="1001827" y="689573"/>
                  </a:lnTo>
                  <a:lnTo>
                    <a:pt x="939260" y="683277"/>
                  </a:lnTo>
                  <a:lnTo>
                    <a:pt x="878127" y="676460"/>
                  </a:lnTo>
                  <a:lnTo>
                    <a:pt x="818491" y="669134"/>
                  </a:lnTo>
                  <a:lnTo>
                    <a:pt x="760417" y="661314"/>
                  </a:lnTo>
                  <a:lnTo>
                    <a:pt x="703966" y="653013"/>
                  </a:lnTo>
                  <a:lnTo>
                    <a:pt x="649204" y="644244"/>
                  </a:lnTo>
                  <a:lnTo>
                    <a:pt x="596194" y="635021"/>
                  </a:lnTo>
                  <a:lnTo>
                    <a:pt x="544998" y="625357"/>
                  </a:lnTo>
                  <a:lnTo>
                    <a:pt x="495680" y="615267"/>
                  </a:lnTo>
                  <a:lnTo>
                    <a:pt x="448305" y="604763"/>
                  </a:lnTo>
                  <a:lnTo>
                    <a:pt x="402935" y="593859"/>
                  </a:lnTo>
                  <a:lnTo>
                    <a:pt x="359634" y="582569"/>
                  </a:lnTo>
                  <a:lnTo>
                    <a:pt x="318466" y="570906"/>
                  </a:lnTo>
                  <a:lnTo>
                    <a:pt x="279493" y="558883"/>
                  </a:lnTo>
                  <a:lnTo>
                    <a:pt x="242780" y="546515"/>
                  </a:lnTo>
                  <a:lnTo>
                    <a:pt x="176385" y="520795"/>
                  </a:lnTo>
                  <a:lnTo>
                    <a:pt x="119790" y="493855"/>
                  </a:lnTo>
                  <a:lnTo>
                    <a:pt x="73502" y="465803"/>
                  </a:lnTo>
                  <a:lnTo>
                    <a:pt x="38030" y="436747"/>
                  </a:lnTo>
                  <a:lnTo>
                    <a:pt x="13881" y="406795"/>
                  </a:lnTo>
                  <a:lnTo>
                    <a:pt x="0" y="360425"/>
                  </a:lnTo>
                  <a:close/>
                </a:path>
              </a:pathLst>
            </a:custGeom>
            <a:noFill/>
            <a:ln w="9525" cap="flat" cmpd="sng">
              <a:solidFill>
                <a:srgbClr val="00008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9" name="Google Shape;119;p3"/>
          <p:cNvSpPr txBox="1"/>
          <p:nvPr/>
        </p:nvSpPr>
        <p:spPr>
          <a:xfrm>
            <a:off x="547091" y="1635543"/>
            <a:ext cx="4105275" cy="1643383"/>
          </a:xfrm>
          <a:prstGeom prst="rect">
            <a:avLst/>
          </a:prstGeom>
          <a:noFill/>
          <a:ln>
            <a:noFill/>
          </a:ln>
        </p:spPr>
        <p:txBody>
          <a:bodyPr spcFirstLastPara="1" wrap="square" lIns="0" tIns="12050" rIns="0" bIns="0" anchor="t" anchorCtr="0">
            <a:spAutoFit/>
          </a:bodyPr>
          <a:lstStyle/>
          <a:p>
            <a:pPr marL="347980" marR="0" lvl="0" indent="0" algn="l" rtl="0">
              <a:lnSpc>
                <a:spcPct val="100000"/>
              </a:lnSpc>
              <a:spcBef>
                <a:spcPts val="0"/>
              </a:spcBef>
              <a:spcAft>
                <a:spcPts val="0"/>
              </a:spcAft>
              <a:buNone/>
            </a:pPr>
            <a:r>
              <a:rPr lang="it-IT" sz="2400" dirty="0">
                <a:solidFill>
                  <a:srgbClr val="0070C0"/>
                </a:solidFill>
                <a:latin typeface="Poppins" panose="020B0604020202020204"/>
                <a:sym typeface="Arial"/>
              </a:rPr>
              <a:t>IMPRENDITORIALITA’</a:t>
            </a:r>
            <a:endParaRPr sz="2400" dirty="0">
              <a:solidFill>
                <a:srgbClr val="0070C0"/>
              </a:solidFill>
              <a:latin typeface="Poppins" panose="020B0604020202020204"/>
              <a:sym typeface="Arial"/>
            </a:endParaRPr>
          </a:p>
          <a:p>
            <a:pPr marL="0" marR="0" lvl="0" indent="0" algn="l" rtl="0">
              <a:lnSpc>
                <a:spcPct val="100000"/>
              </a:lnSpc>
              <a:spcBef>
                <a:spcPts val="30"/>
              </a:spcBef>
              <a:spcAft>
                <a:spcPts val="0"/>
              </a:spcAft>
              <a:buNone/>
            </a:pPr>
            <a:endParaRPr sz="3200" dirty="0">
              <a:solidFill>
                <a:srgbClr val="0070C0"/>
              </a:solidFill>
              <a:latin typeface="Poppins" panose="020B0604020202020204"/>
              <a:sym typeface="Arial"/>
            </a:endParaRPr>
          </a:p>
          <a:p>
            <a:pPr marL="12700" marR="5080" lvl="0" indent="0" algn="l" rtl="0">
              <a:lnSpc>
                <a:spcPct val="100000"/>
              </a:lnSpc>
              <a:spcBef>
                <a:spcPts val="0"/>
              </a:spcBef>
              <a:spcAft>
                <a:spcPts val="0"/>
              </a:spcAft>
              <a:buNone/>
            </a:pPr>
            <a:r>
              <a:rPr lang="it-IT" sz="1600" b="1" dirty="0">
                <a:solidFill>
                  <a:srgbClr val="0070C0"/>
                </a:solidFill>
                <a:latin typeface="Poppins" panose="020B0604020202020204"/>
                <a:sym typeface="Arial"/>
              </a:rPr>
              <a:t>Attitudine ad assumere decisioni rischiose  finalizzate all’innovazione dei comportamenti  </a:t>
            </a:r>
            <a:r>
              <a:rPr lang="it-IT" sz="1800" b="1" dirty="0">
                <a:solidFill>
                  <a:srgbClr val="0070C0"/>
                </a:solidFill>
                <a:latin typeface="Poppins" panose="020B0604020202020204"/>
                <a:sym typeface="Arial"/>
              </a:rPr>
              <a:t>aziendali</a:t>
            </a:r>
            <a:endParaRPr sz="1800" dirty="0">
              <a:solidFill>
                <a:srgbClr val="0070C0"/>
              </a:solidFill>
              <a:latin typeface="Poppins" panose="020B0604020202020204"/>
              <a:sym typeface="Arial"/>
            </a:endParaRPr>
          </a:p>
        </p:txBody>
      </p:sp>
      <p:grpSp>
        <p:nvGrpSpPr>
          <p:cNvPr id="120" name="Google Shape;120;p3"/>
          <p:cNvGrpSpPr/>
          <p:nvPr/>
        </p:nvGrpSpPr>
        <p:grpSpPr>
          <a:xfrm>
            <a:off x="5004690" y="1463254"/>
            <a:ext cx="3385185" cy="721360"/>
            <a:chOff x="5004816" y="1557527"/>
            <a:chExt cx="3385185" cy="721360"/>
          </a:xfrm>
        </p:grpSpPr>
        <p:sp>
          <p:nvSpPr>
            <p:cNvPr id="121" name="Google Shape;121;p3"/>
            <p:cNvSpPr/>
            <p:nvPr/>
          </p:nvSpPr>
          <p:spPr>
            <a:xfrm>
              <a:off x="5004816" y="1557527"/>
              <a:ext cx="3385185" cy="721360"/>
            </a:xfrm>
            <a:custGeom>
              <a:avLst/>
              <a:gdLst/>
              <a:ahLst/>
              <a:cxnLst/>
              <a:rect l="l" t="t" r="r" b="b"/>
              <a:pathLst>
                <a:path w="3385184" h="721360" extrusionOk="0">
                  <a:moveTo>
                    <a:pt x="1692402" y="0"/>
                  </a:moveTo>
                  <a:lnTo>
                    <a:pt x="1618986" y="333"/>
                  </a:lnTo>
                  <a:lnTo>
                    <a:pt x="1546370" y="1323"/>
                  </a:lnTo>
                  <a:lnTo>
                    <a:pt x="1474616" y="2957"/>
                  </a:lnTo>
                  <a:lnTo>
                    <a:pt x="1403789" y="5221"/>
                  </a:lnTo>
                  <a:lnTo>
                    <a:pt x="1333951" y="8101"/>
                  </a:lnTo>
                  <a:lnTo>
                    <a:pt x="1265166" y="11585"/>
                  </a:lnTo>
                  <a:lnTo>
                    <a:pt x="1197498" y="15658"/>
                  </a:lnTo>
                  <a:lnTo>
                    <a:pt x="1131010" y="20307"/>
                  </a:lnTo>
                  <a:lnTo>
                    <a:pt x="1065765" y="25518"/>
                  </a:lnTo>
                  <a:lnTo>
                    <a:pt x="1001827" y="31278"/>
                  </a:lnTo>
                  <a:lnTo>
                    <a:pt x="939260" y="37574"/>
                  </a:lnTo>
                  <a:lnTo>
                    <a:pt x="878127" y="44391"/>
                  </a:lnTo>
                  <a:lnTo>
                    <a:pt x="818491" y="51717"/>
                  </a:lnTo>
                  <a:lnTo>
                    <a:pt x="760417" y="59537"/>
                  </a:lnTo>
                  <a:lnTo>
                    <a:pt x="703966" y="67838"/>
                  </a:lnTo>
                  <a:lnTo>
                    <a:pt x="649204" y="76607"/>
                  </a:lnTo>
                  <a:lnTo>
                    <a:pt x="596194" y="85830"/>
                  </a:lnTo>
                  <a:lnTo>
                    <a:pt x="544998" y="95494"/>
                  </a:lnTo>
                  <a:lnTo>
                    <a:pt x="495680" y="105584"/>
                  </a:lnTo>
                  <a:lnTo>
                    <a:pt x="448305" y="116088"/>
                  </a:lnTo>
                  <a:lnTo>
                    <a:pt x="402935" y="126992"/>
                  </a:lnTo>
                  <a:lnTo>
                    <a:pt x="359634" y="138282"/>
                  </a:lnTo>
                  <a:lnTo>
                    <a:pt x="318466" y="149945"/>
                  </a:lnTo>
                  <a:lnTo>
                    <a:pt x="279493" y="161968"/>
                  </a:lnTo>
                  <a:lnTo>
                    <a:pt x="242780" y="174336"/>
                  </a:lnTo>
                  <a:lnTo>
                    <a:pt x="176385" y="200056"/>
                  </a:lnTo>
                  <a:lnTo>
                    <a:pt x="119790" y="226996"/>
                  </a:lnTo>
                  <a:lnTo>
                    <a:pt x="73502" y="255048"/>
                  </a:lnTo>
                  <a:lnTo>
                    <a:pt x="38030" y="284104"/>
                  </a:lnTo>
                  <a:lnTo>
                    <a:pt x="13881" y="314056"/>
                  </a:lnTo>
                  <a:lnTo>
                    <a:pt x="0" y="360425"/>
                  </a:lnTo>
                  <a:lnTo>
                    <a:pt x="1563" y="376056"/>
                  </a:lnTo>
                  <a:lnTo>
                    <a:pt x="24508" y="421876"/>
                  </a:lnTo>
                  <a:lnTo>
                    <a:pt x="54383" y="451394"/>
                  </a:lnTo>
                  <a:lnTo>
                    <a:pt x="95326" y="479962"/>
                  </a:lnTo>
                  <a:lnTo>
                    <a:pt x="146831" y="507471"/>
                  </a:lnTo>
                  <a:lnTo>
                    <a:pt x="208389" y="533815"/>
                  </a:lnTo>
                  <a:lnTo>
                    <a:pt x="279493" y="558883"/>
                  </a:lnTo>
                  <a:lnTo>
                    <a:pt x="318466" y="570906"/>
                  </a:lnTo>
                  <a:lnTo>
                    <a:pt x="359634" y="582569"/>
                  </a:lnTo>
                  <a:lnTo>
                    <a:pt x="402935" y="593859"/>
                  </a:lnTo>
                  <a:lnTo>
                    <a:pt x="448305" y="604763"/>
                  </a:lnTo>
                  <a:lnTo>
                    <a:pt x="495680" y="615267"/>
                  </a:lnTo>
                  <a:lnTo>
                    <a:pt x="544998" y="625357"/>
                  </a:lnTo>
                  <a:lnTo>
                    <a:pt x="596194" y="635021"/>
                  </a:lnTo>
                  <a:lnTo>
                    <a:pt x="649204" y="644244"/>
                  </a:lnTo>
                  <a:lnTo>
                    <a:pt x="703966" y="653013"/>
                  </a:lnTo>
                  <a:lnTo>
                    <a:pt x="760417" y="661314"/>
                  </a:lnTo>
                  <a:lnTo>
                    <a:pt x="818491" y="669134"/>
                  </a:lnTo>
                  <a:lnTo>
                    <a:pt x="878127" y="676460"/>
                  </a:lnTo>
                  <a:lnTo>
                    <a:pt x="939260" y="683277"/>
                  </a:lnTo>
                  <a:lnTo>
                    <a:pt x="1001827" y="689573"/>
                  </a:lnTo>
                  <a:lnTo>
                    <a:pt x="1065765" y="695333"/>
                  </a:lnTo>
                  <a:lnTo>
                    <a:pt x="1131010" y="700544"/>
                  </a:lnTo>
                  <a:lnTo>
                    <a:pt x="1197498" y="705193"/>
                  </a:lnTo>
                  <a:lnTo>
                    <a:pt x="1265166" y="709266"/>
                  </a:lnTo>
                  <a:lnTo>
                    <a:pt x="1333951" y="712750"/>
                  </a:lnTo>
                  <a:lnTo>
                    <a:pt x="1403789" y="715630"/>
                  </a:lnTo>
                  <a:lnTo>
                    <a:pt x="1474616" y="717894"/>
                  </a:lnTo>
                  <a:lnTo>
                    <a:pt x="1546370" y="719528"/>
                  </a:lnTo>
                  <a:lnTo>
                    <a:pt x="1618986" y="720518"/>
                  </a:lnTo>
                  <a:lnTo>
                    <a:pt x="1692402" y="720851"/>
                  </a:lnTo>
                  <a:lnTo>
                    <a:pt x="1765817" y="720518"/>
                  </a:lnTo>
                  <a:lnTo>
                    <a:pt x="1838433" y="719528"/>
                  </a:lnTo>
                  <a:lnTo>
                    <a:pt x="1910187" y="717894"/>
                  </a:lnTo>
                  <a:lnTo>
                    <a:pt x="1981014" y="715630"/>
                  </a:lnTo>
                  <a:lnTo>
                    <a:pt x="2050852" y="712750"/>
                  </a:lnTo>
                  <a:lnTo>
                    <a:pt x="2119637" y="709266"/>
                  </a:lnTo>
                  <a:lnTo>
                    <a:pt x="2187305" y="705193"/>
                  </a:lnTo>
                  <a:lnTo>
                    <a:pt x="2253793" y="700544"/>
                  </a:lnTo>
                  <a:lnTo>
                    <a:pt x="2319038" y="695333"/>
                  </a:lnTo>
                  <a:lnTo>
                    <a:pt x="2382976" y="689573"/>
                  </a:lnTo>
                  <a:lnTo>
                    <a:pt x="2445543" y="683277"/>
                  </a:lnTo>
                  <a:lnTo>
                    <a:pt x="2506676" y="676460"/>
                  </a:lnTo>
                  <a:lnTo>
                    <a:pt x="2566312" y="669134"/>
                  </a:lnTo>
                  <a:lnTo>
                    <a:pt x="2624386" y="661314"/>
                  </a:lnTo>
                  <a:lnTo>
                    <a:pt x="2680837" y="653013"/>
                  </a:lnTo>
                  <a:lnTo>
                    <a:pt x="2735599" y="644244"/>
                  </a:lnTo>
                  <a:lnTo>
                    <a:pt x="2788609" y="635021"/>
                  </a:lnTo>
                  <a:lnTo>
                    <a:pt x="2839805" y="625357"/>
                  </a:lnTo>
                  <a:lnTo>
                    <a:pt x="2889122" y="615267"/>
                  </a:lnTo>
                  <a:lnTo>
                    <a:pt x="2936498" y="604763"/>
                  </a:lnTo>
                  <a:lnTo>
                    <a:pt x="2981868" y="593859"/>
                  </a:lnTo>
                  <a:lnTo>
                    <a:pt x="3025169" y="582569"/>
                  </a:lnTo>
                  <a:lnTo>
                    <a:pt x="3066337" y="570906"/>
                  </a:lnTo>
                  <a:lnTo>
                    <a:pt x="3105310" y="558883"/>
                  </a:lnTo>
                  <a:lnTo>
                    <a:pt x="3142023" y="546515"/>
                  </a:lnTo>
                  <a:lnTo>
                    <a:pt x="3208418" y="520795"/>
                  </a:lnTo>
                  <a:lnTo>
                    <a:pt x="3265013" y="493855"/>
                  </a:lnTo>
                  <a:lnTo>
                    <a:pt x="3311301" y="465803"/>
                  </a:lnTo>
                  <a:lnTo>
                    <a:pt x="3346773" y="436747"/>
                  </a:lnTo>
                  <a:lnTo>
                    <a:pt x="3370922" y="406795"/>
                  </a:lnTo>
                  <a:lnTo>
                    <a:pt x="3384804" y="360425"/>
                  </a:lnTo>
                  <a:lnTo>
                    <a:pt x="3383240" y="344795"/>
                  </a:lnTo>
                  <a:lnTo>
                    <a:pt x="3360295" y="298975"/>
                  </a:lnTo>
                  <a:lnTo>
                    <a:pt x="3330420" y="269457"/>
                  </a:lnTo>
                  <a:lnTo>
                    <a:pt x="3289477" y="240889"/>
                  </a:lnTo>
                  <a:lnTo>
                    <a:pt x="3237972" y="213380"/>
                  </a:lnTo>
                  <a:lnTo>
                    <a:pt x="3176414" y="187036"/>
                  </a:lnTo>
                  <a:lnTo>
                    <a:pt x="3105310" y="161968"/>
                  </a:lnTo>
                  <a:lnTo>
                    <a:pt x="3066337" y="149945"/>
                  </a:lnTo>
                  <a:lnTo>
                    <a:pt x="3025169" y="138282"/>
                  </a:lnTo>
                  <a:lnTo>
                    <a:pt x="2981868" y="126992"/>
                  </a:lnTo>
                  <a:lnTo>
                    <a:pt x="2936498" y="116088"/>
                  </a:lnTo>
                  <a:lnTo>
                    <a:pt x="2889123" y="105584"/>
                  </a:lnTo>
                  <a:lnTo>
                    <a:pt x="2839805" y="95494"/>
                  </a:lnTo>
                  <a:lnTo>
                    <a:pt x="2788609" y="85830"/>
                  </a:lnTo>
                  <a:lnTo>
                    <a:pt x="2735599" y="76607"/>
                  </a:lnTo>
                  <a:lnTo>
                    <a:pt x="2680837" y="67838"/>
                  </a:lnTo>
                  <a:lnTo>
                    <a:pt x="2624386" y="59537"/>
                  </a:lnTo>
                  <a:lnTo>
                    <a:pt x="2566312" y="51717"/>
                  </a:lnTo>
                  <a:lnTo>
                    <a:pt x="2506676" y="44391"/>
                  </a:lnTo>
                  <a:lnTo>
                    <a:pt x="2445543" y="37574"/>
                  </a:lnTo>
                  <a:lnTo>
                    <a:pt x="2382976" y="31278"/>
                  </a:lnTo>
                  <a:lnTo>
                    <a:pt x="2319038" y="25518"/>
                  </a:lnTo>
                  <a:lnTo>
                    <a:pt x="2253793" y="20307"/>
                  </a:lnTo>
                  <a:lnTo>
                    <a:pt x="2187305" y="15658"/>
                  </a:lnTo>
                  <a:lnTo>
                    <a:pt x="2119637" y="11585"/>
                  </a:lnTo>
                  <a:lnTo>
                    <a:pt x="2050852" y="8101"/>
                  </a:lnTo>
                  <a:lnTo>
                    <a:pt x="1981014" y="5221"/>
                  </a:lnTo>
                  <a:lnTo>
                    <a:pt x="1910187" y="2957"/>
                  </a:lnTo>
                  <a:lnTo>
                    <a:pt x="1838433" y="1323"/>
                  </a:lnTo>
                  <a:lnTo>
                    <a:pt x="1765817" y="333"/>
                  </a:lnTo>
                  <a:lnTo>
                    <a:pt x="1692402" y="0"/>
                  </a:lnTo>
                  <a:close/>
                </a:path>
              </a:pathLst>
            </a:custGeom>
            <a:solidFill>
              <a:srgbClr val="FFFF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3"/>
            <p:cNvSpPr/>
            <p:nvPr/>
          </p:nvSpPr>
          <p:spPr>
            <a:xfrm>
              <a:off x="5004816" y="1557527"/>
              <a:ext cx="3385185" cy="721360"/>
            </a:xfrm>
            <a:custGeom>
              <a:avLst/>
              <a:gdLst/>
              <a:ahLst/>
              <a:cxnLst/>
              <a:rect l="l" t="t" r="r" b="b"/>
              <a:pathLst>
                <a:path w="3385184" h="721360" extrusionOk="0">
                  <a:moveTo>
                    <a:pt x="0" y="360425"/>
                  </a:moveTo>
                  <a:lnTo>
                    <a:pt x="13881" y="314056"/>
                  </a:lnTo>
                  <a:lnTo>
                    <a:pt x="38030" y="284104"/>
                  </a:lnTo>
                  <a:lnTo>
                    <a:pt x="73502" y="255048"/>
                  </a:lnTo>
                  <a:lnTo>
                    <a:pt x="119790" y="226996"/>
                  </a:lnTo>
                  <a:lnTo>
                    <a:pt x="176385" y="200056"/>
                  </a:lnTo>
                  <a:lnTo>
                    <a:pt x="242780" y="174336"/>
                  </a:lnTo>
                  <a:lnTo>
                    <a:pt x="279493" y="161968"/>
                  </a:lnTo>
                  <a:lnTo>
                    <a:pt x="318466" y="149945"/>
                  </a:lnTo>
                  <a:lnTo>
                    <a:pt x="359634" y="138282"/>
                  </a:lnTo>
                  <a:lnTo>
                    <a:pt x="402935" y="126992"/>
                  </a:lnTo>
                  <a:lnTo>
                    <a:pt x="448305" y="116088"/>
                  </a:lnTo>
                  <a:lnTo>
                    <a:pt x="495680" y="105584"/>
                  </a:lnTo>
                  <a:lnTo>
                    <a:pt x="544998" y="95494"/>
                  </a:lnTo>
                  <a:lnTo>
                    <a:pt x="596194" y="85830"/>
                  </a:lnTo>
                  <a:lnTo>
                    <a:pt x="649204" y="76607"/>
                  </a:lnTo>
                  <a:lnTo>
                    <a:pt x="703966" y="67838"/>
                  </a:lnTo>
                  <a:lnTo>
                    <a:pt x="760417" y="59537"/>
                  </a:lnTo>
                  <a:lnTo>
                    <a:pt x="818491" y="51717"/>
                  </a:lnTo>
                  <a:lnTo>
                    <a:pt x="878127" y="44391"/>
                  </a:lnTo>
                  <a:lnTo>
                    <a:pt x="939260" y="37574"/>
                  </a:lnTo>
                  <a:lnTo>
                    <a:pt x="1001827" y="31278"/>
                  </a:lnTo>
                  <a:lnTo>
                    <a:pt x="1065765" y="25518"/>
                  </a:lnTo>
                  <a:lnTo>
                    <a:pt x="1131010" y="20307"/>
                  </a:lnTo>
                  <a:lnTo>
                    <a:pt x="1197498" y="15658"/>
                  </a:lnTo>
                  <a:lnTo>
                    <a:pt x="1265166" y="11585"/>
                  </a:lnTo>
                  <a:lnTo>
                    <a:pt x="1333951" y="8101"/>
                  </a:lnTo>
                  <a:lnTo>
                    <a:pt x="1403789" y="5221"/>
                  </a:lnTo>
                  <a:lnTo>
                    <a:pt x="1474616" y="2957"/>
                  </a:lnTo>
                  <a:lnTo>
                    <a:pt x="1546370" y="1323"/>
                  </a:lnTo>
                  <a:lnTo>
                    <a:pt x="1618986" y="333"/>
                  </a:lnTo>
                  <a:lnTo>
                    <a:pt x="1692402" y="0"/>
                  </a:lnTo>
                  <a:lnTo>
                    <a:pt x="1765817" y="333"/>
                  </a:lnTo>
                  <a:lnTo>
                    <a:pt x="1838433" y="1323"/>
                  </a:lnTo>
                  <a:lnTo>
                    <a:pt x="1910187" y="2957"/>
                  </a:lnTo>
                  <a:lnTo>
                    <a:pt x="1981014" y="5221"/>
                  </a:lnTo>
                  <a:lnTo>
                    <a:pt x="2050852" y="8101"/>
                  </a:lnTo>
                  <a:lnTo>
                    <a:pt x="2119637" y="11585"/>
                  </a:lnTo>
                  <a:lnTo>
                    <a:pt x="2187305" y="15658"/>
                  </a:lnTo>
                  <a:lnTo>
                    <a:pt x="2253793" y="20307"/>
                  </a:lnTo>
                  <a:lnTo>
                    <a:pt x="2319038" y="25518"/>
                  </a:lnTo>
                  <a:lnTo>
                    <a:pt x="2382976" y="31278"/>
                  </a:lnTo>
                  <a:lnTo>
                    <a:pt x="2445543" y="37574"/>
                  </a:lnTo>
                  <a:lnTo>
                    <a:pt x="2506676" y="44391"/>
                  </a:lnTo>
                  <a:lnTo>
                    <a:pt x="2566312" y="51717"/>
                  </a:lnTo>
                  <a:lnTo>
                    <a:pt x="2624386" y="59537"/>
                  </a:lnTo>
                  <a:lnTo>
                    <a:pt x="2680837" y="67838"/>
                  </a:lnTo>
                  <a:lnTo>
                    <a:pt x="2735599" y="76607"/>
                  </a:lnTo>
                  <a:lnTo>
                    <a:pt x="2788609" y="85830"/>
                  </a:lnTo>
                  <a:lnTo>
                    <a:pt x="2839805" y="95494"/>
                  </a:lnTo>
                  <a:lnTo>
                    <a:pt x="2889123" y="105584"/>
                  </a:lnTo>
                  <a:lnTo>
                    <a:pt x="2936498" y="116088"/>
                  </a:lnTo>
                  <a:lnTo>
                    <a:pt x="2981868" y="126992"/>
                  </a:lnTo>
                  <a:lnTo>
                    <a:pt x="3025169" y="138282"/>
                  </a:lnTo>
                  <a:lnTo>
                    <a:pt x="3066337" y="149945"/>
                  </a:lnTo>
                  <a:lnTo>
                    <a:pt x="3105310" y="161968"/>
                  </a:lnTo>
                  <a:lnTo>
                    <a:pt x="3142023" y="174336"/>
                  </a:lnTo>
                  <a:lnTo>
                    <a:pt x="3208418" y="200056"/>
                  </a:lnTo>
                  <a:lnTo>
                    <a:pt x="3265013" y="226996"/>
                  </a:lnTo>
                  <a:lnTo>
                    <a:pt x="3311301" y="255048"/>
                  </a:lnTo>
                  <a:lnTo>
                    <a:pt x="3346773" y="284104"/>
                  </a:lnTo>
                  <a:lnTo>
                    <a:pt x="3370922" y="314056"/>
                  </a:lnTo>
                  <a:lnTo>
                    <a:pt x="3384804" y="360425"/>
                  </a:lnTo>
                  <a:lnTo>
                    <a:pt x="3383240" y="376056"/>
                  </a:lnTo>
                  <a:lnTo>
                    <a:pt x="3360295" y="421876"/>
                  </a:lnTo>
                  <a:lnTo>
                    <a:pt x="3330420" y="451394"/>
                  </a:lnTo>
                  <a:lnTo>
                    <a:pt x="3289477" y="479962"/>
                  </a:lnTo>
                  <a:lnTo>
                    <a:pt x="3237972" y="507471"/>
                  </a:lnTo>
                  <a:lnTo>
                    <a:pt x="3176414" y="533815"/>
                  </a:lnTo>
                  <a:lnTo>
                    <a:pt x="3105310" y="558883"/>
                  </a:lnTo>
                  <a:lnTo>
                    <a:pt x="3066337" y="570906"/>
                  </a:lnTo>
                  <a:lnTo>
                    <a:pt x="3025169" y="582569"/>
                  </a:lnTo>
                  <a:lnTo>
                    <a:pt x="2981868" y="593859"/>
                  </a:lnTo>
                  <a:lnTo>
                    <a:pt x="2936498" y="604763"/>
                  </a:lnTo>
                  <a:lnTo>
                    <a:pt x="2889122" y="615267"/>
                  </a:lnTo>
                  <a:lnTo>
                    <a:pt x="2839805" y="625357"/>
                  </a:lnTo>
                  <a:lnTo>
                    <a:pt x="2788609" y="635021"/>
                  </a:lnTo>
                  <a:lnTo>
                    <a:pt x="2735599" y="644244"/>
                  </a:lnTo>
                  <a:lnTo>
                    <a:pt x="2680837" y="653013"/>
                  </a:lnTo>
                  <a:lnTo>
                    <a:pt x="2624386" y="661314"/>
                  </a:lnTo>
                  <a:lnTo>
                    <a:pt x="2566312" y="669134"/>
                  </a:lnTo>
                  <a:lnTo>
                    <a:pt x="2506676" y="676460"/>
                  </a:lnTo>
                  <a:lnTo>
                    <a:pt x="2445543" y="683277"/>
                  </a:lnTo>
                  <a:lnTo>
                    <a:pt x="2382976" y="689573"/>
                  </a:lnTo>
                  <a:lnTo>
                    <a:pt x="2319038" y="695333"/>
                  </a:lnTo>
                  <a:lnTo>
                    <a:pt x="2253793" y="700544"/>
                  </a:lnTo>
                  <a:lnTo>
                    <a:pt x="2187305" y="705193"/>
                  </a:lnTo>
                  <a:lnTo>
                    <a:pt x="2119637" y="709266"/>
                  </a:lnTo>
                  <a:lnTo>
                    <a:pt x="2050852" y="712750"/>
                  </a:lnTo>
                  <a:lnTo>
                    <a:pt x="1981014" y="715630"/>
                  </a:lnTo>
                  <a:lnTo>
                    <a:pt x="1910187" y="717894"/>
                  </a:lnTo>
                  <a:lnTo>
                    <a:pt x="1838433" y="719528"/>
                  </a:lnTo>
                  <a:lnTo>
                    <a:pt x="1765817" y="720518"/>
                  </a:lnTo>
                  <a:lnTo>
                    <a:pt x="1692402" y="720851"/>
                  </a:lnTo>
                  <a:lnTo>
                    <a:pt x="1618986" y="720518"/>
                  </a:lnTo>
                  <a:lnTo>
                    <a:pt x="1546370" y="719528"/>
                  </a:lnTo>
                  <a:lnTo>
                    <a:pt x="1474616" y="717894"/>
                  </a:lnTo>
                  <a:lnTo>
                    <a:pt x="1403789" y="715630"/>
                  </a:lnTo>
                  <a:lnTo>
                    <a:pt x="1333951" y="712750"/>
                  </a:lnTo>
                  <a:lnTo>
                    <a:pt x="1265166" y="709266"/>
                  </a:lnTo>
                  <a:lnTo>
                    <a:pt x="1197498" y="705193"/>
                  </a:lnTo>
                  <a:lnTo>
                    <a:pt x="1131010" y="700544"/>
                  </a:lnTo>
                  <a:lnTo>
                    <a:pt x="1065765" y="695333"/>
                  </a:lnTo>
                  <a:lnTo>
                    <a:pt x="1001827" y="689573"/>
                  </a:lnTo>
                  <a:lnTo>
                    <a:pt x="939260" y="683277"/>
                  </a:lnTo>
                  <a:lnTo>
                    <a:pt x="878127" y="676460"/>
                  </a:lnTo>
                  <a:lnTo>
                    <a:pt x="818491" y="669134"/>
                  </a:lnTo>
                  <a:lnTo>
                    <a:pt x="760417" y="661314"/>
                  </a:lnTo>
                  <a:lnTo>
                    <a:pt x="703966" y="653013"/>
                  </a:lnTo>
                  <a:lnTo>
                    <a:pt x="649204" y="644244"/>
                  </a:lnTo>
                  <a:lnTo>
                    <a:pt x="596194" y="635021"/>
                  </a:lnTo>
                  <a:lnTo>
                    <a:pt x="544998" y="625357"/>
                  </a:lnTo>
                  <a:lnTo>
                    <a:pt x="495680" y="615267"/>
                  </a:lnTo>
                  <a:lnTo>
                    <a:pt x="448305" y="604763"/>
                  </a:lnTo>
                  <a:lnTo>
                    <a:pt x="402935" y="593859"/>
                  </a:lnTo>
                  <a:lnTo>
                    <a:pt x="359634" y="582569"/>
                  </a:lnTo>
                  <a:lnTo>
                    <a:pt x="318466" y="570906"/>
                  </a:lnTo>
                  <a:lnTo>
                    <a:pt x="279493" y="558883"/>
                  </a:lnTo>
                  <a:lnTo>
                    <a:pt x="242780" y="546515"/>
                  </a:lnTo>
                  <a:lnTo>
                    <a:pt x="176385" y="520795"/>
                  </a:lnTo>
                  <a:lnTo>
                    <a:pt x="119790" y="493855"/>
                  </a:lnTo>
                  <a:lnTo>
                    <a:pt x="73502" y="465803"/>
                  </a:lnTo>
                  <a:lnTo>
                    <a:pt x="38030" y="436747"/>
                  </a:lnTo>
                  <a:lnTo>
                    <a:pt x="13881" y="406795"/>
                  </a:lnTo>
                  <a:lnTo>
                    <a:pt x="0" y="360425"/>
                  </a:lnTo>
                  <a:close/>
                </a:path>
              </a:pathLst>
            </a:custGeom>
            <a:noFill/>
            <a:ln w="9525" cap="flat" cmpd="sng">
              <a:solidFill>
                <a:srgbClr val="00008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3" name="Google Shape;123;p3"/>
          <p:cNvSpPr txBox="1"/>
          <p:nvPr/>
        </p:nvSpPr>
        <p:spPr>
          <a:xfrm>
            <a:off x="5156327" y="1635543"/>
            <a:ext cx="3257700" cy="1612606"/>
          </a:xfrm>
          <a:prstGeom prst="rect">
            <a:avLst/>
          </a:prstGeom>
          <a:noFill/>
          <a:ln>
            <a:noFill/>
          </a:ln>
        </p:spPr>
        <p:txBody>
          <a:bodyPr spcFirstLastPara="1" wrap="square" lIns="0" tIns="12050" rIns="0" bIns="0" anchor="t" anchorCtr="0">
            <a:spAutoFit/>
          </a:bodyPr>
          <a:lstStyle/>
          <a:p>
            <a:pPr marL="401955" marR="0" lvl="0" indent="0" algn="l" rtl="0">
              <a:lnSpc>
                <a:spcPct val="100000"/>
              </a:lnSpc>
              <a:spcBef>
                <a:spcPts val="0"/>
              </a:spcBef>
              <a:spcAft>
                <a:spcPts val="0"/>
              </a:spcAft>
              <a:buNone/>
            </a:pPr>
            <a:r>
              <a:rPr lang="it-IT" sz="2400" dirty="0">
                <a:solidFill>
                  <a:srgbClr val="0070C0"/>
                </a:solidFill>
                <a:latin typeface="Poppins" panose="020B0604020202020204"/>
                <a:sym typeface="Arial"/>
              </a:rPr>
              <a:t>MANAGERIALITA’</a:t>
            </a:r>
            <a:endParaRPr sz="2400" dirty="0">
              <a:solidFill>
                <a:srgbClr val="0070C0"/>
              </a:solidFill>
              <a:latin typeface="Poppins" panose="020B0604020202020204"/>
              <a:sym typeface="Arial"/>
            </a:endParaRPr>
          </a:p>
          <a:p>
            <a:pPr marL="0" marR="0" lvl="0" indent="0" algn="l" rtl="0">
              <a:lnSpc>
                <a:spcPct val="100000"/>
              </a:lnSpc>
              <a:spcBef>
                <a:spcPts val="40"/>
              </a:spcBef>
              <a:spcAft>
                <a:spcPts val="0"/>
              </a:spcAft>
              <a:buNone/>
            </a:pPr>
            <a:endParaRPr sz="3200" dirty="0">
              <a:solidFill>
                <a:srgbClr val="0070C0"/>
              </a:solidFill>
              <a:latin typeface="Poppins" panose="020B0604020202020204"/>
              <a:sym typeface="Arial"/>
            </a:endParaRPr>
          </a:p>
          <a:p>
            <a:pPr marL="12700" marR="5080" lvl="0" indent="0" algn="l" rtl="0">
              <a:lnSpc>
                <a:spcPct val="100000"/>
              </a:lnSpc>
              <a:spcBef>
                <a:spcPts val="0"/>
              </a:spcBef>
              <a:spcAft>
                <a:spcPts val="0"/>
              </a:spcAft>
              <a:buNone/>
            </a:pPr>
            <a:r>
              <a:rPr lang="it-IT" sz="1600" b="1" dirty="0">
                <a:solidFill>
                  <a:srgbClr val="0070C0"/>
                </a:solidFill>
                <a:latin typeface="Poppins" panose="020B0604020202020204"/>
                <a:sym typeface="Arial"/>
              </a:rPr>
              <a:t>Capacità di sviluppare le decisioni  imprenditoriali e di attuarle in modo razionale</a:t>
            </a:r>
            <a:endParaRPr sz="1600" dirty="0">
              <a:solidFill>
                <a:srgbClr val="0070C0"/>
              </a:solidFill>
              <a:latin typeface="Poppins" panose="020B0604020202020204"/>
              <a:sym typeface="Arial"/>
            </a:endParaRPr>
          </a:p>
        </p:txBody>
      </p:sp>
      <p:sp>
        <p:nvSpPr>
          <p:cNvPr id="124" name="Google Shape;124;p3"/>
          <p:cNvSpPr/>
          <p:nvPr/>
        </p:nvSpPr>
        <p:spPr>
          <a:xfrm>
            <a:off x="1979550" y="3334727"/>
            <a:ext cx="576580" cy="576580"/>
          </a:xfrm>
          <a:custGeom>
            <a:avLst/>
            <a:gdLst/>
            <a:ahLst/>
            <a:cxnLst/>
            <a:rect l="l" t="t" r="r" b="b"/>
            <a:pathLst>
              <a:path w="576580" h="576579" extrusionOk="0">
                <a:moveTo>
                  <a:pt x="432054" y="0"/>
                </a:moveTo>
                <a:lnTo>
                  <a:pt x="144018" y="0"/>
                </a:lnTo>
                <a:lnTo>
                  <a:pt x="144018" y="432054"/>
                </a:lnTo>
                <a:lnTo>
                  <a:pt x="0" y="432054"/>
                </a:lnTo>
                <a:lnTo>
                  <a:pt x="288036" y="576072"/>
                </a:lnTo>
                <a:lnTo>
                  <a:pt x="576072" y="432054"/>
                </a:lnTo>
                <a:lnTo>
                  <a:pt x="432054" y="432054"/>
                </a:lnTo>
                <a:lnTo>
                  <a:pt x="432054" y="0"/>
                </a:lnTo>
                <a:close/>
              </a:path>
            </a:pathLst>
          </a:custGeom>
          <a:solidFill>
            <a:srgbClr val="6699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3"/>
          <p:cNvSpPr/>
          <p:nvPr/>
        </p:nvSpPr>
        <p:spPr>
          <a:xfrm>
            <a:off x="6588126" y="3334727"/>
            <a:ext cx="576580" cy="576580"/>
          </a:xfrm>
          <a:custGeom>
            <a:avLst/>
            <a:gdLst/>
            <a:ahLst/>
            <a:cxnLst/>
            <a:rect l="l" t="t" r="r" b="b"/>
            <a:pathLst>
              <a:path w="576579" h="576579" extrusionOk="0">
                <a:moveTo>
                  <a:pt x="432053" y="0"/>
                </a:moveTo>
                <a:lnTo>
                  <a:pt x="144018" y="0"/>
                </a:lnTo>
                <a:lnTo>
                  <a:pt x="144018" y="432054"/>
                </a:lnTo>
                <a:lnTo>
                  <a:pt x="0" y="432054"/>
                </a:lnTo>
                <a:lnTo>
                  <a:pt x="288036" y="576072"/>
                </a:lnTo>
                <a:lnTo>
                  <a:pt x="576072" y="432054"/>
                </a:lnTo>
                <a:lnTo>
                  <a:pt x="432053" y="432054"/>
                </a:lnTo>
                <a:lnTo>
                  <a:pt x="432053" y="0"/>
                </a:lnTo>
                <a:close/>
              </a:path>
            </a:pathLst>
          </a:custGeom>
          <a:solidFill>
            <a:srgbClr val="6699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26" name="Google Shape;126;p3"/>
          <p:cNvGrpSpPr/>
          <p:nvPr/>
        </p:nvGrpSpPr>
        <p:grpSpPr>
          <a:xfrm>
            <a:off x="37974" y="4054054"/>
            <a:ext cx="4533900" cy="1513840"/>
            <a:chOff x="38100" y="4148327"/>
            <a:chExt cx="4533900" cy="1513840"/>
          </a:xfrm>
        </p:grpSpPr>
        <p:sp>
          <p:nvSpPr>
            <p:cNvPr id="127" name="Google Shape;127;p3"/>
            <p:cNvSpPr/>
            <p:nvPr/>
          </p:nvSpPr>
          <p:spPr>
            <a:xfrm>
              <a:off x="38100" y="4148327"/>
              <a:ext cx="4533900" cy="1513840"/>
            </a:xfrm>
            <a:custGeom>
              <a:avLst/>
              <a:gdLst/>
              <a:ahLst/>
              <a:cxnLst/>
              <a:rect l="l" t="t" r="r" b="b"/>
              <a:pathLst>
                <a:path w="4533900" h="1513839" extrusionOk="0">
                  <a:moveTo>
                    <a:pt x="2266950" y="0"/>
                  </a:moveTo>
                  <a:lnTo>
                    <a:pt x="2197643" y="346"/>
                  </a:lnTo>
                  <a:lnTo>
                    <a:pt x="2128853" y="1380"/>
                  </a:lnTo>
                  <a:lnTo>
                    <a:pt x="2060611" y="3091"/>
                  </a:lnTo>
                  <a:lnTo>
                    <a:pt x="1992945" y="5470"/>
                  </a:lnTo>
                  <a:lnTo>
                    <a:pt x="1925885" y="8505"/>
                  </a:lnTo>
                  <a:lnTo>
                    <a:pt x="1859462" y="12188"/>
                  </a:lnTo>
                  <a:lnTo>
                    <a:pt x="1793704" y="16509"/>
                  </a:lnTo>
                  <a:lnTo>
                    <a:pt x="1728641" y="21458"/>
                  </a:lnTo>
                  <a:lnTo>
                    <a:pt x="1664304" y="27024"/>
                  </a:lnTo>
                  <a:lnTo>
                    <a:pt x="1600720" y="33198"/>
                  </a:lnTo>
                  <a:lnTo>
                    <a:pt x="1537921" y="39971"/>
                  </a:lnTo>
                  <a:lnTo>
                    <a:pt x="1475936" y="47331"/>
                  </a:lnTo>
                  <a:lnTo>
                    <a:pt x="1414795" y="55270"/>
                  </a:lnTo>
                  <a:lnTo>
                    <a:pt x="1354526" y="63777"/>
                  </a:lnTo>
                  <a:lnTo>
                    <a:pt x="1295160" y="72843"/>
                  </a:lnTo>
                  <a:lnTo>
                    <a:pt x="1236727" y="82458"/>
                  </a:lnTo>
                  <a:lnTo>
                    <a:pt x="1179255" y="92611"/>
                  </a:lnTo>
                  <a:lnTo>
                    <a:pt x="1122775" y="103293"/>
                  </a:lnTo>
                  <a:lnTo>
                    <a:pt x="1067317" y="114494"/>
                  </a:lnTo>
                  <a:lnTo>
                    <a:pt x="1012909" y="126204"/>
                  </a:lnTo>
                  <a:lnTo>
                    <a:pt x="959582" y="138413"/>
                  </a:lnTo>
                  <a:lnTo>
                    <a:pt x="907366" y="151112"/>
                  </a:lnTo>
                  <a:lnTo>
                    <a:pt x="856289" y="164290"/>
                  </a:lnTo>
                  <a:lnTo>
                    <a:pt x="806382" y="177937"/>
                  </a:lnTo>
                  <a:lnTo>
                    <a:pt x="757673" y="192045"/>
                  </a:lnTo>
                  <a:lnTo>
                    <a:pt x="710194" y="206602"/>
                  </a:lnTo>
                  <a:lnTo>
                    <a:pt x="663973" y="221599"/>
                  </a:lnTo>
                  <a:lnTo>
                    <a:pt x="619040" y="237026"/>
                  </a:lnTo>
                  <a:lnTo>
                    <a:pt x="575425" y="252873"/>
                  </a:lnTo>
                  <a:lnTo>
                    <a:pt x="533157" y="269130"/>
                  </a:lnTo>
                  <a:lnTo>
                    <a:pt x="492266" y="285787"/>
                  </a:lnTo>
                  <a:lnTo>
                    <a:pt x="452782" y="302835"/>
                  </a:lnTo>
                  <a:lnTo>
                    <a:pt x="414734" y="320264"/>
                  </a:lnTo>
                  <a:lnTo>
                    <a:pt x="378152" y="338063"/>
                  </a:lnTo>
                  <a:lnTo>
                    <a:pt x="343065" y="356223"/>
                  </a:lnTo>
                  <a:lnTo>
                    <a:pt x="309504" y="374734"/>
                  </a:lnTo>
                  <a:lnTo>
                    <a:pt x="247076" y="412769"/>
                  </a:lnTo>
                  <a:lnTo>
                    <a:pt x="191104" y="452089"/>
                  </a:lnTo>
                  <a:lnTo>
                    <a:pt x="141825" y="492615"/>
                  </a:lnTo>
                  <a:lnTo>
                    <a:pt x="99478" y="534268"/>
                  </a:lnTo>
                  <a:lnTo>
                    <a:pt x="64298" y="576968"/>
                  </a:lnTo>
                  <a:lnTo>
                    <a:pt x="36523" y="620638"/>
                  </a:lnTo>
                  <a:lnTo>
                    <a:pt x="16390" y="665196"/>
                  </a:lnTo>
                  <a:lnTo>
                    <a:pt x="4137" y="710565"/>
                  </a:lnTo>
                  <a:lnTo>
                    <a:pt x="0" y="756666"/>
                  </a:lnTo>
                  <a:lnTo>
                    <a:pt x="1039" y="779802"/>
                  </a:lnTo>
                  <a:lnTo>
                    <a:pt x="9264" y="825547"/>
                  </a:lnTo>
                  <a:lnTo>
                    <a:pt x="25487" y="870520"/>
                  </a:lnTo>
                  <a:lnTo>
                    <a:pt x="49470" y="914644"/>
                  </a:lnTo>
                  <a:lnTo>
                    <a:pt x="80977" y="957839"/>
                  </a:lnTo>
                  <a:lnTo>
                    <a:pt x="119770" y="1000025"/>
                  </a:lnTo>
                  <a:lnTo>
                    <a:pt x="165613" y="1041125"/>
                  </a:lnTo>
                  <a:lnTo>
                    <a:pt x="218268" y="1081057"/>
                  </a:lnTo>
                  <a:lnTo>
                    <a:pt x="277498" y="1119745"/>
                  </a:lnTo>
                  <a:lnTo>
                    <a:pt x="343065" y="1157108"/>
                  </a:lnTo>
                  <a:lnTo>
                    <a:pt x="378152" y="1175268"/>
                  </a:lnTo>
                  <a:lnTo>
                    <a:pt x="414734" y="1193067"/>
                  </a:lnTo>
                  <a:lnTo>
                    <a:pt x="452782" y="1210496"/>
                  </a:lnTo>
                  <a:lnTo>
                    <a:pt x="492266" y="1227544"/>
                  </a:lnTo>
                  <a:lnTo>
                    <a:pt x="533157" y="1244201"/>
                  </a:lnTo>
                  <a:lnTo>
                    <a:pt x="575425" y="1260458"/>
                  </a:lnTo>
                  <a:lnTo>
                    <a:pt x="619040" y="1276305"/>
                  </a:lnTo>
                  <a:lnTo>
                    <a:pt x="663973" y="1291732"/>
                  </a:lnTo>
                  <a:lnTo>
                    <a:pt x="710194" y="1306729"/>
                  </a:lnTo>
                  <a:lnTo>
                    <a:pt x="757673" y="1321286"/>
                  </a:lnTo>
                  <a:lnTo>
                    <a:pt x="806382" y="1335394"/>
                  </a:lnTo>
                  <a:lnTo>
                    <a:pt x="856289" y="1349041"/>
                  </a:lnTo>
                  <a:lnTo>
                    <a:pt x="907366" y="1362219"/>
                  </a:lnTo>
                  <a:lnTo>
                    <a:pt x="959582" y="1374918"/>
                  </a:lnTo>
                  <a:lnTo>
                    <a:pt x="1012909" y="1387127"/>
                  </a:lnTo>
                  <a:lnTo>
                    <a:pt x="1067317" y="1398837"/>
                  </a:lnTo>
                  <a:lnTo>
                    <a:pt x="1122775" y="1410038"/>
                  </a:lnTo>
                  <a:lnTo>
                    <a:pt x="1179255" y="1420720"/>
                  </a:lnTo>
                  <a:lnTo>
                    <a:pt x="1236727" y="1430873"/>
                  </a:lnTo>
                  <a:lnTo>
                    <a:pt x="1295160" y="1440488"/>
                  </a:lnTo>
                  <a:lnTo>
                    <a:pt x="1354526" y="1449554"/>
                  </a:lnTo>
                  <a:lnTo>
                    <a:pt x="1414795" y="1458061"/>
                  </a:lnTo>
                  <a:lnTo>
                    <a:pt x="1475936" y="1466000"/>
                  </a:lnTo>
                  <a:lnTo>
                    <a:pt x="1537921" y="1473360"/>
                  </a:lnTo>
                  <a:lnTo>
                    <a:pt x="1600720" y="1480133"/>
                  </a:lnTo>
                  <a:lnTo>
                    <a:pt x="1664304" y="1486307"/>
                  </a:lnTo>
                  <a:lnTo>
                    <a:pt x="1728641" y="1491873"/>
                  </a:lnTo>
                  <a:lnTo>
                    <a:pt x="1793704" y="1496822"/>
                  </a:lnTo>
                  <a:lnTo>
                    <a:pt x="1859462" y="1501143"/>
                  </a:lnTo>
                  <a:lnTo>
                    <a:pt x="1925885" y="1504826"/>
                  </a:lnTo>
                  <a:lnTo>
                    <a:pt x="1992945" y="1507861"/>
                  </a:lnTo>
                  <a:lnTo>
                    <a:pt x="2060611" y="1510240"/>
                  </a:lnTo>
                  <a:lnTo>
                    <a:pt x="2128853" y="1511951"/>
                  </a:lnTo>
                  <a:lnTo>
                    <a:pt x="2197643" y="1512985"/>
                  </a:lnTo>
                  <a:lnTo>
                    <a:pt x="2266950" y="1513332"/>
                  </a:lnTo>
                  <a:lnTo>
                    <a:pt x="2336254" y="1512985"/>
                  </a:lnTo>
                  <a:lnTo>
                    <a:pt x="2405042" y="1511951"/>
                  </a:lnTo>
                  <a:lnTo>
                    <a:pt x="2473283" y="1510240"/>
                  </a:lnTo>
                  <a:lnTo>
                    <a:pt x="2540947" y="1507861"/>
                  </a:lnTo>
                  <a:lnTo>
                    <a:pt x="2608005" y="1504826"/>
                  </a:lnTo>
                  <a:lnTo>
                    <a:pt x="2674427" y="1501143"/>
                  </a:lnTo>
                  <a:lnTo>
                    <a:pt x="2740184" y="1496822"/>
                  </a:lnTo>
                  <a:lnTo>
                    <a:pt x="2805245" y="1491873"/>
                  </a:lnTo>
                  <a:lnTo>
                    <a:pt x="2869582" y="1486307"/>
                  </a:lnTo>
                  <a:lnTo>
                    <a:pt x="2933164" y="1480133"/>
                  </a:lnTo>
                  <a:lnTo>
                    <a:pt x="2995963" y="1473360"/>
                  </a:lnTo>
                  <a:lnTo>
                    <a:pt x="3057947" y="1466000"/>
                  </a:lnTo>
                  <a:lnTo>
                    <a:pt x="3119089" y="1458061"/>
                  </a:lnTo>
                  <a:lnTo>
                    <a:pt x="3179357" y="1449554"/>
                  </a:lnTo>
                  <a:lnTo>
                    <a:pt x="3238722" y="1440488"/>
                  </a:lnTo>
                  <a:lnTo>
                    <a:pt x="3297156" y="1430873"/>
                  </a:lnTo>
                  <a:lnTo>
                    <a:pt x="3354627" y="1420720"/>
                  </a:lnTo>
                  <a:lnTo>
                    <a:pt x="3411107" y="1410038"/>
                  </a:lnTo>
                  <a:lnTo>
                    <a:pt x="3466565" y="1398837"/>
                  </a:lnTo>
                  <a:lnTo>
                    <a:pt x="3520973" y="1387127"/>
                  </a:lnTo>
                  <a:lnTo>
                    <a:pt x="3574300" y="1374918"/>
                  </a:lnTo>
                  <a:lnTo>
                    <a:pt x="3626517" y="1362219"/>
                  </a:lnTo>
                  <a:lnTo>
                    <a:pt x="3677594" y="1349041"/>
                  </a:lnTo>
                  <a:lnTo>
                    <a:pt x="3727502" y="1335394"/>
                  </a:lnTo>
                  <a:lnTo>
                    <a:pt x="3776210" y="1321286"/>
                  </a:lnTo>
                  <a:lnTo>
                    <a:pt x="3823690" y="1306729"/>
                  </a:lnTo>
                  <a:lnTo>
                    <a:pt x="3869912" y="1291732"/>
                  </a:lnTo>
                  <a:lnTo>
                    <a:pt x="3914845" y="1276305"/>
                  </a:lnTo>
                  <a:lnTo>
                    <a:pt x="3958461" y="1260458"/>
                  </a:lnTo>
                  <a:lnTo>
                    <a:pt x="4000729" y="1244201"/>
                  </a:lnTo>
                  <a:lnTo>
                    <a:pt x="4041621" y="1227544"/>
                  </a:lnTo>
                  <a:lnTo>
                    <a:pt x="4081106" y="1210496"/>
                  </a:lnTo>
                  <a:lnTo>
                    <a:pt x="4119154" y="1193067"/>
                  </a:lnTo>
                  <a:lnTo>
                    <a:pt x="4155737" y="1175268"/>
                  </a:lnTo>
                  <a:lnTo>
                    <a:pt x="4190824" y="1157108"/>
                  </a:lnTo>
                  <a:lnTo>
                    <a:pt x="4224386" y="1138597"/>
                  </a:lnTo>
                  <a:lnTo>
                    <a:pt x="4286816" y="1100562"/>
                  </a:lnTo>
                  <a:lnTo>
                    <a:pt x="4342790" y="1061242"/>
                  </a:lnTo>
                  <a:lnTo>
                    <a:pt x="4392069" y="1020716"/>
                  </a:lnTo>
                  <a:lnTo>
                    <a:pt x="4434418" y="979063"/>
                  </a:lnTo>
                  <a:lnTo>
                    <a:pt x="4469599" y="936363"/>
                  </a:lnTo>
                  <a:lnTo>
                    <a:pt x="4497375" y="892693"/>
                  </a:lnTo>
                  <a:lnTo>
                    <a:pt x="4517508" y="848135"/>
                  </a:lnTo>
                  <a:lnTo>
                    <a:pt x="4529762" y="802766"/>
                  </a:lnTo>
                  <a:lnTo>
                    <a:pt x="4533900" y="756666"/>
                  </a:lnTo>
                  <a:lnTo>
                    <a:pt x="4532860" y="733529"/>
                  </a:lnTo>
                  <a:lnTo>
                    <a:pt x="4524635" y="687784"/>
                  </a:lnTo>
                  <a:lnTo>
                    <a:pt x="4508412" y="642811"/>
                  </a:lnTo>
                  <a:lnTo>
                    <a:pt x="4484427" y="598687"/>
                  </a:lnTo>
                  <a:lnTo>
                    <a:pt x="4452919" y="555492"/>
                  </a:lnTo>
                  <a:lnTo>
                    <a:pt x="4414125" y="513306"/>
                  </a:lnTo>
                  <a:lnTo>
                    <a:pt x="4368281" y="472206"/>
                  </a:lnTo>
                  <a:lnTo>
                    <a:pt x="4315625" y="432274"/>
                  </a:lnTo>
                  <a:lnTo>
                    <a:pt x="4256394" y="393586"/>
                  </a:lnTo>
                  <a:lnTo>
                    <a:pt x="4190824" y="356223"/>
                  </a:lnTo>
                  <a:lnTo>
                    <a:pt x="4155737" y="338063"/>
                  </a:lnTo>
                  <a:lnTo>
                    <a:pt x="4119154" y="320264"/>
                  </a:lnTo>
                  <a:lnTo>
                    <a:pt x="4081106" y="302835"/>
                  </a:lnTo>
                  <a:lnTo>
                    <a:pt x="4041621" y="285787"/>
                  </a:lnTo>
                  <a:lnTo>
                    <a:pt x="4000729" y="269130"/>
                  </a:lnTo>
                  <a:lnTo>
                    <a:pt x="3958461" y="252873"/>
                  </a:lnTo>
                  <a:lnTo>
                    <a:pt x="3914845" y="237026"/>
                  </a:lnTo>
                  <a:lnTo>
                    <a:pt x="3869912" y="221599"/>
                  </a:lnTo>
                  <a:lnTo>
                    <a:pt x="3823690" y="206602"/>
                  </a:lnTo>
                  <a:lnTo>
                    <a:pt x="3776210" y="192045"/>
                  </a:lnTo>
                  <a:lnTo>
                    <a:pt x="3727502" y="177937"/>
                  </a:lnTo>
                  <a:lnTo>
                    <a:pt x="3677594" y="164290"/>
                  </a:lnTo>
                  <a:lnTo>
                    <a:pt x="3626517" y="151112"/>
                  </a:lnTo>
                  <a:lnTo>
                    <a:pt x="3574300" y="138413"/>
                  </a:lnTo>
                  <a:lnTo>
                    <a:pt x="3520973" y="126204"/>
                  </a:lnTo>
                  <a:lnTo>
                    <a:pt x="3466565" y="114494"/>
                  </a:lnTo>
                  <a:lnTo>
                    <a:pt x="3411107" y="103293"/>
                  </a:lnTo>
                  <a:lnTo>
                    <a:pt x="3354627" y="92611"/>
                  </a:lnTo>
                  <a:lnTo>
                    <a:pt x="3297156" y="82458"/>
                  </a:lnTo>
                  <a:lnTo>
                    <a:pt x="3238722" y="72843"/>
                  </a:lnTo>
                  <a:lnTo>
                    <a:pt x="3179357" y="63777"/>
                  </a:lnTo>
                  <a:lnTo>
                    <a:pt x="3119089" y="55270"/>
                  </a:lnTo>
                  <a:lnTo>
                    <a:pt x="3057947" y="47331"/>
                  </a:lnTo>
                  <a:lnTo>
                    <a:pt x="2995963" y="39971"/>
                  </a:lnTo>
                  <a:lnTo>
                    <a:pt x="2933164" y="33198"/>
                  </a:lnTo>
                  <a:lnTo>
                    <a:pt x="2869582" y="27024"/>
                  </a:lnTo>
                  <a:lnTo>
                    <a:pt x="2805245" y="21458"/>
                  </a:lnTo>
                  <a:lnTo>
                    <a:pt x="2740184" y="16509"/>
                  </a:lnTo>
                  <a:lnTo>
                    <a:pt x="2674427" y="12188"/>
                  </a:lnTo>
                  <a:lnTo>
                    <a:pt x="2608005" y="8505"/>
                  </a:lnTo>
                  <a:lnTo>
                    <a:pt x="2540947" y="5470"/>
                  </a:lnTo>
                  <a:lnTo>
                    <a:pt x="2473283" y="3091"/>
                  </a:lnTo>
                  <a:lnTo>
                    <a:pt x="2405042" y="1380"/>
                  </a:lnTo>
                  <a:lnTo>
                    <a:pt x="2336254" y="346"/>
                  </a:lnTo>
                  <a:lnTo>
                    <a:pt x="2266950" y="0"/>
                  </a:lnTo>
                  <a:close/>
                </a:path>
              </a:pathLst>
            </a:custGeom>
            <a:solidFill>
              <a:srgbClr val="FFFF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3"/>
            <p:cNvSpPr/>
            <p:nvPr/>
          </p:nvSpPr>
          <p:spPr>
            <a:xfrm>
              <a:off x="38100" y="4148327"/>
              <a:ext cx="4533900" cy="1513840"/>
            </a:xfrm>
            <a:custGeom>
              <a:avLst/>
              <a:gdLst/>
              <a:ahLst/>
              <a:cxnLst/>
              <a:rect l="l" t="t" r="r" b="b"/>
              <a:pathLst>
                <a:path w="4533900" h="1513839" extrusionOk="0">
                  <a:moveTo>
                    <a:pt x="0" y="756666"/>
                  </a:moveTo>
                  <a:lnTo>
                    <a:pt x="4137" y="710565"/>
                  </a:lnTo>
                  <a:lnTo>
                    <a:pt x="16390" y="665196"/>
                  </a:lnTo>
                  <a:lnTo>
                    <a:pt x="36523" y="620638"/>
                  </a:lnTo>
                  <a:lnTo>
                    <a:pt x="64298" y="576968"/>
                  </a:lnTo>
                  <a:lnTo>
                    <a:pt x="99478" y="534268"/>
                  </a:lnTo>
                  <a:lnTo>
                    <a:pt x="141825" y="492615"/>
                  </a:lnTo>
                  <a:lnTo>
                    <a:pt x="191104" y="452089"/>
                  </a:lnTo>
                  <a:lnTo>
                    <a:pt x="247076" y="412769"/>
                  </a:lnTo>
                  <a:lnTo>
                    <a:pt x="309504" y="374734"/>
                  </a:lnTo>
                  <a:lnTo>
                    <a:pt x="343065" y="356223"/>
                  </a:lnTo>
                  <a:lnTo>
                    <a:pt x="378152" y="338063"/>
                  </a:lnTo>
                  <a:lnTo>
                    <a:pt x="414734" y="320264"/>
                  </a:lnTo>
                  <a:lnTo>
                    <a:pt x="452782" y="302835"/>
                  </a:lnTo>
                  <a:lnTo>
                    <a:pt x="492266" y="285787"/>
                  </a:lnTo>
                  <a:lnTo>
                    <a:pt x="533157" y="269130"/>
                  </a:lnTo>
                  <a:lnTo>
                    <a:pt x="575425" y="252873"/>
                  </a:lnTo>
                  <a:lnTo>
                    <a:pt x="619040" y="237026"/>
                  </a:lnTo>
                  <a:lnTo>
                    <a:pt x="663973" y="221599"/>
                  </a:lnTo>
                  <a:lnTo>
                    <a:pt x="710194" y="206602"/>
                  </a:lnTo>
                  <a:lnTo>
                    <a:pt x="757673" y="192045"/>
                  </a:lnTo>
                  <a:lnTo>
                    <a:pt x="806382" y="177937"/>
                  </a:lnTo>
                  <a:lnTo>
                    <a:pt x="856289" y="164290"/>
                  </a:lnTo>
                  <a:lnTo>
                    <a:pt x="907366" y="151112"/>
                  </a:lnTo>
                  <a:lnTo>
                    <a:pt x="959582" y="138413"/>
                  </a:lnTo>
                  <a:lnTo>
                    <a:pt x="1012909" y="126204"/>
                  </a:lnTo>
                  <a:lnTo>
                    <a:pt x="1067317" y="114494"/>
                  </a:lnTo>
                  <a:lnTo>
                    <a:pt x="1122775" y="103293"/>
                  </a:lnTo>
                  <a:lnTo>
                    <a:pt x="1179255" y="92611"/>
                  </a:lnTo>
                  <a:lnTo>
                    <a:pt x="1236727" y="82458"/>
                  </a:lnTo>
                  <a:lnTo>
                    <a:pt x="1295160" y="72843"/>
                  </a:lnTo>
                  <a:lnTo>
                    <a:pt x="1354526" y="63777"/>
                  </a:lnTo>
                  <a:lnTo>
                    <a:pt x="1414795" y="55270"/>
                  </a:lnTo>
                  <a:lnTo>
                    <a:pt x="1475936" y="47331"/>
                  </a:lnTo>
                  <a:lnTo>
                    <a:pt x="1537921" y="39971"/>
                  </a:lnTo>
                  <a:lnTo>
                    <a:pt x="1600720" y="33198"/>
                  </a:lnTo>
                  <a:lnTo>
                    <a:pt x="1664304" y="27024"/>
                  </a:lnTo>
                  <a:lnTo>
                    <a:pt x="1728641" y="21458"/>
                  </a:lnTo>
                  <a:lnTo>
                    <a:pt x="1793704" y="16509"/>
                  </a:lnTo>
                  <a:lnTo>
                    <a:pt x="1859462" y="12188"/>
                  </a:lnTo>
                  <a:lnTo>
                    <a:pt x="1925885" y="8505"/>
                  </a:lnTo>
                  <a:lnTo>
                    <a:pt x="1992945" y="5470"/>
                  </a:lnTo>
                  <a:lnTo>
                    <a:pt x="2060611" y="3091"/>
                  </a:lnTo>
                  <a:lnTo>
                    <a:pt x="2128853" y="1380"/>
                  </a:lnTo>
                  <a:lnTo>
                    <a:pt x="2197643" y="346"/>
                  </a:lnTo>
                  <a:lnTo>
                    <a:pt x="2266950" y="0"/>
                  </a:lnTo>
                  <a:lnTo>
                    <a:pt x="2336254" y="346"/>
                  </a:lnTo>
                  <a:lnTo>
                    <a:pt x="2405042" y="1380"/>
                  </a:lnTo>
                  <a:lnTo>
                    <a:pt x="2473283" y="3091"/>
                  </a:lnTo>
                  <a:lnTo>
                    <a:pt x="2540947" y="5470"/>
                  </a:lnTo>
                  <a:lnTo>
                    <a:pt x="2608005" y="8505"/>
                  </a:lnTo>
                  <a:lnTo>
                    <a:pt x="2674427" y="12188"/>
                  </a:lnTo>
                  <a:lnTo>
                    <a:pt x="2740184" y="16509"/>
                  </a:lnTo>
                  <a:lnTo>
                    <a:pt x="2805245" y="21458"/>
                  </a:lnTo>
                  <a:lnTo>
                    <a:pt x="2869582" y="27024"/>
                  </a:lnTo>
                  <a:lnTo>
                    <a:pt x="2933164" y="33198"/>
                  </a:lnTo>
                  <a:lnTo>
                    <a:pt x="2995963" y="39971"/>
                  </a:lnTo>
                  <a:lnTo>
                    <a:pt x="3057947" y="47331"/>
                  </a:lnTo>
                  <a:lnTo>
                    <a:pt x="3119089" y="55270"/>
                  </a:lnTo>
                  <a:lnTo>
                    <a:pt x="3179357" y="63777"/>
                  </a:lnTo>
                  <a:lnTo>
                    <a:pt x="3238722" y="72843"/>
                  </a:lnTo>
                  <a:lnTo>
                    <a:pt x="3297156" y="82458"/>
                  </a:lnTo>
                  <a:lnTo>
                    <a:pt x="3354627" y="92611"/>
                  </a:lnTo>
                  <a:lnTo>
                    <a:pt x="3411107" y="103293"/>
                  </a:lnTo>
                  <a:lnTo>
                    <a:pt x="3466565" y="114494"/>
                  </a:lnTo>
                  <a:lnTo>
                    <a:pt x="3520973" y="126204"/>
                  </a:lnTo>
                  <a:lnTo>
                    <a:pt x="3574300" y="138413"/>
                  </a:lnTo>
                  <a:lnTo>
                    <a:pt x="3626517" y="151112"/>
                  </a:lnTo>
                  <a:lnTo>
                    <a:pt x="3677594" y="164290"/>
                  </a:lnTo>
                  <a:lnTo>
                    <a:pt x="3727502" y="177937"/>
                  </a:lnTo>
                  <a:lnTo>
                    <a:pt x="3776210" y="192045"/>
                  </a:lnTo>
                  <a:lnTo>
                    <a:pt x="3823690" y="206602"/>
                  </a:lnTo>
                  <a:lnTo>
                    <a:pt x="3869912" y="221599"/>
                  </a:lnTo>
                  <a:lnTo>
                    <a:pt x="3914845" y="237026"/>
                  </a:lnTo>
                  <a:lnTo>
                    <a:pt x="3958461" y="252873"/>
                  </a:lnTo>
                  <a:lnTo>
                    <a:pt x="4000729" y="269130"/>
                  </a:lnTo>
                  <a:lnTo>
                    <a:pt x="4041621" y="285787"/>
                  </a:lnTo>
                  <a:lnTo>
                    <a:pt x="4081106" y="302835"/>
                  </a:lnTo>
                  <a:lnTo>
                    <a:pt x="4119154" y="320264"/>
                  </a:lnTo>
                  <a:lnTo>
                    <a:pt x="4155737" y="338063"/>
                  </a:lnTo>
                  <a:lnTo>
                    <a:pt x="4190824" y="356223"/>
                  </a:lnTo>
                  <a:lnTo>
                    <a:pt x="4224386" y="374734"/>
                  </a:lnTo>
                  <a:lnTo>
                    <a:pt x="4286816" y="412769"/>
                  </a:lnTo>
                  <a:lnTo>
                    <a:pt x="4342790" y="452089"/>
                  </a:lnTo>
                  <a:lnTo>
                    <a:pt x="4392069" y="492615"/>
                  </a:lnTo>
                  <a:lnTo>
                    <a:pt x="4434418" y="534268"/>
                  </a:lnTo>
                  <a:lnTo>
                    <a:pt x="4469599" y="576968"/>
                  </a:lnTo>
                  <a:lnTo>
                    <a:pt x="4497375" y="620638"/>
                  </a:lnTo>
                  <a:lnTo>
                    <a:pt x="4517508" y="665196"/>
                  </a:lnTo>
                  <a:lnTo>
                    <a:pt x="4529762" y="710565"/>
                  </a:lnTo>
                  <a:lnTo>
                    <a:pt x="4533900" y="756666"/>
                  </a:lnTo>
                  <a:lnTo>
                    <a:pt x="4532860" y="779802"/>
                  </a:lnTo>
                  <a:lnTo>
                    <a:pt x="4524635" y="825547"/>
                  </a:lnTo>
                  <a:lnTo>
                    <a:pt x="4508412" y="870520"/>
                  </a:lnTo>
                  <a:lnTo>
                    <a:pt x="4484427" y="914644"/>
                  </a:lnTo>
                  <a:lnTo>
                    <a:pt x="4452919" y="957839"/>
                  </a:lnTo>
                  <a:lnTo>
                    <a:pt x="4414125" y="1000025"/>
                  </a:lnTo>
                  <a:lnTo>
                    <a:pt x="4368281" y="1041125"/>
                  </a:lnTo>
                  <a:lnTo>
                    <a:pt x="4315625" y="1081057"/>
                  </a:lnTo>
                  <a:lnTo>
                    <a:pt x="4256394" y="1119745"/>
                  </a:lnTo>
                  <a:lnTo>
                    <a:pt x="4190824" y="1157108"/>
                  </a:lnTo>
                  <a:lnTo>
                    <a:pt x="4155737" y="1175268"/>
                  </a:lnTo>
                  <a:lnTo>
                    <a:pt x="4119154" y="1193067"/>
                  </a:lnTo>
                  <a:lnTo>
                    <a:pt x="4081106" y="1210496"/>
                  </a:lnTo>
                  <a:lnTo>
                    <a:pt x="4041621" y="1227544"/>
                  </a:lnTo>
                  <a:lnTo>
                    <a:pt x="4000729" y="1244201"/>
                  </a:lnTo>
                  <a:lnTo>
                    <a:pt x="3958461" y="1260458"/>
                  </a:lnTo>
                  <a:lnTo>
                    <a:pt x="3914845" y="1276305"/>
                  </a:lnTo>
                  <a:lnTo>
                    <a:pt x="3869912" y="1291732"/>
                  </a:lnTo>
                  <a:lnTo>
                    <a:pt x="3823690" y="1306729"/>
                  </a:lnTo>
                  <a:lnTo>
                    <a:pt x="3776210" y="1321286"/>
                  </a:lnTo>
                  <a:lnTo>
                    <a:pt x="3727502" y="1335394"/>
                  </a:lnTo>
                  <a:lnTo>
                    <a:pt x="3677594" y="1349041"/>
                  </a:lnTo>
                  <a:lnTo>
                    <a:pt x="3626517" y="1362219"/>
                  </a:lnTo>
                  <a:lnTo>
                    <a:pt x="3574300" y="1374918"/>
                  </a:lnTo>
                  <a:lnTo>
                    <a:pt x="3520973" y="1387127"/>
                  </a:lnTo>
                  <a:lnTo>
                    <a:pt x="3466565" y="1398837"/>
                  </a:lnTo>
                  <a:lnTo>
                    <a:pt x="3411107" y="1410038"/>
                  </a:lnTo>
                  <a:lnTo>
                    <a:pt x="3354627" y="1420720"/>
                  </a:lnTo>
                  <a:lnTo>
                    <a:pt x="3297156" y="1430873"/>
                  </a:lnTo>
                  <a:lnTo>
                    <a:pt x="3238722" y="1440488"/>
                  </a:lnTo>
                  <a:lnTo>
                    <a:pt x="3179357" y="1449554"/>
                  </a:lnTo>
                  <a:lnTo>
                    <a:pt x="3119089" y="1458061"/>
                  </a:lnTo>
                  <a:lnTo>
                    <a:pt x="3057947" y="1466000"/>
                  </a:lnTo>
                  <a:lnTo>
                    <a:pt x="2995963" y="1473360"/>
                  </a:lnTo>
                  <a:lnTo>
                    <a:pt x="2933164" y="1480133"/>
                  </a:lnTo>
                  <a:lnTo>
                    <a:pt x="2869582" y="1486307"/>
                  </a:lnTo>
                  <a:lnTo>
                    <a:pt x="2805245" y="1491873"/>
                  </a:lnTo>
                  <a:lnTo>
                    <a:pt x="2740184" y="1496822"/>
                  </a:lnTo>
                  <a:lnTo>
                    <a:pt x="2674427" y="1501143"/>
                  </a:lnTo>
                  <a:lnTo>
                    <a:pt x="2608005" y="1504826"/>
                  </a:lnTo>
                  <a:lnTo>
                    <a:pt x="2540947" y="1507861"/>
                  </a:lnTo>
                  <a:lnTo>
                    <a:pt x="2473283" y="1510240"/>
                  </a:lnTo>
                  <a:lnTo>
                    <a:pt x="2405042" y="1511951"/>
                  </a:lnTo>
                  <a:lnTo>
                    <a:pt x="2336254" y="1512985"/>
                  </a:lnTo>
                  <a:lnTo>
                    <a:pt x="2266950" y="1513332"/>
                  </a:lnTo>
                  <a:lnTo>
                    <a:pt x="2197643" y="1512985"/>
                  </a:lnTo>
                  <a:lnTo>
                    <a:pt x="2128853" y="1511951"/>
                  </a:lnTo>
                  <a:lnTo>
                    <a:pt x="2060611" y="1510240"/>
                  </a:lnTo>
                  <a:lnTo>
                    <a:pt x="1992945" y="1507861"/>
                  </a:lnTo>
                  <a:lnTo>
                    <a:pt x="1925885" y="1504826"/>
                  </a:lnTo>
                  <a:lnTo>
                    <a:pt x="1859462" y="1501143"/>
                  </a:lnTo>
                  <a:lnTo>
                    <a:pt x="1793704" y="1496822"/>
                  </a:lnTo>
                  <a:lnTo>
                    <a:pt x="1728641" y="1491873"/>
                  </a:lnTo>
                  <a:lnTo>
                    <a:pt x="1664304" y="1486307"/>
                  </a:lnTo>
                  <a:lnTo>
                    <a:pt x="1600720" y="1480133"/>
                  </a:lnTo>
                  <a:lnTo>
                    <a:pt x="1537921" y="1473360"/>
                  </a:lnTo>
                  <a:lnTo>
                    <a:pt x="1475936" y="1466000"/>
                  </a:lnTo>
                  <a:lnTo>
                    <a:pt x="1414795" y="1458061"/>
                  </a:lnTo>
                  <a:lnTo>
                    <a:pt x="1354526" y="1449554"/>
                  </a:lnTo>
                  <a:lnTo>
                    <a:pt x="1295160" y="1440488"/>
                  </a:lnTo>
                  <a:lnTo>
                    <a:pt x="1236727" y="1430873"/>
                  </a:lnTo>
                  <a:lnTo>
                    <a:pt x="1179255" y="1420720"/>
                  </a:lnTo>
                  <a:lnTo>
                    <a:pt x="1122775" y="1410038"/>
                  </a:lnTo>
                  <a:lnTo>
                    <a:pt x="1067317" y="1398837"/>
                  </a:lnTo>
                  <a:lnTo>
                    <a:pt x="1012909" y="1387127"/>
                  </a:lnTo>
                  <a:lnTo>
                    <a:pt x="959582" y="1374918"/>
                  </a:lnTo>
                  <a:lnTo>
                    <a:pt x="907366" y="1362219"/>
                  </a:lnTo>
                  <a:lnTo>
                    <a:pt x="856289" y="1349041"/>
                  </a:lnTo>
                  <a:lnTo>
                    <a:pt x="806382" y="1335394"/>
                  </a:lnTo>
                  <a:lnTo>
                    <a:pt x="757673" y="1321286"/>
                  </a:lnTo>
                  <a:lnTo>
                    <a:pt x="710194" y="1306729"/>
                  </a:lnTo>
                  <a:lnTo>
                    <a:pt x="663973" y="1291732"/>
                  </a:lnTo>
                  <a:lnTo>
                    <a:pt x="619040" y="1276305"/>
                  </a:lnTo>
                  <a:lnTo>
                    <a:pt x="575425" y="1260458"/>
                  </a:lnTo>
                  <a:lnTo>
                    <a:pt x="533157" y="1244201"/>
                  </a:lnTo>
                  <a:lnTo>
                    <a:pt x="492266" y="1227544"/>
                  </a:lnTo>
                  <a:lnTo>
                    <a:pt x="452782" y="1210496"/>
                  </a:lnTo>
                  <a:lnTo>
                    <a:pt x="414734" y="1193067"/>
                  </a:lnTo>
                  <a:lnTo>
                    <a:pt x="378152" y="1175268"/>
                  </a:lnTo>
                  <a:lnTo>
                    <a:pt x="343065" y="1157108"/>
                  </a:lnTo>
                  <a:lnTo>
                    <a:pt x="309504" y="1138597"/>
                  </a:lnTo>
                  <a:lnTo>
                    <a:pt x="247076" y="1100562"/>
                  </a:lnTo>
                  <a:lnTo>
                    <a:pt x="191104" y="1061242"/>
                  </a:lnTo>
                  <a:lnTo>
                    <a:pt x="141825" y="1020716"/>
                  </a:lnTo>
                  <a:lnTo>
                    <a:pt x="99478" y="979063"/>
                  </a:lnTo>
                  <a:lnTo>
                    <a:pt x="64298" y="936363"/>
                  </a:lnTo>
                  <a:lnTo>
                    <a:pt x="36523" y="892693"/>
                  </a:lnTo>
                  <a:lnTo>
                    <a:pt x="16390" y="848135"/>
                  </a:lnTo>
                  <a:lnTo>
                    <a:pt x="4137" y="802766"/>
                  </a:lnTo>
                  <a:lnTo>
                    <a:pt x="0" y="756666"/>
                  </a:lnTo>
                  <a:close/>
                </a:path>
              </a:pathLst>
            </a:custGeom>
            <a:noFill/>
            <a:ln w="9525" cap="flat" cmpd="sng">
              <a:solidFill>
                <a:srgbClr val="FF9933"/>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9" name="Google Shape;129;p3"/>
          <p:cNvSpPr txBox="1"/>
          <p:nvPr/>
        </p:nvSpPr>
        <p:spPr>
          <a:xfrm>
            <a:off x="186174" y="4102033"/>
            <a:ext cx="4237500" cy="1120163"/>
          </a:xfrm>
          <a:prstGeom prst="rect">
            <a:avLst/>
          </a:prstGeom>
          <a:noFill/>
          <a:ln>
            <a:noFill/>
          </a:ln>
        </p:spPr>
        <p:txBody>
          <a:bodyPr spcFirstLastPara="1" wrap="square" lIns="0" tIns="12050" rIns="0" bIns="0" anchor="t" anchorCtr="0">
            <a:spAutoFit/>
          </a:bodyPr>
          <a:lstStyle/>
          <a:p>
            <a:pPr marL="49530" marR="0" lvl="0" indent="0" algn="ctr" rtl="0">
              <a:lnSpc>
                <a:spcPct val="100000"/>
              </a:lnSpc>
              <a:spcBef>
                <a:spcPts val="0"/>
              </a:spcBef>
              <a:spcAft>
                <a:spcPts val="0"/>
              </a:spcAft>
              <a:buNone/>
            </a:pPr>
            <a:r>
              <a:rPr lang="it-IT" sz="1600" b="1" u="sng" dirty="0">
                <a:solidFill>
                  <a:srgbClr val="669999"/>
                </a:solidFill>
                <a:latin typeface="Poppins" panose="020B0604020202020204"/>
                <a:sym typeface="Arial"/>
              </a:rPr>
              <a:t>EFFICACIA</a:t>
            </a:r>
            <a:endParaRPr sz="1600" dirty="0">
              <a:solidFill>
                <a:schemeClr val="dk1"/>
              </a:solidFill>
              <a:latin typeface="Poppins" panose="020B0604020202020204"/>
              <a:sym typeface="Arial"/>
            </a:endParaRPr>
          </a:p>
          <a:p>
            <a:pPr marL="0" marR="0" lvl="0" indent="0" algn="l" rtl="0">
              <a:lnSpc>
                <a:spcPct val="100000"/>
              </a:lnSpc>
              <a:spcBef>
                <a:spcPts val="5"/>
              </a:spcBef>
              <a:spcAft>
                <a:spcPts val="0"/>
              </a:spcAft>
              <a:buNone/>
            </a:pPr>
            <a:endParaRPr sz="800" dirty="0">
              <a:solidFill>
                <a:schemeClr val="dk1"/>
              </a:solidFill>
              <a:latin typeface="Poppins" panose="020B0604020202020204"/>
              <a:sym typeface="Arial"/>
            </a:endParaRPr>
          </a:p>
          <a:p>
            <a:pPr marL="12700" marR="5080" lvl="0" indent="0" algn="ctr" rtl="0">
              <a:lnSpc>
                <a:spcPct val="100000"/>
              </a:lnSpc>
              <a:spcBef>
                <a:spcPts val="5"/>
              </a:spcBef>
              <a:spcAft>
                <a:spcPts val="0"/>
              </a:spcAft>
              <a:buNone/>
            </a:pPr>
            <a:r>
              <a:rPr lang="it-IT" sz="1200" b="1" i="1" dirty="0">
                <a:solidFill>
                  <a:srgbClr val="669999"/>
                </a:solidFill>
                <a:latin typeface="Poppins" panose="020B0604020202020204"/>
                <a:sym typeface="Arial"/>
              </a:rPr>
              <a:t>è il valore proprio dell’imprenditorialità ed attiene  alla bontà delle decisioni. Può essere intesa quale  abilità decisionale di chi governa</a:t>
            </a:r>
            <a:endParaRPr sz="1200" dirty="0">
              <a:solidFill>
                <a:schemeClr val="dk1"/>
              </a:solidFill>
              <a:latin typeface="Poppins" panose="020B0604020202020204"/>
              <a:sym typeface="Arial"/>
            </a:endParaRPr>
          </a:p>
          <a:p>
            <a:pPr marL="47625" marR="0" lvl="0" indent="0" algn="ctr" rtl="0">
              <a:lnSpc>
                <a:spcPct val="100000"/>
              </a:lnSpc>
              <a:spcBef>
                <a:spcPts val="0"/>
              </a:spcBef>
              <a:spcAft>
                <a:spcPts val="0"/>
              </a:spcAft>
              <a:buNone/>
            </a:pPr>
            <a:r>
              <a:rPr lang="it-IT" sz="1200" b="1" i="1" dirty="0">
                <a:solidFill>
                  <a:srgbClr val="669999"/>
                </a:solidFill>
                <a:latin typeface="Poppins" panose="020B0604020202020204"/>
                <a:sym typeface="Arial"/>
              </a:rPr>
              <a:t>a livello più elevato il sistema aziendale</a:t>
            </a:r>
            <a:endParaRPr sz="1200" dirty="0">
              <a:solidFill>
                <a:schemeClr val="dk1"/>
              </a:solidFill>
              <a:latin typeface="Poppins" panose="020B0604020202020204"/>
              <a:sym typeface="Arial"/>
            </a:endParaRPr>
          </a:p>
        </p:txBody>
      </p:sp>
      <p:grpSp>
        <p:nvGrpSpPr>
          <p:cNvPr id="130" name="Google Shape;130;p3"/>
          <p:cNvGrpSpPr/>
          <p:nvPr/>
        </p:nvGrpSpPr>
        <p:grpSpPr>
          <a:xfrm>
            <a:off x="4645025" y="4054054"/>
            <a:ext cx="4498975" cy="1511935"/>
            <a:chOff x="4645151" y="4148327"/>
            <a:chExt cx="4498975" cy="1511935"/>
          </a:xfrm>
        </p:grpSpPr>
        <p:sp>
          <p:nvSpPr>
            <p:cNvPr id="131" name="Google Shape;131;p3"/>
            <p:cNvSpPr/>
            <p:nvPr/>
          </p:nvSpPr>
          <p:spPr>
            <a:xfrm>
              <a:off x="4645151" y="4148327"/>
              <a:ext cx="4498975" cy="1511935"/>
            </a:xfrm>
            <a:custGeom>
              <a:avLst/>
              <a:gdLst/>
              <a:ahLst/>
              <a:cxnLst/>
              <a:rect l="l" t="t" r="r" b="b"/>
              <a:pathLst>
                <a:path w="4498975" h="1511935" extrusionOk="0">
                  <a:moveTo>
                    <a:pt x="2249424" y="0"/>
                  </a:moveTo>
                  <a:lnTo>
                    <a:pt x="2180653" y="346"/>
                  </a:lnTo>
                  <a:lnTo>
                    <a:pt x="2112396" y="1379"/>
                  </a:lnTo>
                  <a:lnTo>
                    <a:pt x="2044681" y="3089"/>
                  </a:lnTo>
                  <a:lnTo>
                    <a:pt x="1977539" y="5465"/>
                  </a:lnTo>
                  <a:lnTo>
                    <a:pt x="1910999" y="8499"/>
                  </a:lnTo>
                  <a:lnTo>
                    <a:pt x="1845089" y="12179"/>
                  </a:lnTo>
                  <a:lnTo>
                    <a:pt x="1779840" y="16496"/>
                  </a:lnTo>
                  <a:lnTo>
                    <a:pt x="1715281" y="21441"/>
                  </a:lnTo>
                  <a:lnTo>
                    <a:pt x="1651440" y="27003"/>
                  </a:lnTo>
                  <a:lnTo>
                    <a:pt x="1588349" y="33172"/>
                  </a:lnTo>
                  <a:lnTo>
                    <a:pt x="1526036" y="39939"/>
                  </a:lnTo>
                  <a:lnTo>
                    <a:pt x="1464530" y="47294"/>
                  </a:lnTo>
                  <a:lnTo>
                    <a:pt x="1403861" y="55226"/>
                  </a:lnTo>
                  <a:lnTo>
                    <a:pt x="1344059" y="63726"/>
                  </a:lnTo>
                  <a:lnTo>
                    <a:pt x="1285152" y="72784"/>
                  </a:lnTo>
                  <a:lnTo>
                    <a:pt x="1227170" y="82391"/>
                  </a:lnTo>
                  <a:lnTo>
                    <a:pt x="1170143" y="92535"/>
                  </a:lnTo>
                  <a:lnTo>
                    <a:pt x="1114100" y="103208"/>
                  </a:lnTo>
                  <a:lnTo>
                    <a:pt x="1059070" y="114400"/>
                  </a:lnTo>
                  <a:lnTo>
                    <a:pt x="1005083" y="126099"/>
                  </a:lnTo>
                  <a:lnTo>
                    <a:pt x="952169" y="138298"/>
                  </a:lnTo>
                  <a:lnTo>
                    <a:pt x="900355" y="150985"/>
                  </a:lnTo>
                  <a:lnTo>
                    <a:pt x="849673" y="164152"/>
                  </a:lnTo>
                  <a:lnTo>
                    <a:pt x="800152" y="177787"/>
                  </a:lnTo>
                  <a:lnTo>
                    <a:pt x="751820" y="191881"/>
                  </a:lnTo>
                  <a:lnTo>
                    <a:pt x="704708" y="206425"/>
                  </a:lnTo>
                  <a:lnTo>
                    <a:pt x="658844" y="221408"/>
                  </a:lnTo>
                  <a:lnTo>
                    <a:pt x="614258" y="236821"/>
                  </a:lnTo>
                  <a:lnTo>
                    <a:pt x="570980" y="252653"/>
                  </a:lnTo>
                  <a:lnTo>
                    <a:pt x="529039" y="268895"/>
                  </a:lnTo>
                  <a:lnTo>
                    <a:pt x="488464" y="285536"/>
                  </a:lnTo>
                  <a:lnTo>
                    <a:pt x="449285" y="302568"/>
                  </a:lnTo>
                  <a:lnTo>
                    <a:pt x="411531" y="319979"/>
                  </a:lnTo>
                  <a:lnTo>
                    <a:pt x="375231" y="337761"/>
                  </a:lnTo>
                  <a:lnTo>
                    <a:pt x="340416" y="355903"/>
                  </a:lnTo>
                  <a:lnTo>
                    <a:pt x="275355" y="393228"/>
                  </a:lnTo>
                  <a:lnTo>
                    <a:pt x="216582" y="431876"/>
                  </a:lnTo>
                  <a:lnTo>
                    <a:pt x="164334" y="471767"/>
                  </a:lnTo>
                  <a:lnTo>
                    <a:pt x="118845" y="512823"/>
                  </a:lnTo>
                  <a:lnTo>
                    <a:pt x="80352" y="554963"/>
                  </a:lnTo>
                  <a:lnTo>
                    <a:pt x="49088" y="598110"/>
                  </a:lnTo>
                  <a:lnTo>
                    <a:pt x="25290" y="642183"/>
                  </a:lnTo>
                  <a:lnTo>
                    <a:pt x="9192" y="687105"/>
                  </a:lnTo>
                  <a:lnTo>
                    <a:pt x="1031" y="732795"/>
                  </a:lnTo>
                  <a:lnTo>
                    <a:pt x="0" y="755904"/>
                  </a:lnTo>
                  <a:lnTo>
                    <a:pt x="1031" y="779012"/>
                  </a:lnTo>
                  <a:lnTo>
                    <a:pt x="9192" y="824702"/>
                  </a:lnTo>
                  <a:lnTo>
                    <a:pt x="25290" y="869624"/>
                  </a:lnTo>
                  <a:lnTo>
                    <a:pt x="49088" y="913697"/>
                  </a:lnTo>
                  <a:lnTo>
                    <a:pt x="80352" y="956844"/>
                  </a:lnTo>
                  <a:lnTo>
                    <a:pt x="118845" y="998984"/>
                  </a:lnTo>
                  <a:lnTo>
                    <a:pt x="164334" y="1040040"/>
                  </a:lnTo>
                  <a:lnTo>
                    <a:pt x="216582" y="1079931"/>
                  </a:lnTo>
                  <a:lnTo>
                    <a:pt x="275355" y="1118579"/>
                  </a:lnTo>
                  <a:lnTo>
                    <a:pt x="340416" y="1155904"/>
                  </a:lnTo>
                  <a:lnTo>
                    <a:pt x="375231" y="1174046"/>
                  </a:lnTo>
                  <a:lnTo>
                    <a:pt x="411531" y="1191828"/>
                  </a:lnTo>
                  <a:lnTo>
                    <a:pt x="449285" y="1209239"/>
                  </a:lnTo>
                  <a:lnTo>
                    <a:pt x="488464" y="1226271"/>
                  </a:lnTo>
                  <a:lnTo>
                    <a:pt x="529039" y="1242912"/>
                  </a:lnTo>
                  <a:lnTo>
                    <a:pt x="570980" y="1259154"/>
                  </a:lnTo>
                  <a:lnTo>
                    <a:pt x="614258" y="1274986"/>
                  </a:lnTo>
                  <a:lnTo>
                    <a:pt x="658844" y="1290399"/>
                  </a:lnTo>
                  <a:lnTo>
                    <a:pt x="704708" y="1305382"/>
                  </a:lnTo>
                  <a:lnTo>
                    <a:pt x="751820" y="1319926"/>
                  </a:lnTo>
                  <a:lnTo>
                    <a:pt x="800152" y="1334020"/>
                  </a:lnTo>
                  <a:lnTo>
                    <a:pt x="849673" y="1347655"/>
                  </a:lnTo>
                  <a:lnTo>
                    <a:pt x="900355" y="1360822"/>
                  </a:lnTo>
                  <a:lnTo>
                    <a:pt x="952169" y="1373509"/>
                  </a:lnTo>
                  <a:lnTo>
                    <a:pt x="1005083" y="1385708"/>
                  </a:lnTo>
                  <a:lnTo>
                    <a:pt x="1059070" y="1397407"/>
                  </a:lnTo>
                  <a:lnTo>
                    <a:pt x="1114100" y="1408599"/>
                  </a:lnTo>
                  <a:lnTo>
                    <a:pt x="1170143" y="1419272"/>
                  </a:lnTo>
                  <a:lnTo>
                    <a:pt x="1227170" y="1429416"/>
                  </a:lnTo>
                  <a:lnTo>
                    <a:pt x="1285152" y="1439023"/>
                  </a:lnTo>
                  <a:lnTo>
                    <a:pt x="1344059" y="1448081"/>
                  </a:lnTo>
                  <a:lnTo>
                    <a:pt x="1403861" y="1456581"/>
                  </a:lnTo>
                  <a:lnTo>
                    <a:pt x="1464530" y="1464513"/>
                  </a:lnTo>
                  <a:lnTo>
                    <a:pt x="1526036" y="1471868"/>
                  </a:lnTo>
                  <a:lnTo>
                    <a:pt x="1588349" y="1478635"/>
                  </a:lnTo>
                  <a:lnTo>
                    <a:pt x="1651440" y="1484804"/>
                  </a:lnTo>
                  <a:lnTo>
                    <a:pt x="1715281" y="1490366"/>
                  </a:lnTo>
                  <a:lnTo>
                    <a:pt x="1779840" y="1495311"/>
                  </a:lnTo>
                  <a:lnTo>
                    <a:pt x="1845089" y="1499628"/>
                  </a:lnTo>
                  <a:lnTo>
                    <a:pt x="1910999" y="1503308"/>
                  </a:lnTo>
                  <a:lnTo>
                    <a:pt x="1977539" y="1506342"/>
                  </a:lnTo>
                  <a:lnTo>
                    <a:pt x="2044681" y="1508718"/>
                  </a:lnTo>
                  <a:lnTo>
                    <a:pt x="2112396" y="1510428"/>
                  </a:lnTo>
                  <a:lnTo>
                    <a:pt x="2180653" y="1511461"/>
                  </a:lnTo>
                  <a:lnTo>
                    <a:pt x="2249424" y="1511808"/>
                  </a:lnTo>
                  <a:lnTo>
                    <a:pt x="2318194" y="1511461"/>
                  </a:lnTo>
                  <a:lnTo>
                    <a:pt x="2386451" y="1510428"/>
                  </a:lnTo>
                  <a:lnTo>
                    <a:pt x="2454166" y="1508718"/>
                  </a:lnTo>
                  <a:lnTo>
                    <a:pt x="2521308" y="1506342"/>
                  </a:lnTo>
                  <a:lnTo>
                    <a:pt x="2587848" y="1503308"/>
                  </a:lnTo>
                  <a:lnTo>
                    <a:pt x="2653758" y="1499628"/>
                  </a:lnTo>
                  <a:lnTo>
                    <a:pt x="2719007" y="1495311"/>
                  </a:lnTo>
                  <a:lnTo>
                    <a:pt x="2783566" y="1490366"/>
                  </a:lnTo>
                  <a:lnTo>
                    <a:pt x="2847407" y="1484804"/>
                  </a:lnTo>
                  <a:lnTo>
                    <a:pt x="2910498" y="1478635"/>
                  </a:lnTo>
                  <a:lnTo>
                    <a:pt x="2972811" y="1471868"/>
                  </a:lnTo>
                  <a:lnTo>
                    <a:pt x="3034317" y="1464513"/>
                  </a:lnTo>
                  <a:lnTo>
                    <a:pt x="3094986" y="1456581"/>
                  </a:lnTo>
                  <a:lnTo>
                    <a:pt x="3154788" y="1448081"/>
                  </a:lnTo>
                  <a:lnTo>
                    <a:pt x="3213695" y="1439023"/>
                  </a:lnTo>
                  <a:lnTo>
                    <a:pt x="3271677" y="1429416"/>
                  </a:lnTo>
                  <a:lnTo>
                    <a:pt x="3328704" y="1419272"/>
                  </a:lnTo>
                  <a:lnTo>
                    <a:pt x="3384747" y="1408599"/>
                  </a:lnTo>
                  <a:lnTo>
                    <a:pt x="3439777" y="1397407"/>
                  </a:lnTo>
                  <a:lnTo>
                    <a:pt x="3493764" y="1385708"/>
                  </a:lnTo>
                  <a:lnTo>
                    <a:pt x="3546678" y="1373509"/>
                  </a:lnTo>
                  <a:lnTo>
                    <a:pt x="3598492" y="1360822"/>
                  </a:lnTo>
                  <a:lnTo>
                    <a:pt x="3649174" y="1347655"/>
                  </a:lnTo>
                  <a:lnTo>
                    <a:pt x="3698695" y="1334020"/>
                  </a:lnTo>
                  <a:lnTo>
                    <a:pt x="3747027" y="1319926"/>
                  </a:lnTo>
                  <a:lnTo>
                    <a:pt x="3794139" y="1305382"/>
                  </a:lnTo>
                  <a:lnTo>
                    <a:pt x="3840003" y="1290399"/>
                  </a:lnTo>
                  <a:lnTo>
                    <a:pt x="3884589" y="1274986"/>
                  </a:lnTo>
                  <a:lnTo>
                    <a:pt x="3927867" y="1259154"/>
                  </a:lnTo>
                  <a:lnTo>
                    <a:pt x="3969808" y="1242912"/>
                  </a:lnTo>
                  <a:lnTo>
                    <a:pt x="4010383" y="1226271"/>
                  </a:lnTo>
                  <a:lnTo>
                    <a:pt x="4049562" y="1209239"/>
                  </a:lnTo>
                  <a:lnTo>
                    <a:pt x="4087316" y="1191828"/>
                  </a:lnTo>
                  <a:lnTo>
                    <a:pt x="4123616" y="1174046"/>
                  </a:lnTo>
                  <a:lnTo>
                    <a:pt x="4158431" y="1155904"/>
                  </a:lnTo>
                  <a:lnTo>
                    <a:pt x="4223492" y="1118579"/>
                  </a:lnTo>
                  <a:lnTo>
                    <a:pt x="4282265" y="1079931"/>
                  </a:lnTo>
                  <a:lnTo>
                    <a:pt x="4334513" y="1040040"/>
                  </a:lnTo>
                  <a:lnTo>
                    <a:pt x="4380002" y="998984"/>
                  </a:lnTo>
                  <a:lnTo>
                    <a:pt x="4418495" y="956844"/>
                  </a:lnTo>
                  <a:lnTo>
                    <a:pt x="4449759" y="913697"/>
                  </a:lnTo>
                  <a:lnTo>
                    <a:pt x="4473557" y="869624"/>
                  </a:lnTo>
                  <a:lnTo>
                    <a:pt x="4489655" y="824702"/>
                  </a:lnTo>
                  <a:lnTo>
                    <a:pt x="4497816" y="779012"/>
                  </a:lnTo>
                  <a:lnTo>
                    <a:pt x="4498848" y="755904"/>
                  </a:lnTo>
                  <a:lnTo>
                    <a:pt x="4497816" y="732795"/>
                  </a:lnTo>
                  <a:lnTo>
                    <a:pt x="4489655" y="687105"/>
                  </a:lnTo>
                  <a:lnTo>
                    <a:pt x="4473557" y="642183"/>
                  </a:lnTo>
                  <a:lnTo>
                    <a:pt x="4449759" y="598110"/>
                  </a:lnTo>
                  <a:lnTo>
                    <a:pt x="4418495" y="554963"/>
                  </a:lnTo>
                  <a:lnTo>
                    <a:pt x="4380002" y="512823"/>
                  </a:lnTo>
                  <a:lnTo>
                    <a:pt x="4334513" y="471767"/>
                  </a:lnTo>
                  <a:lnTo>
                    <a:pt x="4282265" y="431876"/>
                  </a:lnTo>
                  <a:lnTo>
                    <a:pt x="4223492" y="393228"/>
                  </a:lnTo>
                  <a:lnTo>
                    <a:pt x="4158431" y="355903"/>
                  </a:lnTo>
                  <a:lnTo>
                    <a:pt x="4123616" y="337761"/>
                  </a:lnTo>
                  <a:lnTo>
                    <a:pt x="4087316" y="319979"/>
                  </a:lnTo>
                  <a:lnTo>
                    <a:pt x="4049562" y="302568"/>
                  </a:lnTo>
                  <a:lnTo>
                    <a:pt x="4010383" y="285536"/>
                  </a:lnTo>
                  <a:lnTo>
                    <a:pt x="3969808" y="268895"/>
                  </a:lnTo>
                  <a:lnTo>
                    <a:pt x="3927867" y="252653"/>
                  </a:lnTo>
                  <a:lnTo>
                    <a:pt x="3884589" y="236821"/>
                  </a:lnTo>
                  <a:lnTo>
                    <a:pt x="3840003" y="221408"/>
                  </a:lnTo>
                  <a:lnTo>
                    <a:pt x="3794139" y="206425"/>
                  </a:lnTo>
                  <a:lnTo>
                    <a:pt x="3747027" y="191881"/>
                  </a:lnTo>
                  <a:lnTo>
                    <a:pt x="3698695" y="177787"/>
                  </a:lnTo>
                  <a:lnTo>
                    <a:pt x="3649174" y="164152"/>
                  </a:lnTo>
                  <a:lnTo>
                    <a:pt x="3598492" y="150985"/>
                  </a:lnTo>
                  <a:lnTo>
                    <a:pt x="3546678" y="138298"/>
                  </a:lnTo>
                  <a:lnTo>
                    <a:pt x="3493764" y="126099"/>
                  </a:lnTo>
                  <a:lnTo>
                    <a:pt x="3439777" y="114400"/>
                  </a:lnTo>
                  <a:lnTo>
                    <a:pt x="3384747" y="103208"/>
                  </a:lnTo>
                  <a:lnTo>
                    <a:pt x="3328704" y="92535"/>
                  </a:lnTo>
                  <a:lnTo>
                    <a:pt x="3271677" y="82391"/>
                  </a:lnTo>
                  <a:lnTo>
                    <a:pt x="3213695" y="72784"/>
                  </a:lnTo>
                  <a:lnTo>
                    <a:pt x="3154788" y="63726"/>
                  </a:lnTo>
                  <a:lnTo>
                    <a:pt x="3094986" y="55226"/>
                  </a:lnTo>
                  <a:lnTo>
                    <a:pt x="3034317" y="47294"/>
                  </a:lnTo>
                  <a:lnTo>
                    <a:pt x="2972811" y="39939"/>
                  </a:lnTo>
                  <a:lnTo>
                    <a:pt x="2910498" y="33172"/>
                  </a:lnTo>
                  <a:lnTo>
                    <a:pt x="2847407" y="27003"/>
                  </a:lnTo>
                  <a:lnTo>
                    <a:pt x="2783566" y="21441"/>
                  </a:lnTo>
                  <a:lnTo>
                    <a:pt x="2719007" y="16496"/>
                  </a:lnTo>
                  <a:lnTo>
                    <a:pt x="2653758" y="12179"/>
                  </a:lnTo>
                  <a:lnTo>
                    <a:pt x="2587848" y="8499"/>
                  </a:lnTo>
                  <a:lnTo>
                    <a:pt x="2521308" y="5465"/>
                  </a:lnTo>
                  <a:lnTo>
                    <a:pt x="2454166" y="3089"/>
                  </a:lnTo>
                  <a:lnTo>
                    <a:pt x="2386451" y="1379"/>
                  </a:lnTo>
                  <a:lnTo>
                    <a:pt x="2318194" y="346"/>
                  </a:lnTo>
                  <a:lnTo>
                    <a:pt x="2249424" y="0"/>
                  </a:lnTo>
                  <a:close/>
                </a:path>
              </a:pathLst>
            </a:custGeom>
            <a:solidFill>
              <a:srgbClr val="FFFF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3"/>
            <p:cNvSpPr/>
            <p:nvPr/>
          </p:nvSpPr>
          <p:spPr>
            <a:xfrm>
              <a:off x="4645151" y="4148327"/>
              <a:ext cx="4498975" cy="1511935"/>
            </a:xfrm>
            <a:custGeom>
              <a:avLst/>
              <a:gdLst/>
              <a:ahLst/>
              <a:cxnLst/>
              <a:rect l="l" t="t" r="r" b="b"/>
              <a:pathLst>
                <a:path w="4498975" h="1511935" extrusionOk="0">
                  <a:moveTo>
                    <a:pt x="0" y="755904"/>
                  </a:moveTo>
                  <a:lnTo>
                    <a:pt x="4105" y="709859"/>
                  </a:lnTo>
                  <a:lnTo>
                    <a:pt x="16264" y="664543"/>
                  </a:lnTo>
                  <a:lnTo>
                    <a:pt x="36241" y="620035"/>
                  </a:lnTo>
                  <a:lnTo>
                    <a:pt x="63801" y="576416"/>
                  </a:lnTo>
                  <a:lnTo>
                    <a:pt x="98710" y="533762"/>
                  </a:lnTo>
                  <a:lnTo>
                    <a:pt x="140730" y="492154"/>
                  </a:lnTo>
                  <a:lnTo>
                    <a:pt x="189628" y="451671"/>
                  </a:lnTo>
                  <a:lnTo>
                    <a:pt x="245168" y="412392"/>
                  </a:lnTo>
                  <a:lnTo>
                    <a:pt x="307114" y="374396"/>
                  </a:lnTo>
                  <a:lnTo>
                    <a:pt x="375231" y="337761"/>
                  </a:lnTo>
                  <a:lnTo>
                    <a:pt x="411531" y="319979"/>
                  </a:lnTo>
                  <a:lnTo>
                    <a:pt x="449285" y="302568"/>
                  </a:lnTo>
                  <a:lnTo>
                    <a:pt x="488464" y="285536"/>
                  </a:lnTo>
                  <a:lnTo>
                    <a:pt x="529039" y="268895"/>
                  </a:lnTo>
                  <a:lnTo>
                    <a:pt x="570980" y="252653"/>
                  </a:lnTo>
                  <a:lnTo>
                    <a:pt x="614258" y="236821"/>
                  </a:lnTo>
                  <a:lnTo>
                    <a:pt x="658844" y="221408"/>
                  </a:lnTo>
                  <a:lnTo>
                    <a:pt x="704708" y="206425"/>
                  </a:lnTo>
                  <a:lnTo>
                    <a:pt x="751820" y="191881"/>
                  </a:lnTo>
                  <a:lnTo>
                    <a:pt x="800152" y="177787"/>
                  </a:lnTo>
                  <a:lnTo>
                    <a:pt x="849673" y="164152"/>
                  </a:lnTo>
                  <a:lnTo>
                    <a:pt x="900355" y="150985"/>
                  </a:lnTo>
                  <a:lnTo>
                    <a:pt x="952169" y="138298"/>
                  </a:lnTo>
                  <a:lnTo>
                    <a:pt x="1005083" y="126099"/>
                  </a:lnTo>
                  <a:lnTo>
                    <a:pt x="1059070" y="114400"/>
                  </a:lnTo>
                  <a:lnTo>
                    <a:pt x="1114100" y="103208"/>
                  </a:lnTo>
                  <a:lnTo>
                    <a:pt x="1170143" y="92535"/>
                  </a:lnTo>
                  <a:lnTo>
                    <a:pt x="1227170" y="82391"/>
                  </a:lnTo>
                  <a:lnTo>
                    <a:pt x="1285152" y="72784"/>
                  </a:lnTo>
                  <a:lnTo>
                    <a:pt x="1344059" y="63726"/>
                  </a:lnTo>
                  <a:lnTo>
                    <a:pt x="1403861" y="55226"/>
                  </a:lnTo>
                  <a:lnTo>
                    <a:pt x="1464530" y="47294"/>
                  </a:lnTo>
                  <a:lnTo>
                    <a:pt x="1526036" y="39939"/>
                  </a:lnTo>
                  <a:lnTo>
                    <a:pt x="1588349" y="33172"/>
                  </a:lnTo>
                  <a:lnTo>
                    <a:pt x="1651440" y="27003"/>
                  </a:lnTo>
                  <a:lnTo>
                    <a:pt x="1715281" y="21441"/>
                  </a:lnTo>
                  <a:lnTo>
                    <a:pt x="1779840" y="16496"/>
                  </a:lnTo>
                  <a:lnTo>
                    <a:pt x="1845089" y="12179"/>
                  </a:lnTo>
                  <a:lnTo>
                    <a:pt x="1910999" y="8499"/>
                  </a:lnTo>
                  <a:lnTo>
                    <a:pt x="1977539" y="5465"/>
                  </a:lnTo>
                  <a:lnTo>
                    <a:pt x="2044681" y="3089"/>
                  </a:lnTo>
                  <a:lnTo>
                    <a:pt x="2112396" y="1379"/>
                  </a:lnTo>
                  <a:lnTo>
                    <a:pt x="2180653" y="346"/>
                  </a:lnTo>
                  <a:lnTo>
                    <a:pt x="2249424" y="0"/>
                  </a:lnTo>
                  <a:lnTo>
                    <a:pt x="2318194" y="346"/>
                  </a:lnTo>
                  <a:lnTo>
                    <a:pt x="2386451" y="1379"/>
                  </a:lnTo>
                  <a:lnTo>
                    <a:pt x="2454166" y="3089"/>
                  </a:lnTo>
                  <a:lnTo>
                    <a:pt x="2521308" y="5465"/>
                  </a:lnTo>
                  <a:lnTo>
                    <a:pt x="2587848" y="8499"/>
                  </a:lnTo>
                  <a:lnTo>
                    <a:pt x="2653758" y="12179"/>
                  </a:lnTo>
                  <a:lnTo>
                    <a:pt x="2719007" y="16496"/>
                  </a:lnTo>
                  <a:lnTo>
                    <a:pt x="2783566" y="21441"/>
                  </a:lnTo>
                  <a:lnTo>
                    <a:pt x="2847407" y="27003"/>
                  </a:lnTo>
                  <a:lnTo>
                    <a:pt x="2910498" y="33172"/>
                  </a:lnTo>
                  <a:lnTo>
                    <a:pt x="2972811" y="39939"/>
                  </a:lnTo>
                  <a:lnTo>
                    <a:pt x="3034317" y="47294"/>
                  </a:lnTo>
                  <a:lnTo>
                    <a:pt x="3094986" y="55226"/>
                  </a:lnTo>
                  <a:lnTo>
                    <a:pt x="3154788" y="63726"/>
                  </a:lnTo>
                  <a:lnTo>
                    <a:pt x="3213695" y="72784"/>
                  </a:lnTo>
                  <a:lnTo>
                    <a:pt x="3271677" y="82391"/>
                  </a:lnTo>
                  <a:lnTo>
                    <a:pt x="3328704" y="92535"/>
                  </a:lnTo>
                  <a:lnTo>
                    <a:pt x="3384747" y="103208"/>
                  </a:lnTo>
                  <a:lnTo>
                    <a:pt x="3439777" y="114400"/>
                  </a:lnTo>
                  <a:lnTo>
                    <a:pt x="3493764" y="126099"/>
                  </a:lnTo>
                  <a:lnTo>
                    <a:pt x="3546678" y="138298"/>
                  </a:lnTo>
                  <a:lnTo>
                    <a:pt x="3598492" y="150985"/>
                  </a:lnTo>
                  <a:lnTo>
                    <a:pt x="3649174" y="164152"/>
                  </a:lnTo>
                  <a:lnTo>
                    <a:pt x="3698695" y="177787"/>
                  </a:lnTo>
                  <a:lnTo>
                    <a:pt x="3747027" y="191881"/>
                  </a:lnTo>
                  <a:lnTo>
                    <a:pt x="3794139" y="206425"/>
                  </a:lnTo>
                  <a:lnTo>
                    <a:pt x="3840003" y="221408"/>
                  </a:lnTo>
                  <a:lnTo>
                    <a:pt x="3884589" y="236821"/>
                  </a:lnTo>
                  <a:lnTo>
                    <a:pt x="3927867" y="252653"/>
                  </a:lnTo>
                  <a:lnTo>
                    <a:pt x="3969808" y="268895"/>
                  </a:lnTo>
                  <a:lnTo>
                    <a:pt x="4010383" y="285536"/>
                  </a:lnTo>
                  <a:lnTo>
                    <a:pt x="4049562" y="302568"/>
                  </a:lnTo>
                  <a:lnTo>
                    <a:pt x="4087316" y="319979"/>
                  </a:lnTo>
                  <a:lnTo>
                    <a:pt x="4123616" y="337761"/>
                  </a:lnTo>
                  <a:lnTo>
                    <a:pt x="4158431" y="355903"/>
                  </a:lnTo>
                  <a:lnTo>
                    <a:pt x="4223492" y="393228"/>
                  </a:lnTo>
                  <a:lnTo>
                    <a:pt x="4282265" y="431876"/>
                  </a:lnTo>
                  <a:lnTo>
                    <a:pt x="4334513" y="471767"/>
                  </a:lnTo>
                  <a:lnTo>
                    <a:pt x="4380002" y="512823"/>
                  </a:lnTo>
                  <a:lnTo>
                    <a:pt x="4418495" y="554963"/>
                  </a:lnTo>
                  <a:lnTo>
                    <a:pt x="4449759" y="598110"/>
                  </a:lnTo>
                  <a:lnTo>
                    <a:pt x="4473557" y="642183"/>
                  </a:lnTo>
                  <a:lnTo>
                    <a:pt x="4489655" y="687105"/>
                  </a:lnTo>
                  <a:lnTo>
                    <a:pt x="4497816" y="732795"/>
                  </a:lnTo>
                  <a:lnTo>
                    <a:pt x="4498848" y="755904"/>
                  </a:lnTo>
                  <a:lnTo>
                    <a:pt x="4497816" y="779012"/>
                  </a:lnTo>
                  <a:lnTo>
                    <a:pt x="4489655" y="824702"/>
                  </a:lnTo>
                  <a:lnTo>
                    <a:pt x="4473557" y="869624"/>
                  </a:lnTo>
                  <a:lnTo>
                    <a:pt x="4449759" y="913697"/>
                  </a:lnTo>
                  <a:lnTo>
                    <a:pt x="4418495" y="956844"/>
                  </a:lnTo>
                  <a:lnTo>
                    <a:pt x="4380002" y="998984"/>
                  </a:lnTo>
                  <a:lnTo>
                    <a:pt x="4334513" y="1040040"/>
                  </a:lnTo>
                  <a:lnTo>
                    <a:pt x="4282265" y="1079931"/>
                  </a:lnTo>
                  <a:lnTo>
                    <a:pt x="4223492" y="1118579"/>
                  </a:lnTo>
                  <a:lnTo>
                    <a:pt x="4158431" y="1155904"/>
                  </a:lnTo>
                  <a:lnTo>
                    <a:pt x="4123616" y="1174046"/>
                  </a:lnTo>
                  <a:lnTo>
                    <a:pt x="4087316" y="1191828"/>
                  </a:lnTo>
                  <a:lnTo>
                    <a:pt x="4049562" y="1209239"/>
                  </a:lnTo>
                  <a:lnTo>
                    <a:pt x="4010383" y="1226271"/>
                  </a:lnTo>
                  <a:lnTo>
                    <a:pt x="3969808" y="1242912"/>
                  </a:lnTo>
                  <a:lnTo>
                    <a:pt x="3927867" y="1259154"/>
                  </a:lnTo>
                  <a:lnTo>
                    <a:pt x="3884589" y="1274986"/>
                  </a:lnTo>
                  <a:lnTo>
                    <a:pt x="3840003" y="1290399"/>
                  </a:lnTo>
                  <a:lnTo>
                    <a:pt x="3794139" y="1305382"/>
                  </a:lnTo>
                  <a:lnTo>
                    <a:pt x="3747027" y="1319926"/>
                  </a:lnTo>
                  <a:lnTo>
                    <a:pt x="3698695" y="1334020"/>
                  </a:lnTo>
                  <a:lnTo>
                    <a:pt x="3649174" y="1347655"/>
                  </a:lnTo>
                  <a:lnTo>
                    <a:pt x="3598492" y="1360822"/>
                  </a:lnTo>
                  <a:lnTo>
                    <a:pt x="3546678" y="1373509"/>
                  </a:lnTo>
                  <a:lnTo>
                    <a:pt x="3493764" y="1385708"/>
                  </a:lnTo>
                  <a:lnTo>
                    <a:pt x="3439777" y="1397407"/>
                  </a:lnTo>
                  <a:lnTo>
                    <a:pt x="3384747" y="1408599"/>
                  </a:lnTo>
                  <a:lnTo>
                    <a:pt x="3328704" y="1419272"/>
                  </a:lnTo>
                  <a:lnTo>
                    <a:pt x="3271677" y="1429416"/>
                  </a:lnTo>
                  <a:lnTo>
                    <a:pt x="3213695" y="1439023"/>
                  </a:lnTo>
                  <a:lnTo>
                    <a:pt x="3154788" y="1448081"/>
                  </a:lnTo>
                  <a:lnTo>
                    <a:pt x="3094986" y="1456581"/>
                  </a:lnTo>
                  <a:lnTo>
                    <a:pt x="3034317" y="1464513"/>
                  </a:lnTo>
                  <a:lnTo>
                    <a:pt x="2972811" y="1471868"/>
                  </a:lnTo>
                  <a:lnTo>
                    <a:pt x="2910498" y="1478635"/>
                  </a:lnTo>
                  <a:lnTo>
                    <a:pt x="2847407" y="1484804"/>
                  </a:lnTo>
                  <a:lnTo>
                    <a:pt x="2783566" y="1490366"/>
                  </a:lnTo>
                  <a:lnTo>
                    <a:pt x="2719007" y="1495311"/>
                  </a:lnTo>
                  <a:lnTo>
                    <a:pt x="2653758" y="1499628"/>
                  </a:lnTo>
                  <a:lnTo>
                    <a:pt x="2587848" y="1503308"/>
                  </a:lnTo>
                  <a:lnTo>
                    <a:pt x="2521308" y="1506342"/>
                  </a:lnTo>
                  <a:lnTo>
                    <a:pt x="2454166" y="1508718"/>
                  </a:lnTo>
                  <a:lnTo>
                    <a:pt x="2386451" y="1510428"/>
                  </a:lnTo>
                  <a:lnTo>
                    <a:pt x="2318194" y="1511461"/>
                  </a:lnTo>
                  <a:lnTo>
                    <a:pt x="2249424" y="1511808"/>
                  </a:lnTo>
                  <a:lnTo>
                    <a:pt x="2180653" y="1511461"/>
                  </a:lnTo>
                  <a:lnTo>
                    <a:pt x="2112396" y="1510428"/>
                  </a:lnTo>
                  <a:lnTo>
                    <a:pt x="2044681" y="1508718"/>
                  </a:lnTo>
                  <a:lnTo>
                    <a:pt x="1977539" y="1506342"/>
                  </a:lnTo>
                  <a:lnTo>
                    <a:pt x="1910999" y="1503308"/>
                  </a:lnTo>
                  <a:lnTo>
                    <a:pt x="1845089" y="1499628"/>
                  </a:lnTo>
                  <a:lnTo>
                    <a:pt x="1779840" y="1495311"/>
                  </a:lnTo>
                  <a:lnTo>
                    <a:pt x="1715281" y="1490366"/>
                  </a:lnTo>
                  <a:lnTo>
                    <a:pt x="1651440" y="1484804"/>
                  </a:lnTo>
                  <a:lnTo>
                    <a:pt x="1588349" y="1478635"/>
                  </a:lnTo>
                  <a:lnTo>
                    <a:pt x="1526036" y="1471868"/>
                  </a:lnTo>
                  <a:lnTo>
                    <a:pt x="1464530" y="1464513"/>
                  </a:lnTo>
                  <a:lnTo>
                    <a:pt x="1403861" y="1456581"/>
                  </a:lnTo>
                  <a:lnTo>
                    <a:pt x="1344059" y="1448081"/>
                  </a:lnTo>
                  <a:lnTo>
                    <a:pt x="1285152" y="1439023"/>
                  </a:lnTo>
                  <a:lnTo>
                    <a:pt x="1227170" y="1429416"/>
                  </a:lnTo>
                  <a:lnTo>
                    <a:pt x="1170143" y="1419272"/>
                  </a:lnTo>
                  <a:lnTo>
                    <a:pt x="1114100" y="1408599"/>
                  </a:lnTo>
                  <a:lnTo>
                    <a:pt x="1059070" y="1397407"/>
                  </a:lnTo>
                  <a:lnTo>
                    <a:pt x="1005083" y="1385708"/>
                  </a:lnTo>
                  <a:lnTo>
                    <a:pt x="952169" y="1373509"/>
                  </a:lnTo>
                  <a:lnTo>
                    <a:pt x="900355" y="1360822"/>
                  </a:lnTo>
                  <a:lnTo>
                    <a:pt x="849673" y="1347655"/>
                  </a:lnTo>
                  <a:lnTo>
                    <a:pt x="800152" y="1334020"/>
                  </a:lnTo>
                  <a:lnTo>
                    <a:pt x="751820" y="1319926"/>
                  </a:lnTo>
                  <a:lnTo>
                    <a:pt x="704708" y="1305382"/>
                  </a:lnTo>
                  <a:lnTo>
                    <a:pt x="658844" y="1290399"/>
                  </a:lnTo>
                  <a:lnTo>
                    <a:pt x="614258" y="1274986"/>
                  </a:lnTo>
                  <a:lnTo>
                    <a:pt x="570980" y="1259154"/>
                  </a:lnTo>
                  <a:lnTo>
                    <a:pt x="529039" y="1242912"/>
                  </a:lnTo>
                  <a:lnTo>
                    <a:pt x="488464" y="1226271"/>
                  </a:lnTo>
                  <a:lnTo>
                    <a:pt x="449285" y="1209239"/>
                  </a:lnTo>
                  <a:lnTo>
                    <a:pt x="411531" y="1191828"/>
                  </a:lnTo>
                  <a:lnTo>
                    <a:pt x="375231" y="1174046"/>
                  </a:lnTo>
                  <a:lnTo>
                    <a:pt x="340416" y="1155904"/>
                  </a:lnTo>
                  <a:lnTo>
                    <a:pt x="275355" y="1118579"/>
                  </a:lnTo>
                  <a:lnTo>
                    <a:pt x="216582" y="1079931"/>
                  </a:lnTo>
                  <a:lnTo>
                    <a:pt x="164334" y="1040040"/>
                  </a:lnTo>
                  <a:lnTo>
                    <a:pt x="118845" y="998984"/>
                  </a:lnTo>
                  <a:lnTo>
                    <a:pt x="80352" y="956844"/>
                  </a:lnTo>
                  <a:lnTo>
                    <a:pt x="49088" y="913697"/>
                  </a:lnTo>
                  <a:lnTo>
                    <a:pt x="25290" y="869624"/>
                  </a:lnTo>
                  <a:lnTo>
                    <a:pt x="9192" y="824702"/>
                  </a:lnTo>
                  <a:lnTo>
                    <a:pt x="1031" y="779012"/>
                  </a:lnTo>
                  <a:lnTo>
                    <a:pt x="0" y="755904"/>
                  </a:lnTo>
                  <a:close/>
                </a:path>
              </a:pathLst>
            </a:custGeom>
            <a:noFill/>
            <a:ln w="9525" cap="flat" cmpd="sng">
              <a:solidFill>
                <a:srgbClr val="FF9933"/>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3" name="Google Shape;133;p3"/>
          <p:cNvSpPr txBox="1"/>
          <p:nvPr/>
        </p:nvSpPr>
        <p:spPr>
          <a:xfrm>
            <a:off x="4733612" y="4102033"/>
            <a:ext cx="4321800" cy="1127858"/>
          </a:xfrm>
          <a:prstGeom prst="rect">
            <a:avLst/>
          </a:prstGeom>
          <a:noFill/>
          <a:ln>
            <a:noFill/>
          </a:ln>
        </p:spPr>
        <p:txBody>
          <a:bodyPr spcFirstLastPara="1" wrap="square" lIns="0" tIns="12050" rIns="0" bIns="0" anchor="t" anchorCtr="0">
            <a:spAutoFit/>
          </a:bodyPr>
          <a:lstStyle/>
          <a:p>
            <a:pPr marL="6350" marR="0" lvl="0" indent="0" algn="ctr" rtl="0">
              <a:lnSpc>
                <a:spcPct val="100000"/>
              </a:lnSpc>
              <a:spcBef>
                <a:spcPts val="0"/>
              </a:spcBef>
              <a:spcAft>
                <a:spcPts val="0"/>
              </a:spcAft>
              <a:buNone/>
            </a:pPr>
            <a:r>
              <a:rPr lang="it-IT" sz="1600" b="1" u="sng" dirty="0">
                <a:solidFill>
                  <a:srgbClr val="669999"/>
                </a:solidFill>
                <a:latin typeface="Poppins" panose="020B0604020202020204"/>
                <a:sym typeface="Arial"/>
              </a:rPr>
              <a:t>EFFICIENZA</a:t>
            </a:r>
            <a:endParaRPr sz="1600" dirty="0">
              <a:solidFill>
                <a:schemeClr val="dk1"/>
              </a:solidFill>
              <a:latin typeface="Poppins" panose="020B0604020202020204"/>
              <a:sym typeface="Arial"/>
            </a:endParaRPr>
          </a:p>
          <a:p>
            <a:pPr marL="0" marR="0" lvl="0" indent="0" algn="l" rtl="0">
              <a:lnSpc>
                <a:spcPct val="100000"/>
              </a:lnSpc>
              <a:spcBef>
                <a:spcPts val="5"/>
              </a:spcBef>
              <a:spcAft>
                <a:spcPts val="0"/>
              </a:spcAft>
              <a:buNone/>
            </a:pPr>
            <a:endParaRPr sz="1450" dirty="0">
              <a:solidFill>
                <a:schemeClr val="dk1"/>
              </a:solidFill>
              <a:latin typeface="Poppins" panose="020B0604020202020204"/>
              <a:sym typeface="Arial"/>
            </a:endParaRPr>
          </a:p>
          <a:p>
            <a:pPr marL="0" marR="36830" lvl="0" indent="0" algn="ctr" rtl="0">
              <a:lnSpc>
                <a:spcPct val="100000"/>
              </a:lnSpc>
              <a:spcBef>
                <a:spcPts val="5"/>
              </a:spcBef>
              <a:spcAft>
                <a:spcPts val="0"/>
              </a:spcAft>
              <a:buNone/>
            </a:pPr>
            <a:r>
              <a:rPr lang="it-IT" sz="1400" b="1" i="1" dirty="0">
                <a:solidFill>
                  <a:srgbClr val="669999"/>
                </a:solidFill>
                <a:latin typeface="Poppins" panose="020B0604020202020204"/>
                <a:sym typeface="Arial"/>
              </a:rPr>
              <a:t>è il valore proprio della managerialità, intesa</a:t>
            </a:r>
            <a:endParaRPr sz="1400" dirty="0">
              <a:solidFill>
                <a:schemeClr val="dk1"/>
              </a:solidFill>
              <a:latin typeface="Poppins" panose="020B0604020202020204"/>
              <a:sym typeface="Arial"/>
            </a:endParaRPr>
          </a:p>
          <a:p>
            <a:pPr marL="12700" marR="5080" lvl="0" indent="0" algn="ctr" rtl="0">
              <a:lnSpc>
                <a:spcPct val="100000"/>
              </a:lnSpc>
              <a:spcBef>
                <a:spcPts val="0"/>
              </a:spcBef>
              <a:spcAft>
                <a:spcPts val="0"/>
              </a:spcAft>
              <a:buNone/>
            </a:pPr>
            <a:r>
              <a:rPr lang="it-IT" sz="1400" b="1" i="1" dirty="0">
                <a:solidFill>
                  <a:srgbClr val="669999"/>
                </a:solidFill>
                <a:latin typeface="Poppins" panose="020B0604020202020204"/>
                <a:sym typeface="Arial"/>
              </a:rPr>
              <a:t>quale attitudine a realizzare il massimo rendimento  nella fase di attuazione delle scelte aziendali</a:t>
            </a:r>
            <a:endParaRPr sz="1400" dirty="0">
              <a:solidFill>
                <a:schemeClr val="dk1"/>
              </a:solidFill>
              <a:latin typeface="Poppins" panose="020B0604020202020204"/>
              <a:sym typeface="Arial"/>
            </a:endParaRPr>
          </a:p>
        </p:txBody>
      </p:sp>
      <p:sp>
        <p:nvSpPr>
          <p:cNvPr id="134" name="Google Shape;134;p3"/>
          <p:cNvSpPr txBox="1"/>
          <p:nvPr/>
        </p:nvSpPr>
        <p:spPr>
          <a:xfrm>
            <a:off x="445719" y="6640874"/>
            <a:ext cx="6297900" cy="153900"/>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None/>
            </a:pPr>
            <a:endParaRPr sz="1000">
              <a:solidFill>
                <a:schemeClr val="dk1"/>
              </a:solidFill>
              <a:latin typeface="Arial"/>
              <a:ea typeface="Arial"/>
              <a:cs typeface="Arial"/>
              <a:sym typeface="Arial"/>
            </a:endParaRPr>
          </a:p>
        </p:txBody>
      </p:sp>
      <p:sp>
        <p:nvSpPr>
          <p:cNvPr id="2" name="Rettangolo 1">
            <a:extLst>
              <a:ext uri="{FF2B5EF4-FFF2-40B4-BE49-F238E27FC236}">
                <a16:creationId xmlns:a16="http://schemas.microsoft.com/office/drawing/2014/main" id="{F0378F73-E6B1-42C8-8CA4-7B6E09E715FC}"/>
              </a:ext>
            </a:extLst>
          </p:cNvPr>
          <p:cNvSpPr/>
          <p:nvPr/>
        </p:nvSpPr>
        <p:spPr>
          <a:xfrm>
            <a:off x="259725" y="5816619"/>
            <a:ext cx="8785282" cy="646331"/>
          </a:xfrm>
          <a:prstGeom prst="rect">
            <a:avLst/>
          </a:prstGeom>
        </p:spPr>
        <p:txBody>
          <a:bodyPr wrap="square">
            <a:spAutoFit/>
          </a:bodyPr>
          <a:lstStyle/>
          <a:p>
            <a:pPr algn="just"/>
            <a:r>
              <a:rPr lang="it-IT" sz="1800" dirty="0">
                <a:solidFill>
                  <a:srgbClr val="0070C0"/>
                </a:solidFill>
                <a:latin typeface="Poppins" panose="020B0604020202020204"/>
              </a:rPr>
              <a:t>L'</a:t>
            </a:r>
            <a:r>
              <a:rPr lang="it-IT" sz="1800" b="1" dirty="0">
                <a:solidFill>
                  <a:srgbClr val="0070C0"/>
                </a:solidFill>
                <a:latin typeface="Poppins" panose="020B0604020202020204"/>
              </a:rPr>
              <a:t>efficacia</a:t>
            </a:r>
            <a:r>
              <a:rPr lang="it-IT" sz="1800" dirty="0">
                <a:solidFill>
                  <a:srgbClr val="0070C0"/>
                </a:solidFill>
                <a:latin typeface="Poppins" panose="020B0604020202020204"/>
              </a:rPr>
              <a:t> indica la capacità di raggiungere l'obiettivo prefissato, mentre l'</a:t>
            </a:r>
            <a:r>
              <a:rPr lang="it-IT" sz="1800" b="1" dirty="0">
                <a:solidFill>
                  <a:srgbClr val="0070C0"/>
                </a:solidFill>
                <a:latin typeface="Poppins" panose="020B0604020202020204"/>
              </a:rPr>
              <a:t>efficienza</a:t>
            </a:r>
            <a:r>
              <a:rPr lang="it-IT" sz="1800" dirty="0">
                <a:solidFill>
                  <a:srgbClr val="0070C0"/>
                </a:solidFill>
                <a:latin typeface="Poppins" panose="020B0604020202020204"/>
              </a:rPr>
              <a:t> valuta l'abilità di farlo impiegando le risorse minime indispensabili.</a:t>
            </a:r>
          </a:p>
        </p:txBody>
      </p:sp>
    </p:spTree>
    <p:extLst>
      <p:ext uri="{BB962C8B-B14F-4D97-AF65-F5344CB8AC3E}">
        <p14:creationId xmlns:p14="http://schemas.microsoft.com/office/powerpoint/2010/main" val="2951871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4"/>
          <p:cNvSpPr/>
          <p:nvPr/>
        </p:nvSpPr>
        <p:spPr>
          <a:xfrm>
            <a:off x="1219200" y="1143000"/>
            <a:ext cx="68580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333333"/>
              </a:solidFill>
              <a:latin typeface="Georgia"/>
              <a:ea typeface="Georgia"/>
              <a:cs typeface="Georgia"/>
              <a:sym typeface="Georgia"/>
            </a:endParaRPr>
          </a:p>
          <a:p>
            <a:pPr marL="0" marR="0" lvl="0" indent="0" algn="l" rtl="0">
              <a:spcBef>
                <a:spcPts val="0"/>
              </a:spcBef>
              <a:spcAft>
                <a:spcPts val="0"/>
              </a:spcAft>
              <a:buNone/>
            </a:pPr>
            <a:endParaRPr sz="1800" dirty="0">
              <a:solidFill>
                <a:srgbClr val="333333"/>
              </a:solidFill>
              <a:latin typeface="Georgia"/>
              <a:ea typeface="Georgia"/>
              <a:cs typeface="Georgia"/>
              <a:sym typeface="Georgia"/>
            </a:endParaRPr>
          </a:p>
        </p:txBody>
      </p:sp>
      <p:sp>
        <p:nvSpPr>
          <p:cNvPr id="5" name="Title 4">
            <a:extLst>
              <a:ext uri="{FF2B5EF4-FFF2-40B4-BE49-F238E27FC236}">
                <a16:creationId xmlns:a16="http://schemas.microsoft.com/office/drawing/2014/main" id="{B93640D9-AB18-4015-A319-5BCA77647E50}"/>
              </a:ext>
            </a:extLst>
          </p:cNvPr>
          <p:cNvSpPr>
            <a:spLocks noGrp="1"/>
          </p:cNvSpPr>
          <p:nvPr>
            <p:ph type="title"/>
          </p:nvPr>
        </p:nvSpPr>
        <p:spPr>
          <a:xfrm>
            <a:off x="1309279" y="668341"/>
            <a:ext cx="6376186" cy="630942"/>
          </a:xfrm>
        </p:spPr>
        <p:txBody>
          <a:bodyPr/>
          <a:lstStyle/>
          <a:p>
            <a:pPr algn="ctr"/>
            <a:r>
              <a:rPr lang="en-GB" dirty="0" err="1">
                <a:solidFill>
                  <a:srgbClr val="0070C0"/>
                </a:solidFill>
                <a:latin typeface="Poppins" panose="020B0604020202020204"/>
              </a:rPr>
              <a:t>Imprenditore</a:t>
            </a:r>
            <a:r>
              <a:rPr lang="en-GB" dirty="0">
                <a:solidFill>
                  <a:srgbClr val="0070C0"/>
                </a:solidFill>
                <a:latin typeface="Poppins" panose="020B0604020202020204"/>
              </a:rPr>
              <a:t> </a:t>
            </a:r>
            <a:r>
              <a:rPr lang="en-GB" dirty="0">
                <a:solidFill>
                  <a:schemeClr val="tx1"/>
                </a:solidFill>
                <a:latin typeface="Poppins" panose="020B0604020202020204"/>
              </a:rPr>
              <a:t>vs</a:t>
            </a:r>
            <a:r>
              <a:rPr lang="en-GB" dirty="0">
                <a:solidFill>
                  <a:srgbClr val="0070C0"/>
                </a:solidFill>
                <a:latin typeface="Poppins" panose="020B0604020202020204"/>
              </a:rPr>
              <a:t> </a:t>
            </a:r>
            <a:r>
              <a:rPr lang="en-GB" dirty="0">
                <a:solidFill>
                  <a:srgbClr val="FF0000"/>
                </a:solidFill>
                <a:latin typeface="Poppins" panose="020B0604020202020204"/>
              </a:rPr>
              <a:t>Manager</a:t>
            </a:r>
          </a:p>
        </p:txBody>
      </p:sp>
      <p:sp>
        <p:nvSpPr>
          <p:cNvPr id="6" name="Text Placeholder 5">
            <a:extLst>
              <a:ext uri="{FF2B5EF4-FFF2-40B4-BE49-F238E27FC236}">
                <a16:creationId xmlns:a16="http://schemas.microsoft.com/office/drawing/2014/main" id="{E26FCDBA-DF31-4BAB-8B12-BD246E6BD5A4}"/>
              </a:ext>
            </a:extLst>
          </p:cNvPr>
          <p:cNvSpPr>
            <a:spLocks noGrp="1"/>
          </p:cNvSpPr>
          <p:nvPr>
            <p:ph type="body" idx="1"/>
          </p:nvPr>
        </p:nvSpPr>
        <p:spPr>
          <a:xfrm>
            <a:off x="184972" y="2263949"/>
            <a:ext cx="4312400" cy="3816429"/>
          </a:xfrm>
        </p:spPr>
        <p:txBody>
          <a:bodyPr/>
          <a:lstStyle/>
          <a:p>
            <a:pPr marL="0"/>
            <a:r>
              <a:rPr lang="it-IT" sz="2800" dirty="0">
                <a:solidFill>
                  <a:srgbClr val="0070C0"/>
                </a:solidFill>
                <a:latin typeface="Poppins" panose="020B0604020202020204"/>
              </a:rPr>
              <a:t>Le capacità imprenditoriali</a:t>
            </a:r>
          </a:p>
          <a:p>
            <a:pPr marL="0"/>
            <a:endParaRPr lang="it-IT" sz="2800" dirty="0">
              <a:solidFill>
                <a:srgbClr val="0070C0"/>
              </a:solidFill>
              <a:latin typeface="Poppins" panose="020B0604020202020204"/>
            </a:endParaRPr>
          </a:p>
          <a:p>
            <a:pPr marL="0"/>
            <a:endParaRPr lang="it-IT" sz="2800" dirty="0">
              <a:solidFill>
                <a:srgbClr val="0070C0"/>
              </a:solidFill>
              <a:latin typeface="Poppins" panose="020B0604020202020204"/>
            </a:endParaRPr>
          </a:p>
          <a:p>
            <a:pPr marL="0"/>
            <a:endParaRPr lang="it-IT" sz="2800" dirty="0">
              <a:solidFill>
                <a:srgbClr val="0070C0"/>
              </a:solidFill>
              <a:latin typeface="Poppins" panose="020B0604020202020204"/>
            </a:endParaRPr>
          </a:p>
          <a:p>
            <a:pPr marL="0"/>
            <a:r>
              <a:rPr lang="it-IT" sz="2800" dirty="0">
                <a:solidFill>
                  <a:srgbClr val="0070C0"/>
                </a:solidFill>
                <a:latin typeface="Poppins" panose="020B0604020202020204"/>
              </a:rPr>
              <a:t>Legate al rischio d'impresa, all'innovazione e </a:t>
            </a:r>
          </a:p>
          <a:p>
            <a:pPr marL="0"/>
            <a:r>
              <a:rPr lang="it-IT" sz="2800" dirty="0">
                <a:solidFill>
                  <a:srgbClr val="0070C0"/>
                </a:solidFill>
                <a:latin typeface="Poppins" panose="020B0604020202020204"/>
              </a:rPr>
              <a:t>alla visione </a:t>
            </a:r>
          </a:p>
          <a:p>
            <a:pPr marL="0"/>
            <a:r>
              <a:rPr lang="it-IT" sz="2800" dirty="0">
                <a:solidFill>
                  <a:srgbClr val="0070C0"/>
                </a:solidFill>
                <a:latin typeface="Poppins" panose="020B0604020202020204"/>
              </a:rPr>
              <a:t>del cambiamento </a:t>
            </a:r>
          </a:p>
          <a:p>
            <a:endParaRPr lang="en-GB" sz="2400" dirty="0"/>
          </a:p>
        </p:txBody>
      </p:sp>
      <p:sp>
        <p:nvSpPr>
          <p:cNvPr id="7" name="Text Placeholder 6">
            <a:extLst>
              <a:ext uri="{FF2B5EF4-FFF2-40B4-BE49-F238E27FC236}">
                <a16:creationId xmlns:a16="http://schemas.microsoft.com/office/drawing/2014/main" id="{F09FC565-4167-47EF-ACF8-F68BFF008C00}"/>
              </a:ext>
            </a:extLst>
          </p:cNvPr>
          <p:cNvSpPr>
            <a:spLocks noGrp="1"/>
          </p:cNvSpPr>
          <p:nvPr>
            <p:ph type="body" idx="2"/>
          </p:nvPr>
        </p:nvSpPr>
        <p:spPr>
          <a:xfrm>
            <a:off x="4722828" y="2263949"/>
            <a:ext cx="4236200" cy="4370427"/>
          </a:xfrm>
        </p:spPr>
        <p:txBody>
          <a:bodyPr/>
          <a:lstStyle/>
          <a:p>
            <a:pPr marL="0" algn="r"/>
            <a:r>
              <a:rPr lang="it-IT" sz="2800" dirty="0">
                <a:solidFill>
                  <a:srgbClr val="FF0000"/>
                </a:solidFill>
                <a:latin typeface="Poppins" panose="020B0604020202020204"/>
              </a:rPr>
              <a:t>Le capacità manageriali</a:t>
            </a:r>
          </a:p>
          <a:p>
            <a:pPr marL="0"/>
            <a:endParaRPr lang="it-IT" sz="2800" dirty="0">
              <a:solidFill>
                <a:srgbClr val="FF0000"/>
              </a:solidFill>
              <a:latin typeface="Poppins" panose="020B0604020202020204"/>
            </a:endParaRPr>
          </a:p>
          <a:p>
            <a:pPr marL="0"/>
            <a:endParaRPr lang="it-IT" sz="2800" dirty="0">
              <a:solidFill>
                <a:srgbClr val="FF0000"/>
              </a:solidFill>
              <a:latin typeface="Poppins" panose="020B0604020202020204"/>
            </a:endParaRPr>
          </a:p>
          <a:p>
            <a:pPr marL="0"/>
            <a:endParaRPr lang="it-IT" sz="2800" dirty="0">
              <a:solidFill>
                <a:srgbClr val="FF0000"/>
              </a:solidFill>
              <a:latin typeface="Poppins" panose="020B0604020202020204"/>
            </a:endParaRPr>
          </a:p>
          <a:p>
            <a:pPr marL="0" algn="r"/>
            <a:r>
              <a:rPr lang="it-IT" sz="2400" dirty="0">
                <a:solidFill>
                  <a:srgbClr val="FF0000"/>
                </a:solidFill>
                <a:latin typeface="Poppins" panose="020B0604020202020204"/>
              </a:rPr>
              <a:t>Associate all'organizzazione dei fattori produttivi </a:t>
            </a:r>
          </a:p>
          <a:p>
            <a:pPr marL="0" algn="r"/>
            <a:r>
              <a:rPr lang="it-IT" sz="2400" dirty="0">
                <a:solidFill>
                  <a:srgbClr val="FF0000"/>
                </a:solidFill>
                <a:latin typeface="Poppins" panose="020B0604020202020204"/>
              </a:rPr>
              <a:t>e ad una razionale gestione dei processi interni</a:t>
            </a:r>
          </a:p>
        </p:txBody>
      </p:sp>
      <p:sp>
        <p:nvSpPr>
          <p:cNvPr id="8" name="Google Shape;124;p3">
            <a:extLst>
              <a:ext uri="{FF2B5EF4-FFF2-40B4-BE49-F238E27FC236}">
                <a16:creationId xmlns:a16="http://schemas.microsoft.com/office/drawing/2014/main" id="{4D5D320B-9487-418B-9C40-C04614C83D74}"/>
              </a:ext>
            </a:extLst>
          </p:cNvPr>
          <p:cNvSpPr/>
          <p:nvPr/>
        </p:nvSpPr>
        <p:spPr>
          <a:xfrm>
            <a:off x="1309279" y="3102668"/>
            <a:ext cx="576580" cy="1069495"/>
          </a:xfrm>
          <a:custGeom>
            <a:avLst/>
            <a:gdLst/>
            <a:ahLst/>
            <a:cxnLst/>
            <a:rect l="l" t="t" r="r" b="b"/>
            <a:pathLst>
              <a:path w="576580" h="576579" extrusionOk="0">
                <a:moveTo>
                  <a:pt x="432054" y="0"/>
                </a:moveTo>
                <a:lnTo>
                  <a:pt x="144018" y="0"/>
                </a:lnTo>
                <a:lnTo>
                  <a:pt x="144018" y="432054"/>
                </a:lnTo>
                <a:lnTo>
                  <a:pt x="0" y="432054"/>
                </a:lnTo>
                <a:lnTo>
                  <a:pt x="288036" y="576072"/>
                </a:lnTo>
                <a:lnTo>
                  <a:pt x="576072" y="432054"/>
                </a:lnTo>
                <a:lnTo>
                  <a:pt x="432054" y="432054"/>
                </a:lnTo>
                <a:lnTo>
                  <a:pt x="432054" y="0"/>
                </a:lnTo>
                <a:close/>
              </a:path>
            </a:pathLst>
          </a:custGeom>
          <a:solidFill>
            <a:srgbClr val="0070C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124;p3">
            <a:extLst>
              <a:ext uri="{FF2B5EF4-FFF2-40B4-BE49-F238E27FC236}">
                <a16:creationId xmlns:a16="http://schemas.microsoft.com/office/drawing/2014/main" id="{A313A26B-2604-400D-92CE-13ECFF3A497C}"/>
              </a:ext>
            </a:extLst>
          </p:cNvPr>
          <p:cNvSpPr/>
          <p:nvPr/>
        </p:nvSpPr>
        <p:spPr>
          <a:xfrm>
            <a:off x="7546431" y="3209365"/>
            <a:ext cx="576580" cy="1069495"/>
          </a:xfrm>
          <a:custGeom>
            <a:avLst/>
            <a:gdLst/>
            <a:ahLst/>
            <a:cxnLst/>
            <a:rect l="l" t="t" r="r" b="b"/>
            <a:pathLst>
              <a:path w="576580" h="576579" extrusionOk="0">
                <a:moveTo>
                  <a:pt x="432054" y="0"/>
                </a:moveTo>
                <a:lnTo>
                  <a:pt x="144018" y="0"/>
                </a:lnTo>
                <a:lnTo>
                  <a:pt x="144018" y="432054"/>
                </a:lnTo>
                <a:lnTo>
                  <a:pt x="0" y="432054"/>
                </a:lnTo>
                <a:lnTo>
                  <a:pt x="288036" y="576072"/>
                </a:lnTo>
                <a:lnTo>
                  <a:pt x="576072" y="432054"/>
                </a:lnTo>
                <a:lnTo>
                  <a:pt x="432054" y="432054"/>
                </a:lnTo>
                <a:lnTo>
                  <a:pt x="432054"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6551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5"/>
          <p:cNvSpPr/>
          <p:nvPr/>
        </p:nvSpPr>
        <p:spPr>
          <a:xfrm>
            <a:off x="283882" y="1450011"/>
            <a:ext cx="8577314" cy="480127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Font typeface="Arial" panose="020B0604020202020204" pitchFamily="34" charset="0"/>
              <a:buChar char="•"/>
            </a:pPr>
            <a:r>
              <a:rPr lang="it-IT" sz="1800" b="1" dirty="0">
                <a:solidFill>
                  <a:srgbClr val="0070C0"/>
                </a:solidFill>
                <a:latin typeface="Poppins" panose="020B0604020202020204"/>
                <a:ea typeface="Roboto Slab"/>
                <a:cs typeface="Roboto Slab"/>
                <a:sym typeface="Roboto Slab"/>
              </a:rPr>
              <a:t>Curiosità</a:t>
            </a:r>
            <a:r>
              <a:rPr lang="it-IT" sz="1800" dirty="0">
                <a:solidFill>
                  <a:srgbClr val="0070C0"/>
                </a:solidFill>
                <a:latin typeface="Poppins" panose="020B0604020202020204"/>
                <a:ea typeface="Roboto Slab"/>
                <a:cs typeface="Roboto Slab"/>
                <a:sym typeface="Roboto Slab"/>
              </a:rPr>
              <a:t>: un imprenditore è generalmente una persona che ha una grande curiosità </a:t>
            </a:r>
            <a:r>
              <a:rPr lang="it-IT" sz="1800" b="1" dirty="0">
                <a:solidFill>
                  <a:srgbClr val="0070C0"/>
                </a:solidFill>
                <a:latin typeface="Poppins" panose="020B0604020202020204"/>
                <a:ea typeface="Roboto Slab"/>
                <a:cs typeface="Roboto Slab"/>
                <a:sym typeface="Roboto Slab"/>
              </a:rPr>
              <a:t>per il mondo, le idee, le persone, le invenzioni, i prodotti, le novità</a:t>
            </a:r>
            <a:r>
              <a:rPr lang="it-IT" sz="1800" dirty="0">
                <a:solidFill>
                  <a:srgbClr val="0070C0"/>
                </a:solidFill>
                <a:latin typeface="Poppins" panose="020B0604020202020204"/>
                <a:ea typeface="Roboto Slab"/>
                <a:cs typeface="Roboto Slab"/>
                <a:sym typeface="Roboto Slab"/>
              </a:rPr>
              <a:t>, etc. È sempre attratto dal nuovo ed alla ricerca di idee da creare, sviluppare, imitare, personalizzare.</a:t>
            </a:r>
            <a:endParaRPr dirty="0">
              <a:solidFill>
                <a:srgbClr val="0070C0"/>
              </a:solidFill>
              <a:latin typeface="Poppins" panose="020B0604020202020204"/>
            </a:endParaRPr>
          </a:p>
          <a:p>
            <a:pPr marL="285750" marR="0" lvl="0" indent="-285750" algn="l" rtl="0">
              <a:spcBef>
                <a:spcPts val="0"/>
              </a:spcBef>
              <a:spcAft>
                <a:spcPts val="0"/>
              </a:spcAft>
              <a:buClr>
                <a:srgbClr val="565555"/>
              </a:buClr>
              <a:buSzPts val="1800"/>
              <a:buFont typeface="Arial" panose="020B0604020202020204" pitchFamily="34" charset="0"/>
              <a:buChar char="•"/>
            </a:pPr>
            <a:r>
              <a:rPr lang="it-IT" sz="1800" b="1" dirty="0">
                <a:solidFill>
                  <a:srgbClr val="0070C0"/>
                </a:solidFill>
                <a:latin typeface="Poppins" panose="020B0604020202020204"/>
                <a:ea typeface="Roboto Slab"/>
                <a:cs typeface="Roboto Slab"/>
                <a:sym typeface="Roboto Slab"/>
              </a:rPr>
              <a:t>Visione</a:t>
            </a:r>
            <a:r>
              <a:rPr lang="it-IT" sz="1800" dirty="0">
                <a:solidFill>
                  <a:srgbClr val="0070C0"/>
                </a:solidFill>
                <a:latin typeface="Poppins" panose="020B0604020202020204"/>
                <a:ea typeface="Roboto Slab"/>
                <a:cs typeface="Roboto Slab"/>
                <a:sym typeface="Roboto Slab"/>
              </a:rPr>
              <a:t>: un imprenditore </a:t>
            </a:r>
            <a:r>
              <a:rPr lang="it-IT" sz="1800" b="1" dirty="0">
                <a:solidFill>
                  <a:srgbClr val="0070C0"/>
                </a:solidFill>
                <a:latin typeface="Poppins" panose="020B0604020202020204"/>
                <a:ea typeface="Roboto Slab"/>
                <a:cs typeface="Roboto Slab"/>
                <a:sym typeface="Roboto Slab"/>
              </a:rPr>
              <a:t>è un costruttore di visioni, di sogni, di ambizioni.</a:t>
            </a:r>
            <a:r>
              <a:rPr lang="it-IT" sz="1800" dirty="0">
                <a:solidFill>
                  <a:srgbClr val="0070C0"/>
                </a:solidFill>
                <a:latin typeface="Poppins" panose="020B0604020202020204"/>
                <a:ea typeface="Roboto Slab"/>
                <a:cs typeface="Roboto Slab"/>
                <a:sym typeface="Roboto Slab"/>
              </a:rPr>
              <a:t> Spesso vede quello che gli altri ignorano o non ritengono possibile e riesce davvero a dare forma e vita a queste sue visioni. Le immagina, le scrive, le disegna, le racconta. Partendo da questa sua visione </a:t>
            </a:r>
            <a:r>
              <a:rPr lang="it-IT" sz="1800" b="1" dirty="0">
                <a:solidFill>
                  <a:srgbClr val="0070C0"/>
                </a:solidFill>
                <a:latin typeface="Poppins" panose="020B0604020202020204"/>
                <a:ea typeface="Roboto Slab"/>
                <a:cs typeface="Roboto Slab"/>
                <a:sym typeface="Roboto Slab"/>
              </a:rPr>
              <a:t>è capace di indicare la rotta agli altri</a:t>
            </a:r>
            <a:r>
              <a:rPr lang="it-IT" sz="1800" dirty="0">
                <a:solidFill>
                  <a:srgbClr val="0070C0"/>
                </a:solidFill>
                <a:latin typeface="Poppins" panose="020B0604020202020204"/>
                <a:ea typeface="Roboto Slab"/>
                <a:cs typeface="Roboto Slab"/>
                <a:sym typeface="Roboto Slab"/>
              </a:rPr>
              <a:t>.</a:t>
            </a:r>
            <a:endParaRPr dirty="0">
              <a:solidFill>
                <a:srgbClr val="0070C0"/>
              </a:solidFill>
              <a:latin typeface="Poppins" panose="020B0604020202020204"/>
            </a:endParaRPr>
          </a:p>
          <a:p>
            <a:pPr marL="285750" marR="0" lvl="0" indent="-285750" algn="l" rtl="0">
              <a:spcBef>
                <a:spcPts val="0"/>
              </a:spcBef>
              <a:spcAft>
                <a:spcPts val="0"/>
              </a:spcAft>
              <a:buClr>
                <a:srgbClr val="565555"/>
              </a:buClr>
              <a:buSzPts val="1800"/>
              <a:buFont typeface="Arial" panose="020B0604020202020204" pitchFamily="34" charset="0"/>
              <a:buChar char="•"/>
            </a:pPr>
            <a:r>
              <a:rPr lang="it-IT" sz="1800" b="1" dirty="0">
                <a:solidFill>
                  <a:srgbClr val="0070C0"/>
                </a:solidFill>
                <a:latin typeface="Poppins" panose="020B0604020202020204"/>
                <a:ea typeface="Roboto Slab"/>
                <a:cs typeface="Roboto Slab"/>
                <a:sym typeface="Roboto Slab"/>
              </a:rPr>
              <a:t>Passione</a:t>
            </a:r>
            <a:r>
              <a:rPr lang="it-IT" sz="1800" dirty="0">
                <a:solidFill>
                  <a:srgbClr val="0070C0"/>
                </a:solidFill>
                <a:latin typeface="Poppins" panose="020B0604020202020204"/>
                <a:ea typeface="Roboto Slab"/>
                <a:cs typeface="Roboto Slab"/>
                <a:sym typeface="Roboto Slab"/>
              </a:rPr>
              <a:t>: un imprenditore è solitamente una persona che coltiva da sempre una sua specifica passione per una materia, un settore, una tipologia di prodotto, una tecnica, un mercato, etc. Si tratta solitamente di una </a:t>
            </a:r>
            <a:r>
              <a:rPr lang="it-IT" sz="1800" b="1" dirty="0">
                <a:solidFill>
                  <a:srgbClr val="0070C0"/>
                </a:solidFill>
                <a:latin typeface="Poppins" panose="020B0604020202020204"/>
                <a:ea typeface="Roboto Slab"/>
                <a:cs typeface="Roboto Slab"/>
                <a:sym typeface="Roboto Slab"/>
              </a:rPr>
              <a:t>passione che rappresenta anche uno degli elementi su cui si ancora il DNA dell’impresa che ha fondato, ereditato o di cui fa parte. </a:t>
            </a:r>
            <a:r>
              <a:rPr lang="it-IT" sz="1800" dirty="0">
                <a:solidFill>
                  <a:srgbClr val="0070C0"/>
                </a:solidFill>
                <a:latin typeface="Poppins" panose="020B0604020202020204"/>
                <a:ea typeface="Roboto Slab"/>
                <a:cs typeface="Roboto Slab"/>
                <a:sym typeface="Roboto Slab"/>
              </a:rPr>
              <a:t>Ed è una passione che sprizza da tutti i pori, che è facilmente </a:t>
            </a:r>
            <a:r>
              <a:rPr lang="it-IT" sz="1800" b="1" dirty="0">
                <a:solidFill>
                  <a:srgbClr val="0070C0"/>
                </a:solidFill>
                <a:latin typeface="Poppins" panose="020B0604020202020204"/>
                <a:ea typeface="Roboto Slab"/>
                <a:cs typeface="Roboto Slab"/>
                <a:sym typeface="Roboto Slab"/>
              </a:rPr>
              <a:t>visibile</a:t>
            </a:r>
            <a:r>
              <a:rPr lang="it-IT" sz="1800" dirty="0">
                <a:solidFill>
                  <a:srgbClr val="0070C0"/>
                </a:solidFill>
                <a:latin typeface="Poppins" panose="020B0604020202020204"/>
                <a:ea typeface="Roboto Slab"/>
                <a:cs typeface="Roboto Slab"/>
                <a:sym typeface="Roboto Slab"/>
              </a:rPr>
              <a:t> per gli altri e che rappresenta anche la sua </a:t>
            </a:r>
            <a:r>
              <a:rPr lang="it-IT" sz="1800" b="1" dirty="0">
                <a:solidFill>
                  <a:srgbClr val="0070C0"/>
                </a:solidFill>
                <a:latin typeface="Poppins" panose="020B0604020202020204"/>
                <a:ea typeface="Roboto Slab"/>
                <a:cs typeface="Roboto Slab"/>
                <a:sym typeface="Roboto Slab"/>
              </a:rPr>
              <a:t>principale fonte di competenza </a:t>
            </a:r>
            <a:r>
              <a:rPr lang="it-IT" sz="1800" dirty="0">
                <a:solidFill>
                  <a:srgbClr val="0070C0"/>
                </a:solidFill>
                <a:latin typeface="Poppins" panose="020B0604020202020204"/>
                <a:ea typeface="Roboto Slab"/>
                <a:cs typeface="Roboto Slab"/>
                <a:sym typeface="Roboto Slab"/>
              </a:rPr>
              <a:t>e di </a:t>
            </a:r>
            <a:r>
              <a:rPr lang="it-IT" sz="1800" b="1" dirty="0">
                <a:solidFill>
                  <a:srgbClr val="0070C0"/>
                </a:solidFill>
                <a:latin typeface="Poppins" panose="020B0604020202020204"/>
                <a:ea typeface="Roboto Slab"/>
                <a:cs typeface="Roboto Slab"/>
                <a:sym typeface="Roboto Slab"/>
              </a:rPr>
              <a:t>distinzione</a:t>
            </a:r>
            <a:r>
              <a:rPr lang="it-IT" sz="1800" dirty="0">
                <a:solidFill>
                  <a:srgbClr val="0070C0"/>
                </a:solidFill>
                <a:latin typeface="Poppins" panose="020B0604020202020204"/>
                <a:ea typeface="Roboto Slab"/>
                <a:cs typeface="Roboto Slab"/>
                <a:sym typeface="Roboto Slab"/>
              </a:rPr>
              <a:t> rispetto agli altri.</a:t>
            </a:r>
            <a:endParaRPr sz="1800" b="0" i="0" u="none" strike="noStrike" dirty="0">
              <a:solidFill>
                <a:srgbClr val="0070C0"/>
              </a:solidFill>
              <a:latin typeface="Poppins" panose="020B0604020202020204"/>
              <a:ea typeface="Roboto Slab"/>
              <a:cs typeface="Roboto Slab"/>
              <a:sym typeface="Roboto Slab"/>
            </a:endParaRPr>
          </a:p>
        </p:txBody>
      </p:sp>
      <p:sp>
        <p:nvSpPr>
          <p:cNvPr id="148" name="Google Shape;148;p5"/>
          <p:cNvSpPr txBox="1"/>
          <p:nvPr/>
        </p:nvSpPr>
        <p:spPr>
          <a:xfrm>
            <a:off x="283882" y="289262"/>
            <a:ext cx="8860118" cy="10771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dirty="0">
                <a:solidFill>
                  <a:srgbClr val="0070C0"/>
                </a:solidFill>
                <a:latin typeface="Poppins" panose="020B0604020202020204"/>
                <a:ea typeface="Oswald"/>
                <a:cs typeface="Oswald"/>
                <a:sym typeface="Oswald"/>
              </a:rPr>
              <a:t>L'imprenditore è un visionario coraggioso e appassionato</a:t>
            </a:r>
            <a:endParaRPr sz="1600" dirty="0">
              <a:solidFill>
                <a:srgbClr val="0070C0"/>
              </a:solidFill>
              <a:latin typeface="Poppins"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5"/>
          <p:cNvSpPr/>
          <p:nvPr/>
        </p:nvSpPr>
        <p:spPr>
          <a:xfrm>
            <a:off x="425284" y="1166862"/>
            <a:ext cx="8577314" cy="4308831"/>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endParaRPr lang="it-IT" sz="1800" b="1" dirty="0">
              <a:solidFill>
                <a:schemeClr val="tx1"/>
              </a:solidFill>
              <a:latin typeface="+mj-lt"/>
              <a:ea typeface="Roboto Slab"/>
              <a:cs typeface="Roboto Slab"/>
              <a:sym typeface="Roboto Slab"/>
            </a:endParaRPr>
          </a:p>
          <a:p>
            <a:pPr marL="285750" lvl="0" indent="-285750">
              <a:buFont typeface="Arial" panose="020B0604020202020204" pitchFamily="34" charset="0"/>
              <a:buChar char="•"/>
            </a:pPr>
            <a:r>
              <a:rPr lang="it-IT" sz="1600" b="1" dirty="0">
                <a:solidFill>
                  <a:srgbClr val="0070C0"/>
                </a:solidFill>
                <a:latin typeface="Poppins" panose="020B0604020202020204"/>
                <a:ea typeface="Roboto Slab"/>
                <a:cs typeface="Roboto Slab"/>
                <a:sym typeface="Roboto Slab"/>
              </a:rPr>
              <a:t>Coraggio</a:t>
            </a:r>
            <a:r>
              <a:rPr lang="it-IT" sz="1600" dirty="0">
                <a:solidFill>
                  <a:srgbClr val="0070C0"/>
                </a:solidFill>
                <a:latin typeface="Poppins" panose="020B0604020202020204"/>
                <a:ea typeface="Roboto Slab"/>
                <a:cs typeface="Roboto Slab"/>
                <a:sym typeface="Roboto Slab"/>
              </a:rPr>
              <a:t>: un imprenditore ha il coraggio di rischiare ed investire energie e risorse per realizzare la sua visione. Come tutti i coraggiosi vuol dire che ha la capacità di vedere ed affrontare le sue paure, i dubbi, gli scetticismi, gli ostacoli e di andare avanti comunque prendendo delle decisioni.</a:t>
            </a:r>
          </a:p>
          <a:p>
            <a:pPr marL="285750" lvl="0" indent="-285750">
              <a:buFont typeface="Arial" panose="020B0604020202020204" pitchFamily="34" charset="0"/>
              <a:buChar char="•"/>
            </a:pPr>
            <a:r>
              <a:rPr lang="it-IT" sz="1600" b="1" dirty="0">
                <a:solidFill>
                  <a:srgbClr val="0070C0"/>
                </a:solidFill>
                <a:latin typeface="Poppins" panose="020B0604020202020204"/>
                <a:ea typeface="Roboto Slab"/>
                <a:cs typeface="Roboto Slab"/>
                <a:sym typeface="Roboto Slab"/>
              </a:rPr>
              <a:t>Tenacia</a:t>
            </a:r>
            <a:r>
              <a:rPr lang="it-IT" sz="1600" dirty="0">
                <a:solidFill>
                  <a:srgbClr val="0070C0"/>
                </a:solidFill>
                <a:latin typeface="Poppins" panose="020B0604020202020204"/>
                <a:ea typeface="Roboto Slab"/>
                <a:cs typeface="Roboto Slab"/>
                <a:sym typeface="Roboto Slab"/>
              </a:rPr>
              <a:t>: un imprenditore solitamente ha un mix molto equilibrato di inquietudine e tenacia. Spesso appare impaziente, perché vorrebbe vedere subito concretizzata la sua visione, ma è capace anche di contenere questa sua impazienza e di sviluppare in se stesso e negli altri la necessaria tenacia, determinazione, caparbietà e di sostenerle nel tempo</a:t>
            </a:r>
          </a:p>
          <a:p>
            <a:pPr marL="285750" lvl="0" indent="-285750">
              <a:buFont typeface="Arial" panose="020B0604020202020204" pitchFamily="34" charset="0"/>
              <a:buChar char="•"/>
            </a:pPr>
            <a:r>
              <a:rPr lang="it-IT" sz="1600" b="1" dirty="0">
                <a:solidFill>
                  <a:srgbClr val="0070C0"/>
                </a:solidFill>
                <a:latin typeface="Poppins" panose="020B0604020202020204"/>
                <a:ea typeface="Roboto Slab"/>
                <a:cs typeface="Roboto Slab"/>
                <a:sym typeface="Roboto Slab"/>
              </a:rPr>
              <a:t>Energia</a:t>
            </a:r>
            <a:r>
              <a:rPr lang="it-IT" sz="1600" dirty="0">
                <a:solidFill>
                  <a:srgbClr val="0070C0"/>
                </a:solidFill>
                <a:latin typeface="Poppins" panose="020B0604020202020204"/>
                <a:ea typeface="Roboto Slab"/>
                <a:cs typeface="Roboto Slab"/>
                <a:sym typeface="Roboto Slab"/>
              </a:rPr>
              <a:t>: un imprenditore ha solitamente una energia fuori dal comune, che si può esprimere in diverse forme, ma che attesta sempre la voglia di fare, di conoscere, di sperimentare.</a:t>
            </a:r>
          </a:p>
          <a:p>
            <a:pPr marL="285750" lvl="0" indent="-285750">
              <a:buFont typeface="Arial" panose="020B0604020202020204" pitchFamily="34" charset="0"/>
              <a:buChar char="•"/>
            </a:pPr>
            <a:r>
              <a:rPr lang="it-IT" sz="1600" b="1" dirty="0">
                <a:solidFill>
                  <a:srgbClr val="0070C0"/>
                </a:solidFill>
                <a:latin typeface="Poppins" panose="020B0604020202020204"/>
                <a:ea typeface="Roboto Slab"/>
                <a:cs typeface="Roboto Slab"/>
                <a:sym typeface="Roboto Slab"/>
              </a:rPr>
              <a:t>Ottimismo</a:t>
            </a:r>
            <a:r>
              <a:rPr lang="it-IT" sz="1600" dirty="0">
                <a:solidFill>
                  <a:srgbClr val="0070C0"/>
                </a:solidFill>
                <a:latin typeface="Poppins" panose="020B0604020202020204"/>
                <a:ea typeface="Roboto Slab"/>
                <a:cs typeface="Roboto Slab"/>
                <a:sym typeface="Roboto Slab"/>
              </a:rPr>
              <a:t>: un imprenditore, per essere visionario e coraggioso, ha necessariamente una visione più ottimista della vita, cioè la visione di chi pensa che il futuro sia incerto e come tale ci siano spazi di manovra, spazi di possibilità da conquistare.</a:t>
            </a:r>
          </a:p>
        </p:txBody>
      </p:sp>
      <p:sp>
        <p:nvSpPr>
          <p:cNvPr id="148" name="Google Shape;148;p5"/>
          <p:cNvSpPr txBox="1"/>
          <p:nvPr/>
        </p:nvSpPr>
        <p:spPr>
          <a:xfrm>
            <a:off x="283882" y="289262"/>
            <a:ext cx="8860118" cy="10771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dirty="0">
                <a:solidFill>
                  <a:srgbClr val="0070C0"/>
                </a:solidFill>
                <a:latin typeface="Poppins" panose="020B0604020202020204"/>
                <a:ea typeface="Oswald"/>
                <a:cs typeface="Oswald"/>
                <a:sym typeface="Oswald"/>
              </a:rPr>
              <a:t>L'imprenditore è un visionario coraggioso e appassionato</a:t>
            </a:r>
            <a:endParaRPr sz="1600" dirty="0">
              <a:solidFill>
                <a:srgbClr val="0070C0"/>
              </a:solidFill>
              <a:latin typeface="Poppins" panose="020B0604020202020204"/>
            </a:endParaRPr>
          </a:p>
        </p:txBody>
      </p:sp>
      <p:sp>
        <p:nvSpPr>
          <p:cNvPr id="4" name="Google Shape;155;p6">
            <a:extLst>
              <a:ext uri="{FF2B5EF4-FFF2-40B4-BE49-F238E27FC236}">
                <a16:creationId xmlns:a16="http://schemas.microsoft.com/office/drawing/2014/main" id="{F422E347-847F-4F04-B378-700C23BB7041}"/>
              </a:ext>
            </a:extLst>
          </p:cNvPr>
          <p:cNvSpPr/>
          <p:nvPr/>
        </p:nvSpPr>
        <p:spPr>
          <a:xfrm>
            <a:off x="4800600" y="5715641"/>
            <a:ext cx="3698400"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2000" i="1" dirty="0">
                <a:solidFill>
                  <a:srgbClr val="FF0000"/>
                </a:solidFill>
                <a:latin typeface="Poppins" panose="020B0604020202020204"/>
                <a:ea typeface="Roboto Slab"/>
                <a:cs typeface="Roboto Slab"/>
                <a:sym typeface="Roboto Slab"/>
              </a:rPr>
              <a:t>“Imprenditori si nasce e si diventa”</a:t>
            </a:r>
            <a:endParaRPr sz="2000" dirty="0">
              <a:solidFill>
                <a:srgbClr val="FF0000"/>
              </a:solidFill>
              <a:latin typeface="Poppins" panose="020B0604020202020204"/>
              <a:ea typeface="Calibri"/>
              <a:cs typeface="Calibri"/>
              <a:sym typeface="Calibri"/>
            </a:endParaRPr>
          </a:p>
        </p:txBody>
      </p:sp>
    </p:spTree>
    <p:extLst>
      <p:ext uri="{BB962C8B-B14F-4D97-AF65-F5344CB8AC3E}">
        <p14:creationId xmlns:p14="http://schemas.microsoft.com/office/powerpoint/2010/main" val="1195190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
          <p:cNvSpPr/>
          <p:nvPr/>
        </p:nvSpPr>
        <p:spPr>
          <a:xfrm>
            <a:off x="200866" y="1280790"/>
            <a:ext cx="8742265" cy="5293716"/>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Responsabilità: </a:t>
            </a:r>
            <a:r>
              <a:rPr lang="it-IT" sz="1600" dirty="0">
                <a:solidFill>
                  <a:srgbClr val="0070C0"/>
                </a:solidFill>
                <a:latin typeface="Poppins" panose="020B0604020202020204"/>
                <a:ea typeface="Roboto Slab"/>
                <a:sym typeface="Calibri"/>
              </a:rPr>
              <a:t>un manager è responsabile di persone, risorse economiche, progetti, obiettivi, risultati ed è capace di esercitare questa responsabilità lavorando su tre piani: producendo e fornendo informazioni; assegnando attività agli altri ed organizzandone il lavoro; facendo direttamente azioni in prima persona per risolvere problemi. Responsabilità vuol dire anche sentirsi sempre coinvolto in prima persona per risolvere i problemi complessi che riguardano l’impresa anche al di fuori della specifica area di competenza.</a:t>
            </a:r>
            <a:endParaRPr sz="1600" b="1" dirty="0">
              <a:solidFill>
                <a:srgbClr val="0070C0"/>
              </a:solidFill>
              <a:latin typeface="Poppins" panose="020B0604020202020204"/>
              <a:ea typeface="Roboto Slab"/>
              <a:sym typeface="Calibri"/>
            </a:endParaRPr>
          </a:p>
          <a:p>
            <a:pPr marL="28575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Molteplicità: </a:t>
            </a:r>
            <a:r>
              <a:rPr lang="it-IT" sz="1600" dirty="0">
                <a:solidFill>
                  <a:srgbClr val="0070C0"/>
                </a:solidFill>
                <a:latin typeface="Poppins" panose="020B0604020202020204"/>
                <a:ea typeface="Roboto Slab"/>
                <a:sym typeface="Calibri"/>
              </a:rPr>
              <a:t>un manager efficace è capace di ricercare e gestire bene la molteplicità che si riferisce a numerosi aspetti. Molteplicità di persone con cui lavorare, di argomenti e problemi da affrontare, di conoscenze da esprimere, di attività da inserire nella propria giornata, di relazioni da gestire all’interno ed all’esterno della organizzazione, di lingue con cui saper parlare, di metodi e strumenti di lavoro da applicare. Molteplicità significa anche avere una visione organizzativa che va oltre la specifica area di competenza, la capacità di assumere anche altri punti di vista ed infine di riconoscere che vi sono sempre diversi modi di affrontare i problemi e trovare le soluzioni.</a:t>
            </a:r>
            <a:endParaRPr lang="it-IT" sz="1600" b="1" dirty="0">
              <a:solidFill>
                <a:srgbClr val="0070C0"/>
              </a:solidFill>
              <a:latin typeface="Poppins" panose="020B0604020202020204"/>
              <a:ea typeface="Roboto Slab"/>
              <a:sym typeface="Calibri"/>
            </a:endParaRPr>
          </a:p>
          <a:p>
            <a:pPr marL="28575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Analisi: </a:t>
            </a:r>
            <a:r>
              <a:rPr lang="it-IT" sz="1600" dirty="0">
                <a:solidFill>
                  <a:srgbClr val="0070C0"/>
                </a:solidFill>
                <a:latin typeface="Poppins" panose="020B0604020202020204"/>
                <a:ea typeface="Roboto Slab"/>
                <a:sym typeface="Calibri"/>
              </a:rPr>
              <a:t>un manager dedica parte del suo tempo ad acquisire informazioni, analizzarle, riflettere, sintetizzare l’esito di queste riflessioni, condividerle con gli altri e tradurle, successivamente, in obiettivi, decisioni ed azioni e lo fa utilizzando una specifica metodologia che sia chiara ed evidente anche agli altri.</a:t>
            </a:r>
            <a:endParaRPr lang="it-IT" sz="1600" dirty="0">
              <a:solidFill>
                <a:srgbClr val="0070C0"/>
              </a:solidFill>
              <a:latin typeface="Poppins" panose="020B0604020202020204"/>
              <a:ea typeface="Roboto Slab"/>
            </a:endParaRPr>
          </a:p>
          <a:p>
            <a:pPr marL="285750" indent="-285750">
              <a:buFont typeface="Arial" panose="020B0604020202020204" pitchFamily="34" charset="0"/>
              <a:buChar char="•"/>
            </a:pPr>
            <a:endParaRPr sz="1800" dirty="0">
              <a:solidFill>
                <a:schemeClr val="tx1"/>
              </a:solidFill>
              <a:latin typeface="+mj-lt"/>
              <a:ea typeface="Roboto Slab"/>
            </a:endParaRPr>
          </a:p>
        </p:txBody>
      </p:sp>
      <p:sp>
        <p:nvSpPr>
          <p:cNvPr id="163" name="Google Shape;163;p7"/>
          <p:cNvSpPr txBox="1"/>
          <p:nvPr/>
        </p:nvSpPr>
        <p:spPr>
          <a:xfrm>
            <a:off x="200867" y="252413"/>
            <a:ext cx="8742265" cy="10771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dirty="0">
                <a:solidFill>
                  <a:srgbClr val="0070C0"/>
                </a:solidFill>
                <a:latin typeface="Poppins" panose="020B0604020202020204"/>
                <a:sym typeface="Calibri"/>
              </a:rPr>
              <a:t>Il Manager è un responsabile multitasking orientato all'azione</a:t>
            </a:r>
            <a:endParaRPr sz="3200" b="1" dirty="0">
              <a:solidFill>
                <a:srgbClr val="0070C0"/>
              </a:solidFill>
              <a:latin typeface="Poppins"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
          <p:cNvSpPr/>
          <p:nvPr/>
        </p:nvSpPr>
        <p:spPr>
          <a:xfrm>
            <a:off x="200866" y="1495739"/>
            <a:ext cx="8742265" cy="4062610"/>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Valutazione: </a:t>
            </a:r>
            <a:r>
              <a:rPr lang="it-IT" sz="1600" dirty="0">
                <a:solidFill>
                  <a:srgbClr val="0070C0"/>
                </a:solidFill>
                <a:latin typeface="Poppins" panose="020B0604020202020204"/>
                <a:ea typeface="Roboto Slab"/>
                <a:sym typeface="Calibri"/>
              </a:rPr>
              <a:t>un manager esercita continuamente una attività di valutazione ed è capace di utilizzare tutto quello che accade, dentro e fuori l’organizzazione, per acquisire elementi utili alla valutazione. La valutazione riguarda sia i risultati conseguiti che le prestazioni ed il potenziale delle persone e si traduce anche nella capacità di condividere con altri gli esiti della valutazione, di motivarli adeguatamente e di generare apprendimenti per produrre cambiamenti.</a:t>
            </a:r>
          </a:p>
          <a:p>
            <a:pPr marL="28575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Pragmaticità: </a:t>
            </a:r>
            <a:r>
              <a:rPr lang="it-IT" sz="1600" dirty="0">
                <a:solidFill>
                  <a:srgbClr val="0070C0"/>
                </a:solidFill>
                <a:latin typeface="Poppins" panose="020B0604020202020204"/>
                <a:ea typeface="Roboto Slab"/>
                <a:sym typeface="Calibri"/>
              </a:rPr>
              <a:t>un manager è importante che abbia un forte orientamento all’azione ed una capacità di tradurre sempre le analisi e le decisioni conseguenti in piani di attività concreti, fattibili e sostenibili cui assegnare persone, tempi, indicatori di risultato.</a:t>
            </a:r>
          </a:p>
          <a:p>
            <a:pPr marL="28575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Proattività: </a:t>
            </a:r>
            <a:r>
              <a:rPr lang="it-IT" sz="1600" dirty="0">
                <a:solidFill>
                  <a:srgbClr val="0070C0"/>
                </a:solidFill>
                <a:latin typeface="Poppins" panose="020B0604020202020204"/>
                <a:ea typeface="Roboto Slab"/>
                <a:sym typeface="Calibri"/>
              </a:rPr>
              <a:t>un manager ha uno spiccato orientamento per trovare soluzioni e per proporle con spirito fortemente proattivo, senza aspettare, dunque, di essere sollecitato da altri, bensì essendo capace di creare o trovare le condizioni giuste per comunicare e candidare le proprie idee e soluzioni.</a:t>
            </a:r>
          </a:p>
          <a:p>
            <a:pPr marL="28575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Decisione: </a:t>
            </a:r>
            <a:r>
              <a:rPr lang="it-IT" sz="1600" dirty="0">
                <a:solidFill>
                  <a:srgbClr val="0070C0"/>
                </a:solidFill>
                <a:latin typeface="Poppins" panose="020B0604020202020204"/>
                <a:ea typeface="Roboto Slab"/>
                <a:sym typeface="Calibri"/>
              </a:rPr>
              <a:t>un manager è capace di prendere delle decisioni su: le priorità e le modalità di lavoro, dove e come allocare le risorse economiche e finanziarie, a quali persone delegare poteri e attività, quale soluzione scegliere per risolvere determinati problemi, come e fin dove negoziare.</a:t>
            </a:r>
          </a:p>
          <a:p>
            <a:pPr marL="285750" indent="-285750">
              <a:buFont typeface="Arial" panose="020B0604020202020204" pitchFamily="34" charset="0"/>
              <a:buChar char="•"/>
            </a:pPr>
            <a:endParaRPr sz="1800" dirty="0">
              <a:solidFill>
                <a:schemeClr val="tx1"/>
              </a:solidFill>
              <a:latin typeface="+mj-lt"/>
              <a:ea typeface="Roboto Slab"/>
            </a:endParaRPr>
          </a:p>
        </p:txBody>
      </p:sp>
      <p:sp>
        <p:nvSpPr>
          <p:cNvPr id="163" name="Google Shape;163;p7"/>
          <p:cNvSpPr txBox="1"/>
          <p:nvPr/>
        </p:nvSpPr>
        <p:spPr>
          <a:xfrm>
            <a:off x="200867" y="252413"/>
            <a:ext cx="8742265" cy="10771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dirty="0">
                <a:solidFill>
                  <a:srgbClr val="0070C0"/>
                </a:solidFill>
                <a:latin typeface="Poppins" panose="020B0604020202020204"/>
                <a:sym typeface="Calibri"/>
              </a:rPr>
              <a:t>Il Manager è un responsabile multitasking orientato all'azione</a:t>
            </a:r>
            <a:endParaRPr sz="3200" b="1" dirty="0">
              <a:solidFill>
                <a:srgbClr val="0070C0"/>
              </a:solidFill>
              <a:latin typeface="Poppins" panose="020B0604020202020204"/>
            </a:endParaRPr>
          </a:p>
        </p:txBody>
      </p:sp>
      <p:sp>
        <p:nvSpPr>
          <p:cNvPr id="4" name="Google Shape;170;p8">
            <a:extLst>
              <a:ext uri="{FF2B5EF4-FFF2-40B4-BE49-F238E27FC236}">
                <a16:creationId xmlns:a16="http://schemas.microsoft.com/office/drawing/2014/main" id="{E2AB47C7-3ABE-47BA-AFCA-59B885B81DA2}"/>
              </a:ext>
            </a:extLst>
          </p:cNvPr>
          <p:cNvSpPr/>
          <p:nvPr/>
        </p:nvSpPr>
        <p:spPr>
          <a:xfrm>
            <a:off x="2391364" y="5975507"/>
            <a:ext cx="666779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800" i="1" dirty="0">
                <a:solidFill>
                  <a:srgbClr val="FF0000"/>
                </a:solidFill>
                <a:latin typeface="Poppins" panose="020B0604020202020204"/>
                <a:ea typeface="Roboto Slab"/>
                <a:cs typeface="Roboto Slab"/>
                <a:sym typeface="Roboto Slab"/>
              </a:rPr>
              <a:t>“</a:t>
            </a:r>
            <a:r>
              <a:rPr lang="it-IT" sz="1800" i="1" dirty="0">
                <a:solidFill>
                  <a:srgbClr val="FF0000"/>
                </a:solidFill>
                <a:latin typeface="Poppins" panose="020B0604020202020204"/>
                <a:ea typeface="Calibri"/>
                <a:cs typeface="Calibri"/>
                <a:sym typeface="Calibri"/>
              </a:rPr>
              <a:t>La gestione manageriale è una pratica che si apprende innanzitutto tramite l’esperienza e si radica in un contesto” </a:t>
            </a:r>
            <a:endParaRPr sz="1800" dirty="0">
              <a:solidFill>
                <a:srgbClr val="FF0000"/>
              </a:solidFill>
              <a:latin typeface="Poppins" panose="020B0604020202020204"/>
              <a:ea typeface="Calibri"/>
              <a:cs typeface="Calibri"/>
              <a:sym typeface="Calibri"/>
            </a:endParaRPr>
          </a:p>
        </p:txBody>
      </p:sp>
    </p:spTree>
    <p:extLst>
      <p:ext uri="{BB962C8B-B14F-4D97-AF65-F5344CB8AC3E}">
        <p14:creationId xmlns:p14="http://schemas.microsoft.com/office/powerpoint/2010/main" val="2396373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p:nvPr/>
        </p:nvSpPr>
        <p:spPr>
          <a:xfrm>
            <a:off x="380933" y="1168022"/>
            <a:ext cx="8382000" cy="5262939"/>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Ispirazione</a:t>
            </a:r>
            <a:r>
              <a:rPr lang="it-IT" sz="1600" dirty="0">
                <a:solidFill>
                  <a:srgbClr val="0070C0"/>
                </a:solidFill>
                <a:latin typeface="Poppins" panose="020B0604020202020204"/>
                <a:ea typeface="Roboto Slab"/>
                <a:sym typeface="Calibri"/>
              </a:rPr>
              <a:t>: un leader è capace di essere una costante fonte di ispirazione per gli altri stimolandoli a cambiare, migliorare, generare nuove idee ed agire in funzione delle attese e degli interessi della impresa di cui fanno parte. Lo fa anche assumendo e rendendo visibili, in prima persona e con autenticità, i valori sui cui si fonda l’identità, la cultura e la strategia dell’impresa ed incarnando sempre uno spirito di cambiamento.</a:t>
            </a:r>
            <a:endParaRPr sz="1600" dirty="0">
              <a:solidFill>
                <a:srgbClr val="0070C0"/>
              </a:solidFill>
              <a:latin typeface="Poppins" panose="020B0604020202020204"/>
              <a:ea typeface="Roboto Slab"/>
              <a:sym typeface="Calibri"/>
            </a:endParaRPr>
          </a:p>
          <a:p>
            <a:pPr marL="285750" lvl="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Autorevolezza</a:t>
            </a:r>
            <a:r>
              <a:rPr lang="it-IT" sz="1600" dirty="0">
                <a:solidFill>
                  <a:srgbClr val="0070C0"/>
                </a:solidFill>
                <a:latin typeface="Poppins" panose="020B0604020202020204"/>
                <a:ea typeface="Roboto Slab"/>
                <a:sym typeface="Calibri"/>
              </a:rPr>
              <a:t>: un leader ha delle competenze solide che gli permettono di essere autorevole, cioè credibile agli occhi degli altri e capace, quindi, di generare la fiducia nel fatto che le decisioni che prende sono ben ponderate e rispondono agli interessi dell’impresa.</a:t>
            </a:r>
            <a:endParaRPr sz="1600" dirty="0">
              <a:solidFill>
                <a:srgbClr val="0070C0"/>
              </a:solidFill>
              <a:latin typeface="Poppins" panose="020B0604020202020204"/>
              <a:ea typeface="Roboto Slab"/>
              <a:sym typeface="Calibri"/>
            </a:endParaRPr>
          </a:p>
          <a:p>
            <a:pPr marL="285750" lvl="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Apprendimento</a:t>
            </a:r>
            <a:r>
              <a:rPr lang="it-IT" sz="1600" dirty="0">
                <a:solidFill>
                  <a:srgbClr val="0070C0"/>
                </a:solidFill>
                <a:latin typeface="Poppins" panose="020B0604020202020204"/>
                <a:ea typeface="Roboto Slab"/>
                <a:sym typeface="Calibri"/>
              </a:rPr>
              <a:t>: un leader ha una capacità superiore di apprendimento ed un orientamento costante a metterla in pratica utilizzando tutto quello che fa, vede, sente. E’ una capacità che applica su se stesso, e che stimola anche negli altri, perché crede profondamente che l’apprendimento sia una chiave fondamentale per il cambiamento e lo sviluppo.</a:t>
            </a:r>
            <a:endParaRPr sz="1600" dirty="0">
              <a:solidFill>
                <a:srgbClr val="0070C0"/>
              </a:solidFill>
              <a:latin typeface="Poppins" panose="020B0604020202020204"/>
              <a:ea typeface="Roboto Slab"/>
              <a:sym typeface="Calibri"/>
            </a:endParaRPr>
          </a:p>
          <a:p>
            <a:pPr marL="285750" lvl="0" indent="-285750">
              <a:buFont typeface="Arial" panose="020B0604020202020204" pitchFamily="34" charset="0"/>
              <a:buChar char="•"/>
            </a:pPr>
            <a:r>
              <a:rPr lang="it-IT" sz="1600" b="1" dirty="0">
                <a:solidFill>
                  <a:srgbClr val="0070C0"/>
                </a:solidFill>
                <a:latin typeface="Poppins" panose="020B0604020202020204"/>
                <a:ea typeface="Roboto Slab"/>
                <a:sym typeface="Calibri"/>
              </a:rPr>
              <a:t>Coinvolgimento</a:t>
            </a:r>
            <a:r>
              <a:rPr lang="it-IT" sz="1600" dirty="0">
                <a:solidFill>
                  <a:srgbClr val="0070C0"/>
                </a:solidFill>
                <a:latin typeface="Poppins" panose="020B0604020202020204"/>
                <a:ea typeface="Roboto Slab"/>
                <a:sym typeface="Calibri"/>
              </a:rPr>
              <a:t>: un leader genera coinvolgimento essendo capace di comunicare molto bene agli altri la </a:t>
            </a:r>
            <a:r>
              <a:rPr lang="it-IT" sz="1600" dirty="0" err="1">
                <a:solidFill>
                  <a:srgbClr val="0070C0"/>
                </a:solidFill>
                <a:latin typeface="Poppins" panose="020B0604020202020204"/>
                <a:ea typeface="Roboto Slab"/>
                <a:sym typeface="Calibri"/>
              </a:rPr>
              <a:t>vision</a:t>
            </a:r>
            <a:r>
              <a:rPr lang="it-IT" sz="1600" dirty="0">
                <a:solidFill>
                  <a:srgbClr val="0070C0"/>
                </a:solidFill>
                <a:latin typeface="Poppins" panose="020B0604020202020204"/>
                <a:ea typeface="Roboto Slab"/>
                <a:sym typeface="Calibri"/>
              </a:rPr>
              <a:t>, i valori, gli obiettivi, le strategie, i piani di azione. Comunicare vuol dire anche sincera disponibilità all’ascolto degli altri, recependo, rispettando ed integrando quelli che sono i loro pensieri e proposte.</a:t>
            </a:r>
            <a:r>
              <a:rPr lang="it-IT" sz="1600" dirty="0">
                <a:solidFill>
                  <a:srgbClr val="0070C0"/>
                </a:solidFill>
                <a:latin typeface="Poppins" panose="020B0604020202020204"/>
                <a:ea typeface="Roboto Slab"/>
              </a:rPr>
              <a:t> </a:t>
            </a:r>
            <a:r>
              <a:rPr lang="it-IT" sz="1600" dirty="0">
                <a:solidFill>
                  <a:srgbClr val="0070C0"/>
                </a:solidFill>
                <a:latin typeface="Poppins" panose="020B0604020202020204"/>
                <a:ea typeface="Roboto Slab"/>
                <a:sym typeface="Calibri"/>
              </a:rPr>
              <a:t>In questo modo il coinvolgimento genera anche un senso di comunità.</a:t>
            </a:r>
            <a:endParaRPr sz="1600" dirty="0">
              <a:solidFill>
                <a:srgbClr val="0070C0"/>
              </a:solidFill>
              <a:latin typeface="Poppins" panose="020B0604020202020204"/>
              <a:ea typeface="Roboto Slab"/>
            </a:endParaRPr>
          </a:p>
        </p:txBody>
      </p:sp>
      <p:sp>
        <p:nvSpPr>
          <p:cNvPr id="177" name="Google Shape;177;p9"/>
          <p:cNvSpPr txBox="1"/>
          <p:nvPr/>
        </p:nvSpPr>
        <p:spPr>
          <a:xfrm>
            <a:off x="176633" y="152400"/>
            <a:ext cx="8790600"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2800" b="1" dirty="0">
                <a:solidFill>
                  <a:srgbClr val="0070C0"/>
                </a:solidFill>
                <a:latin typeface="Poppins" panose="020B0604020202020204"/>
                <a:sym typeface="Calibri"/>
              </a:rPr>
              <a:t>Il Leader è chi ispira gli altri all'azione dando uno scopo ed un senso di appartenenza</a:t>
            </a:r>
            <a:endParaRPr sz="2800" b="1" dirty="0">
              <a:solidFill>
                <a:srgbClr val="0070C0"/>
              </a:solidFill>
              <a:latin typeface="Poppins"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p:nvPr/>
        </p:nvSpPr>
        <p:spPr>
          <a:xfrm>
            <a:off x="381147" y="1682388"/>
            <a:ext cx="8382000" cy="3693278"/>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it-IT" sz="1800" b="1" dirty="0">
                <a:solidFill>
                  <a:srgbClr val="0070C0"/>
                </a:solidFill>
                <a:latin typeface="Poppins" panose="020B0604020202020204"/>
                <a:ea typeface="Roboto Slab"/>
                <a:sym typeface="Calibri"/>
              </a:rPr>
              <a:t>Delega: </a:t>
            </a:r>
            <a:r>
              <a:rPr lang="it-IT" sz="1800" dirty="0">
                <a:solidFill>
                  <a:srgbClr val="0070C0"/>
                </a:solidFill>
                <a:latin typeface="Poppins" panose="020B0604020202020204"/>
                <a:ea typeface="Roboto Slab"/>
                <a:sym typeface="Calibri"/>
              </a:rPr>
              <a:t>un leader riesce a delegare ad altri non solo e non tanto la realizzazione di attività, quanto la libertà di prendere delle decisioni in merito alle attività che stanno facendo, in sostanza è capace ed orientato a delegare poteri ad altri e non solo attività.</a:t>
            </a:r>
          </a:p>
          <a:p>
            <a:pPr marL="285750" lvl="0" indent="-285750">
              <a:buFont typeface="Arial" panose="020B0604020202020204" pitchFamily="34" charset="0"/>
              <a:buChar char="•"/>
            </a:pPr>
            <a:r>
              <a:rPr lang="it-IT" sz="1800" b="1" dirty="0">
                <a:solidFill>
                  <a:srgbClr val="0070C0"/>
                </a:solidFill>
                <a:latin typeface="Poppins" panose="020B0604020202020204"/>
                <a:ea typeface="Roboto Slab"/>
                <a:sym typeface="Calibri"/>
              </a:rPr>
              <a:t>Equilibrio: </a:t>
            </a:r>
            <a:r>
              <a:rPr lang="it-IT" sz="1800" dirty="0">
                <a:solidFill>
                  <a:srgbClr val="0070C0"/>
                </a:solidFill>
                <a:latin typeface="Poppins" panose="020B0604020202020204"/>
                <a:ea typeface="Roboto Slab"/>
                <a:sym typeface="Calibri"/>
              </a:rPr>
              <a:t>un leader riesce a mantenere un atteggiamento equilibrato e giusto anche in condizioni avverse, problematiche, conflittuali. Non trasferisce ansia agli altri ed ha, quindi, una buona resilienza ed una capacità di guardare le questioni, le persone ed i problemi con il giusto distacco e favorendo una completezza di prospettive diverse.</a:t>
            </a:r>
          </a:p>
          <a:p>
            <a:pPr marL="285750" lvl="0" indent="-285750">
              <a:buFont typeface="Arial" panose="020B0604020202020204" pitchFamily="34" charset="0"/>
              <a:buChar char="•"/>
            </a:pPr>
            <a:r>
              <a:rPr lang="it-IT" sz="1800" b="1" dirty="0">
                <a:solidFill>
                  <a:srgbClr val="0070C0"/>
                </a:solidFill>
                <a:latin typeface="Poppins" panose="020B0604020202020204"/>
                <a:ea typeface="Roboto Slab"/>
                <a:sym typeface="Calibri"/>
              </a:rPr>
              <a:t>Supporto: </a:t>
            </a:r>
            <a:r>
              <a:rPr lang="it-IT" sz="1800" dirty="0">
                <a:solidFill>
                  <a:srgbClr val="0070C0"/>
                </a:solidFill>
                <a:latin typeface="Poppins" panose="020B0604020202020204"/>
                <a:ea typeface="Roboto Slab"/>
                <a:sym typeface="Calibri"/>
              </a:rPr>
              <a:t>un leader è capace di fornire a tutti le informazioni necessarie per fare bene il proprio lavoro. Fornisce supporto anche attraverso la capacità di valorizzare e dare visibilità esterna al proprio gruppo ed aumentarne le competenze e la reputazione tirando fuori il meglio dagli altri.</a:t>
            </a:r>
          </a:p>
        </p:txBody>
      </p:sp>
      <p:sp>
        <p:nvSpPr>
          <p:cNvPr id="177" name="Google Shape;177;p9"/>
          <p:cNvSpPr txBox="1"/>
          <p:nvPr/>
        </p:nvSpPr>
        <p:spPr>
          <a:xfrm>
            <a:off x="194563" y="304805"/>
            <a:ext cx="8790600"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2800" b="1" dirty="0">
                <a:solidFill>
                  <a:srgbClr val="0070C0"/>
                </a:solidFill>
                <a:latin typeface="Poppins" panose="020B0604020202020204"/>
                <a:sym typeface="Calibri"/>
              </a:rPr>
              <a:t>Il Leader è chi ispira gli altri all'azione dando uno scopo ed un senso di appartenenza</a:t>
            </a:r>
            <a:endParaRPr sz="2800" b="1" dirty="0">
              <a:solidFill>
                <a:srgbClr val="0070C0"/>
              </a:solidFill>
              <a:latin typeface="Poppins" panose="020B0604020202020204"/>
            </a:endParaRPr>
          </a:p>
        </p:txBody>
      </p:sp>
      <p:sp>
        <p:nvSpPr>
          <p:cNvPr id="4" name="Google Shape;184;p10">
            <a:extLst>
              <a:ext uri="{FF2B5EF4-FFF2-40B4-BE49-F238E27FC236}">
                <a16:creationId xmlns:a16="http://schemas.microsoft.com/office/drawing/2014/main" id="{8A4984AA-8E69-433B-8CD5-4B0AE17E47E1}"/>
              </a:ext>
            </a:extLst>
          </p:cNvPr>
          <p:cNvSpPr/>
          <p:nvPr/>
        </p:nvSpPr>
        <p:spPr>
          <a:xfrm>
            <a:off x="3340061" y="5940990"/>
            <a:ext cx="54230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800" i="1" dirty="0">
                <a:solidFill>
                  <a:srgbClr val="FF0000"/>
                </a:solidFill>
                <a:latin typeface="Poppins" panose="020B0604020202020204"/>
                <a:ea typeface="Roboto Slab"/>
                <a:cs typeface="Roboto Slab"/>
                <a:sym typeface="Roboto Slab"/>
              </a:rPr>
              <a:t>“</a:t>
            </a:r>
            <a:r>
              <a:rPr lang="it-IT" sz="1800" i="1" dirty="0">
                <a:solidFill>
                  <a:srgbClr val="FF0000"/>
                </a:solidFill>
                <a:latin typeface="Poppins" panose="020B0604020202020204"/>
                <a:ea typeface="Calibri"/>
                <a:cs typeface="Calibri"/>
                <a:sym typeface="Calibri"/>
              </a:rPr>
              <a:t>La leadership si conquista e si impara, non si riceve” </a:t>
            </a:r>
            <a:endParaRPr sz="1800" dirty="0">
              <a:solidFill>
                <a:srgbClr val="FF0000"/>
              </a:solidFill>
              <a:latin typeface="Poppins" panose="020B0604020202020204"/>
              <a:ea typeface="Calibri"/>
              <a:cs typeface="Calibri"/>
              <a:sym typeface="Calibri"/>
            </a:endParaRPr>
          </a:p>
        </p:txBody>
      </p:sp>
    </p:spTree>
    <p:extLst>
      <p:ext uri="{BB962C8B-B14F-4D97-AF65-F5344CB8AC3E}">
        <p14:creationId xmlns:p14="http://schemas.microsoft.com/office/powerpoint/2010/main" val="3645640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10B48923-A4C9-4FA8-B939-4E1998FBCAE7}"/>
              </a:ext>
            </a:extLst>
          </p:cNvPr>
          <p:cNvPicPr>
            <a:picLocks noChangeAspect="1"/>
          </p:cNvPicPr>
          <p:nvPr/>
        </p:nvPicPr>
        <p:blipFill rotWithShape="1">
          <a:blip r:embed="rId2"/>
          <a:srcRect t="13351" b="392"/>
          <a:stretch/>
        </p:blipFill>
        <p:spPr>
          <a:xfrm>
            <a:off x="3505200" y="158337"/>
            <a:ext cx="5514721" cy="6541326"/>
          </a:xfrm>
          <a:prstGeom prst="rect">
            <a:avLst/>
          </a:prstGeom>
        </p:spPr>
      </p:pic>
      <p:sp>
        <p:nvSpPr>
          <p:cNvPr id="6" name="Google Shape;177;p9">
            <a:extLst>
              <a:ext uri="{FF2B5EF4-FFF2-40B4-BE49-F238E27FC236}">
                <a16:creationId xmlns:a16="http://schemas.microsoft.com/office/drawing/2014/main" id="{754E215B-F07E-40FD-A528-152FB22961C3}"/>
              </a:ext>
            </a:extLst>
          </p:cNvPr>
          <p:cNvSpPr txBox="1"/>
          <p:nvPr/>
        </p:nvSpPr>
        <p:spPr>
          <a:xfrm>
            <a:off x="472468" y="2690356"/>
            <a:ext cx="2763790"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dirty="0">
                <a:solidFill>
                  <a:srgbClr val="0070C0"/>
                </a:solidFill>
                <a:latin typeface="Poppins" panose="020B0604020202020204"/>
                <a:sym typeface="Calibri"/>
              </a:rPr>
              <a:t>Differenze tra CAPO e LEADER</a:t>
            </a:r>
            <a:endParaRPr sz="3200" b="1" dirty="0">
              <a:solidFill>
                <a:srgbClr val="0070C0"/>
              </a:solidFill>
              <a:latin typeface="Poppins" panose="020B0604020202020204"/>
            </a:endParaRPr>
          </a:p>
        </p:txBody>
      </p:sp>
    </p:spTree>
    <p:extLst>
      <p:ext uri="{BB962C8B-B14F-4D97-AF65-F5344CB8AC3E}">
        <p14:creationId xmlns:p14="http://schemas.microsoft.com/office/powerpoint/2010/main" val="3799452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2785364" y="267639"/>
            <a:ext cx="3750310"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3200" dirty="0">
                <a:solidFill>
                  <a:srgbClr val="0070C0"/>
                </a:solidFill>
                <a:latin typeface="Poppins" panose="020B0604020202020204"/>
              </a:rPr>
              <a:t>Gli organi aziendali</a:t>
            </a:r>
            <a:endParaRPr sz="3200" dirty="0">
              <a:solidFill>
                <a:srgbClr val="0070C0"/>
              </a:solidFill>
              <a:latin typeface="Poppins" panose="020B0604020202020204"/>
            </a:endParaRPr>
          </a:p>
        </p:txBody>
      </p:sp>
      <p:sp>
        <p:nvSpPr>
          <p:cNvPr id="194" name="Google Shape;194;p11"/>
          <p:cNvSpPr txBox="1"/>
          <p:nvPr/>
        </p:nvSpPr>
        <p:spPr>
          <a:xfrm>
            <a:off x="655421" y="1534194"/>
            <a:ext cx="2216150" cy="627721"/>
          </a:xfrm>
          <a:prstGeom prst="rect">
            <a:avLst/>
          </a:prstGeom>
          <a:noFill/>
          <a:ln>
            <a:noFill/>
          </a:ln>
        </p:spPr>
        <p:txBody>
          <a:bodyPr spcFirstLastPara="1" wrap="square" lIns="0" tIns="12050" rIns="0" bIns="0" anchor="t" anchorCtr="0">
            <a:spAutoFit/>
          </a:bodyPr>
          <a:lstStyle/>
          <a:p>
            <a:pPr marL="12700" marR="0" lvl="0" indent="0" algn="ctr" rtl="0">
              <a:lnSpc>
                <a:spcPct val="100000"/>
              </a:lnSpc>
              <a:spcBef>
                <a:spcPts val="0"/>
              </a:spcBef>
              <a:spcAft>
                <a:spcPts val="0"/>
              </a:spcAft>
              <a:buNone/>
            </a:pPr>
            <a:r>
              <a:rPr lang="it-IT" sz="2000" b="1" dirty="0">
                <a:solidFill>
                  <a:srgbClr val="0070C0"/>
                </a:solidFill>
                <a:latin typeface="Poppins" panose="020B0604020202020204"/>
                <a:sym typeface="Arial"/>
              </a:rPr>
              <a:t>ORGANI DELIBERANTI</a:t>
            </a:r>
            <a:endParaRPr sz="2000" b="1" dirty="0">
              <a:solidFill>
                <a:srgbClr val="0070C0"/>
              </a:solidFill>
              <a:latin typeface="Poppins" panose="020B0604020202020204"/>
              <a:sym typeface="Arial"/>
            </a:endParaRPr>
          </a:p>
        </p:txBody>
      </p:sp>
      <p:sp>
        <p:nvSpPr>
          <p:cNvPr id="198" name="Google Shape;198;p11"/>
          <p:cNvSpPr txBox="1"/>
          <p:nvPr/>
        </p:nvSpPr>
        <p:spPr>
          <a:xfrm>
            <a:off x="597814" y="3377945"/>
            <a:ext cx="2403475" cy="627721"/>
          </a:xfrm>
          <a:prstGeom prst="rect">
            <a:avLst/>
          </a:prstGeom>
          <a:noFill/>
          <a:ln>
            <a:noFill/>
          </a:ln>
        </p:spPr>
        <p:txBody>
          <a:bodyPr spcFirstLastPara="1" wrap="square" lIns="0" tIns="12050" rIns="0" bIns="0" anchor="t" anchorCtr="0">
            <a:spAutoFit/>
          </a:bodyPr>
          <a:lstStyle/>
          <a:p>
            <a:pPr marL="12700" algn="ctr"/>
            <a:r>
              <a:rPr lang="it-IT" sz="2000" b="1" dirty="0">
                <a:solidFill>
                  <a:srgbClr val="0070C0"/>
                </a:solidFill>
                <a:latin typeface="Poppins" panose="020B0604020202020204"/>
              </a:rPr>
              <a:t>ORGANI DI CONTROLLO</a:t>
            </a:r>
            <a:endParaRPr sz="2000" b="1" dirty="0">
              <a:solidFill>
                <a:srgbClr val="0070C0"/>
              </a:solidFill>
              <a:latin typeface="Poppins" panose="020B0604020202020204"/>
            </a:endParaRPr>
          </a:p>
        </p:txBody>
      </p:sp>
      <p:sp>
        <p:nvSpPr>
          <p:cNvPr id="202" name="Google Shape;202;p11"/>
          <p:cNvSpPr txBox="1"/>
          <p:nvPr/>
        </p:nvSpPr>
        <p:spPr>
          <a:xfrm>
            <a:off x="857199" y="4959938"/>
            <a:ext cx="1955800" cy="627721"/>
          </a:xfrm>
          <a:prstGeom prst="rect">
            <a:avLst/>
          </a:prstGeom>
          <a:noFill/>
          <a:ln>
            <a:noFill/>
          </a:ln>
        </p:spPr>
        <p:txBody>
          <a:bodyPr spcFirstLastPara="1" wrap="square" lIns="0" tIns="12050" rIns="0" bIns="0" anchor="t" anchorCtr="0">
            <a:spAutoFit/>
          </a:bodyPr>
          <a:lstStyle/>
          <a:p>
            <a:pPr marL="12700" lvl="0" indent="0" algn="ctr">
              <a:buFont typeface="Arial"/>
              <a:buNone/>
            </a:pPr>
            <a:r>
              <a:rPr lang="it-IT" sz="2000" b="1" dirty="0">
                <a:solidFill>
                  <a:srgbClr val="0070C0"/>
                </a:solidFill>
                <a:latin typeface="Poppins" panose="020B0604020202020204"/>
              </a:rPr>
              <a:t>ORGANI ESECUTIVI</a:t>
            </a:r>
            <a:endParaRPr sz="2000" b="1" dirty="0">
              <a:solidFill>
                <a:srgbClr val="0070C0"/>
              </a:solidFill>
              <a:latin typeface="Poppins" panose="020B0604020202020204"/>
            </a:endParaRPr>
          </a:p>
        </p:txBody>
      </p:sp>
      <p:sp>
        <p:nvSpPr>
          <p:cNvPr id="203" name="Google Shape;203;p11"/>
          <p:cNvSpPr/>
          <p:nvPr/>
        </p:nvSpPr>
        <p:spPr>
          <a:xfrm>
            <a:off x="2982588" y="1677633"/>
            <a:ext cx="1202106" cy="337096"/>
          </a:xfrm>
          <a:custGeom>
            <a:avLst/>
            <a:gdLst/>
            <a:ahLst/>
            <a:cxnLst/>
            <a:rect l="l" t="t" r="r" b="b"/>
            <a:pathLst>
              <a:path w="576579" h="144780" extrusionOk="0">
                <a:moveTo>
                  <a:pt x="431673" y="0"/>
                </a:moveTo>
                <a:lnTo>
                  <a:pt x="431673" y="36194"/>
                </a:lnTo>
                <a:lnTo>
                  <a:pt x="0" y="36194"/>
                </a:lnTo>
                <a:lnTo>
                  <a:pt x="0" y="108585"/>
                </a:lnTo>
                <a:lnTo>
                  <a:pt x="431673" y="108585"/>
                </a:lnTo>
                <a:lnTo>
                  <a:pt x="431673" y="144779"/>
                </a:lnTo>
                <a:lnTo>
                  <a:pt x="576072" y="72389"/>
                </a:lnTo>
                <a:lnTo>
                  <a:pt x="431673" y="0"/>
                </a:lnTo>
                <a:close/>
              </a:path>
            </a:pathLst>
          </a:custGeom>
          <a:solidFill>
            <a:srgbClr val="669999"/>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2000">
              <a:solidFill>
                <a:schemeClr val="tx1"/>
              </a:solidFill>
              <a:latin typeface="+mj-lt"/>
              <a:ea typeface="Calibri"/>
              <a:cs typeface="Calibri"/>
              <a:sym typeface="Calibri"/>
            </a:endParaRPr>
          </a:p>
        </p:txBody>
      </p:sp>
      <p:sp>
        <p:nvSpPr>
          <p:cNvPr id="204" name="Google Shape;204;p11"/>
          <p:cNvSpPr txBox="1"/>
          <p:nvPr/>
        </p:nvSpPr>
        <p:spPr>
          <a:xfrm>
            <a:off x="4291076" y="1290379"/>
            <a:ext cx="4107179" cy="1511947"/>
          </a:xfrm>
          <a:prstGeom prst="rect">
            <a:avLst/>
          </a:prstGeom>
          <a:noFill/>
          <a:ln>
            <a:noFill/>
          </a:ln>
        </p:spPr>
        <p:txBody>
          <a:bodyPr spcFirstLastPara="1" wrap="square" lIns="0" tIns="125725" rIns="0" bIns="0" anchor="t" anchorCtr="0">
            <a:spAutoFit/>
          </a:bodyPr>
          <a:lstStyle/>
          <a:p>
            <a:pPr marL="12700" marR="0" lvl="0" indent="9525" algn="ctr" rtl="0">
              <a:lnSpc>
                <a:spcPct val="100000"/>
              </a:lnSpc>
              <a:spcBef>
                <a:spcPts val="0"/>
              </a:spcBef>
              <a:spcAft>
                <a:spcPts val="0"/>
              </a:spcAft>
              <a:buNone/>
            </a:pPr>
            <a:r>
              <a:rPr lang="it-IT" sz="1800" dirty="0">
                <a:solidFill>
                  <a:srgbClr val="0070C0"/>
                </a:solidFill>
                <a:latin typeface="Poppins" panose="020B0604020202020204"/>
                <a:sym typeface="Arial"/>
              </a:rPr>
              <a:t>Esercitano prevalentemente attività decisionale.</a:t>
            </a:r>
          </a:p>
          <a:p>
            <a:pPr marL="12700" marR="0" lvl="0" indent="9525" algn="ctr" rtl="0">
              <a:lnSpc>
                <a:spcPct val="100000"/>
              </a:lnSpc>
              <a:spcBef>
                <a:spcPts val="0"/>
              </a:spcBef>
              <a:spcAft>
                <a:spcPts val="0"/>
              </a:spcAft>
              <a:buNone/>
            </a:pPr>
            <a:r>
              <a:rPr lang="it-IT" sz="1800" dirty="0">
                <a:solidFill>
                  <a:srgbClr val="0070C0"/>
                </a:solidFill>
                <a:latin typeface="Poppins" panose="020B0604020202020204"/>
                <a:sym typeface="Arial"/>
              </a:rPr>
              <a:t>Si differenziano per l’ampio potere discrezionale esercitato nel compimento della loro attività.</a:t>
            </a:r>
            <a:endParaRPr sz="1800" dirty="0">
              <a:solidFill>
                <a:srgbClr val="0070C0"/>
              </a:solidFill>
              <a:latin typeface="Poppins" panose="020B0604020202020204"/>
              <a:sym typeface="Arial"/>
            </a:endParaRPr>
          </a:p>
        </p:txBody>
      </p:sp>
      <p:sp>
        <p:nvSpPr>
          <p:cNvPr id="205" name="Google Shape;205;p11"/>
          <p:cNvSpPr txBox="1"/>
          <p:nvPr/>
        </p:nvSpPr>
        <p:spPr>
          <a:xfrm>
            <a:off x="4364228" y="4937028"/>
            <a:ext cx="4437380" cy="844452"/>
          </a:xfrm>
          <a:prstGeom prst="rect">
            <a:avLst/>
          </a:prstGeom>
          <a:noFill/>
          <a:ln>
            <a:noFill/>
          </a:ln>
        </p:spPr>
        <p:txBody>
          <a:bodyPr spcFirstLastPara="1" wrap="square" lIns="0" tIns="13325" rIns="0" bIns="0" anchor="t" anchorCtr="0">
            <a:spAutoFit/>
          </a:bodyPr>
          <a:lstStyle/>
          <a:p>
            <a:pPr marL="12700" marR="0" lvl="0" indent="0" algn="ctr" rtl="0">
              <a:lnSpc>
                <a:spcPct val="100000"/>
              </a:lnSpc>
              <a:spcBef>
                <a:spcPts val="0"/>
              </a:spcBef>
              <a:spcAft>
                <a:spcPts val="0"/>
              </a:spcAft>
              <a:buNone/>
            </a:pPr>
            <a:r>
              <a:rPr lang="it-IT" sz="1800" dirty="0">
                <a:solidFill>
                  <a:srgbClr val="0070C0"/>
                </a:solidFill>
                <a:latin typeface="Poppins" panose="020B0604020202020204"/>
              </a:rPr>
              <a:t>Hanno il compito di dare attuazione alle disposizioni</a:t>
            </a:r>
            <a:endParaRPr sz="1800" dirty="0">
              <a:solidFill>
                <a:srgbClr val="0070C0"/>
              </a:solidFill>
              <a:latin typeface="Poppins" panose="020B0604020202020204"/>
            </a:endParaRPr>
          </a:p>
          <a:p>
            <a:pPr marL="12700" marR="0" lvl="0" indent="0" algn="ctr" rtl="0">
              <a:lnSpc>
                <a:spcPct val="100000"/>
              </a:lnSpc>
              <a:spcBef>
                <a:spcPts val="5"/>
              </a:spcBef>
              <a:spcAft>
                <a:spcPts val="0"/>
              </a:spcAft>
              <a:buNone/>
            </a:pPr>
            <a:r>
              <a:rPr lang="it-IT" sz="1800" dirty="0">
                <a:solidFill>
                  <a:srgbClr val="0070C0"/>
                </a:solidFill>
                <a:latin typeface="Poppins" panose="020B0604020202020204"/>
              </a:rPr>
              <a:t>provenienti dagli organi deliberanti.</a:t>
            </a:r>
            <a:endParaRPr sz="1800" dirty="0">
              <a:solidFill>
                <a:srgbClr val="0070C0"/>
              </a:solidFill>
              <a:latin typeface="Poppins" panose="020B0604020202020204"/>
            </a:endParaRPr>
          </a:p>
        </p:txBody>
      </p:sp>
      <p:sp>
        <p:nvSpPr>
          <p:cNvPr id="210" name="Google Shape;210;p11"/>
          <p:cNvSpPr/>
          <p:nvPr/>
        </p:nvSpPr>
        <p:spPr>
          <a:xfrm>
            <a:off x="3420497" y="3588637"/>
            <a:ext cx="576580" cy="144780"/>
          </a:xfrm>
          <a:custGeom>
            <a:avLst/>
            <a:gdLst/>
            <a:ahLst/>
            <a:cxnLst/>
            <a:rect l="l" t="t" r="r" b="b"/>
            <a:pathLst>
              <a:path w="576579" h="144780" extrusionOk="0">
                <a:moveTo>
                  <a:pt x="431673" y="0"/>
                </a:moveTo>
                <a:lnTo>
                  <a:pt x="431673" y="36195"/>
                </a:lnTo>
                <a:lnTo>
                  <a:pt x="0" y="36195"/>
                </a:lnTo>
                <a:lnTo>
                  <a:pt x="0" y="108585"/>
                </a:lnTo>
                <a:lnTo>
                  <a:pt x="431673" y="108585"/>
                </a:lnTo>
                <a:lnTo>
                  <a:pt x="431673" y="144780"/>
                </a:lnTo>
                <a:lnTo>
                  <a:pt x="576072" y="72389"/>
                </a:lnTo>
                <a:lnTo>
                  <a:pt x="431673" y="0"/>
                </a:lnTo>
                <a:close/>
              </a:path>
            </a:pathLst>
          </a:custGeom>
          <a:solidFill>
            <a:srgbClr val="669999"/>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2000">
              <a:solidFill>
                <a:schemeClr val="tx1"/>
              </a:solidFill>
              <a:latin typeface="+mj-lt"/>
              <a:ea typeface="Calibri"/>
              <a:cs typeface="Calibri"/>
              <a:sym typeface="Calibri"/>
            </a:endParaRPr>
          </a:p>
        </p:txBody>
      </p:sp>
      <p:sp>
        <p:nvSpPr>
          <p:cNvPr id="212" name="Google Shape;212;p11"/>
          <p:cNvSpPr txBox="1"/>
          <p:nvPr/>
        </p:nvSpPr>
        <p:spPr>
          <a:xfrm>
            <a:off x="4364228" y="3343782"/>
            <a:ext cx="4181958" cy="567453"/>
          </a:xfrm>
          <a:prstGeom prst="rect">
            <a:avLst/>
          </a:prstGeom>
          <a:noFill/>
          <a:ln>
            <a:noFill/>
          </a:ln>
        </p:spPr>
        <p:txBody>
          <a:bodyPr spcFirstLastPara="1" wrap="square" lIns="0" tIns="13325" rIns="0" bIns="0" anchor="t" anchorCtr="0">
            <a:spAutoFit/>
          </a:bodyPr>
          <a:lstStyle/>
          <a:p>
            <a:pPr marL="12700" marR="5080" lvl="0" indent="0" algn="ctr" rtl="0">
              <a:lnSpc>
                <a:spcPct val="100000"/>
              </a:lnSpc>
              <a:spcBef>
                <a:spcPts val="0"/>
              </a:spcBef>
              <a:spcAft>
                <a:spcPts val="0"/>
              </a:spcAft>
              <a:buNone/>
            </a:pPr>
            <a:r>
              <a:rPr lang="it-IT" sz="1800" dirty="0">
                <a:solidFill>
                  <a:srgbClr val="0070C0"/>
                </a:solidFill>
                <a:latin typeface="Poppins" panose="020B0604020202020204"/>
              </a:rPr>
              <a:t>Sono preposti alla supervisione e al  “monitoraggio” dell’attività aziendale.</a:t>
            </a:r>
            <a:endParaRPr sz="1800" dirty="0">
              <a:solidFill>
                <a:srgbClr val="0070C0"/>
              </a:solidFill>
              <a:latin typeface="Poppins" panose="020B0604020202020204"/>
            </a:endParaRPr>
          </a:p>
        </p:txBody>
      </p:sp>
      <p:sp>
        <p:nvSpPr>
          <p:cNvPr id="26" name="Google Shape;203;p11">
            <a:extLst>
              <a:ext uri="{FF2B5EF4-FFF2-40B4-BE49-F238E27FC236}">
                <a16:creationId xmlns:a16="http://schemas.microsoft.com/office/drawing/2014/main" id="{727C98BA-391C-429A-9A24-30BD76834E8B}"/>
              </a:ext>
            </a:extLst>
          </p:cNvPr>
          <p:cNvSpPr/>
          <p:nvPr/>
        </p:nvSpPr>
        <p:spPr>
          <a:xfrm>
            <a:off x="2982588" y="3492479"/>
            <a:ext cx="1202106" cy="337096"/>
          </a:xfrm>
          <a:custGeom>
            <a:avLst/>
            <a:gdLst/>
            <a:ahLst/>
            <a:cxnLst/>
            <a:rect l="l" t="t" r="r" b="b"/>
            <a:pathLst>
              <a:path w="576579" h="144780" extrusionOk="0">
                <a:moveTo>
                  <a:pt x="431673" y="0"/>
                </a:moveTo>
                <a:lnTo>
                  <a:pt x="431673" y="36194"/>
                </a:lnTo>
                <a:lnTo>
                  <a:pt x="0" y="36194"/>
                </a:lnTo>
                <a:lnTo>
                  <a:pt x="0" y="108585"/>
                </a:lnTo>
                <a:lnTo>
                  <a:pt x="431673" y="108585"/>
                </a:lnTo>
                <a:lnTo>
                  <a:pt x="431673" y="144779"/>
                </a:lnTo>
                <a:lnTo>
                  <a:pt x="576072" y="72389"/>
                </a:lnTo>
                <a:lnTo>
                  <a:pt x="431673" y="0"/>
                </a:lnTo>
                <a:close/>
              </a:path>
            </a:pathLst>
          </a:custGeom>
          <a:solidFill>
            <a:srgbClr val="669999"/>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2000">
              <a:solidFill>
                <a:schemeClr val="tx1"/>
              </a:solidFill>
              <a:latin typeface="+mj-lt"/>
              <a:ea typeface="Calibri"/>
              <a:cs typeface="Calibri"/>
              <a:sym typeface="Calibri"/>
            </a:endParaRPr>
          </a:p>
        </p:txBody>
      </p:sp>
      <p:sp>
        <p:nvSpPr>
          <p:cNvPr id="28" name="Google Shape;203;p11">
            <a:extLst>
              <a:ext uri="{FF2B5EF4-FFF2-40B4-BE49-F238E27FC236}">
                <a16:creationId xmlns:a16="http://schemas.microsoft.com/office/drawing/2014/main" id="{91820D7E-7EC7-414A-83A4-F9407CB50A03}"/>
              </a:ext>
            </a:extLst>
          </p:cNvPr>
          <p:cNvSpPr/>
          <p:nvPr/>
        </p:nvSpPr>
        <p:spPr>
          <a:xfrm>
            <a:off x="2982588" y="5053148"/>
            <a:ext cx="1202106" cy="337096"/>
          </a:xfrm>
          <a:custGeom>
            <a:avLst/>
            <a:gdLst/>
            <a:ahLst/>
            <a:cxnLst/>
            <a:rect l="l" t="t" r="r" b="b"/>
            <a:pathLst>
              <a:path w="576579" h="144780" extrusionOk="0">
                <a:moveTo>
                  <a:pt x="431673" y="0"/>
                </a:moveTo>
                <a:lnTo>
                  <a:pt x="431673" y="36194"/>
                </a:lnTo>
                <a:lnTo>
                  <a:pt x="0" y="36194"/>
                </a:lnTo>
                <a:lnTo>
                  <a:pt x="0" y="108585"/>
                </a:lnTo>
                <a:lnTo>
                  <a:pt x="431673" y="108585"/>
                </a:lnTo>
                <a:lnTo>
                  <a:pt x="431673" y="144779"/>
                </a:lnTo>
                <a:lnTo>
                  <a:pt x="576072" y="72389"/>
                </a:lnTo>
                <a:lnTo>
                  <a:pt x="431673" y="0"/>
                </a:lnTo>
                <a:close/>
              </a:path>
            </a:pathLst>
          </a:custGeom>
          <a:solidFill>
            <a:srgbClr val="669999"/>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2000">
              <a:solidFill>
                <a:schemeClr val="tx1"/>
              </a:solidFill>
              <a:latin typeface="+mj-lt"/>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9A19140B-D740-42BF-8412-6DC77FBCF5B3}"/>
              </a:ext>
            </a:extLst>
          </p:cNvPr>
          <p:cNvSpPr/>
          <p:nvPr/>
        </p:nvSpPr>
        <p:spPr>
          <a:xfrm>
            <a:off x="2495950" y="3121223"/>
            <a:ext cx="4152099" cy="307777"/>
          </a:xfrm>
          <a:prstGeom prst="rect">
            <a:avLst/>
          </a:prstGeom>
        </p:spPr>
        <p:txBody>
          <a:bodyPr wrap="none">
            <a:spAutoFit/>
          </a:bodyPr>
          <a:lstStyle/>
          <a:p>
            <a:r>
              <a:rPr lang="it-IT" dirty="0"/>
              <a:t>https://www.youtube.com/watch?v=6Ot_GKFNP1I</a:t>
            </a:r>
          </a:p>
        </p:txBody>
      </p:sp>
      <p:sp>
        <p:nvSpPr>
          <p:cNvPr id="6" name="Google Shape;190;p11">
            <a:extLst>
              <a:ext uri="{FF2B5EF4-FFF2-40B4-BE49-F238E27FC236}">
                <a16:creationId xmlns:a16="http://schemas.microsoft.com/office/drawing/2014/main" id="{98E677BF-AEF4-4310-A486-70EC693EAD89}"/>
              </a:ext>
            </a:extLst>
          </p:cNvPr>
          <p:cNvSpPr txBox="1">
            <a:spLocks noGrp="1"/>
          </p:cNvSpPr>
          <p:nvPr>
            <p:ph type="title"/>
          </p:nvPr>
        </p:nvSpPr>
        <p:spPr>
          <a:xfrm>
            <a:off x="1335406" y="267638"/>
            <a:ext cx="647318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4400" dirty="0">
                <a:solidFill>
                  <a:srgbClr val="0070C0"/>
                </a:solidFill>
                <a:latin typeface="Poppins" panose="020B0604020202020204"/>
              </a:rPr>
              <a:t>Mentalità Imprenditoriale?</a:t>
            </a:r>
            <a:endParaRPr sz="4400" dirty="0">
              <a:solidFill>
                <a:srgbClr val="0070C0"/>
              </a:solidFill>
              <a:latin typeface="Poppins" panose="020B0604020202020204"/>
            </a:endParaRPr>
          </a:p>
        </p:txBody>
      </p:sp>
      <p:pic>
        <p:nvPicPr>
          <p:cNvPr id="7" name="Elementi multimediali online 6" title="Ragioni da dipendente o da imprenditore?">
            <a:hlinkClick r:id="" action="ppaction://media"/>
            <a:extLst>
              <a:ext uri="{FF2B5EF4-FFF2-40B4-BE49-F238E27FC236}">
                <a16:creationId xmlns:a16="http://schemas.microsoft.com/office/drawing/2014/main" id="{91E6257D-B01E-4FCE-BCB7-D495A6FC30C7}"/>
              </a:ext>
            </a:extLst>
          </p:cNvPr>
          <p:cNvPicPr>
            <a:picLocks noRot="1" noChangeAspect="1"/>
          </p:cNvPicPr>
          <p:nvPr>
            <a:videoFile r:link="rId1"/>
          </p:nvPr>
        </p:nvPicPr>
        <p:blipFill>
          <a:blip r:embed="rId3"/>
          <a:stretch>
            <a:fillRect/>
          </a:stretch>
        </p:blipFill>
        <p:spPr>
          <a:xfrm>
            <a:off x="985120" y="2038911"/>
            <a:ext cx="7173756" cy="4035238"/>
          </a:xfrm>
          <a:prstGeom prst="rect">
            <a:avLst/>
          </a:prstGeom>
        </p:spPr>
      </p:pic>
    </p:spTree>
    <p:extLst>
      <p:ext uri="{BB962C8B-B14F-4D97-AF65-F5344CB8AC3E}">
        <p14:creationId xmlns:p14="http://schemas.microsoft.com/office/powerpoint/2010/main" val="1583589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12"/>
          <p:cNvPicPr preferRelativeResize="0"/>
          <p:nvPr/>
        </p:nvPicPr>
        <p:blipFill rotWithShape="1">
          <a:blip r:embed="rId3">
            <a:alphaModFix/>
          </a:blip>
          <a:srcRect/>
          <a:stretch/>
        </p:blipFill>
        <p:spPr>
          <a:xfrm>
            <a:off x="1851212" y="2004586"/>
            <a:ext cx="5894294" cy="3003176"/>
          </a:xfrm>
          <a:prstGeom prst="rect">
            <a:avLst/>
          </a:prstGeom>
          <a:noFill/>
          <a:ln>
            <a:noFill/>
          </a:ln>
        </p:spPr>
      </p:pic>
      <p:sp>
        <p:nvSpPr>
          <p:cNvPr id="3" name="Google Shape;190;p11">
            <a:extLst>
              <a:ext uri="{FF2B5EF4-FFF2-40B4-BE49-F238E27FC236}">
                <a16:creationId xmlns:a16="http://schemas.microsoft.com/office/drawing/2014/main" id="{F93B61CF-628C-4EB3-9B2A-6EC87E58133C}"/>
              </a:ext>
            </a:extLst>
          </p:cNvPr>
          <p:cNvSpPr txBox="1">
            <a:spLocks noGrp="1"/>
          </p:cNvSpPr>
          <p:nvPr>
            <p:ph type="title"/>
          </p:nvPr>
        </p:nvSpPr>
        <p:spPr>
          <a:xfrm>
            <a:off x="1125475" y="324674"/>
            <a:ext cx="6893050" cy="87459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2800" dirty="0">
                <a:solidFill>
                  <a:srgbClr val="0070C0"/>
                </a:solidFill>
                <a:latin typeface="Poppins" panose="020B0604020202020204"/>
              </a:rPr>
              <a:t>Ma non solo imprenditore e manager…..</a:t>
            </a:r>
            <a:endParaRPr sz="2800" dirty="0">
              <a:solidFill>
                <a:srgbClr val="0070C0"/>
              </a:solidFill>
              <a:latin typeface="Poppins" panose="020B0604020202020204"/>
            </a:endParaRPr>
          </a:p>
        </p:txBody>
      </p:sp>
      <p:sp>
        <p:nvSpPr>
          <p:cNvPr id="4" name="Google Shape;190;p11">
            <a:extLst>
              <a:ext uri="{FF2B5EF4-FFF2-40B4-BE49-F238E27FC236}">
                <a16:creationId xmlns:a16="http://schemas.microsoft.com/office/drawing/2014/main" id="{19D0CBFC-9409-4A12-9CEF-9C96491E486E}"/>
              </a:ext>
            </a:extLst>
          </p:cNvPr>
          <p:cNvSpPr txBox="1">
            <a:spLocks/>
          </p:cNvSpPr>
          <p:nvPr/>
        </p:nvSpPr>
        <p:spPr>
          <a:xfrm>
            <a:off x="1125475" y="1199272"/>
            <a:ext cx="6893050" cy="751488"/>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it-IT" sz="2400" b="0" dirty="0">
                <a:solidFill>
                  <a:srgbClr val="0070C0"/>
                </a:solidFill>
                <a:latin typeface="Poppins" panose="020B0604020202020204"/>
              </a:rPr>
              <a:t>Un’impresa è un sistema a cui partecipano in molti e in vario modo.</a:t>
            </a:r>
          </a:p>
        </p:txBody>
      </p:sp>
      <p:sp>
        <p:nvSpPr>
          <p:cNvPr id="5" name="Google Shape;190;p11">
            <a:extLst>
              <a:ext uri="{FF2B5EF4-FFF2-40B4-BE49-F238E27FC236}">
                <a16:creationId xmlns:a16="http://schemas.microsoft.com/office/drawing/2014/main" id="{4A5F1E40-95A9-4269-9E39-3DDF460DF777}"/>
              </a:ext>
            </a:extLst>
          </p:cNvPr>
          <p:cNvSpPr txBox="1">
            <a:spLocks/>
          </p:cNvSpPr>
          <p:nvPr/>
        </p:nvSpPr>
        <p:spPr>
          <a:xfrm>
            <a:off x="1118752" y="5007762"/>
            <a:ext cx="7012236" cy="1120820"/>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it-IT" sz="2400" dirty="0">
                <a:solidFill>
                  <a:srgbClr val="0070C0"/>
                </a:solidFill>
                <a:latin typeface="Poppins" panose="020B0604020202020204"/>
              </a:rPr>
              <a:t>Stakeholder</a:t>
            </a:r>
            <a:r>
              <a:rPr lang="it-IT" sz="2400" b="0" dirty="0">
                <a:solidFill>
                  <a:srgbClr val="0070C0"/>
                </a:solidFill>
                <a:latin typeface="Poppins" panose="020B0604020202020204"/>
              </a:rPr>
              <a:t> è ogni individuo o gruppo (interlocutore) che influenza o è influenzato dalle finalità perseguite dall’Impresa. </a:t>
            </a:r>
          </a:p>
        </p:txBody>
      </p:sp>
    </p:spTree>
    <p:extLst>
      <p:ext uri="{BB962C8B-B14F-4D97-AF65-F5344CB8AC3E}">
        <p14:creationId xmlns:p14="http://schemas.microsoft.com/office/powerpoint/2010/main" val="3097070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4"/>
          <p:cNvSpPr/>
          <p:nvPr/>
        </p:nvSpPr>
        <p:spPr>
          <a:xfrm>
            <a:off x="1219200" y="945770"/>
            <a:ext cx="68580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333333"/>
              </a:solidFill>
              <a:latin typeface="Georgia"/>
              <a:ea typeface="Georgia"/>
              <a:cs typeface="Georgia"/>
              <a:sym typeface="Georgia"/>
            </a:endParaRPr>
          </a:p>
          <a:p>
            <a:pPr marL="0" marR="0" lvl="0" indent="0" algn="l" rtl="0">
              <a:spcBef>
                <a:spcPts val="0"/>
              </a:spcBef>
              <a:spcAft>
                <a:spcPts val="0"/>
              </a:spcAft>
              <a:buNone/>
            </a:pPr>
            <a:endParaRPr sz="1800" dirty="0">
              <a:solidFill>
                <a:srgbClr val="333333"/>
              </a:solidFill>
              <a:latin typeface="Georgia"/>
              <a:ea typeface="Georgia"/>
              <a:cs typeface="Georgia"/>
              <a:sym typeface="Georgia"/>
            </a:endParaRPr>
          </a:p>
        </p:txBody>
      </p:sp>
      <p:sp>
        <p:nvSpPr>
          <p:cNvPr id="5" name="Title 4">
            <a:extLst>
              <a:ext uri="{FF2B5EF4-FFF2-40B4-BE49-F238E27FC236}">
                <a16:creationId xmlns:a16="http://schemas.microsoft.com/office/drawing/2014/main" id="{B93640D9-AB18-4015-A319-5BCA77647E50}"/>
              </a:ext>
            </a:extLst>
          </p:cNvPr>
          <p:cNvSpPr>
            <a:spLocks noGrp="1"/>
          </p:cNvSpPr>
          <p:nvPr>
            <p:ph type="title"/>
          </p:nvPr>
        </p:nvSpPr>
        <p:spPr>
          <a:xfrm>
            <a:off x="584986" y="394264"/>
            <a:ext cx="8147032" cy="630942"/>
          </a:xfrm>
        </p:spPr>
        <p:txBody>
          <a:bodyPr/>
          <a:lstStyle/>
          <a:p>
            <a:pPr algn="ctr"/>
            <a:r>
              <a:rPr lang="it-IT" dirty="0">
                <a:solidFill>
                  <a:srgbClr val="0070C0"/>
                </a:solidFill>
                <a:latin typeface="Poppins"/>
              </a:rPr>
              <a:t>Stakeholders vs Shareholders</a:t>
            </a:r>
            <a:endParaRPr lang="en-GB" dirty="0">
              <a:solidFill>
                <a:srgbClr val="0070C0"/>
              </a:solidFill>
              <a:latin typeface="Poppins"/>
            </a:endParaRPr>
          </a:p>
        </p:txBody>
      </p:sp>
      <p:sp>
        <p:nvSpPr>
          <p:cNvPr id="6" name="Text Placeholder 5">
            <a:extLst>
              <a:ext uri="{FF2B5EF4-FFF2-40B4-BE49-F238E27FC236}">
                <a16:creationId xmlns:a16="http://schemas.microsoft.com/office/drawing/2014/main" id="{E26FCDBA-DF31-4BAB-8B12-BD246E6BD5A4}"/>
              </a:ext>
            </a:extLst>
          </p:cNvPr>
          <p:cNvSpPr>
            <a:spLocks noGrp="1"/>
          </p:cNvSpPr>
          <p:nvPr>
            <p:ph type="body" idx="1"/>
          </p:nvPr>
        </p:nvSpPr>
        <p:spPr>
          <a:xfrm>
            <a:off x="772822" y="1351017"/>
            <a:ext cx="3090376" cy="3323987"/>
          </a:xfrm>
        </p:spPr>
        <p:txBody>
          <a:bodyPr/>
          <a:lstStyle/>
          <a:p>
            <a:pPr marL="0" algn="ctr"/>
            <a:r>
              <a:rPr lang="it-IT" sz="3600" b="1" i="1" dirty="0">
                <a:solidFill>
                  <a:schemeClr val="accent2">
                    <a:lumMod val="75000"/>
                  </a:schemeClr>
                </a:solidFill>
                <a:latin typeface="Poppins" panose="020B0604020202020204"/>
              </a:rPr>
              <a:t>Stakeholder</a:t>
            </a:r>
          </a:p>
          <a:p>
            <a:pPr marL="0"/>
            <a:endParaRPr lang="it-IT" sz="3600" dirty="0">
              <a:solidFill>
                <a:schemeClr val="accent2">
                  <a:lumMod val="75000"/>
                </a:schemeClr>
              </a:solidFill>
              <a:latin typeface="Poppins" panose="020B0604020202020204"/>
            </a:endParaRPr>
          </a:p>
          <a:p>
            <a:pPr marL="0"/>
            <a:endParaRPr lang="it-IT" sz="3600" dirty="0">
              <a:solidFill>
                <a:schemeClr val="accent2">
                  <a:lumMod val="75000"/>
                </a:schemeClr>
              </a:solidFill>
              <a:latin typeface="Poppins" panose="020B0604020202020204"/>
            </a:endParaRPr>
          </a:p>
          <a:p>
            <a:pPr marL="0"/>
            <a:endParaRPr lang="it-IT" sz="3600" dirty="0">
              <a:solidFill>
                <a:schemeClr val="accent2">
                  <a:lumMod val="75000"/>
                </a:schemeClr>
              </a:solidFill>
              <a:latin typeface="Poppins" panose="020B0604020202020204"/>
            </a:endParaRPr>
          </a:p>
          <a:p>
            <a:pPr marL="0" algn="ctr"/>
            <a:r>
              <a:rPr lang="it-IT" sz="3600" dirty="0">
                <a:solidFill>
                  <a:schemeClr val="accent2">
                    <a:lumMod val="75000"/>
                  </a:schemeClr>
                </a:solidFill>
                <a:latin typeface="Poppins" panose="020B0604020202020204"/>
              </a:rPr>
              <a:t>Portatore di interesse</a:t>
            </a:r>
            <a:endParaRPr lang="en-GB" sz="3600" dirty="0">
              <a:solidFill>
                <a:schemeClr val="accent2">
                  <a:lumMod val="75000"/>
                </a:schemeClr>
              </a:solidFill>
              <a:latin typeface="Poppins" panose="020B0604020202020204"/>
            </a:endParaRPr>
          </a:p>
        </p:txBody>
      </p:sp>
      <p:sp>
        <p:nvSpPr>
          <p:cNvPr id="7" name="Text Placeholder 6">
            <a:extLst>
              <a:ext uri="{FF2B5EF4-FFF2-40B4-BE49-F238E27FC236}">
                <a16:creationId xmlns:a16="http://schemas.microsoft.com/office/drawing/2014/main" id="{F09FC565-4167-47EF-ACF8-F68BFF008C00}"/>
              </a:ext>
            </a:extLst>
          </p:cNvPr>
          <p:cNvSpPr>
            <a:spLocks noGrp="1"/>
          </p:cNvSpPr>
          <p:nvPr>
            <p:ph type="body" idx="2"/>
          </p:nvPr>
        </p:nvSpPr>
        <p:spPr>
          <a:xfrm>
            <a:off x="4288478" y="1351017"/>
            <a:ext cx="4668754" cy="4739759"/>
          </a:xfrm>
        </p:spPr>
        <p:txBody>
          <a:bodyPr/>
          <a:lstStyle/>
          <a:p>
            <a:pPr marL="0"/>
            <a:r>
              <a:rPr lang="it-IT" sz="2800" b="1" i="1" dirty="0">
                <a:solidFill>
                  <a:schemeClr val="accent3">
                    <a:lumMod val="50000"/>
                  </a:schemeClr>
                </a:solidFill>
                <a:latin typeface="Poppins" panose="020B0604020202020204"/>
              </a:rPr>
              <a:t>Stockholder/Shareholder</a:t>
            </a:r>
            <a:endParaRPr lang="it-IT" sz="2800" dirty="0">
              <a:solidFill>
                <a:schemeClr val="accent3">
                  <a:lumMod val="50000"/>
                </a:schemeClr>
              </a:solidFill>
              <a:latin typeface="Poppins" panose="020B0604020202020204"/>
            </a:endParaRPr>
          </a:p>
          <a:p>
            <a:pPr marL="0" algn="ctr"/>
            <a:endParaRPr lang="it-IT" sz="3200" dirty="0">
              <a:solidFill>
                <a:schemeClr val="accent3">
                  <a:lumMod val="50000"/>
                </a:schemeClr>
              </a:solidFill>
              <a:latin typeface="Poppins" panose="020B0604020202020204"/>
            </a:endParaRPr>
          </a:p>
          <a:p>
            <a:pPr marL="0" algn="ctr"/>
            <a:endParaRPr lang="it-IT" sz="3200" dirty="0">
              <a:solidFill>
                <a:schemeClr val="accent3">
                  <a:lumMod val="50000"/>
                </a:schemeClr>
              </a:solidFill>
              <a:latin typeface="Poppins" panose="020B0604020202020204"/>
            </a:endParaRPr>
          </a:p>
          <a:p>
            <a:pPr marL="0" algn="ctr"/>
            <a:endParaRPr lang="it-IT" sz="3200" dirty="0">
              <a:solidFill>
                <a:schemeClr val="accent3">
                  <a:lumMod val="50000"/>
                </a:schemeClr>
              </a:solidFill>
              <a:latin typeface="Poppins" panose="020B0604020202020204"/>
            </a:endParaRPr>
          </a:p>
          <a:p>
            <a:pPr marL="0" algn="ctr"/>
            <a:r>
              <a:rPr lang="it-IT" sz="3200" dirty="0">
                <a:solidFill>
                  <a:schemeClr val="accent3">
                    <a:lumMod val="50000"/>
                  </a:schemeClr>
                </a:solidFill>
                <a:latin typeface="Poppins" panose="020B0604020202020204"/>
              </a:rPr>
              <a:t>Possessore di titoli rappresentativi del capitale di rischio dell’impresa</a:t>
            </a:r>
          </a:p>
          <a:p>
            <a:endParaRPr lang="en-GB" sz="2800" dirty="0"/>
          </a:p>
        </p:txBody>
      </p:sp>
      <p:sp>
        <p:nvSpPr>
          <p:cNvPr id="8" name="Google Shape;124;p3">
            <a:extLst>
              <a:ext uri="{FF2B5EF4-FFF2-40B4-BE49-F238E27FC236}">
                <a16:creationId xmlns:a16="http://schemas.microsoft.com/office/drawing/2014/main" id="{B7729EB9-1C9F-4B69-8E90-6AE077EA5230}"/>
              </a:ext>
            </a:extLst>
          </p:cNvPr>
          <p:cNvSpPr/>
          <p:nvPr/>
        </p:nvSpPr>
        <p:spPr>
          <a:xfrm>
            <a:off x="2029720" y="1972213"/>
            <a:ext cx="576580" cy="1069495"/>
          </a:xfrm>
          <a:custGeom>
            <a:avLst/>
            <a:gdLst/>
            <a:ahLst/>
            <a:cxnLst/>
            <a:rect l="l" t="t" r="r" b="b"/>
            <a:pathLst>
              <a:path w="576580" h="576579" extrusionOk="0">
                <a:moveTo>
                  <a:pt x="432054" y="0"/>
                </a:moveTo>
                <a:lnTo>
                  <a:pt x="144018" y="0"/>
                </a:lnTo>
                <a:lnTo>
                  <a:pt x="144018" y="432054"/>
                </a:lnTo>
                <a:lnTo>
                  <a:pt x="0" y="432054"/>
                </a:lnTo>
                <a:lnTo>
                  <a:pt x="288036" y="576072"/>
                </a:lnTo>
                <a:lnTo>
                  <a:pt x="576072" y="432054"/>
                </a:lnTo>
                <a:lnTo>
                  <a:pt x="432054" y="432054"/>
                </a:lnTo>
                <a:lnTo>
                  <a:pt x="432054" y="0"/>
                </a:lnTo>
                <a:close/>
              </a:path>
            </a:pathLst>
          </a:custGeom>
          <a:solidFill>
            <a:schemeClr val="accent2">
              <a:lumMod val="7500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124;p3">
            <a:extLst>
              <a:ext uri="{FF2B5EF4-FFF2-40B4-BE49-F238E27FC236}">
                <a16:creationId xmlns:a16="http://schemas.microsoft.com/office/drawing/2014/main" id="{FB3606FB-1F11-4108-8E0B-5E75760C7B95}"/>
              </a:ext>
            </a:extLst>
          </p:cNvPr>
          <p:cNvSpPr/>
          <p:nvPr/>
        </p:nvSpPr>
        <p:spPr>
          <a:xfrm>
            <a:off x="6178587" y="1972212"/>
            <a:ext cx="576580" cy="1069495"/>
          </a:xfrm>
          <a:custGeom>
            <a:avLst/>
            <a:gdLst/>
            <a:ahLst/>
            <a:cxnLst/>
            <a:rect l="l" t="t" r="r" b="b"/>
            <a:pathLst>
              <a:path w="576580" h="576579" extrusionOk="0">
                <a:moveTo>
                  <a:pt x="432054" y="0"/>
                </a:moveTo>
                <a:lnTo>
                  <a:pt x="144018" y="0"/>
                </a:lnTo>
                <a:lnTo>
                  <a:pt x="144018" y="432054"/>
                </a:lnTo>
                <a:lnTo>
                  <a:pt x="0" y="432054"/>
                </a:lnTo>
                <a:lnTo>
                  <a:pt x="288036" y="576072"/>
                </a:lnTo>
                <a:lnTo>
                  <a:pt x="576072" y="432054"/>
                </a:lnTo>
                <a:lnTo>
                  <a:pt x="432054" y="432054"/>
                </a:lnTo>
                <a:lnTo>
                  <a:pt x="432054" y="0"/>
                </a:lnTo>
                <a:close/>
              </a:path>
            </a:pathLst>
          </a:custGeom>
          <a:solidFill>
            <a:schemeClr val="accent3">
              <a:lumMod val="5000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 name="Ovale 1" descr="Stakeholder&#10;">
            <a:extLst>
              <a:ext uri="{FF2B5EF4-FFF2-40B4-BE49-F238E27FC236}">
                <a16:creationId xmlns:a16="http://schemas.microsoft.com/office/drawing/2014/main" id="{E4A0C98D-B5D8-43CC-B58B-3A5FFB416173}"/>
              </a:ext>
            </a:extLst>
          </p:cNvPr>
          <p:cNvSpPr/>
          <p:nvPr/>
        </p:nvSpPr>
        <p:spPr>
          <a:xfrm>
            <a:off x="584986" y="4935482"/>
            <a:ext cx="4668754" cy="17892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2000" dirty="0">
              <a:solidFill>
                <a:schemeClr val="tx1"/>
              </a:solidFill>
            </a:endParaRPr>
          </a:p>
        </p:txBody>
      </p:sp>
      <p:sp>
        <p:nvSpPr>
          <p:cNvPr id="3" name="CasellaDiTesto 2">
            <a:extLst>
              <a:ext uri="{FF2B5EF4-FFF2-40B4-BE49-F238E27FC236}">
                <a16:creationId xmlns:a16="http://schemas.microsoft.com/office/drawing/2014/main" id="{343330EB-BD8C-4C7B-8E00-8755E9CCA77D}"/>
              </a:ext>
            </a:extLst>
          </p:cNvPr>
          <p:cNvSpPr txBox="1"/>
          <p:nvPr/>
        </p:nvSpPr>
        <p:spPr>
          <a:xfrm>
            <a:off x="1243833" y="5129755"/>
            <a:ext cx="1776195" cy="400110"/>
          </a:xfrm>
          <a:prstGeom prst="rect">
            <a:avLst/>
          </a:prstGeom>
          <a:noFill/>
        </p:spPr>
        <p:txBody>
          <a:bodyPr wrap="square" rtlCol="0">
            <a:spAutoFit/>
          </a:bodyPr>
          <a:lstStyle/>
          <a:p>
            <a:r>
              <a:rPr lang="it-IT" sz="2000" dirty="0">
                <a:solidFill>
                  <a:schemeClr val="accent2">
                    <a:lumMod val="75000"/>
                  </a:schemeClr>
                </a:solidFill>
              </a:rPr>
              <a:t>Stakeholders</a:t>
            </a:r>
          </a:p>
        </p:txBody>
      </p:sp>
      <p:sp>
        <p:nvSpPr>
          <p:cNvPr id="4" name="Ovale 3">
            <a:extLst>
              <a:ext uri="{FF2B5EF4-FFF2-40B4-BE49-F238E27FC236}">
                <a16:creationId xmlns:a16="http://schemas.microsoft.com/office/drawing/2014/main" id="{B104F57E-B054-4EB0-A152-7BEBDAF0A7E8}"/>
              </a:ext>
            </a:extLst>
          </p:cNvPr>
          <p:cNvSpPr/>
          <p:nvPr/>
        </p:nvSpPr>
        <p:spPr>
          <a:xfrm>
            <a:off x="2799575" y="5747497"/>
            <a:ext cx="2046382" cy="646290"/>
          </a:xfrm>
          <a:prstGeom prst="ellipse">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CasellaDiTesto 10">
            <a:extLst>
              <a:ext uri="{FF2B5EF4-FFF2-40B4-BE49-F238E27FC236}">
                <a16:creationId xmlns:a16="http://schemas.microsoft.com/office/drawing/2014/main" id="{7F33A2F7-A3B6-444C-B2AF-DEBCF1CED474}"/>
              </a:ext>
            </a:extLst>
          </p:cNvPr>
          <p:cNvSpPr txBox="1"/>
          <p:nvPr/>
        </p:nvSpPr>
        <p:spPr>
          <a:xfrm>
            <a:off x="3020028" y="5885976"/>
            <a:ext cx="1605477" cy="369332"/>
          </a:xfrm>
          <a:prstGeom prst="rect">
            <a:avLst/>
          </a:prstGeom>
          <a:noFill/>
        </p:spPr>
        <p:txBody>
          <a:bodyPr wrap="square" rtlCol="0">
            <a:spAutoFit/>
          </a:bodyPr>
          <a:lstStyle/>
          <a:p>
            <a:r>
              <a:rPr lang="it-IT" sz="1800" dirty="0">
                <a:solidFill>
                  <a:schemeClr val="bg1"/>
                </a:solidFill>
              </a:rPr>
              <a:t>Shareholders</a:t>
            </a:r>
          </a:p>
        </p:txBody>
      </p:sp>
    </p:spTree>
    <p:extLst>
      <p:ext uri="{BB962C8B-B14F-4D97-AF65-F5344CB8AC3E}">
        <p14:creationId xmlns:p14="http://schemas.microsoft.com/office/powerpoint/2010/main" val="1974441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txBox="1">
            <a:spLocks noGrp="1"/>
          </p:cNvSpPr>
          <p:nvPr>
            <p:ph type="title" idx="4294967295"/>
          </p:nvPr>
        </p:nvSpPr>
        <p:spPr>
          <a:xfrm>
            <a:off x="871537" y="463827"/>
            <a:ext cx="7400925" cy="630942"/>
          </a:xfrm>
          <a:prstGeom prst="rect">
            <a:avLst/>
          </a:prstGeom>
          <a:noFill/>
          <a:ln>
            <a:noFill/>
          </a:ln>
        </p:spPr>
        <p:txBody>
          <a:bodyPr spcFirstLastPara="1" wrap="square" lIns="0" tIns="0" rIns="0" bIns="0" anchor="b" anchorCtr="0">
            <a:spAutoFit/>
          </a:bodyPr>
          <a:lstStyle/>
          <a:p>
            <a:pPr lvl="0"/>
            <a:r>
              <a:rPr lang="it-IT" dirty="0">
                <a:solidFill>
                  <a:schemeClr val="tx1"/>
                </a:solidFill>
              </a:rPr>
              <a:t> </a:t>
            </a:r>
            <a:r>
              <a:rPr lang="it-IT" sz="4000" dirty="0">
                <a:solidFill>
                  <a:srgbClr val="0070C0"/>
                </a:solidFill>
                <a:latin typeface="Poppins" panose="020B0604020202020204"/>
              </a:rPr>
              <a:t>Chi sono gli stakeholders?</a:t>
            </a:r>
            <a:endParaRPr dirty="0">
              <a:solidFill>
                <a:srgbClr val="0070C0"/>
              </a:solidFill>
              <a:latin typeface="Poppins" panose="020B0604020202020204"/>
            </a:endParaRPr>
          </a:p>
        </p:txBody>
      </p:sp>
      <p:sp>
        <p:nvSpPr>
          <p:cNvPr id="253" name="Google Shape;253;p17"/>
          <p:cNvSpPr txBox="1">
            <a:spLocks noGrp="1"/>
          </p:cNvSpPr>
          <p:nvPr>
            <p:ph type="body" idx="4294967295"/>
          </p:nvPr>
        </p:nvSpPr>
        <p:spPr>
          <a:xfrm>
            <a:off x="841096" y="1341626"/>
            <a:ext cx="7823200" cy="1285034"/>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rgbClr val="595959"/>
              </a:buClr>
              <a:buSzPts val="2000"/>
            </a:pPr>
            <a:r>
              <a:rPr lang="it-IT" sz="2000" dirty="0">
                <a:solidFill>
                  <a:srgbClr val="0070C0"/>
                </a:solidFill>
                <a:latin typeface="Poppins" panose="020B0604020202020204"/>
              </a:rPr>
              <a:t>Persone od organizzazioni con un </a:t>
            </a:r>
            <a:r>
              <a:rPr lang="it-IT" sz="2000" u="sng" dirty="0">
                <a:solidFill>
                  <a:srgbClr val="0070C0"/>
                </a:solidFill>
                <a:latin typeface="Poppins" panose="020B0604020202020204"/>
              </a:rPr>
              <a:t>interesse speciale</a:t>
            </a:r>
            <a:r>
              <a:rPr lang="it-IT" sz="2000" dirty="0">
                <a:solidFill>
                  <a:srgbClr val="0070C0"/>
                </a:solidFill>
                <a:latin typeface="Poppins" panose="020B0604020202020204"/>
              </a:rPr>
              <a:t> in un’impresa (o più imprese).</a:t>
            </a:r>
            <a:endParaRPr dirty="0">
              <a:solidFill>
                <a:srgbClr val="0070C0"/>
              </a:solidFill>
              <a:latin typeface="Poppins" panose="020B0604020202020204"/>
            </a:endParaRPr>
          </a:p>
          <a:p>
            <a:pPr marL="0" lvl="0" indent="0" algn="l" rtl="0">
              <a:spcBef>
                <a:spcPts val="0"/>
              </a:spcBef>
              <a:spcAft>
                <a:spcPts val="0"/>
              </a:spcAft>
              <a:buClr>
                <a:srgbClr val="595959"/>
              </a:buClr>
              <a:buSzPts val="2000"/>
            </a:pPr>
            <a:r>
              <a:rPr lang="it-IT" sz="2000" dirty="0">
                <a:solidFill>
                  <a:srgbClr val="0070C0"/>
                </a:solidFill>
                <a:latin typeface="Poppins" panose="020B0604020202020204"/>
              </a:rPr>
              <a:t>Sono </a:t>
            </a:r>
            <a:r>
              <a:rPr lang="it-IT" sz="2000" u="sng" dirty="0">
                <a:solidFill>
                  <a:srgbClr val="0070C0"/>
                </a:solidFill>
                <a:latin typeface="Poppins" panose="020B0604020202020204"/>
              </a:rPr>
              <a:t>direttamente interessati</a:t>
            </a:r>
            <a:r>
              <a:rPr lang="it-IT" sz="2000" dirty="0">
                <a:solidFill>
                  <a:srgbClr val="0070C0"/>
                </a:solidFill>
                <a:latin typeface="Poppins" panose="020B0604020202020204"/>
              </a:rPr>
              <a:t> all’impresa e al modo in cui essa opera, sia nel presente che nel futuro.</a:t>
            </a:r>
            <a:endParaRPr dirty="0">
              <a:solidFill>
                <a:srgbClr val="0070C0"/>
              </a:solidFill>
              <a:latin typeface="Poppins" panose="020B0604020202020204"/>
            </a:endParaRPr>
          </a:p>
        </p:txBody>
      </p:sp>
      <p:sp>
        <p:nvSpPr>
          <p:cNvPr id="2" name="Rettangolo 1">
            <a:extLst>
              <a:ext uri="{FF2B5EF4-FFF2-40B4-BE49-F238E27FC236}">
                <a16:creationId xmlns:a16="http://schemas.microsoft.com/office/drawing/2014/main" id="{43A0DD1E-A5F0-4F61-8541-B504CAAF8169}"/>
              </a:ext>
            </a:extLst>
          </p:cNvPr>
          <p:cNvSpPr/>
          <p:nvPr/>
        </p:nvSpPr>
        <p:spPr>
          <a:xfrm>
            <a:off x="2179752" y="6382263"/>
            <a:ext cx="1944013" cy="430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F5E3F418-7C00-4AED-BF0B-A754279D70F8}"/>
              </a:ext>
            </a:extLst>
          </p:cNvPr>
          <p:cNvSpPr/>
          <p:nvPr/>
        </p:nvSpPr>
        <p:spPr>
          <a:xfrm>
            <a:off x="5020233" y="6337443"/>
            <a:ext cx="1944013" cy="430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FDC92729-5612-456F-9F4C-918B3DE35E8B}"/>
              </a:ext>
            </a:extLst>
          </p:cNvPr>
          <p:cNvSpPr/>
          <p:nvPr/>
        </p:nvSpPr>
        <p:spPr>
          <a:xfrm>
            <a:off x="3881716" y="6597415"/>
            <a:ext cx="1380566" cy="232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D4A4E16A-5475-463E-BDED-11118FE88ABC}"/>
              </a:ext>
            </a:extLst>
          </p:cNvPr>
          <p:cNvPicPr>
            <a:picLocks noChangeAspect="1"/>
          </p:cNvPicPr>
          <p:nvPr/>
        </p:nvPicPr>
        <p:blipFill>
          <a:blip r:embed="rId3"/>
          <a:stretch>
            <a:fillRect/>
          </a:stretch>
        </p:blipFill>
        <p:spPr>
          <a:xfrm>
            <a:off x="1636709" y="2767521"/>
            <a:ext cx="5417187" cy="375878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sp>
        <p:nvSpPr>
          <p:cNvPr id="273" name="Google Shape;273;p20"/>
          <p:cNvSpPr txBox="1">
            <a:spLocks noGrp="1"/>
          </p:cNvSpPr>
          <p:nvPr>
            <p:ph type="title" idx="4294967295"/>
          </p:nvPr>
        </p:nvSpPr>
        <p:spPr>
          <a:xfrm>
            <a:off x="1831755" y="427785"/>
            <a:ext cx="5510306"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it-IT" sz="3600" dirty="0">
                <a:solidFill>
                  <a:srgbClr val="0070C0"/>
                </a:solidFill>
                <a:latin typeface="Poppins" panose="020B0604020202020204"/>
              </a:rPr>
              <a:t>STAKEHOLDER INTERNI</a:t>
            </a:r>
            <a:endParaRPr sz="3600" dirty="0">
              <a:solidFill>
                <a:srgbClr val="0070C0"/>
              </a:solidFill>
              <a:latin typeface="Poppins" panose="020B0604020202020204"/>
            </a:endParaRPr>
          </a:p>
        </p:txBody>
      </p:sp>
      <p:sp>
        <p:nvSpPr>
          <p:cNvPr id="274" name="Google Shape;274;p20"/>
          <p:cNvSpPr txBox="1"/>
          <p:nvPr/>
        </p:nvSpPr>
        <p:spPr>
          <a:xfrm>
            <a:off x="825304" y="1448254"/>
            <a:ext cx="7709096" cy="2616060"/>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0"/>
              </a:spcAft>
              <a:buClr>
                <a:schemeClr val="dk1"/>
              </a:buClr>
              <a:buSzPts val="2000"/>
            </a:pPr>
            <a:r>
              <a:rPr lang="it-IT" sz="2400" dirty="0">
                <a:solidFill>
                  <a:srgbClr val="0070C0"/>
                </a:solidFill>
                <a:latin typeface="Poppins" panose="020B0604020202020204"/>
                <a:ea typeface="Calibri"/>
                <a:cs typeface="Calibri"/>
                <a:sym typeface="Calibri"/>
              </a:rPr>
              <a:t>Gli </a:t>
            </a:r>
            <a:r>
              <a:rPr lang="it-IT" sz="2400" b="1" dirty="0">
                <a:solidFill>
                  <a:srgbClr val="0070C0"/>
                </a:solidFill>
                <a:latin typeface="Poppins" panose="020B0604020202020204"/>
                <a:ea typeface="Calibri"/>
                <a:cs typeface="Calibri"/>
                <a:sym typeface="Calibri"/>
              </a:rPr>
              <a:t>stakeholder INTERNI </a:t>
            </a:r>
            <a:r>
              <a:rPr lang="it-IT" sz="2400" dirty="0">
                <a:solidFill>
                  <a:srgbClr val="0070C0"/>
                </a:solidFill>
                <a:latin typeface="Poppins" panose="020B0604020202020204"/>
                <a:ea typeface="Calibri"/>
                <a:cs typeface="Calibri"/>
                <a:sym typeface="Calibri"/>
              </a:rPr>
              <a:t>hanno un interesse nel successo e nel fallimento dell’impresa, in quanto possono essere ricompensati o danneggiati in conseguenza dell’andamento dell’impresa stessa.</a:t>
            </a:r>
            <a:endParaRPr sz="1600" dirty="0">
              <a:solidFill>
                <a:srgbClr val="0070C0"/>
              </a:solidFill>
              <a:latin typeface="Poppins" panose="020B0604020202020204"/>
            </a:endParaRPr>
          </a:p>
          <a:p>
            <a:pPr marL="0" marR="0" lvl="0" indent="0" algn="l" rtl="0">
              <a:spcBef>
                <a:spcPts val="0"/>
              </a:spcBef>
              <a:spcAft>
                <a:spcPts val="0"/>
              </a:spcAft>
              <a:buNone/>
            </a:pPr>
            <a:endParaRPr sz="2400" dirty="0">
              <a:solidFill>
                <a:srgbClr val="0070C0"/>
              </a:solidFill>
              <a:latin typeface="Poppins" panose="020B0604020202020204"/>
              <a:ea typeface="Calibri"/>
              <a:cs typeface="Calibri"/>
              <a:sym typeface="Calibri"/>
            </a:endParaRPr>
          </a:p>
          <a:p>
            <a:pPr marR="0" lvl="0" algn="l" rtl="0">
              <a:spcBef>
                <a:spcPts val="0"/>
              </a:spcBef>
              <a:spcAft>
                <a:spcPts val="0"/>
              </a:spcAft>
              <a:buClr>
                <a:schemeClr val="dk1"/>
              </a:buClr>
              <a:buSzPts val="2000"/>
            </a:pPr>
            <a:r>
              <a:rPr lang="it-IT" sz="2400" dirty="0">
                <a:solidFill>
                  <a:srgbClr val="0070C0"/>
                </a:solidFill>
                <a:latin typeface="Poppins" panose="020B0604020202020204"/>
                <a:ea typeface="Calibri"/>
                <a:cs typeface="Calibri"/>
                <a:sym typeface="Calibri"/>
              </a:rPr>
              <a:t>Gli stakeholder interni sono:</a:t>
            </a:r>
            <a:endParaRPr sz="2400" b="1" dirty="0">
              <a:solidFill>
                <a:srgbClr val="0070C0"/>
              </a:solidFill>
              <a:latin typeface="Poppins" panose="020B0604020202020204"/>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p:txBody>
      </p:sp>
      <p:pic>
        <p:nvPicPr>
          <p:cNvPr id="2" name="Immagine 1">
            <a:extLst>
              <a:ext uri="{FF2B5EF4-FFF2-40B4-BE49-F238E27FC236}">
                <a16:creationId xmlns:a16="http://schemas.microsoft.com/office/drawing/2014/main" id="{E6296448-F6EB-4EF2-9396-BD18A94A7A63}"/>
              </a:ext>
            </a:extLst>
          </p:cNvPr>
          <p:cNvPicPr>
            <a:picLocks noChangeAspect="1"/>
          </p:cNvPicPr>
          <p:nvPr/>
        </p:nvPicPr>
        <p:blipFill rotWithShape="1">
          <a:blip r:embed="rId4"/>
          <a:srcRect l="4939" t="11373" r="7036" b="15817"/>
          <a:stretch/>
        </p:blipFill>
        <p:spPr>
          <a:xfrm>
            <a:off x="609600" y="4264306"/>
            <a:ext cx="2303929" cy="1903989"/>
          </a:xfrm>
          <a:prstGeom prst="rect">
            <a:avLst/>
          </a:prstGeom>
        </p:spPr>
      </p:pic>
      <p:pic>
        <p:nvPicPr>
          <p:cNvPr id="1026" name="Picture 2" descr="Il mondo del manager - Editrice Industriale">
            <a:extLst>
              <a:ext uri="{FF2B5EF4-FFF2-40B4-BE49-F238E27FC236}">
                <a16:creationId xmlns:a16="http://schemas.microsoft.com/office/drawing/2014/main" id="{FA58E4EF-2271-48B3-8721-FA6033B0969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37" t="10196" r="8740" b="7451"/>
          <a:stretch/>
        </p:blipFill>
        <p:spPr bwMode="auto">
          <a:xfrm>
            <a:off x="4320988" y="4100002"/>
            <a:ext cx="1730191" cy="2229081"/>
          </a:xfrm>
          <a:prstGeom prst="rect">
            <a:avLst/>
          </a:prstGeom>
          <a:noFill/>
          <a:extLst>
            <a:ext uri="{909E8E84-426E-40DD-AFC4-6F175D3DCCD1}">
              <a14:hiddenFill xmlns:a14="http://schemas.microsoft.com/office/drawing/2010/main">
                <a:solidFill>
                  <a:srgbClr val="FFFFFF"/>
                </a:solidFill>
              </a14:hiddenFill>
            </a:ext>
          </a:extLst>
        </p:spPr>
      </p:pic>
      <p:pic>
        <p:nvPicPr>
          <p:cNvPr id="3" name="Immagine 2">
            <a:extLst>
              <a:ext uri="{FF2B5EF4-FFF2-40B4-BE49-F238E27FC236}">
                <a16:creationId xmlns:a16="http://schemas.microsoft.com/office/drawing/2014/main" id="{31D3F939-4B9D-4384-8CF3-C867B17AC370}"/>
              </a:ext>
            </a:extLst>
          </p:cNvPr>
          <p:cNvPicPr>
            <a:picLocks noChangeAspect="1"/>
          </p:cNvPicPr>
          <p:nvPr/>
        </p:nvPicPr>
        <p:blipFill>
          <a:blip r:embed="rId6"/>
          <a:stretch>
            <a:fillRect/>
          </a:stretch>
        </p:blipFill>
        <p:spPr>
          <a:xfrm>
            <a:off x="6131859" y="3838543"/>
            <a:ext cx="2465294" cy="2465294"/>
          </a:xfrm>
          <a:prstGeom prst="rect">
            <a:avLst/>
          </a:prstGeom>
        </p:spPr>
      </p:pic>
      <p:sp>
        <p:nvSpPr>
          <p:cNvPr id="4" name="Rettangolo 3">
            <a:extLst>
              <a:ext uri="{FF2B5EF4-FFF2-40B4-BE49-F238E27FC236}">
                <a16:creationId xmlns:a16="http://schemas.microsoft.com/office/drawing/2014/main" id="{91262C2B-267D-4158-AA08-7A202CB2BC6B}"/>
              </a:ext>
            </a:extLst>
          </p:cNvPr>
          <p:cNvSpPr/>
          <p:nvPr/>
        </p:nvSpPr>
        <p:spPr>
          <a:xfrm>
            <a:off x="1374018" y="6303837"/>
            <a:ext cx="1132041" cy="338554"/>
          </a:xfrm>
          <a:prstGeom prst="rect">
            <a:avLst/>
          </a:prstGeom>
        </p:spPr>
        <p:txBody>
          <a:bodyPr wrap="none">
            <a:spAutoFit/>
          </a:bodyPr>
          <a:lstStyle/>
          <a:p>
            <a:pPr lvl="0">
              <a:buClr>
                <a:schemeClr val="dk1"/>
              </a:buClr>
              <a:buSzPts val="2000"/>
            </a:pPr>
            <a:r>
              <a:rPr lang="it-IT" sz="1600" b="1" dirty="0">
                <a:solidFill>
                  <a:schemeClr val="accent1"/>
                </a:solidFill>
                <a:latin typeface="Poppins" panose="020B0604020202020204"/>
                <a:ea typeface="Calibri"/>
                <a:cs typeface="Calibri"/>
                <a:sym typeface="Calibri"/>
              </a:rPr>
              <a:t>Dipendenti</a:t>
            </a:r>
            <a:endParaRPr lang="it-IT" sz="1100" dirty="0">
              <a:latin typeface="Poppins" panose="020B0604020202020204"/>
            </a:endParaRPr>
          </a:p>
        </p:txBody>
      </p:sp>
      <p:sp>
        <p:nvSpPr>
          <p:cNvPr id="8" name="Rettangolo 7">
            <a:extLst>
              <a:ext uri="{FF2B5EF4-FFF2-40B4-BE49-F238E27FC236}">
                <a16:creationId xmlns:a16="http://schemas.microsoft.com/office/drawing/2014/main" id="{9D223E41-2531-4CC9-AE3E-08137D724C96}"/>
              </a:ext>
            </a:extLst>
          </p:cNvPr>
          <p:cNvSpPr/>
          <p:nvPr/>
        </p:nvSpPr>
        <p:spPr>
          <a:xfrm>
            <a:off x="4586908" y="6457725"/>
            <a:ext cx="950901" cy="338554"/>
          </a:xfrm>
          <a:prstGeom prst="rect">
            <a:avLst/>
          </a:prstGeom>
        </p:spPr>
        <p:txBody>
          <a:bodyPr wrap="none">
            <a:spAutoFit/>
          </a:bodyPr>
          <a:lstStyle/>
          <a:p>
            <a:pPr lvl="0">
              <a:buClr>
                <a:schemeClr val="dk1"/>
              </a:buClr>
              <a:buSzPts val="2000"/>
            </a:pPr>
            <a:r>
              <a:rPr lang="it-IT" sz="1600" b="1" dirty="0">
                <a:solidFill>
                  <a:schemeClr val="accent1"/>
                </a:solidFill>
                <a:latin typeface="Poppins" panose="020B0604020202020204"/>
                <a:ea typeface="Calibri"/>
                <a:cs typeface="Calibri"/>
                <a:sym typeface="Calibri"/>
              </a:rPr>
              <a:t>Manager</a:t>
            </a:r>
            <a:endParaRPr lang="it-IT" sz="1100" dirty="0">
              <a:latin typeface="Poppins" panose="020B0604020202020204"/>
            </a:endParaRPr>
          </a:p>
        </p:txBody>
      </p:sp>
      <p:sp>
        <p:nvSpPr>
          <p:cNvPr id="9" name="Rettangolo 8">
            <a:extLst>
              <a:ext uri="{FF2B5EF4-FFF2-40B4-BE49-F238E27FC236}">
                <a16:creationId xmlns:a16="http://schemas.microsoft.com/office/drawing/2014/main" id="{725B8D9C-F0A1-43A2-BA6D-35EF3AF2E4E7}"/>
              </a:ext>
            </a:extLst>
          </p:cNvPr>
          <p:cNvSpPr/>
          <p:nvPr/>
        </p:nvSpPr>
        <p:spPr>
          <a:xfrm>
            <a:off x="7019363" y="6457725"/>
            <a:ext cx="1109599" cy="338554"/>
          </a:xfrm>
          <a:prstGeom prst="rect">
            <a:avLst/>
          </a:prstGeom>
        </p:spPr>
        <p:txBody>
          <a:bodyPr wrap="none">
            <a:spAutoFit/>
          </a:bodyPr>
          <a:lstStyle/>
          <a:p>
            <a:pPr lvl="0">
              <a:buClr>
                <a:schemeClr val="dk1"/>
              </a:buClr>
              <a:buSzPts val="2000"/>
            </a:pPr>
            <a:r>
              <a:rPr lang="it-IT" sz="1600" b="1" dirty="0">
                <a:solidFill>
                  <a:schemeClr val="accent1"/>
                </a:solidFill>
                <a:latin typeface="Poppins" panose="020B0604020202020204"/>
                <a:ea typeface="Calibri"/>
                <a:cs typeface="Calibri"/>
                <a:sym typeface="Calibri"/>
              </a:rPr>
              <a:t>Proprietari</a:t>
            </a:r>
            <a:endParaRPr lang="it-IT" sz="1100" dirty="0">
              <a:latin typeface="Poppins" panose="020B0604020202020204"/>
            </a:endParaRPr>
          </a:p>
        </p:txBody>
      </p:sp>
    </p:spTree>
    <p:extLst>
      <p:ext uri="{BB962C8B-B14F-4D97-AF65-F5344CB8AC3E}">
        <p14:creationId xmlns:p14="http://schemas.microsoft.com/office/powerpoint/2010/main" val="3798283099"/>
      </p:ext>
    </p:extLst>
  </p:cSld>
  <p:clrMapOvr>
    <a:overrideClrMapping bg1="lt1" tx1="dk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sp>
        <p:nvSpPr>
          <p:cNvPr id="273" name="Google Shape;273;p20"/>
          <p:cNvSpPr txBox="1">
            <a:spLocks noGrp="1"/>
          </p:cNvSpPr>
          <p:nvPr>
            <p:ph type="title" idx="4294967295"/>
          </p:nvPr>
        </p:nvSpPr>
        <p:spPr>
          <a:xfrm>
            <a:off x="1711513" y="370742"/>
            <a:ext cx="5519271"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it-IT" sz="3600" dirty="0">
                <a:solidFill>
                  <a:srgbClr val="0070C0"/>
                </a:solidFill>
                <a:latin typeface="Poppins"/>
              </a:rPr>
              <a:t>STAKEHOLDER ESTERNI</a:t>
            </a:r>
            <a:endParaRPr sz="3600" dirty="0">
              <a:solidFill>
                <a:srgbClr val="0070C0"/>
              </a:solidFill>
              <a:latin typeface="Poppins"/>
            </a:endParaRPr>
          </a:p>
        </p:txBody>
      </p:sp>
      <p:sp>
        <p:nvSpPr>
          <p:cNvPr id="274" name="Google Shape;274;p20"/>
          <p:cNvSpPr txBox="1"/>
          <p:nvPr/>
        </p:nvSpPr>
        <p:spPr>
          <a:xfrm>
            <a:off x="825304" y="1224136"/>
            <a:ext cx="7709096" cy="2354450"/>
          </a:xfrm>
          <a:prstGeom prst="rect">
            <a:avLst/>
          </a:prstGeom>
          <a:noFill/>
          <a:ln>
            <a:noFill/>
          </a:ln>
        </p:spPr>
        <p:txBody>
          <a:bodyPr spcFirstLastPara="1" wrap="square" lIns="91425" tIns="45700" rIns="91425" bIns="45700" anchor="t" anchorCtr="0">
            <a:spAutoFit/>
          </a:bodyPr>
          <a:lstStyle/>
          <a:p>
            <a:pPr lvl="0">
              <a:buClr>
                <a:schemeClr val="dk1"/>
              </a:buClr>
              <a:buSzPts val="2000"/>
            </a:pPr>
            <a:r>
              <a:rPr lang="it-IT" sz="2100" dirty="0">
                <a:solidFill>
                  <a:srgbClr val="0070C0"/>
                </a:solidFill>
                <a:latin typeface="Poppins"/>
                <a:ea typeface="Calibri"/>
                <a:cs typeface="Calibri"/>
                <a:sym typeface="Calibri"/>
              </a:rPr>
              <a:t>Gli </a:t>
            </a:r>
            <a:r>
              <a:rPr lang="it-IT" sz="2100" b="1" dirty="0">
                <a:solidFill>
                  <a:srgbClr val="0070C0"/>
                </a:solidFill>
                <a:latin typeface="Poppins"/>
                <a:ea typeface="Calibri"/>
                <a:cs typeface="Calibri"/>
                <a:sym typeface="Calibri"/>
              </a:rPr>
              <a:t>stakeholder ESTERNI </a:t>
            </a:r>
            <a:r>
              <a:rPr lang="it-IT" sz="2100" dirty="0">
                <a:solidFill>
                  <a:srgbClr val="0070C0"/>
                </a:solidFill>
                <a:latin typeface="Poppins"/>
                <a:ea typeface="Calibri"/>
                <a:cs typeface="Calibri"/>
                <a:sym typeface="Calibri"/>
              </a:rPr>
              <a:t>sono persone, gruppi o entità, portatori di interesse «esterno», influenzati dalle conseguenze delle decisioni dell’organizzazione.</a:t>
            </a:r>
          </a:p>
          <a:p>
            <a:pPr lvl="0">
              <a:buClr>
                <a:schemeClr val="dk1"/>
              </a:buClr>
              <a:buSzPts val="2000"/>
            </a:pPr>
            <a:r>
              <a:rPr lang="it-IT" sz="2100" dirty="0">
                <a:solidFill>
                  <a:srgbClr val="0070C0"/>
                </a:solidFill>
                <a:latin typeface="Poppins"/>
                <a:ea typeface="Calibri"/>
                <a:cs typeface="Calibri"/>
                <a:sym typeface="Calibri"/>
              </a:rPr>
              <a:t>Possono esercitare differenti tipi di potere sull’organizzazione</a:t>
            </a:r>
          </a:p>
          <a:p>
            <a:pPr lvl="0">
              <a:buClr>
                <a:schemeClr val="dk1"/>
              </a:buClr>
              <a:buSzPts val="2000"/>
            </a:pPr>
            <a:r>
              <a:rPr lang="it-IT" sz="2100" dirty="0">
                <a:solidFill>
                  <a:srgbClr val="0070C0"/>
                </a:solidFill>
                <a:latin typeface="Poppins"/>
                <a:ea typeface="Calibri"/>
                <a:cs typeface="Calibri"/>
                <a:sym typeface="Calibri"/>
              </a:rPr>
              <a:t>Possono provare ad influenzare le decisioni attraverso una pressione economica o politica.</a:t>
            </a:r>
          </a:p>
          <a:p>
            <a:r>
              <a:rPr lang="it-IT" sz="2100" dirty="0">
                <a:solidFill>
                  <a:srgbClr val="0070C0"/>
                </a:solidFill>
                <a:latin typeface="Poppins"/>
                <a:ea typeface="Calibri"/>
                <a:cs typeface="Calibri"/>
                <a:sym typeface="Calibri"/>
              </a:rPr>
              <a:t>Gli stakeholder esterni sono:</a:t>
            </a:r>
          </a:p>
        </p:txBody>
      </p:sp>
      <p:pic>
        <p:nvPicPr>
          <p:cNvPr id="5" name="Immagine 4">
            <a:extLst>
              <a:ext uri="{FF2B5EF4-FFF2-40B4-BE49-F238E27FC236}">
                <a16:creationId xmlns:a16="http://schemas.microsoft.com/office/drawing/2014/main" id="{DCC9FB85-7DC5-4E87-9FEA-27774DD89A9A}"/>
              </a:ext>
            </a:extLst>
          </p:cNvPr>
          <p:cNvPicPr>
            <a:picLocks noChangeAspect="1"/>
          </p:cNvPicPr>
          <p:nvPr/>
        </p:nvPicPr>
        <p:blipFill>
          <a:blip r:embed="rId4"/>
          <a:stretch>
            <a:fillRect/>
          </a:stretch>
        </p:blipFill>
        <p:spPr>
          <a:xfrm>
            <a:off x="1057834" y="3802003"/>
            <a:ext cx="1212871" cy="1212871"/>
          </a:xfrm>
          <a:prstGeom prst="rect">
            <a:avLst/>
          </a:prstGeom>
        </p:spPr>
      </p:pic>
      <p:pic>
        <p:nvPicPr>
          <p:cNvPr id="6" name="Immagine 5">
            <a:extLst>
              <a:ext uri="{FF2B5EF4-FFF2-40B4-BE49-F238E27FC236}">
                <a16:creationId xmlns:a16="http://schemas.microsoft.com/office/drawing/2014/main" id="{98CD0ED2-B032-48E2-BF36-D7B78EF6DDDF}"/>
              </a:ext>
            </a:extLst>
          </p:cNvPr>
          <p:cNvPicPr>
            <a:picLocks noChangeAspect="1"/>
          </p:cNvPicPr>
          <p:nvPr/>
        </p:nvPicPr>
        <p:blipFill>
          <a:blip r:embed="rId5"/>
          <a:stretch>
            <a:fillRect/>
          </a:stretch>
        </p:blipFill>
        <p:spPr>
          <a:xfrm>
            <a:off x="2942270" y="3872680"/>
            <a:ext cx="1212871" cy="1212871"/>
          </a:xfrm>
          <a:prstGeom prst="rect">
            <a:avLst/>
          </a:prstGeom>
        </p:spPr>
      </p:pic>
      <p:pic>
        <p:nvPicPr>
          <p:cNvPr id="7" name="Immagine 6">
            <a:extLst>
              <a:ext uri="{FF2B5EF4-FFF2-40B4-BE49-F238E27FC236}">
                <a16:creationId xmlns:a16="http://schemas.microsoft.com/office/drawing/2014/main" id="{A16FBA37-D06C-4CF4-AE18-E3B7B8672563}"/>
              </a:ext>
            </a:extLst>
          </p:cNvPr>
          <p:cNvPicPr>
            <a:picLocks noChangeAspect="1"/>
          </p:cNvPicPr>
          <p:nvPr/>
        </p:nvPicPr>
        <p:blipFill>
          <a:blip r:embed="rId6"/>
          <a:stretch>
            <a:fillRect/>
          </a:stretch>
        </p:blipFill>
        <p:spPr>
          <a:xfrm>
            <a:off x="4471150" y="3364327"/>
            <a:ext cx="1891554" cy="1891554"/>
          </a:xfrm>
          <a:prstGeom prst="rect">
            <a:avLst/>
          </a:prstGeom>
        </p:spPr>
      </p:pic>
      <p:pic>
        <p:nvPicPr>
          <p:cNvPr id="11" name="Immagine 10">
            <a:extLst>
              <a:ext uri="{FF2B5EF4-FFF2-40B4-BE49-F238E27FC236}">
                <a16:creationId xmlns:a16="http://schemas.microsoft.com/office/drawing/2014/main" id="{3D7385C5-07B9-4424-884F-D137238682BF}"/>
              </a:ext>
            </a:extLst>
          </p:cNvPr>
          <p:cNvPicPr>
            <a:picLocks noChangeAspect="1"/>
          </p:cNvPicPr>
          <p:nvPr/>
        </p:nvPicPr>
        <p:blipFill>
          <a:blip r:embed="rId7"/>
          <a:stretch>
            <a:fillRect/>
          </a:stretch>
        </p:blipFill>
        <p:spPr>
          <a:xfrm>
            <a:off x="6723529" y="3569473"/>
            <a:ext cx="1675850" cy="1675850"/>
          </a:xfrm>
          <a:prstGeom prst="rect">
            <a:avLst/>
          </a:prstGeom>
        </p:spPr>
      </p:pic>
      <p:sp>
        <p:nvSpPr>
          <p:cNvPr id="12" name="Rettangolo 11">
            <a:extLst>
              <a:ext uri="{FF2B5EF4-FFF2-40B4-BE49-F238E27FC236}">
                <a16:creationId xmlns:a16="http://schemas.microsoft.com/office/drawing/2014/main" id="{356EFBE8-BD19-46C8-9383-788492C0924F}"/>
              </a:ext>
            </a:extLst>
          </p:cNvPr>
          <p:cNvSpPr/>
          <p:nvPr/>
        </p:nvSpPr>
        <p:spPr>
          <a:xfrm>
            <a:off x="863866" y="5085551"/>
            <a:ext cx="1279517" cy="338554"/>
          </a:xfrm>
          <a:prstGeom prst="rect">
            <a:avLst/>
          </a:prstGeom>
        </p:spPr>
        <p:txBody>
          <a:bodyPr wrap="none">
            <a:spAutoFit/>
          </a:bodyPr>
          <a:lstStyle/>
          <a:p>
            <a:r>
              <a:rPr lang="it-IT" sz="1600" b="1" dirty="0">
                <a:solidFill>
                  <a:schemeClr val="accent1"/>
                </a:solidFill>
                <a:latin typeface="Poppins"/>
                <a:ea typeface="Calibri"/>
                <a:cs typeface="Calibri"/>
                <a:sym typeface="Calibri"/>
              </a:rPr>
              <a:t>Consumatori</a:t>
            </a:r>
            <a:endParaRPr lang="it-IT" sz="1600" b="1" dirty="0">
              <a:solidFill>
                <a:schemeClr val="accent1"/>
              </a:solidFill>
              <a:latin typeface="Poppins"/>
              <a:ea typeface="Calibri"/>
              <a:cs typeface="Calibri"/>
            </a:endParaRPr>
          </a:p>
        </p:txBody>
      </p:sp>
      <p:sp>
        <p:nvSpPr>
          <p:cNvPr id="16" name="Rettangolo 15">
            <a:extLst>
              <a:ext uri="{FF2B5EF4-FFF2-40B4-BE49-F238E27FC236}">
                <a16:creationId xmlns:a16="http://schemas.microsoft.com/office/drawing/2014/main" id="{1ABE287A-D07C-4521-AE70-17DF2E26B353}"/>
              </a:ext>
            </a:extLst>
          </p:cNvPr>
          <p:cNvSpPr/>
          <p:nvPr/>
        </p:nvSpPr>
        <p:spPr>
          <a:xfrm>
            <a:off x="2952791" y="5082994"/>
            <a:ext cx="928459" cy="338554"/>
          </a:xfrm>
          <a:prstGeom prst="rect">
            <a:avLst/>
          </a:prstGeom>
        </p:spPr>
        <p:txBody>
          <a:bodyPr wrap="none">
            <a:spAutoFit/>
          </a:bodyPr>
          <a:lstStyle/>
          <a:p>
            <a:r>
              <a:rPr lang="it-IT" sz="1600" b="1" dirty="0">
                <a:solidFill>
                  <a:srgbClr val="0070C0"/>
                </a:solidFill>
                <a:latin typeface="Poppins"/>
                <a:ea typeface="Calibri"/>
                <a:cs typeface="Calibri"/>
                <a:sym typeface="Calibri"/>
              </a:rPr>
              <a:t>Fornitori</a:t>
            </a:r>
            <a:endParaRPr lang="it-IT" sz="1600" b="1" dirty="0">
              <a:solidFill>
                <a:srgbClr val="0070C0"/>
              </a:solidFill>
              <a:latin typeface="Poppins"/>
              <a:ea typeface="Calibri"/>
              <a:cs typeface="Calibri"/>
            </a:endParaRPr>
          </a:p>
        </p:txBody>
      </p:sp>
      <p:sp>
        <p:nvSpPr>
          <p:cNvPr id="17" name="Rettangolo 16">
            <a:extLst>
              <a:ext uri="{FF2B5EF4-FFF2-40B4-BE49-F238E27FC236}">
                <a16:creationId xmlns:a16="http://schemas.microsoft.com/office/drawing/2014/main" id="{022D8FA2-3837-4E0A-B05D-ADD80AD1E5D3}"/>
              </a:ext>
            </a:extLst>
          </p:cNvPr>
          <p:cNvSpPr/>
          <p:nvPr/>
        </p:nvSpPr>
        <p:spPr>
          <a:xfrm>
            <a:off x="7170160" y="5130347"/>
            <a:ext cx="803425" cy="338554"/>
          </a:xfrm>
          <a:prstGeom prst="rect">
            <a:avLst/>
          </a:prstGeom>
        </p:spPr>
        <p:txBody>
          <a:bodyPr wrap="none">
            <a:spAutoFit/>
          </a:bodyPr>
          <a:lstStyle/>
          <a:p>
            <a:r>
              <a:rPr lang="it-IT" sz="1600" b="1" dirty="0">
                <a:solidFill>
                  <a:srgbClr val="0070C0"/>
                </a:solidFill>
                <a:latin typeface="Poppins"/>
                <a:ea typeface="Calibri"/>
                <a:cs typeface="Calibri"/>
                <a:sym typeface="Calibri"/>
              </a:rPr>
              <a:t>Società</a:t>
            </a:r>
            <a:endParaRPr lang="it-IT" sz="1600" b="1" dirty="0">
              <a:solidFill>
                <a:srgbClr val="0070C0"/>
              </a:solidFill>
              <a:latin typeface="Poppins"/>
              <a:ea typeface="Calibri"/>
              <a:cs typeface="Calibri"/>
            </a:endParaRPr>
          </a:p>
        </p:txBody>
      </p:sp>
      <p:sp>
        <p:nvSpPr>
          <p:cNvPr id="18" name="Rettangolo 17">
            <a:extLst>
              <a:ext uri="{FF2B5EF4-FFF2-40B4-BE49-F238E27FC236}">
                <a16:creationId xmlns:a16="http://schemas.microsoft.com/office/drawing/2014/main" id="{B54A0F03-1C28-49EA-AEB3-91B4B8C86495}"/>
              </a:ext>
            </a:extLst>
          </p:cNvPr>
          <p:cNvSpPr/>
          <p:nvPr/>
        </p:nvSpPr>
        <p:spPr>
          <a:xfrm>
            <a:off x="5101040" y="5082993"/>
            <a:ext cx="635110" cy="338554"/>
          </a:xfrm>
          <a:prstGeom prst="rect">
            <a:avLst/>
          </a:prstGeom>
        </p:spPr>
        <p:txBody>
          <a:bodyPr wrap="none">
            <a:spAutoFit/>
          </a:bodyPr>
          <a:lstStyle/>
          <a:p>
            <a:r>
              <a:rPr lang="it-IT" sz="1600" b="1" dirty="0">
                <a:solidFill>
                  <a:srgbClr val="0070C0"/>
                </a:solidFill>
                <a:latin typeface="Poppins"/>
                <a:ea typeface="Calibri"/>
                <a:cs typeface="Calibri"/>
                <a:sym typeface="Calibri"/>
              </a:rPr>
              <a:t>Stato</a:t>
            </a:r>
            <a:endParaRPr lang="it-IT" sz="1600" b="1" dirty="0">
              <a:solidFill>
                <a:srgbClr val="0070C0"/>
              </a:solidFill>
              <a:latin typeface="Poppins"/>
              <a:ea typeface="Calibri"/>
              <a:cs typeface="Calibri"/>
            </a:endParaRPr>
          </a:p>
        </p:txBody>
      </p:sp>
      <p:sp>
        <p:nvSpPr>
          <p:cNvPr id="20" name="Rettangolo 19">
            <a:extLst>
              <a:ext uri="{FF2B5EF4-FFF2-40B4-BE49-F238E27FC236}">
                <a16:creationId xmlns:a16="http://schemas.microsoft.com/office/drawing/2014/main" id="{4DF07B4E-8723-4B01-8BBB-D7F91DCDA8C3}"/>
              </a:ext>
            </a:extLst>
          </p:cNvPr>
          <p:cNvSpPr/>
          <p:nvPr/>
        </p:nvSpPr>
        <p:spPr>
          <a:xfrm>
            <a:off x="5109746" y="6051185"/>
            <a:ext cx="1192955" cy="338554"/>
          </a:xfrm>
          <a:prstGeom prst="rect">
            <a:avLst/>
          </a:prstGeom>
        </p:spPr>
        <p:txBody>
          <a:bodyPr wrap="none">
            <a:spAutoFit/>
          </a:bodyPr>
          <a:lstStyle/>
          <a:p>
            <a:r>
              <a:rPr lang="it-IT" sz="1600" b="1" dirty="0">
                <a:solidFill>
                  <a:srgbClr val="0070C0"/>
                </a:solidFill>
                <a:latin typeface="Poppins"/>
                <a:ea typeface="Calibri"/>
                <a:cs typeface="Calibri"/>
                <a:sym typeface="Calibri"/>
              </a:rPr>
              <a:t>Concorrenti</a:t>
            </a:r>
            <a:endParaRPr lang="it-IT" sz="1600" b="1" dirty="0">
              <a:solidFill>
                <a:srgbClr val="0070C0"/>
              </a:solidFill>
              <a:latin typeface="Poppins"/>
              <a:ea typeface="Calibri"/>
              <a:cs typeface="Calibri"/>
            </a:endParaRPr>
          </a:p>
        </p:txBody>
      </p:sp>
      <p:pic>
        <p:nvPicPr>
          <p:cNvPr id="14" name="Immagine 13">
            <a:extLst>
              <a:ext uri="{FF2B5EF4-FFF2-40B4-BE49-F238E27FC236}">
                <a16:creationId xmlns:a16="http://schemas.microsoft.com/office/drawing/2014/main" id="{D9C656F0-C006-4248-8CD4-FC68E3865D91}"/>
              </a:ext>
            </a:extLst>
          </p:cNvPr>
          <p:cNvPicPr>
            <a:picLocks noChangeAspect="1"/>
          </p:cNvPicPr>
          <p:nvPr/>
        </p:nvPicPr>
        <p:blipFill rotWithShape="1">
          <a:blip r:embed="rId8"/>
          <a:srcRect b="6470"/>
          <a:stretch/>
        </p:blipFill>
        <p:spPr>
          <a:xfrm>
            <a:off x="3864996" y="5438124"/>
            <a:ext cx="1212307" cy="1166262"/>
          </a:xfrm>
          <a:prstGeom prst="rect">
            <a:avLst/>
          </a:prstGeom>
        </p:spPr>
      </p:pic>
    </p:spTree>
    <p:extLst>
      <p:ext uri="{BB962C8B-B14F-4D97-AF65-F5344CB8AC3E}">
        <p14:creationId xmlns:p14="http://schemas.microsoft.com/office/powerpoint/2010/main" val="4000520056"/>
      </p:ext>
    </p:extLst>
  </p:cSld>
  <p:clrMapOvr>
    <a:overrideClrMapping bg1="lt1" tx1="dk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CE3FCA4B-4FD6-4430-A933-F875DDF4F9D0}"/>
              </a:ext>
            </a:extLst>
          </p:cNvPr>
          <p:cNvSpPr/>
          <p:nvPr/>
        </p:nvSpPr>
        <p:spPr>
          <a:xfrm>
            <a:off x="2531216" y="3275112"/>
            <a:ext cx="4081567" cy="307777"/>
          </a:xfrm>
          <a:prstGeom prst="rect">
            <a:avLst/>
          </a:prstGeom>
        </p:spPr>
        <p:txBody>
          <a:bodyPr wrap="none">
            <a:spAutoFit/>
          </a:bodyPr>
          <a:lstStyle/>
          <a:p>
            <a:r>
              <a:rPr lang="it-IT" dirty="0"/>
              <a:t>https://www.youtube.com/watch?v=xb-9btgGSDg</a:t>
            </a:r>
          </a:p>
        </p:txBody>
      </p:sp>
      <p:sp>
        <p:nvSpPr>
          <p:cNvPr id="4" name="Rettangolo 3">
            <a:extLst>
              <a:ext uri="{FF2B5EF4-FFF2-40B4-BE49-F238E27FC236}">
                <a16:creationId xmlns:a16="http://schemas.microsoft.com/office/drawing/2014/main" id="{9B0B1589-A270-4E02-8AB7-4BD5DA2C5A16}"/>
              </a:ext>
            </a:extLst>
          </p:cNvPr>
          <p:cNvSpPr/>
          <p:nvPr/>
        </p:nvSpPr>
        <p:spPr>
          <a:xfrm>
            <a:off x="2619487" y="234517"/>
            <a:ext cx="3581430" cy="769441"/>
          </a:xfrm>
          <a:prstGeom prst="rect">
            <a:avLst/>
          </a:prstGeom>
        </p:spPr>
        <p:txBody>
          <a:bodyPr wrap="none">
            <a:spAutoFit/>
          </a:bodyPr>
          <a:lstStyle/>
          <a:p>
            <a:r>
              <a:rPr lang="it-IT" sz="4400" b="1" dirty="0">
                <a:solidFill>
                  <a:srgbClr val="0070C0"/>
                </a:solidFill>
                <a:latin typeface="Poppins"/>
              </a:rPr>
              <a:t>STAKEHOLDER</a:t>
            </a:r>
            <a:endParaRPr lang="it-IT" sz="1600" dirty="0">
              <a:solidFill>
                <a:srgbClr val="0070C0"/>
              </a:solidFill>
              <a:latin typeface="Poppins"/>
            </a:endParaRPr>
          </a:p>
        </p:txBody>
      </p:sp>
      <p:pic>
        <p:nvPicPr>
          <p:cNvPr id="5" name="Elementi multimediali online 4" title="Gli Stakeholders: I portatori di interessi aziendali - Economia Aziendale per tutti">
            <a:hlinkClick r:id="" action="ppaction://media"/>
            <a:extLst>
              <a:ext uri="{FF2B5EF4-FFF2-40B4-BE49-F238E27FC236}">
                <a16:creationId xmlns:a16="http://schemas.microsoft.com/office/drawing/2014/main" id="{8A9AA5ED-2D1D-426B-9C02-56D2F67AB937}"/>
              </a:ext>
            </a:extLst>
          </p:cNvPr>
          <p:cNvPicPr>
            <a:picLocks noRot="1" noChangeAspect="1"/>
          </p:cNvPicPr>
          <p:nvPr>
            <a:videoFile r:link="rId1"/>
          </p:nvPr>
        </p:nvPicPr>
        <p:blipFill>
          <a:blip r:embed="rId3"/>
          <a:stretch>
            <a:fillRect/>
          </a:stretch>
        </p:blipFill>
        <p:spPr>
          <a:xfrm>
            <a:off x="1163656" y="1878859"/>
            <a:ext cx="6493092" cy="3652364"/>
          </a:xfrm>
          <a:prstGeom prst="rect">
            <a:avLst/>
          </a:prstGeom>
        </p:spPr>
      </p:pic>
    </p:spTree>
    <p:extLst>
      <p:ext uri="{BB962C8B-B14F-4D97-AF65-F5344CB8AC3E}">
        <p14:creationId xmlns:p14="http://schemas.microsoft.com/office/powerpoint/2010/main" val="3137102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3"/>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308" name="Google Shape;308;p23"/>
          <p:cNvSpPr txBox="1">
            <a:spLocks noGrp="1"/>
          </p:cNvSpPr>
          <p:nvPr>
            <p:ph type="body" idx="1"/>
          </p:nvPr>
        </p:nvSpPr>
        <p:spPr>
          <a:xfrm>
            <a:off x="1476375" y="2020696"/>
            <a:ext cx="6409055" cy="268795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309" name="Google Shape;309;p23"/>
          <p:cNvPicPr preferRelativeResize="0"/>
          <p:nvPr/>
        </p:nvPicPr>
        <p:blipFill rotWithShape="1">
          <a:blip r:embed="rId3">
            <a:alphaModFix/>
          </a:blip>
          <a:srcRect/>
          <a:stretch/>
        </p:blipFill>
        <p:spPr>
          <a:xfrm>
            <a:off x="579004" y="855239"/>
            <a:ext cx="8239649" cy="5395964"/>
          </a:xfrm>
          <a:prstGeom prst="rect">
            <a:avLst/>
          </a:prstGeom>
          <a:noFill/>
          <a:ln>
            <a:noFill/>
          </a:ln>
        </p:spPr>
      </p:pic>
      <p:sp>
        <p:nvSpPr>
          <p:cNvPr id="5" name="Google Shape;273;p20">
            <a:extLst>
              <a:ext uri="{FF2B5EF4-FFF2-40B4-BE49-F238E27FC236}">
                <a16:creationId xmlns:a16="http://schemas.microsoft.com/office/drawing/2014/main" id="{9CFA994F-31D5-4137-A64A-7FD186076BAB}"/>
              </a:ext>
            </a:extLst>
          </p:cNvPr>
          <p:cNvSpPr txBox="1">
            <a:spLocks/>
          </p:cNvSpPr>
          <p:nvPr/>
        </p:nvSpPr>
        <p:spPr>
          <a:xfrm>
            <a:off x="517270" y="248258"/>
            <a:ext cx="2638306" cy="6302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dirty="0">
                <a:solidFill>
                  <a:schemeClr val="tx1"/>
                </a:solidFill>
              </a:rPr>
              <a:t>ESEMPIO</a:t>
            </a:r>
          </a:p>
        </p:txBody>
      </p:sp>
      <p:sp>
        <p:nvSpPr>
          <p:cNvPr id="2" name="Rettangolo 1">
            <a:extLst>
              <a:ext uri="{FF2B5EF4-FFF2-40B4-BE49-F238E27FC236}">
                <a16:creationId xmlns:a16="http://schemas.microsoft.com/office/drawing/2014/main" id="{73D9D0AD-F97A-483E-8E58-CDE06CBB5929}"/>
              </a:ext>
            </a:extLst>
          </p:cNvPr>
          <p:cNvSpPr/>
          <p:nvPr/>
        </p:nvSpPr>
        <p:spPr>
          <a:xfrm>
            <a:off x="421341" y="6140824"/>
            <a:ext cx="2796988" cy="313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2" name="Connettore diritto 11">
            <a:extLst>
              <a:ext uri="{FF2B5EF4-FFF2-40B4-BE49-F238E27FC236}">
                <a16:creationId xmlns:a16="http://schemas.microsoft.com/office/drawing/2014/main" id="{BB254411-026A-4BDC-AD98-FC9BAFA65321}"/>
              </a:ext>
            </a:extLst>
          </p:cNvPr>
          <p:cNvCxnSpPr>
            <a:cxnSpLocks/>
          </p:cNvCxnSpPr>
          <p:nvPr/>
        </p:nvCxnSpPr>
        <p:spPr>
          <a:xfrm>
            <a:off x="5270737" y="6002761"/>
            <a:ext cx="3343094" cy="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 name="Connettore diritto 3">
            <a:extLst>
              <a:ext uri="{FF2B5EF4-FFF2-40B4-BE49-F238E27FC236}">
                <a16:creationId xmlns:a16="http://schemas.microsoft.com/office/drawing/2014/main" id="{A47AE5B5-1D36-4429-8D77-961D167FD041}"/>
              </a:ext>
            </a:extLst>
          </p:cNvPr>
          <p:cNvCxnSpPr>
            <a:cxnSpLocks/>
          </p:cNvCxnSpPr>
          <p:nvPr/>
        </p:nvCxnSpPr>
        <p:spPr>
          <a:xfrm>
            <a:off x="621567" y="6002761"/>
            <a:ext cx="3343094" cy="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6" name="Google Shape;316;p24"/>
          <p:cNvPicPr preferRelativeResize="0"/>
          <p:nvPr/>
        </p:nvPicPr>
        <p:blipFill rotWithShape="1">
          <a:blip r:embed="rId3">
            <a:alphaModFix/>
          </a:blip>
          <a:srcRect l="19187" r="21193" b="1617"/>
          <a:stretch/>
        </p:blipFill>
        <p:spPr>
          <a:xfrm>
            <a:off x="1416424" y="878496"/>
            <a:ext cx="6311151" cy="5417643"/>
          </a:xfrm>
          <a:prstGeom prst="rect">
            <a:avLst/>
          </a:prstGeom>
          <a:noFill/>
          <a:ln>
            <a:noFill/>
          </a:ln>
        </p:spPr>
      </p:pic>
      <p:sp>
        <p:nvSpPr>
          <p:cNvPr id="5" name="Google Shape;273;p20">
            <a:extLst>
              <a:ext uri="{FF2B5EF4-FFF2-40B4-BE49-F238E27FC236}">
                <a16:creationId xmlns:a16="http://schemas.microsoft.com/office/drawing/2014/main" id="{88B8FCA9-0798-432E-B99E-A09EA8544DC8}"/>
              </a:ext>
            </a:extLst>
          </p:cNvPr>
          <p:cNvSpPr txBox="1">
            <a:spLocks/>
          </p:cNvSpPr>
          <p:nvPr/>
        </p:nvSpPr>
        <p:spPr>
          <a:xfrm>
            <a:off x="517270" y="248258"/>
            <a:ext cx="2638306" cy="6302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dirty="0">
                <a:solidFill>
                  <a:schemeClr val="tx1"/>
                </a:solidFill>
              </a:rPr>
              <a:t>ESEMPIO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23" name="Google Shape;323;p25"/>
          <p:cNvPicPr preferRelativeResize="0"/>
          <p:nvPr/>
        </p:nvPicPr>
        <p:blipFill rotWithShape="1">
          <a:blip r:embed="rId3">
            <a:alphaModFix/>
          </a:blip>
          <a:srcRect l="1978" t="5723" b="12118"/>
          <a:stretch/>
        </p:blipFill>
        <p:spPr>
          <a:xfrm>
            <a:off x="636494" y="959225"/>
            <a:ext cx="8179624" cy="5127810"/>
          </a:xfrm>
          <a:prstGeom prst="rect">
            <a:avLst/>
          </a:prstGeom>
          <a:noFill/>
          <a:ln>
            <a:noFill/>
          </a:ln>
        </p:spPr>
      </p:pic>
      <p:sp>
        <p:nvSpPr>
          <p:cNvPr id="5" name="Google Shape;273;p20">
            <a:extLst>
              <a:ext uri="{FF2B5EF4-FFF2-40B4-BE49-F238E27FC236}">
                <a16:creationId xmlns:a16="http://schemas.microsoft.com/office/drawing/2014/main" id="{44C00016-2819-4DFA-AE81-7342A88521C3}"/>
              </a:ext>
            </a:extLst>
          </p:cNvPr>
          <p:cNvSpPr txBox="1">
            <a:spLocks/>
          </p:cNvSpPr>
          <p:nvPr/>
        </p:nvSpPr>
        <p:spPr>
          <a:xfrm>
            <a:off x="517270" y="248258"/>
            <a:ext cx="2638306" cy="6302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dirty="0">
                <a:solidFill>
                  <a:schemeClr val="tx1"/>
                </a:solidFill>
              </a:rPr>
              <a:t>ESEMPIO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pic>
        <p:nvPicPr>
          <p:cNvPr id="330" name="Google Shape;330;p26"/>
          <p:cNvPicPr preferRelativeResize="0"/>
          <p:nvPr/>
        </p:nvPicPr>
        <p:blipFill rotWithShape="1">
          <a:blip r:embed="rId3">
            <a:alphaModFix/>
          </a:blip>
          <a:srcRect l="11898" r="14192"/>
          <a:stretch/>
        </p:blipFill>
        <p:spPr>
          <a:xfrm>
            <a:off x="1303393" y="878496"/>
            <a:ext cx="6881383" cy="5550837"/>
          </a:xfrm>
          <a:prstGeom prst="rect">
            <a:avLst/>
          </a:prstGeom>
          <a:noFill/>
          <a:ln>
            <a:noFill/>
          </a:ln>
        </p:spPr>
      </p:pic>
      <p:sp>
        <p:nvSpPr>
          <p:cNvPr id="5" name="Google Shape;273;p20">
            <a:extLst>
              <a:ext uri="{FF2B5EF4-FFF2-40B4-BE49-F238E27FC236}">
                <a16:creationId xmlns:a16="http://schemas.microsoft.com/office/drawing/2014/main" id="{43D5818B-89ED-4A73-8596-4714EEDCFAAA}"/>
              </a:ext>
            </a:extLst>
          </p:cNvPr>
          <p:cNvSpPr txBox="1">
            <a:spLocks/>
          </p:cNvSpPr>
          <p:nvPr/>
        </p:nvSpPr>
        <p:spPr>
          <a:xfrm>
            <a:off x="517270" y="248258"/>
            <a:ext cx="2638306" cy="6302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dirty="0">
                <a:solidFill>
                  <a:schemeClr val="tx1"/>
                </a:solidFill>
              </a:rPr>
              <a:t>ESEMPIO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p27"/>
          <p:cNvPicPr preferRelativeResize="0"/>
          <p:nvPr/>
        </p:nvPicPr>
        <p:blipFill rotWithShape="1">
          <a:blip r:embed="rId3">
            <a:alphaModFix/>
          </a:blip>
          <a:srcRect l="13811" r="15362"/>
          <a:stretch/>
        </p:blipFill>
        <p:spPr>
          <a:xfrm>
            <a:off x="1488142" y="968188"/>
            <a:ext cx="6355976" cy="5235388"/>
          </a:xfrm>
          <a:prstGeom prst="rect">
            <a:avLst/>
          </a:prstGeom>
          <a:noFill/>
          <a:ln>
            <a:noFill/>
          </a:ln>
        </p:spPr>
      </p:pic>
      <p:sp>
        <p:nvSpPr>
          <p:cNvPr id="3" name="Google Shape;273;p20">
            <a:extLst>
              <a:ext uri="{FF2B5EF4-FFF2-40B4-BE49-F238E27FC236}">
                <a16:creationId xmlns:a16="http://schemas.microsoft.com/office/drawing/2014/main" id="{ED5ECB42-ED71-4D49-A68A-83E9A876CB2D}"/>
              </a:ext>
            </a:extLst>
          </p:cNvPr>
          <p:cNvSpPr txBox="1">
            <a:spLocks/>
          </p:cNvSpPr>
          <p:nvPr/>
        </p:nvSpPr>
        <p:spPr>
          <a:xfrm>
            <a:off x="517270" y="248258"/>
            <a:ext cx="2638306" cy="6302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dirty="0">
                <a:solidFill>
                  <a:schemeClr val="tx1"/>
                </a:solidFill>
              </a:rPr>
              <a:t>ESEMPIO</a:t>
            </a:r>
          </a:p>
        </p:txBody>
      </p:sp>
      <p:sp>
        <p:nvSpPr>
          <p:cNvPr id="2" name="Rettangolo 1">
            <a:extLst>
              <a:ext uri="{FF2B5EF4-FFF2-40B4-BE49-F238E27FC236}">
                <a16:creationId xmlns:a16="http://schemas.microsoft.com/office/drawing/2014/main" id="{B63AD7FC-ECA0-40D9-92BD-050A9FB166BF}"/>
              </a:ext>
            </a:extLst>
          </p:cNvPr>
          <p:cNvSpPr/>
          <p:nvPr/>
        </p:nvSpPr>
        <p:spPr>
          <a:xfrm>
            <a:off x="6849035" y="5719482"/>
            <a:ext cx="1219200" cy="4840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pic>
        <p:nvPicPr>
          <p:cNvPr id="510" name="Google Shape;510;p43"/>
          <p:cNvPicPr preferRelativeResize="0"/>
          <p:nvPr/>
        </p:nvPicPr>
        <p:blipFill rotWithShape="1">
          <a:blip r:embed="rId3">
            <a:alphaModFix/>
          </a:blip>
          <a:srcRect/>
          <a:stretch/>
        </p:blipFill>
        <p:spPr>
          <a:xfrm>
            <a:off x="207416" y="838200"/>
            <a:ext cx="8857538" cy="5257800"/>
          </a:xfrm>
          <a:prstGeom prst="rect">
            <a:avLst/>
          </a:prstGeom>
          <a:noFill/>
          <a:ln>
            <a:noFill/>
          </a:ln>
        </p:spPr>
      </p:pic>
      <p:sp>
        <p:nvSpPr>
          <p:cNvPr id="3" name="Google Shape;273;p20">
            <a:extLst>
              <a:ext uri="{FF2B5EF4-FFF2-40B4-BE49-F238E27FC236}">
                <a16:creationId xmlns:a16="http://schemas.microsoft.com/office/drawing/2014/main" id="{3CD05BB0-59C7-48D8-929F-63D806969055}"/>
              </a:ext>
            </a:extLst>
          </p:cNvPr>
          <p:cNvSpPr txBox="1">
            <a:spLocks/>
          </p:cNvSpPr>
          <p:nvPr/>
        </p:nvSpPr>
        <p:spPr>
          <a:xfrm>
            <a:off x="517270" y="248258"/>
            <a:ext cx="2638306" cy="6302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dirty="0">
                <a:solidFill>
                  <a:schemeClr val="tx1"/>
                </a:solidFill>
              </a:rPr>
              <a:t>ESEMPIO</a:t>
            </a:r>
          </a:p>
        </p:txBody>
      </p:sp>
      <p:sp>
        <p:nvSpPr>
          <p:cNvPr id="2" name="Rettangolo 1">
            <a:extLst>
              <a:ext uri="{FF2B5EF4-FFF2-40B4-BE49-F238E27FC236}">
                <a16:creationId xmlns:a16="http://schemas.microsoft.com/office/drawing/2014/main" id="{3249A55B-DFF4-4A52-8688-5F0918F28EA1}"/>
              </a:ext>
            </a:extLst>
          </p:cNvPr>
          <p:cNvSpPr/>
          <p:nvPr/>
        </p:nvSpPr>
        <p:spPr>
          <a:xfrm>
            <a:off x="385482" y="5289177"/>
            <a:ext cx="2537012" cy="8964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339"/>
        <p:cNvGrpSpPr/>
        <p:nvPr/>
      </p:nvGrpSpPr>
      <p:grpSpPr>
        <a:xfrm>
          <a:off x="0" y="0"/>
          <a:ext cx="0" cy="0"/>
          <a:chOff x="0" y="0"/>
          <a:chExt cx="0" cy="0"/>
        </a:xfrm>
      </p:grpSpPr>
      <p:sp>
        <p:nvSpPr>
          <p:cNvPr id="341" name="Google Shape;341;p28"/>
          <p:cNvSpPr txBox="1">
            <a:spLocks noGrp="1"/>
          </p:cNvSpPr>
          <p:nvPr>
            <p:ph type="title"/>
          </p:nvPr>
        </p:nvSpPr>
        <p:spPr>
          <a:xfrm>
            <a:off x="765164" y="337770"/>
            <a:ext cx="7735538"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4400" dirty="0">
                <a:solidFill>
                  <a:srgbClr val="0070C0"/>
                </a:solidFill>
                <a:latin typeface="Poppins"/>
              </a:rPr>
              <a:t>La teoria degli stakeholder</a:t>
            </a:r>
            <a:endParaRPr sz="4400" dirty="0">
              <a:solidFill>
                <a:srgbClr val="0070C0"/>
              </a:solidFill>
              <a:latin typeface="Poppins"/>
            </a:endParaRPr>
          </a:p>
        </p:txBody>
      </p:sp>
      <p:sp>
        <p:nvSpPr>
          <p:cNvPr id="342" name="Google Shape;342;p28"/>
          <p:cNvSpPr txBox="1"/>
          <p:nvPr/>
        </p:nvSpPr>
        <p:spPr>
          <a:xfrm>
            <a:off x="300328" y="1361126"/>
            <a:ext cx="8665210" cy="4814138"/>
          </a:xfrm>
          <a:prstGeom prst="rect">
            <a:avLst/>
          </a:prstGeom>
          <a:noFill/>
          <a:ln>
            <a:noFill/>
          </a:ln>
        </p:spPr>
        <p:txBody>
          <a:bodyPr spcFirstLastPara="1" wrap="square" lIns="0" tIns="12700" rIns="0" bIns="0" anchor="t" anchorCtr="0">
            <a:spAutoFit/>
          </a:bodyPr>
          <a:lstStyle/>
          <a:p>
            <a:pPr marL="12700" marR="0" lvl="0" indent="0" algn="just" rtl="0">
              <a:lnSpc>
                <a:spcPct val="100000"/>
              </a:lnSpc>
              <a:spcBef>
                <a:spcPts val="0"/>
              </a:spcBef>
              <a:spcAft>
                <a:spcPts val="0"/>
              </a:spcAft>
              <a:buNone/>
            </a:pPr>
            <a:r>
              <a:rPr lang="it-IT" sz="2400" dirty="0">
                <a:solidFill>
                  <a:srgbClr val="0070C0"/>
                </a:solidFill>
                <a:latin typeface="Poppins"/>
              </a:rPr>
              <a:t>L’impresa si pone al centro di una serie di rapporti con differenti gruppi sociali, rispetto ai quali attiva relazioni di scambio, di informazione, di rappresentanza.</a:t>
            </a:r>
          </a:p>
          <a:p>
            <a:pPr marL="32384" marR="0" lvl="0" indent="0" algn="just" rtl="0">
              <a:lnSpc>
                <a:spcPct val="100000"/>
              </a:lnSpc>
              <a:spcBef>
                <a:spcPts val="0"/>
              </a:spcBef>
              <a:spcAft>
                <a:spcPts val="0"/>
              </a:spcAft>
              <a:buNone/>
            </a:pPr>
            <a:r>
              <a:rPr lang="it-IT" sz="2400" dirty="0">
                <a:solidFill>
                  <a:srgbClr val="0070C0"/>
                </a:solidFill>
                <a:latin typeface="Poppins"/>
              </a:rPr>
              <a:t>Questi gruppi costituiscono dei veri e propri interlocutori  dell’impresa o stakeholder, ossia portatori di interesse, che  influenzano (le decisioni aziendali) e sono influenzati  dall’attività dell’impresa.</a:t>
            </a:r>
          </a:p>
          <a:p>
            <a:pPr marL="32384" lvl="0" algn="just"/>
            <a:r>
              <a:rPr lang="it-IT" sz="2400" dirty="0">
                <a:solidFill>
                  <a:srgbClr val="0070C0"/>
                </a:solidFill>
                <a:latin typeface="Poppins"/>
              </a:rPr>
              <a:t>Gli </a:t>
            </a:r>
            <a:r>
              <a:rPr lang="it-IT" sz="2400" b="1" dirty="0">
                <a:solidFill>
                  <a:srgbClr val="0070C0"/>
                </a:solidFill>
                <a:latin typeface="Poppins"/>
              </a:rPr>
              <a:t>stakeholder primari </a:t>
            </a:r>
            <a:r>
              <a:rPr lang="it-IT" sz="2400" dirty="0">
                <a:solidFill>
                  <a:srgbClr val="0070C0"/>
                </a:solidFill>
                <a:latin typeface="Poppins"/>
              </a:rPr>
              <a:t>hanno un interesse diretto nella vita  dell’impresa cioè sono tutti quei soggetti e gruppi a cui l’azienda è legata per la sua sopravvivenza.</a:t>
            </a:r>
          </a:p>
          <a:p>
            <a:pPr marL="32384" lvl="0" algn="just"/>
            <a:r>
              <a:rPr lang="it-IT" sz="2400" dirty="0">
                <a:solidFill>
                  <a:srgbClr val="0070C0"/>
                </a:solidFill>
                <a:latin typeface="Poppins"/>
              </a:rPr>
              <a:t>Gli </a:t>
            </a:r>
            <a:r>
              <a:rPr lang="it-IT" sz="2400" b="1" dirty="0">
                <a:solidFill>
                  <a:srgbClr val="0070C0"/>
                </a:solidFill>
                <a:latin typeface="Poppins"/>
              </a:rPr>
              <a:t>stakeholder secondari </a:t>
            </a:r>
            <a:r>
              <a:rPr lang="it-IT" sz="2400" dirty="0">
                <a:solidFill>
                  <a:srgbClr val="0070C0"/>
                </a:solidFill>
                <a:latin typeface="Poppins"/>
              </a:rPr>
              <a:t>possono incidere soprattutto sul clima sociale delle relazioni aziendali (interne ed esterne) e influenzare i comportamenti di lungo termine.</a:t>
            </a:r>
            <a:endParaRPr sz="2400" dirty="0">
              <a:solidFill>
                <a:srgbClr val="0070C0"/>
              </a:solidFill>
              <a:latin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522DED9-0391-4509-A4DF-C23B202D09C8}"/>
              </a:ext>
            </a:extLst>
          </p:cNvPr>
          <p:cNvPicPr>
            <a:picLocks noChangeAspect="1"/>
          </p:cNvPicPr>
          <p:nvPr/>
        </p:nvPicPr>
        <p:blipFill rotWithShape="1">
          <a:blip r:embed="rId2"/>
          <a:srcRect t="9350"/>
          <a:stretch/>
        </p:blipFill>
        <p:spPr>
          <a:xfrm>
            <a:off x="324914" y="1200253"/>
            <a:ext cx="8451533" cy="5128830"/>
          </a:xfrm>
          <a:prstGeom prst="rect">
            <a:avLst/>
          </a:prstGeom>
        </p:spPr>
      </p:pic>
      <p:sp>
        <p:nvSpPr>
          <p:cNvPr id="6" name="Google Shape;341;p28">
            <a:extLst>
              <a:ext uri="{FF2B5EF4-FFF2-40B4-BE49-F238E27FC236}">
                <a16:creationId xmlns:a16="http://schemas.microsoft.com/office/drawing/2014/main" id="{3CC86DF2-3C52-4FE4-844C-0DEF925579DE}"/>
              </a:ext>
            </a:extLst>
          </p:cNvPr>
          <p:cNvSpPr txBox="1">
            <a:spLocks noGrp="1"/>
          </p:cNvSpPr>
          <p:nvPr>
            <p:ph type="title"/>
          </p:nvPr>
        </p:nvSpPr>
        <p:spPr>
          <a:xfrm>
            <a:off x="479611" y="318174"/>
            <a:ext cx="8184777" cy="56682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3600" dirty="0">
                <a:solidFill>
                  <a:srgbClr val="0070C0"/>
                </a:solidFill>
                <a:latin typeface="Poppins"/>
              </a:rPr>
              <a:t>Stakeholder Primari e Secondari</a:t>
            </a:r>
            <a:endParaRPr sz="3600" dirty="0">
              <a:solidFill>
                <a:srgbClr val="0070C0"/>
              </a:solidFill>
              <a:latin typeface="Poppins"/>
            </a:endParaRPr>
          </a:p>
        </p:txBody>
      </p:sp>
    </p:spTree>
    <p:extLst>
      <p:ext uri="{BB962C8B-B14F-4D97-AF65-F5344CB8AC3E}">
        <p14:creationId xmlns:p14="http://schemas.microsoft.com/office/powerpoint/2010/main" val="347940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407"/>
        <p:cNvGrpSpPr/>
        <p:nvPr/>
      </p:nvGrpSpPr>
      <p:grpSpPr>
        <a:xfrm>
          <a:off x="0" y="0"/>
          <a:ext cx="0" cy="0"/>
          <a:chOff x="0" y="0"/>
          <a:chExt cx="0" cy="0"/>
        </a:xfrm>
      </p:grpSpPr>
      <p:sp>
        <p:nvSpPr>
          <p:cNvPr id="413" name="Google Shape;413;p32"/>
          <p:cNvSpPr txBox="1">
            <a:spLocks noGrp="1"/>
          </p:cNvSpPr>
          <p:nvPr>
            <p:ph type="title"/>
          </p:nvPr>
        </p:nvSpPr>
        <p:spPr>
          <a:xfrm>
            <a:off x="579334" y="419432"/>
            <a:ext cx="8059270"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3200" kern="1200" dirty="0">
                <a:solidFill>
                  <a:srgbClr val="0070C0"/>
                </a:solidFill>
                <a:latin typeface="Poppins"/>
                <a:ea typeface="+mj-ea"/>
              </a:rPr>
              <a:t>Stakeholder: criteri di individuazione</a:t>
            </a:r>
            <a:endParaRPr sz="3200" kern="1200" dirty="0">
              <a:solidFill>
                <a:srgbClr val="0070C0"/>
              </a:solidFill>
              <a:latin typeface="Poppins"/>
              <a:ea typeface="+mj-ea"/>
            </a:endParaRPr>
          </a:p>
        </p:txBody>
      </p:sp>
      <p:sp>
        <p:nvSpPr>
          <p:cNvPr id="414" name="Google Shape;414;p32"/>
          <p:cNvSpPr txBox="1"/>
          <p:nvPr/>
        </p:nvSpPr>
        <p:spPr>
          <a:xfrm>
            <a:off x="0" y="1622984"/>
            <a:ext cx="4823012" cy="1332396"/>
          </a:xfrm>
          <a:prstGeom prst="rect">
            <a:avLst/>
          </a:prstGeom>
          <a:noFill/>
          <a:ln>
            <a:noFill/>
          </a:ln>
        </p:spPr>
        <p:txBody>
          <a:bodyPr spcFirstLastPara="1" wrap="square" lIns="0" tIns="39350" rIns="0" bIns="0" anchor="t" anchorCtr="0">
            <a:spAutoFit/>
          </a:bodyPr>
          <a:lstStyle/>
          <a:p>
            <a:pPr marL="981710" marR="554355" lvl="0" indent="-564515" algn="ctr" rtl="0">
              <a:lnSpc>
                <a:spcPct val="100000"/>
              </a:lnSpc>
              <a:spcBef>
                <a:spcPts val="0"/>
              </a:spcBef>
              <a:spcAft>
                <a:spcPts val="0"/>
              </a:spcAft>
              <a:buNone/>
            </a:pPr>
            <a:r>
              <a:rPr lang="it-IT" sz="2800" dirty="0">
                <a:solidFill>
                  <a:srgbClr val="0070C0"/>
                </a:solidFill>
                <a:latin typeface="Poppins"/>
                <a:sym typeface="Arial"/>
              </a:rPr>
              <a:t>Criteri per l’individuazione </a:t>
            </a:r>
          </a:p>
          <a:p>
            <a:pPr marL="981710" marR="554355" lvl="0" indent="-564515" algn="ctr" rtl="0">
              <a:lnSpc>
                <a:spcPct val="100000"/>
              </a:lnSpc>
              <a:spcBef>
                <a:spcPts val="0"/>
              </a:spcBef>
              <a:spcAft>
                <a:spcPts val="0"/>
              </a:spcAft>
              <a:buNone/>
            </a:pPr>
            <a:r>
              <a:rPr lang="it-IT" sz="2800" dirty="0">
                <a:solidFill>
                  <a:srgbClr val="0070C0"/>
                </a:solidFill>
                <a:latin typeface="Poppins"/>
                <a:sym typeface="Arial"/>
              </a:rPr>
              <a:t>e la valutazione degli </a:t>
            </a:r>
            <a:r>
              <a:rPr lang="it-IT" sz="2800" i="1" dirty="0">
                <a:solidFill>
                  <a:srgbClr val="0070C0"/>
                </a:solidFill>
                <a:latin typeface="Poppins"/>
                <a:sym typeface="Arial"/>
              </a:rPr>
              <a:t>stakeholder</a:t>
            </a:r>
            <a:endParaRPr sz="2800" dirty="0">
              <a:solidFill>
                <a:srgbClr val="0070C0"/>
              </a:solidFill>
              <a:latin typeface="Poppins"/>
              <a:sym typeface="Arial"/>
            </a:endParaRPr>
          </a:p>
        </p:txBody>
      </p:sp>
      <p:sp>
        <p:nvSpPr>
          <p:cNvPr id="415" name="Google Shape;415;p32"/>
          <p:cNvSpPr/>
          <p:nvPr/>
        </p:nvSpPr>
        <p:spPr>
          <a:xfrm>
            <a:off x="4300867" y="2069496"/>
            <a:ext cx="935736" cy="360045"/>
          </a:xfrm>
          <a:custGeom>
            <a:avLst/>
            <a:gdLst/>
            <a:ahLst/>
            <a:cxnLst/>
            <a:rect l="l" t="t" r="r" b="b"/>
            <a:pathLst>
              <a:path w="504825" h="215264" extrusionOk="0">
                <a:moveTo>
                  <a:pt x="378840" y="0"/>
                </a:moveTo>
                <a:lnTo>
                  <a:pt x="378840" y="53721"/>
                </a:lnTo>
                <a:lnTo>
                  <a:pt x="0" y="53721"/>
                </a:lnTo>
                <a:lnTo>
                  <a:pt x="0" y="161163"/>
                </a:lnTo>
                <a:lnTo>
                  <a:pt x="378840" y="161163"/>
                </a:lnTo>
                <a:lnTo>
                  <a:pt x="378840" y="214884"/>
                </a:lnTo>
                <a:lnTo>
                  <a:pt x="504443" y="107442"/>
                </a:lnTo>
                <a:lnTo>
                  <a:pt x="378840" y="0"/>
                </a:lnTo>
                <a:close/>
              </a:path>
            </a:pathLst>
          </a:custGeom>
          <a:solidFill>
            <a:srgbClr val="CC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32"/>
          <p:cNvSpPr txBox="1"/>
          <p:nvPr/>
        </p:nvSpPr>
        <p:spPr>
          <a:xfrm>
            <a:off x="5236603" y="1675895"/>
            <a:ext cx="3235043" cy="1497826"/>
          </a:xfrm>
          <a:prstGeom prst="rect">
            <a:avLst/>
          </a:prstGeom>
          <a:solidFill>
            <a:srgbClr val="FFFFFF"/>
          </a:solidFill>
          <a:ln>
            <a:noFill/>
          </a:ln>
        </p:spPr>
        <p:txBody>
          <a:bodyPr spcFirstLastPara="1" wrap="square" lIns="0" tIns="20300" rIns="0" bIns="0" anchor="t" anchorCtr="0">
            <a:spAutoFit/>
          </a:bodyPr>
          <a:lstStyle/>
          <a:p>
            <a:pPr marL="342900" marR="0" lvl="0" indent="-186690" algn="l" rtl="0">
              <a:lnSpc>
                <a:spcPct val="100000"/>
              </a:lnSpc>
              <a:spcBef>
                <a:spcPts val="0"/>
              </a:spcBef>
              <a:spcAft>
                <a:spcPts val="0"/>
              </a:spcAft>
              <a:buClr>
                <a:srgbClr val="A40020"/>
              </a:buClr>
              <a:buSzPts val="2000"/>
              <a:buFont typeface="Noto Sans Symbols"/>
              <a:buChar char="▪"/>
            </a:pPr>
            <a:r>
              <a:rPr lang="it-IT" sz="2400" dirty="0">
                <a:solidFill>
                  <a:srgbClr val="0070C0"/>
                </a:solidFill>
                <a:latin typeface="Poppins"/>
                <a:sym typeface="Arial"/>
              </a:rPr>
              <a:t>Forza, Potere</a:t>
            </a:r>
          </a:p>
          <a:p>
            <a:pPr marL="342900" marR="0" lvl="0" indent="-186690" algn="l" rtl="0">
              <a:lnSpc>
                <a:spcPct val="100000"/>
              </a:lnSpc>
              <a:spcBef>
                <a:spcPts val="0"/>
              </a:spcBef>
              <a:spcAft>
                <a:spcPts val="0"/>
              </a:spcAft>
              <a:buClr>
                <a:srgbClr val="A40020"/>
              </a:buClr>
              <a:buSzPts val="2000"/>
              <a:buFont typeface="Noto Sans Symbols"/>
              <a:buChar char="▪"/>
            </a:pPr>
            <a:r>
              <a:rPr lang="it-IT" sz="2400" dirty="0">
                <a:solidFill>
                  <a:srgbClr val="0070C0"/>
                </a:solidFill>
                <a:latin typeface="Poppins"/>
              </a:rPr>
              <a:t>Legittimazione</a:t>
            </a:r>
          </a:p>
          <a:p>
            <a:pPr marL="342900" marR="0" lvl="0" indent="-186690" algn="l" rtl="0">
              <a:lnSpc>
                <a:spcPct val="100000"/>
              </a:lnSpc>
              <a:spcBef>
                <a:spcPts val="0"/>
              </a:spcBef>
              <a:spcAft>
                <a:spcPts val="0"/>
              </a:spcAft>
              <a:buClr>
                <a:srgbClr val="A40020"/>
              </a:buClr>
              <a:buSzPts val="2000"/>
              <a:buFont typeface="Noto Sans Symbols"/>
              <a:buChar char="▪"/>
            </a:pPr>
            <a:r>
              <a:rPr lang="it-IT" sz="2400" dirty="0">
                <a:solidFill>
                  <a:srgbClr val="0070C0"/>
                </a:solidFill>
                <a:latin typeface="Poppins"/>
                <a:sym typeface="Arial"/>
              </a:rPr>
              <a:t>Attualità dell’interesse difeso</a:t>
            </a:r>
            <a:endParaRPr sz="2400" dirty="0">
              <a:solidFill>
                <a:srgbClr val="0070C0"/>
              </a:solidFill>
              <a:latin typeface="Poppins"/>
              <a:sym typeface="Arial"/>
            </a:endParaRPr>
          </a:p>
        </p:txBody>
      </p:sp>
      <p:sp>
        <p:nvSpPr>
          <p:cNvPr id="423" name="Google Shape;423;p32"/>
          <p:cNvSpPr txBox="1"/>
          <p:nvPr/>
        </p:nvSpPr>
        <p:spPr>
          <a:xfrm>
            <a:off x="905966" y="3653665"/>
            <a:ext cx="7406005" cy="216726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it-IT" sz="2800" dirty="0">
                <a:solidFill>
                  <a:srgbClr val="0070C0"/>
                </a:solidFill>
                <a:latin typeface="Poppins"/>
                <a:sym typeface="Arial"/>
              </a:rPr>
              <a:t>La classificazione degli </a:t>
            </a:r>
            <a:r>
              <a:rPr lang="it-IT" sz="2800" i="1" dirty="0">
                <a:solidFill>
                  <a:srgbClr val="0070C0"/>
                </a:solidFill>
                <a:latin typeface="Poppins"/>
                <a:sym typeface="Arial"/>
              </a:rPr>
              <a:t>stakeholder </a:t>
            </a:r>
            <a:r>
              <a:rPr lang="it-IT" sz="2800" dirty="0">
                <a:solidFill>
                  <a:srgbClr val="0070C0"/>
                </a:solidFill>
                <a:latin typeface="Poppins"/>
                <a:sym typeface="Arial"/>
              </a:rPr>
              <a:t>è continuamente mutevole,  perché, da tempo a tempo, possono variare </a:t>
            </a:r>
            <a:r>
              <a:rPr lang="it-IT" sz="2800" b="1" dirty="0">
                <a:solidFill>
                  <a:srgbClr val="0070C0"/>
                </a:solidFill>
                <a:latin typeface="Poppins"/>
                <a:sym typeface="Arial"/>
              </a:rPr>
              <a:t>l’attualità degli  interessi</a:t>
            </a:r>
            <a:r>
              <a:rPr lang="it-IT" sz="2800" dirty="0">
                <a:solidFill>
                  <a:srgbClr val="0070C0"/>
                </a:solidFill>
                <a:latin typeface="Poppins"/>
                <a:sym typeface="Arial"/>
              </a:rPr>
              <a:t>, la </a:t>
            </a:r>
            <a:r>
              <a:rPr lang="it-IT" sz="2800" b="1" dirty="0">
                <a:solidFill>
                  <a:srgbClr val="0070C0"/>
                </a:solidFill>
                <a:latin typeface="Poppins"/>
                <a:sym typeface="Arial"/>
              </a:rPr>
              <a:t>forza dei singoli interlocutori </a:t>
            </a:r>
            <a:r>
              <a:rPr lang="it-IT" sz="2800" dirty="0">
                <a:solidFill>
                  <a:srgbClr val="0070C0"/>
                </a:solidFill>
                <a:latin typeface="Poppins"/>
                <a:sym typeface="Arial"/>
              </a:rPr>
              <a:t>ed il loro </a:t>
            </a:r>
            <a:r>
              <a:rPr lang="it-IT" sz="2800" b="1" dirty="0">
                <a:solidFill>
                  <a:srgbClr val="0070C0"/>
                </a:solidFill>
                <a:latin typeface="Poppins"/>
                <a:sym typeface="Arial"/>
              </a:rPr>
              <a:t>grado di  legittimazione</a:t>
            </a:r>
            <a:r>
              <a:rPr lang="it-IT" sz="2800" dirty="0">
                <a:solidFill>
                  <a:srgbClr val="0070C0"/>
                </a:solidFill>
                <a:latin typeface="Poppins"/>
                <a:sym typeface="Arial"/>
              </a:rPr>
              <a:t>.</a:t>
            </a:r>
            <a:endParaRPr sz="2800" dirty="0">
              <a:solidFill>
                <a:srgbClr val="0070C0"/>
              </a:solidFill>
              <a:latin typeface="Poppins"/>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388"/>
        <p:cNvGrpSpPr/>
        <p:nvPr/>
      </p:nvGrpSpPr>
      <p:grpSpPr>
        <a:xfrm>
          <a:off x="0" y="0"/>
          <a:ext cx="0" cy="0"/>
          <a:chOff x="0" y="0"/>
          <a:chExt cx="0" cy="0"/>
        </a:xfrm>
      </p:grpSpPr>
      <p:sp>
        <p:nvSpPr>
          <p:cNvPr id="389" name="Google Shape;389;p30"/>
          <p:cNvSpPr txBox="1">
            <a:spLocks noGrp="1"/>
          </p:cNvSpPr>
          <p:nvPr>
            <p:ph type="title"/>
          </p:nvPr>
        </p:nvSpPr>
        <p:spPr>
          <a:xfrm>
            <a:off x="1137616" y="237132"/>
            <a:ext cx="6857375"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it-IT" sz="3200" dirty="0">
                <a:solidFill>
                  <a:srgbClr val="0070C0"/>
                </a:solidFill>
                <a:latin typeface="Poppins"/>
              </a:rPr>
              <a:t>La gestione degli stakeholder</a:t>
            </a:r>
            <a:endParaRPr sz="3200" dirty="0">
              <a:solidFill>
                <a:srgbClr val="0070C0"/>
              </a:solidFill>
              <a:latin typeface="Poppins"/>
            </a:endParaRPr>
          </a:p>
        </p:txBody>
      </p:sp>
      <p:sp>
        <p:nvSpPr>
          <p:cNvPr id="390" name="Google Shape;390;p30"/>
          <p:cNvSpPr txBox="1"/>
          <p:nvPr/>
        </p:nvSpPr>
        <p:spPr>
          <a:xfrm>
            <a:off x="846155" y="1195825"/>
            <a:ext cx="7710317" cy="1858827"/>
          </a:xfrm>
          <a:prstGeom prst="rect">
            <a:avLst/>
          </a:prstGeom>
          <a:noFill/>
          <a:ln>
            <a:noFill/>
          </a:ln>
        </p:spPr>
        <p:txBody>
          <a:bodyPr spcFirstLastPara="1" wrap="square" lIns="0" tIns="12050" rIns="0" bIns="0" anchor="t" anchorCtr="0">
            <a:spAutoFit/>
          </a:bodyPr>
          <a:lstStyle/>
          <a:p>
            <a:pPr marL="12700" algn="just"/>
            <a:r>
              <a:rPr lang="it-IT" sz="2400" b="1" dirty="0">
                <a:solidFill>
                  <a:srgbClr val="0070C0"/>
                </a:solidFill>
                <a:latin typeface="Poppins"/>
              </a:rPr>
              <a:t>Il governo dei rapporti con gli stakeholder è una responsabilità primaria per l’imprenditore </a:t>
            </a:r>
            <a:r>
              <a:rPr lang="it-IT" sz="2400" dirty="0">
                <a:solidFill>
                  <a:srgbClr val="0070C0"/>
                </a:solidFill>
                <a:latin typeface="Poppins"/>
              </a:rPr>
              <a:t>perché influenza i risultati della gestione: bisogna quindi individuare gli  stakeholder, stabilirne il peso relativo, valutarne gli interessi e orientare la  mission aziendale. </a:t>
            </a:r>
            <a:endParaRPr sz="2400" dirty="0">
              <a:solidFill>
                <a:srgbClr val="0070C0"/>
              </a:solidFill>
              <a:latin typeface="Poppins"/>
            </a:endParaRPr>
          </a:p>
        </p:txBody>
      </p:sp>
      <p:sp>
        <p:nvSpPr>
          <p:cNvPr id="394" name="Google Shape;394;p30"/>
          <p:cNvSpPr txBox="1"/>
          <p:nvPr/>
        </p:nvSpPr>
        <p:spPr>
          <a:xfrm>
            <a:off x="445719" y="3429000"/>
            <a:ext cx="8241171" cy="3029034"/>
          </a:xfrm>
          <a:prstGeom prst="rect">
            <a:avLst/>
          </a:prstGeom>
          <a:noFill/>
          <a:ln>
            <a:noFill/>
          </a:ln>
        </p:spPr>
        <p:txBody>
          <a:bodyPr spcFirstLastPara="1" wrap="square" lIns="0" tIns="12700" rIns="0" bIns="0" anchor="t" anchorCtr="0">
            <a:spAutoFit/>
          </a:bodyPr>
          <a:lstStyle/>
          <a:p>
            <a:pPr marL="329565" marR="0" lvl="0" indent="0" algn="ctr" rtl="0">
              <a:lnSpc>
                <a:spcPct val="100000"/>
              </a:lnSpc>
              <a:spcBef>
                <a:spcPts val="0"/>
              </a:spcBef>
              <a:spcAft>
                <a:spcPts val="0"/>
              </a:spcAft>
              <a:buNone/>
            </a:pPr>
            <a:r>
              <a:rPr lang="it-IT" sz="2600" b="1" dirty="0">
                <a:solidFill>
                  <a:srgbClr val="FF0000"/>
                </a:solidFill>
                <a:latin typeface="Poppins"/>
              </a:rPr>
              <a:t>Definizione di impresa alla luce della Teoria degli stakeholder</a:t>
            </a:r>
            <a:endParaRPr sz="2600" b="1" dirty="0">
              <a:solidFill>
                <a:srgbClr val="FF0000"/>
              </a:solidFill>
              <a:latin typeface="Poppins"/>
            </a:endParaRPr>
          </a:p>
          <a:p>
            <a:pPr marL="393700" marR="5080" indent="-381635">
              <a:spcBef>
                <a:spcPts val="20"/>
              </a:spcBef>
            </a:pPr>
            <a:r>
              <a:rPr lang="it-IT" sz="2400" dirty="0">
                <a:solidFill>
                  <a:srgbClr val="0070C0"/>
                </a:solidFill>
                <a:latin typeface="Poppins"/>
              </a:rPr>
              <a:t>	</a:t>
            </a:r>
            <a:r>
              <a:rPr lang="it-IT" sz="2400" i="1" dirty="0">
                <a:solidFill>
                  <a:srgbClr val="0070C0"/>
                </a:solidFill>
                <a:latin typeface="Poppins"/>
              </a:rPr>
              <a:t>L’impresa è una organizzazione economica, legata ad un complesso d’interlocutori interni ed esterni, che, mediante la combinazione di risorse differenziate, svolge processi d’acquisizione e di produzione di beni e servizi allo scopo di creare e distribuire valore tra di essi.</a:t>
            </a:r>
          </a:p>
        </p:txBody>
      </p:sp>
      <p:sp>
        <p:nvSpPr>
          <p:cNvPr id="395" name="Google Shape;395;p30"/>
          <p:cNvSpPr txBox="1"/>
          <p:nvPr/>
        </p:nvSpPr>
        <p:spPr>
          <a:xfrm>
            <a:off x="445719" y="6640874"/>
            <a:ext cx="6297900" cy="153900"/>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None/>
            </a:pPr>
            <a:endParaRPr sz="1000">
              <a:solidFill>
                <a:schemeClr val="dk1"/>
              </a:solidFill>
              <a:latin typeface="Arial"/>
              <a:ea typeface="Arial"/>
              <a:cs typeface="Arial"/>
              <a:sym typeface="Arial"/>
            </a:endParaRPr>
          </a:p>
        </p:txBody>
      </p:sp>
    </p:spTree>
    <p:extLst>
      <p:ext uri="{BB962C8B-B14F-4D97-AF65-F5344CB8AC3E}">
        <p14:creationId xmlns:p14="http://schemas.microsoft.com/office/powerpoint/2010/main" val="3598282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1"/>
          <p:cNvSpPr txBox="1">
            <a:spLocks noGrp="1"/>
          </p:cNvSpPr>
          <p:nvPr>
            <p:ph type="title" idx="4294967295"/>
          </p:nvPr>
        </p:nvSpPr>
        <p:spPr>
          <a:xfrm>
            <a:off x="524366" y="188259"/>
            <a:ext cx="8435788" cy="754063"/>
          </a:xfrm>
          <a:prstGeom prst="rect">
            <a:avLst/>
          </a:prstGeom>
          <a:noFill/>
          <a:ln>
            <a:noFill/>
          </a:ln>
        </p:spPr>
        <p:txBody>
          <a:bodyPr spcFirstLastPara="1" wrap="square" lIns="68575" tIns="34275" rIns="68575" bIns="34275" anchor="b" anchorCtr="0">
            <a:noAutofit/>
          </a:bodyPr>
          <a:lstStyle/>
          <a:p>
            <a:pPr marL="0" lvl="0" indent="0" algn="l" rtl="0">
              <a:spcBef>
                <a:spcPts val="0"/>
              </a:spcBef>
              <a:spcAft>
                <a:spcPts val="0"/>
              </a:spcAft>
              <a:buNone/>
            </a:pPr>
            <a:r>
              <a:rPr lang="it-IT" sz="3600" b="1" dirty="0">
                <a:solidFill>
                  <a:srgbClr val="0070C0"/>
                </a:solidFill>
                <a:latin typeface="Poppins"/>
                <a:cs typeface="Arial"/>
                <a:sym typeface="Arial"/>
              </a:rPr>
              <a:t>L’orientamento degli stakeholder</a:t>
            </a:r>
            <a:endParaRPr sz="3600" b="1" dirty="0">
              <a:solidFill>
                <a:srgbClr val="0070C0"/>
              </a:solidFill>
              <a:latin typeface="Poppins"/>
              <a:cs typeface="Arial"/>
              <a:sym typeface="Arial"/>
            </a:endParaRPr>
          </a:p>
        </p:txBody>
      </p:sp>
      <p:sp>
        <p:nvSpPr>
          <p:cNvPr id="402" name="Google Shape;402;p31"/>
          <p:cNvSpPr txBox="1"/>
          <p:nvPr/>
        </p:nvSpPr>
        <p:spPr>
          <a:xfrm>
            <a:off x="372105" y="1139545"/>
            <a:ext cx="4294165" cy="5413655"/>
          </a:xfrm>
          <a:prstGeom prst="rect">
            <a:avLst/>
          </a:prstGeom>
          <a:noFill/>
          <a:ln>
            <a:noFill/>
          </a:ln>
        </p:spPr>
        <p:txBody>
          <a:bodyPr spcFirstLastPara="1" wrap="square" lIns="68575" tIns="34275" rIns="68575" bIns="34275" anchor="t" anchorCtr="0">
            <a:noAutofit/>
          </a:bodyPr>
          <a:lstStyle/>
          <a:p>
            <a:pPr marR="0" lvl="0" algn="l" rtl="0">
              <a:spcBef>
                <a:spcPts val="0"/>
              </a:spcBef>
              <a:spcAft>
                <a:spcPts val="0"/>
              </a:spcAft>
              <a:buClr>
                <a:schemeClr val="accent1"/>
              </a:buClr>
              <a:buSzPts val="1800"/>
            </a:pPr>
            <a:r>
              <a:rPr lang="it-IT" sz="2400" dirty="0">
                <a:solidFill>
                  <a:srgbClr val="0070C0"/>
                </a:solidFill>
                <a:latin typeface="Poppins"/>
                <a:cs typeface="Arial" panose="020B0604020202020204" pitchFamily="34" charset="0"/>
                <a:sym typeface="Calibri"/>
              </a:rPr>
              <a:t>Il grado in cui un'impresa comprende e indirizza le richieste delle parti interessate (stakeholders)</a:t>
            </a:r>
            <a:endParaRPr sz="2400" dirty="0">
              <a:solidFill>
                <a:srgbClr val="0070C0"/>
              </a:solidFill>
              <a:latin typeface="Poppins"/>
              <a:cs typeface="Arial" panose="020B0604020202020204" pitchFamily="34" charset="0"/>
              <a:sym typeface="Calibri"/>
            </a:endParaRPr>
          </a:p>
          <a:p>
            <a:pPr marL="0" marR="0" lvl="0" indent="0" algn="l" rtl="0">
              <a:spcBef>
                <a:spcPts val="750"/>
              </a:spcBef>
              <a:spcAft>
                <a:spcPts val="0"/>
              </a:spcAft>
              <a:buNone/>
            </a:pPr>
            <a:endParaRPr lang="it-IT" sz="2400" b="1" dirty="0">
              <a:solidFill>
                <a:srgbClr val="0070C0"/>
              </a:solidFill>
              <a:latin typeface="Poppins"/>
              <a:cs typeface="Arial" panose="020B0604020202020204" pitchFamily="34" charset="0"/>
              <a:sym typeface="Calibri"/>
            </a:endParaRPr>
          </a:p>
          <a:p>
            <a:pPr marL="0" marR="0" lvl="0" indent="0" algn="l" rtl="0">
              <a:spcBef>
                <a:spcPts val="750"/>
              </a:spcBef>
              <a:spcAft>
                <a:spcPts val="0"/>
              </a:spcAft>
              <a:buNone/>
            </a:pPr>
            <a:r>
              <a:rPr lang="it-IT" sz="2000" b="1" dirty="0">
                <a:solidFill>
                  <a:srgbClr val="0070C0"/>
                </a:solidFill>
                <a:latin typeface="Poppins"/>
                <a:cs typeface="Arial" panose="020B0604020202020204" pitchFamily="34" charset="0"/>
                <a:sym typeface="Calibri"/>
              </a:rPr>
              <a:t>Tre attività:</a:t>
            </a:r>
            <a:endParaRPr sz="2000" b="1" dirty="0">
              <a:solidFill>
                <a:srgbClr val="0070C0"/>
              </a:solidFill>
              <a:latin typeface="Poppins"/>
              <a:cs typeface="Arial" panose="020B0604020202020204" pitchFamily="34" charset="0"/>
            </a:endParaRPr>
          </a:p>
          <a:p>
            <a:pPr marR="0" lvl="0" algn="l" rtl="0">
              <a:spcBef>
                <a:spcPts val="750"/>
              </a:spcBef>
              <a:spcAft>
                <a:spcPts val="0"/>
              </a:spcAft>
              <a:buClr>
                <a:schemeClr val="accent1"/>
              </a:buClr>
              <a:buSzPts val="1800"/>
            </a:pPr>
            <a:r>
              <a:rPr lang="it-IT" sz="2000" dirty="0">
                <a:solidFill>
                  <a:srgbClr val="0070C0"/>
                </a:solidFill>
                <a:latin typeface="Poppins"/>
                <a:cs typeface="Arial" panose="020B0604020202020204" pitchFamily="34" charset="0"/>
                <a:sym typeface="Calibri"/>
              </a:rPr>
              <a:t>- Generazione e raccolta dei dati sui gruppi di stakeholder.</a:t>
            </a:r>
            <a:endParaRPr sz="2000" dirty="0">
              <a:solidFill>
                <a:srgbClr val="0070C0"/>
              </a:solidFill>
              <a:latin typeface="Poppins"/>
              <a:cs typeface="Arial" panose="020B0604020202020204" pitchFamily="34" charset="0"/>
            </a:endParaRPr>
          </a:p>
          <a:p>
            <a:pPr marR="0" lvl="0" algn="l" rtl="0">
              <a:spcBef>
                <a:spcPts val="750"/>
              </a:spcBef>
              <a:spcAft>
                <a:spcPts val="0"/>
              </a:spcAft>
              <a:buClr>
                <a:schemeClr val="accent1"/>
              </a:buClr>
              <a:buSzPts val="1800"/>
            </a:pPr>
            <a:r>
              <a:rPr lang="it-IT" sz="2000" dirty="0">
                <a:solidFill>
                  <a:srgbClr val="0070C0"/>
                </a:solidFill>
                <a:latin typeface="Poppins"/>
                <a:cs typeface="Arial" panose="020B0604020202020204" pitchFamily="34" charset="0"/>
                <a:sym typeface="Calibri"/>
              </a:rPr>
              <a:t>- Distribuzione dell’informazione attraverso l’azienda</a:t>
            </a:r>
            <a:endParaRPr sz="2000" dirty="0">
              <a:solidFill>
                <a:srgbClr val="0070C0"/>
              </a:solidFill>
              <a:latin typeface="Poppins"/>
              <a:cs typeface="Arial" panose="020B0604020202020204" pitchFamily="34" charset="0"/>
              <a:sym typeface="Calibri"/>
            </a:endParaRPr>
          </a:p>
          <a:p>
            <a:pPr marR="0" lvl="0" algn="l" rtl="0">
              <a:spcBef>
                <a:spcPts val="750"/>
              </a:spcBef>
              <a:spcAft>
                <a:spcPts val="0"/>
              </a:spcAft>
              <a:buClr>
                <a:schemeClr val="accent1"/>
              </a:buClr>
              <a:buSzPts val="1800"/>
            </a:pPr>
            <a:r>
              <a:rPr lang="it-IT" sz="2000" dirty="0">
                <a:solidFill>
                  <a:srgbClr val="0070C0"/>
                </a:solidFill>
                <a:latin typeface="Poppins"/>
                <a:cs typeface="Arial" panose="020B0604020202020204" pitchFamily="34" charset="0"/>
                <a:sym typeface="Calibri"/>
              </a:rPr>
              <a:t>- Reattività dell’organizzazione a queste informazioni</a:t>
            </a:r>
            <a:endParaRPr sz="2000" dirty="0">
              <a:solidFill>
                <a:srgbClr val="0070C0"/>
              </a:solidFill>
              <a:latin typeface="Poppins"/>
              <a:cs typeface="Arial" panose="020B0604020202020204" pitchFamily="34" charset="0"/>
              <a:sym typeface="Calibri"/>
            </a:endParaRPr>
          </a:p>
        </p:txBody>
      </p:sp>
      <p:pic>
        <p:nvPicPr>
          <p:cNvPr id="403" name="Google Shape;403;p31"/>
          <p:cNvPicPr preferRelativeResize="0"/>
          <p:nvPr/>
        </p:nvPicPr>
        <p:blipFill rotWithShape="1">
          <a:blip r:embed="rId3">
            <a:alphaModFix/>
          </a:blip>
          <a:srcRect/>
          <a:stretch/>
        </p:blipFill>
        <p:spPr>
          <a:xfrm>
            <a:off x="4666270" y="1945586"/>
            <a:ext cx="4042803" cy="330773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E3D7B4DD-52C9-4292-B0D1-42BC0F46F970}"/>
              </a:ext>
            </a:extLst>
          </p:cNvPr>
          <p:cNvSpPr/>
          <p:nvPr/>
        </p:nvSpPr>
        <p:spPr>
          <a:xfrm>
            <a:off x="440096" y="132399"/>
            <a:ext cx="8263801" cy="584775"/>
          </a:xfrm>
          <a:prstGeom prst="rect">
            <a:avLst/>
          </a:prstGeom>
        </p:spPr>
        <p:txBody>
          <a:bodyPr wrap="none">
            <a:spAutoFit/>
          </a:bodyPr>
          <a:lstStyle/>
          <a:p>
            <a:r>
              <a:rPr lang="it-IT" sz="3200" b="1" kern="1200" dirty="0">
                <a:solidFill>
                  <a:srgbClr val="0070C0"/>
                </a:solidFill>
                <a:latin typeface="Poppins"/>
                <a:ea typeface="+mj-ea"/>
              </a:rPr>
              <a:t>Rapporti strategici con gli stakeholder</a:t>
            </a:r>
          </a:p>
        </p:txBody>
      </p:sp>
      <p:pic>
        <p:nvPicPr>
          <p:cNvPr id="10" name="Immagine 9">
            <a:extLst>
              <a:ext uri="{FF2B5EF4-FFF2-40B4-BE49-F238E27FC236}">
                <a16:creationId xmlns:a16="http://schemas.microsoft.com/office/drawing/2014/main" id="{6702A013-5815-439E-8F69-5D21BF62D865}"/>
              </a:ext>
            </a:extLst>
          </p:cNvPr>
          <p:cNvPicPr>
            <a:picLocks noChangeAspect="1"/>
          </p:cNvPicPr>
          <p:nvPr/>
        </p:nvPicPr>
        <p:blipFill rotWithShape="1">
          <a:blip r:embed="rId2"/>
          <a:srcRect t="10587" b="11894"/>
          <a:stretch/>
        </p:blipFill>
        <p:spPr>
          <a:xfrm>
            <a:off x="880782" y="896471"/>
            <a:ext cx="7382435" cy="4292043"/>
          </a:xfrm>
          <a:prstGeom prst="rect">
            <a:avLst/>
          </a:prstGeom>
        </p:spPr>
      </p:pic>
      <p:sp>
        <p:nvSpPr>
          <p:cNvPr id="11" name="Google Shape;443;p34">
            <a:extLst>
              <a:ext uri="{FF2B5EF4-FFF2-40B4-BE49-F238E27FC236}">
                <a16:creationId xmlns:a16="http://schemas.microsoft.com/office/drawing/2014/main" id="{78BC14D3-68A6-4D45-817D-62B03C5D1CA1}"/>
              </a:ext>
            </a:extLst>
          </p:cNvPr>
          <p:cNvSpPr txBox="1"/>
          <p:nvPr/>
        </p:nvSpPr>
        <p:spPr>
          <a:xfrm>
            <a:off x="1306062" y="5505836"/>
            <a:ext cx="6531871" cy="843164"/>
          </a:xfrm>
          <a:prstGeom prst="rect">
            <a:avLst/>
          </a:prstGeom>
          <a:noFill/>
          <a:ln>
            <a:noFill/>
          </a:ln>
        </p:spPr>
        <p:txBody>
          <a:bodyPr spcFirstLastPara="1" wrap="square" lIns="0" tIns="12050" rIns="0" bIns="0" anchor="t" anchorCtr="0">
            <a:spAutoFit/>
          </a:bodyPr>
          <a:lstStyle/>
          <a:p>
            <a:pPr marL="57785" marR="0" lvl="0" indent="0" rtl="0">
              <a:lnSpc>
                <a:spcPct val="100000"/>
              </a:lnSpc>
              <a:spcBef>
                <a:spcPts val="0"/>
              </a:spcBef>
              <a:spcAft>
                <a:spcPts val="0"/>
              </a:spcAft>
              <a:buNone/>
            </a:pPr>
            <a:r>
              <a:rPr lang="it-IT" sz="1800" b="1" dirty="0">
                <a:solidFill>
                  <a:srgbClr val="0070C0"/>
                </a:solidFill>
                <a:latin typeface="Poppins"/>
                <a:sym typeface="Arial"/>
              </a:rPr>
              <a:t>La matrice consente di individuare la strategia di volta in volta più efficace per amministrare le relazioni con le  diverse tipologie di  Stakeholder aziendali</a:t>
            </a:r>
            <a:endParaRPr sz="1800" dirty="0">
              <a:solidFill>
                <a:srgbClr val="0070C0"/>
              </a:solidFill>
              <a:latin typeface="Poppins"/>
              <a:sym typeface="Arial"/>
            </a:endParaRPr>
          </a:p>
        </p:txBody>
      </p:sp>
      <p:sp>
        <p:nvSpPr>
          <p:cNvPr id="12" name="Rettangolo 11">
            <a:extLst>
              <a:ext uri="{FF2B5EF4-FFF2-40B4-BE49-F238E27FC236}">
                <a16:creationId xmlns:a16="http://schemas.microsoft.com/office/drawing/2014/main" id="{1B572B70-AADA-4845-9870-1FF18429BEDE}"/>
              </a:ext>
            </a:extLst>
          </p:cNvPr>
          <p:cNvSpPr/>
          <p:nvPr/>
        </p:nvSpPr>
        <p:spPr>
          <a:xfrm>
            <a:off x="1030941" y="717174"/>
            <a:ext cx="2447365" cy="9950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6126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5"/>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458" name="Google Shape;458;p35"/>
          <p:cNvSpPr txBox="1">
            <a:spLocks noGrp="1"/>
          </p:cNvSpPr>
          <p:nvPr>
            <p:ph type="body" idx="1"/>
          </p:nvPr>
        </p:nvSpPr>
        <p:spPr>
          <a:xfrm>
            <a:off x="1476375" y="2020696"/>
            <a:ext cx="6409055" cy="268795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459" name="Google Shape;459;p35"/>
          <p:cNvPicPr preferRelativeResize="0"/>
          <p:nvPr/>
        </p:nvPicPr>
        <p:blipFill rotWithShape="1">
          <a:blip r:embed="rId3">
            <a:alphaModFix/>
          </a:blip>
          <a:srcRect/>
          <a:stretch/>
        </p:blipFill>
        <p:spPr>
          <a:xfrm>
            <a:off x="257288" y="457200"/>
            <a:ext cx="8629423" cy="5715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6"/>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465" name="Google Shape;465;p36"/>
          <p:cNvSpPr txBox="1">
            <a:spLocks noGrp="1"/>
          </p:cNvSpPr>
          <p:nvPr>
            <p:ph type="body" idx="1"/>
          </p:nvPr>
        </p:nvSpPr>
        <p:spPr>
          <a:xfrm>
            <a:off x="1476375" y="2020696"/>
            <a:ext cx="6409055" cy="268795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466" name="Google Shape;466;p36"/>
          <p:cNvPicPr preferRelativeResize="0"/>
          <p:nvPr/>
        </p:nvPicPr>
        <p:blipFill rotWithShape="1">
          <a:blip r:embed="rId3">
            <a:alphaModFix/>
          </a:blip>
          <a:srcRect/>
          <a:stretch/>
        </p:blipFill>
        <p:spPr>
          <a:xfrm>
            <a:off x="245442" y="697419"/>
            <a:ext cx="8653115" cy="5319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7"/>
          <p:cNvSpPr txBox="1">
            <a:spLocks noGrp="1"/>
          </p:cNvSpPr>
          <p:nvPr>
            <p:ph type="title"/>
          </p:nvPr>
        </p:nvSpPr>
        <p:spPr>
          <a:xfrm>
            <a:off x="2124329" y="1902028"/>
            <a:ext cx="4895341" cy="65151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472" name="Google Shape;472;p37"/>
          <p:cNvSpPr txBox="1">
            <a:spLocks noGrp="1"/>
          </p:cNvSpPr>
          <p:nvPr>
            <p:ph type="body" idx="1"/>
          </p:nvPr>
        </p:nvSpPr>
        <p:spPr>
          <a:xfrm>
            <a:off x="1476375" y="2020696"/>
            <a:ext cx="6409055" cy="268795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473" name="Google Shape;473;p37"/>
          <p:cNvPicPr preferRelativeResize="0"/>
          <p:nvPr/>
        </p:nvPicPr>
        <p:blipFill rotWithShape="1">
          <a:blip r:embed="rId3">
            <a:alphaModFix/>
          </a:blip>
          <a:srcRect/>
          <a:stretch/>
        </p:blipFill>
        <p:spPr>
          <a:xfrm>
            <a:off x="310884" y="367552"/>
            <a:ext cx="8522231" cy="5867400"/>
          </a:xfrm>
          <a:prstGeom prst="rect">
            <a:avLst/>
          </a:prstGeom>
          <a:noFill/>
          <a:ln>
            <a:noFill/>
          </a:ln>
        </p:spPr>
      </p:pic>
      <p:cxnSp>
        <p:nvCxnSpPr>
          <p:cNvPr id="3" name="Connettore diritto 2">
            <a:extLst>
              <a:ext uri="{FF2B5EF4-FFF2-40B4-BE49-F238E27FC236}">
                <a16:creationId xmlns:a16="http://schemas.microsoft.com/office/drawing/2014/main" id="{AD0A5D0A-B373-4B44-AA81-BEF5A13248EB}"/>
              </a:ext>
            </a:extLst>
          </p:cNvPr>
          <p:cNvCxnSpPr/>
          <p:nvPr/>
        </p:nvCxnSpPr>
        <p:spPr>
          <a:xfrm>
            <a:off x="1192306" y="6239437"/>
            <a:ext cx="7637929" cy="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38"/>
          <p:cNvSpPr txBox="1">
            <a:spLocks noGrp="1"/>
          </p:cNvSpPr>
          <p:nvPr>
            <p:ph type="title"/>
          </p:nvPr>
        </p:nvSpPr>
        <p:spPr>
          <a:xfrm>
            <a:off x="376519" y="470374"/>
            <a:ext cx="4303058" cy="677108"/>
          </a:xfrm>
          <a:prstGeom prst="rect">
            <a:avLst/>
          </a:prstGeom>
          <a:noFill/>
          <a:ln>
            <a:noFill/>
          </a:ln>
        </p:spPr>
        <p:txBody>
          <a:bodyPr spcFirstLastPara="1" wrap="square" lIns="0" tIns="0" rIns="0" bIns="0" anchor="t" anchorCtr="0">
            <a:spAutoFit/>
          </a:bodyPr>
          <a:lstStyle/>
          <a:p>
            <a:pPr marL="0" lvl="0" indent="0">
              <a:buFont typeface="Arial"/>
              <a:buNone/>
            </a:pPr>
            <a:r>
              <a:rPr lang="it-IT" sz="4400" kern="1200" dirty="0">
                <a:solidFill>
                  <a:schemeClr val="tx1"/>
                </a:solidFill>
                <a:ea typeface="+mj-ea"/>
              </a:rPr>
              <a:t>Caso Granarolo</a:t>
            </a:r>
            <a:endParaRPr sz="4400" kern="1200" dirty="0">
              <a:solidFill>
                <a:schemeClr val="tx1"/>
              </a:solidFill>
              <a:ea typeface="+mj-ea"/>
            </a:endParaRPr>
          </a:p>
        </p:txBody>
      </p:sp>
      <p:pic>
        <p:nvPicPr>
          <p:cNvPr id="479" name="Google Shape;479;p38"/>
          <p:cNvPicPr preferRelativeResize="0"/>
          <p:nvPr/>
        </p:nvPicPr>
        <p:blipFill rotWithShape="1">
          <a:blip r:embed="rId3">
            <a:alphaModFix/>
          </a:blip>
          <a:srcRect l="1669" t="14655" r="1617" b="9326"/>
          <a:stretch/>
        </p:blipFill>
        <p:spPr>
          <a:xfrm>
            <a:off x="255494" y="1568823"/>
            <a:ext cx="8633012" cy="414169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pic>
        <p:nvPicPr>
          <p:cNvPr id="485" name="Google Shape;485;p39"/>
          <p:cNvPicPr preferRelativeResize="0"/>
          <p:nvPr/>
        </p:nvPicPr>
        <p:blipFill rotWithShape="1">
          <a:blip r:embed="rId3">
            <a:alphaModFix/>
          </a:blip>
          <a:srcRect t="6558" b="8035"/>
          <a:stretch/>
        </p:blipFill>
        <p:spPr>
          <a:xfrm>
            <a:off x="116541" y="1712257"/>
            <a:ext cx="9027459" cy="4285131"/>
          </a:xfrm>
          <a:prstGeom prst="rect">
            <a:avLst/>
          </a:prstGeom>
          <a:noFill/>
          <a:ln>
            <a:noFill/>
          </a:ln>
        </p:spPr>
      </p:pic>
      <p:sp>
        <p:nvSpPr>
          <p:cNvPr id="6" name="Google Shape;478;p38">
            <a:extLst>
              <a:ext uri="{FF2B5EF4-FFF2-40B4-BE49-F238E27FC236}">
                <a16:creationId xmlns:a16="http://schemas.microsoft.com/office/drawing/2014/main" id="{AA846C4C-EDB9-4BAB-8133-9AE1B8F11540}"/>
              </a:ext>
            </a:extLst>
          </p:cNvPr>
          <p:cNvSpPr txBox="1">
            <a:spLocks/>
          </p:cNvSpPr>
          <p:nvPr/>
        </p:nvSpPr>
        <p:spPr>
          <a:xfrm>
            <a:off x="376519" y="470374"/>
            <a:ext cx="4303058" cy="67710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kern="1200">
                <a:solidFill>
                  <a:schemeClr val="tx1"/>
                </a:solidFill>
                <a:ea typeface="+mj-ea"/>
              </a:rPr>
              <a:t>Caso Granarolo</a:t>
            </a:r>
            <a:endParaRPr lang="it-IT" sz="4400" kern="1200" dirty="0">
              <a:solidFill>
                <a:schemeClr val="tx1"/>
              </a:solidFill>
              <a:ea typeface="+mj-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pic>
        <p:nvPicPr>
          <p:cNvPr id="491" name="Google Shape;491;p40"/>
          <p:cNvPicPr preferRelativeResize="0"/>
          <p:nvPr/>
        </p:nvPicPr>
        <p:blipFill rotWithShape="1">
          <a:blip r:embed="rId3">
            <a:alphaModFix/>
          </a:blip>
          <a:srcRect t="8928" b="11649"/>
          <a:stretch/>
        </p:blipFill>
        <p:spPr>
          <a:xfrm>
            <a:off x="372036" y="1524000"/>
            <a:ext cx="8399928" cy="4482353"/>
          </a:xfrm>
          <a:prstGeom prst="rect">
            <a:avLst/>
          </a:prstGeom>
          <a:noFill/>
          <a:ln>
            <a:noFill/>
          </a:ln>
        </p:spPr>
      </p:pic>
      <p:sp>
        <p:nvSpPr>
          <p:cNvPr id="4" name="Google Shape;478;p38">
            <a:extLst>
              <a:ext uri="{FF2B5EF4-FFF2-40B4-BE49-F238E27FC236}">
                <a16:creationId xmlns:a16="http://schemas.microsoft.com/office/drawing/2014/main" id="{5594D064-24C4-435A-95E1-8D4C96885EE3}"/>
              </a:ext>
            </a:extLst>
          </p:cNvPr>
          <p:cNvSpPr txBox="1">
            <a:spLocks noGrp="1"/>
          </p:cNvSpPr>
          <p:nvPr>
            <p:ph type="title"/>
          </p:nvPr>
        </p:nvSpPr>
        <p:spPr>
          <a:xfrm>
            <a:off x="376519" y="470374"/>
            <a:ext cx="4303058" cy="677108"/>
          </a:xfrm>
          <a:prstGeom prst="rect">
            <a:avLst/>
          </a:prstGeom>
          <a:noFill/>
          <a:ln>
            <a:noFill/>
          </a:ln>
        </p:spPr>
        <p:txBody>
          <a:bodyPr spcFirstLastPara="1" wrap="square" lIns="0" tIns="0" rIns="0" bIns="0" anchor="t" anchorCtr="0">
            <a:spAutoFit/>
          </a:bodyPr>
          <a:lstStyle/>
          <a:p>
            <a:pPr marL="0" lvl="0" indent="0">
              <a:buFont typeface="Arial"/>
              <a:buNone/>
            </a:pPr>
            <a:r>
              <a:rPr lang="it-IT" sz="4400" kern="1200" dirty="0">
                <a:solidFill>
                  <a:schemeClr val="tx1"/>
                </a:solidFill>
                <a:ea typeface="+mj-ea"/>
              </a:rPr>
              <a:t>Caso Granarolo</a:t>
            </a:r>
            <a:endParaRPr sz="4400" kern="1200" dirty="0">
              <a:solidFill>
                <a:schemeClr val="tx1"/>
              </a:solidFill>
              <a:ea typeface="+mj-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pic>
        <p:nvPicPr>
          <p:cNvPr id="497" name="Google Shape;497;p41"/>
          <p:cNvPicPr preferRelativeResize="0"/>
          <p:nvPr/>
        </p:nvPicPr>
        <p:blipFill rotWithShape="1">
          <a:blip r:embed="rId3">
            <a:alphaModFix/>
          </a:blip>
          <a:srcRect b="8803"/>
          <a:stretch/>
        </p:blipFill>
        <p:spPr>
          <a:xfrm>
            <a:off x="459441" y="1443318"/>
            <a:ext cx="8440271" cy="4711226"/>
          </a:xfrm>
          <a:prstGeom prst="rect">
            <a:avLst/>
          </a:prstGeom>
          <a:noFill/>
          <a:ln>
            <a:noFill/>
          </a:ln>
        </p:spPr>
      </p:pic>
      <p:sp>
        <p:nvSpPr>
          <p:cNvPr id="4" name="Google Shape;478;p38">
            <a:extLst>
              <a:ext uri="{FF2B5EF4-FFF2-40B4-BE49-F238E27FC236}">
                <a16:creationId xmlns:a16="http://schemas.microsoft.com/office/drawing/2014/main" id="{BAF04BFF-E7F3-4202-9451-FAEF4393F85C}"/>
              </a:ext>
            </a:extLst>
          </p:cNvPr>
          <p:cNvSpPr txBox="1">
            <a:spLocks/>
          </p:cNvSpPr>
          <p:nvPr/>
        </p:nvSpPr>
        <p:spPr>
          <a:xfrm>
            <a:off x="376519" y="470374"/>
            <a:ext cx="4303058" cy="67710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kern="1200">
                <a:solidFill>
                  <a:schemeClr val="tx1"/>
                </a:solidFill>
                <a:ea typeface="+mj-ea"/>
              </a:rPr>
              <a:t>Caso Granarolo</a:t>
            </a:r>
            <a:endParaRPr lang="it-IT" sz="4400" kern="1200" dirty="0">
              <a:solidFill>
                <a:schemeClr val="tx1"/>
              </a:solidFill>
              <a:ea typeface="+mj-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3" name="Google Shape;503;p42"/>
          <p:cNvSpPr txBox="1">
            <a:spLocks noGrp="1"/>
          </p:cNvSpPr>
          <p:nvPr>
            <p:ph type="body" idx="1"/>
          </p:nvPr>
        </p:nvSpPr>
        <p:spPr>
          <a:xfrm>
            <a:off x="1476375" y="2020696"/>
            <a:ext cx="6409055" cy="268795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504" name="Google Shape;504;p42"/>
          <p:cNvPicPr preferRelativeResize="0"/>
          <p:nvPr/>
        </p:nvPicPr>
        <p:blipFill rotWithShape="1">
          <a:blip r:embed="rId3">
            <a:alphaModFix/>
          </a:blip>
          <a:srcRect b="7913"/>
          <a:stretch/>
        </p:blipFill>
        <p:spPr>
          <a:xfrm>
            <a:off x="578223" y="1429027"/>
            <a:ext cx="7987553" cy="4290456"/>
          </a:xfrm>
          <a:prstGeom prst="rect">
            <a:avLst/>
          </a:prstGeom>
          <a:noFill/>
          <a:ln>
            <a:noFill/>
          </a:ln>
        </p:spPr>
      </p:pic>
      <p:sp>
        <p:nvSpPr>
          <p:cNvPr id="6" name="Google Shape;478;p38">
            <a:extLst>
              <a:ext uri="{FF2B5EF4-FFF2-40B4-BE49-F238E27FC236}">
                <a16:creationId xmlns:a16="http://schemas.microsoft.com/office/drawing/2014/main" id="{AD6EA92E-C81D-44D5-AA24-2E74FE7876C1}"/>
              </a:ext>
            </a:extLst>
          </p:cNvPr>
          <p:cNvSpPr txBox="1">
            <a:spLocks/>
          </p:cNvSpPr>
          <p:nvPr/>
        </p:nvSpPr>
        <p:spPr>
          <a:xfrm>
            <a:off x="376519" y="470374"/>
            <a:ext cx="4303058" cy="67710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100" b="1" i="0" u="none" strike="noStrike" cap="none">
                <a:solidFill>
                  <a:srgbClr val="33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kern="1200">
                <a:solidFill>
                  <a:schemeClr val="tx1"/>
                </a:solidFill>
                <a:ea typeface="+mj-ea"/>
              </a:rPr>
              <a:t>Caso Granarolo</a:t>
            </a:r>
            <a:endParaRPr lang="it-IT" sz="4400" kern="1200" dirty="0">
              <a:solidFill>
                <a:schemeClr val="tx1"/>
              </a:solidFill>
              <a:ea typeface="+mj-e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C632E36-23A1-44C9-8D07-6A5742CC827E}"/>
</file>

<file path=customXml/itemProps2.xml><?xml version="1.0" encoding="utf-8"?>
<ds:datastoreItem xmlns:ds="http://schemas.openxmlformats.org/officeDocument/2006/customXml" ds:itemID="{64D013F4-92A4-42E0-93CB-1C65A269836B}"/>
</file>

<file path=customXml/itemProps3.xml><?xml version="1.0" encoding="utf-8"?>
<ds:datastoreItem xmlns:ds="http://schemas.openxmlformats.org/officeDocument/2006/customXml" ds:itemID="{9C7BFA14-37D5-4DC1-B4C7-B1EF16A5ABF5}"/>
</file>

<file path=docProps/app.xml><?xml version="1.0" encoding="utf-8"?>
<Properties xmlns="http://schemas.openxmlformats.org/officeDocument/2006/extended-properties" xmlns:vt="http://schemas.openxmlformats.org/officeDocument/2006/docPropsVTypes">
  <TotalTime>944</TotalTime>
  <Words>2277</Words>
  <Application>Microsoft Office PowerPoint</Application>
  <PresentationFormat>Presentazione su schermo (4:3)</PresentationFormat>
  <Paragraphs>163</Paragraphs>
  <Slides>39</Slides>
  <Notes>34</Notes>
  <HiddenSlides>0</HiddenSlides>
  <MMClips>2</MMClips>
  <ScaleCrop>false</ScaleCrop>
  <HeadingPairs>
    <vt:vector size="6" baseType="variant">
      <vt:variant>
        <vt:lpstr>Caratteri utilizzati</vt:lpstr>
      </vt:variant>
      <vt:variant>
        <vt:i4>9</vt:i4>
      </vt:variant>
      <vt:variant>
        <vt:lpstr>Tema</vt:lpstr>
      </vt:variant>
      <vt:variant>
        <vt:i4>3</vt:i4>
      </vt:variant>
      <vt:variant>
        <vt:lpstr>Titoli diapositive</vt:lpstr>
      </vt:variant>
      <vt:variant>
        <vt:i4>39</vt:i4>
      </vt:variant>
    </vt:vector>
  </HeadingPairs>
  <TitlesOfParts>
    <vt:vector size="51" baseType="lpstr">
      <vt:lpstr>Georgia</vt:lpstr>
      <vt:lpstr>Calibri Light</vt:lpstr>
      <vt:lpstr>Noto Sans Symbols</vt:lpstr>
      <vt:lpstr>Poppins SemiBold</vt:lpstr>
      <vt:lpstr>Poppins</vt:lpstr>
      <vt:lpstr>Roboto Slab</vt:lpstr>
      <vt:lpstr>Arial</vt:lpstr>
      <vt:lpstr>Oswald</vt:lpstr>
      <vt:lpstr>Calibri</vt:lpstr>
      <vt:lpstr>Office Theme</vt:lpstr>
      <vt:lpstr>Tema di Office</vt:lpstr>
      <vt:lpstr>1_Office Theme</vt:lpstr>
      <vt:lpstr>Presentazione standard di PowerPoint</vt:lpstr>
      <vt:lpstr>L’imprenditore</vt:lpstr>
      <vt:lpstr>Imprenditorialità e managerialità</vt:lpstr>
      <vt:lpstr>Imprenditore vs Manager</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Gli organi aziendali</vt:lpstr>
      <vt:lpstr>Mentalità Imprenditoriale?</vt:lpstr>
      <vt:lpstr>Ma non solo imprenditore e manager…..</vt:lpstr>
      <vt:lpstr>Stakeholders vs Shareholders</vt:lpstr>
      <vt:lpstr> Chi sono gli stakeholders?</vt:lpstr>
      <vt:lpstr>STAKEHOLDER INTERNI</vt:lpstr>
      <vt:lpstr>STAKEHOLDER ESTERNI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La teoria degli stakeholder</vt:lpstr>
      <vt:lpstr>Stakeholder Primari e Secondari</vt:lpstr>
      <vt:lpstr>Stakeholder: criteri di individuazione</vt:lpstr>
      <vt:lpstr>La gestione degli stakeholder</vt:lpstr>
      <vt:lpstr>L’orientamento degli stakeholder</vt:lpstr>
      <vt:lpstr>Presentazione standard di PowerPoint</vt:lpstr>
      <vt:lpstr>Presentazione standard di PowerPoint</vt:lpstr>
      <vt:lpstr>Presentazione standard di PowerPoint</vt:lpstr>
      <vt:lpstr>Presentazione standard di PowerPoint</vt:lpstr>
      <vt:lpstr>Caso Granarolo</vt:lpstr>
      <vt:lpstr>Presentazione standard di PowerPoint</vt:lpstr>
      <vt:lpstr>Caso Granarolo</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I partecipanti alla vita  dell’impresa: l’imprenditore e gli «stakeholder»</dc:title>
  <dc:creator>Carla Rossi</dc:creator>
  <cp:lastModifiedBy>Piccirillo Giuseppe</cp:lastModifiedBy>
  <cp:revision>57</cp:revision>
  <dcterms:created xsi:type="dcterms:W3CDTF">2020-02-20T05:20:26Z</dcterms:created>
  <dcterms:modified xsi:type="dcterms:W3CDTF">2026-03-25T11:54:47Z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2017-03-20T00:00:00Z</vt:filetime>
  </property>
  <property fmtid="{D5CDD505-2E9C-101B-9397-08002B2CF9AE}" pid="3" name="Creator">
    <vt:lpwstr>Microsoft® PowerPoint® 2016</vt:lpwstr>
  </property>
  <property fmtid="{D5CDD505-2E9C-101B-9397-08002B2CF9AE}" pid="4" name="LastSaved">
    <vt:filetime>2020-02-20T00:00:00Z</vt:filetime>
  </property>
  <property fmtid="{D5CDD505-2E9C-101B-9397-08002B2CF9AE}" pid="5" name="ContentTypeId">
    <vt:lpwstr>0x010100CEADD803C0F48442AB4649F39F36D470</vt:lpwstr>
  </property>
</Properties>
</file>