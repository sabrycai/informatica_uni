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9.xml" ContentType="application/vnd.openxmlformats-officedocument.presentationml.slide+xml"/>
  <Override PartName="/ppt/slides/slide1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7.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18.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7.xml" ContentType="application/vnd.openxmlformats-officedocument.presentationml.slide+xml"/>
  <Override PartName="/ppt/slides/slide3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17.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16.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25.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6"/>
  </p:notesMasterIdLst>
  <p:sldIdLst>
    <p:sldId id="256" r:id="rId2"/>
    <p:sldId id="800" r:id="rId3"/>
    <p:sldId id="801" r:id="rId4"/>
    <p:sldId id="802" r:id="rId5"/>
    <p:sldId id="803" r:id="rId6"/>
    <p:sldId id="804" r:id="rId7"/>
    <p:sldId id="805" r:id="rId8"/>
    <p:sldId id="806" r:id="rId9"/>
    <p:sldId id="807" r:id="rId10"/>
    <p:sldId id="265" r:id="rId11"/>
    <p:sldId id="266" r:id="rId12"/>
    <p:sldId id="808" r:id="rId13"/>
    <p:sldId id="809" r:id="rId14"/>
    <p:sldId id="810" r:id="rId15"/>
    <p:sldId id="811" r:id="rId16"/>
    <p:sldId id="812" r:id="rId17"/>
    <p:sldId id="813" r:id="rId18"/>
    <p:sldId id="814" r:id="rId19"/>
    <p:sldId id="815" r:id="rId20"/>
    <p:sldId id="816" r:id="rId21"/>
    <p:sldId id="817" r:id="rId22"/>
    <p:sldId id="818" r:id="rId23"/>
    <p:sldId id="819" r:id="rId24"/>
    <p:sldId id="820" r:id="rId25"/>
    <p:sldId id="821" r:id="rId26"/>
    <p:sldId id="822" r:id="rId27"/>
    <p:sldId id="823" r:id="rId28"/>
    <p:sldId id="824" r:id="rId29"/>
    <p:sldId id="825" r:id="rId30"/>
    <p:sldId id="826" r:id="rId31"/>
    <p:sldId id="827" r:id="rId32"/>
    <p:sldId id="828" r:id="rId33"/>
    <p:sldId id="829" r:id="rId34"/>
    <p:sldId id="830" r:id="rId35"/>
  </p:sldIdLst>
  <p:sldSz cx="18288000" cy="10287000"/>
  <p:notesSz cx="6858000" cy="9144000"/>
  <p:embeddedFontLst>
    <p:embeddedFont>
      <p:font typeface="Calibri" panose="020F0502020204030204" pitchFamily="34" charset="0"/>
      <p:regular r:id="rId37"/>
      <p:bold r:id="rId38"/>
      <p:italic r:id="rId39"/>
      <p:boldItalic r:id="rId40"/>
    </p:embeddedFont>
    <p:embeddedFont>
      <p:font typeface="Poppins" panose="020B0604020202020204" charset="0"/>
      <p:bold r:id="rId41"/>
      <p:boldItalic r:id="rId42"/>
    </p:embeddedFont>
    <p:embeddedFont>
      <p:font typeface="Poppins SemiBold"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208" autoAdjust="0"/>
  </p:normalViewPr>
  <p:slideViewPr>
    <p:cSldViewPr snapToGrid="0">
      <p:cViewPr varScale="1">
        <p:scale>
          <a:sx n="57" d="100"/>
          <a:sy n="57" d="100"/>
        </p:scale>
        <p:origin x="562" y="67"/>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customXml" Target="../customXml/item3.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0979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2391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4305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82026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7901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4307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1875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7622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147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65387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1984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81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38158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93576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2409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8052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t-IT"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0697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60605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0845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59431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07126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8099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73252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16054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7236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30026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44479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23162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0372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97391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86858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6555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1028700" y="1251422"/>
            <a:ext cx="4059950" cy="1443525"/>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11651525" y="4573199"/>
            <a:ext cx="5607775" cy="4458181"/>
          </a:xfrm>
          <a:prstGeom prst="rect">
            <a:avLst/>
          </a:prstGeom>
          <a:noFill/>
          <a:ln>
            <a:noFill/>
          </a:ln>
        </p:spPr>
      </p:pic>
      <p:sp>
        <p:nvSpPr>
          <p:cNvPr id="86" name="Google Shape;86;p13"/>
          <p:cNvSpPr txBox="1"/>
          <p:nvPr/>
        </p:nvSpPr>
        <p:spPr>
          <a:xfrm>
            <a:off x="1028700" y="4802439"/>
            <a:ext cx="7248985" cy="135248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8400" b="1" i="0" u="none" strike="noStrike" cap="none">
                <a:solidFill>
                  <a:srgbClr val="FFFFFF"/>
                </a:solidFill>
                <a:latin typeface="Poppins SemiBold"/>
                <a:ea typeface="Poppins SemiBold"/>
                <a:cs typeface="Poppins SemiBold"/>
                <a:sym typeface="Poppins SemiBold"/>
              </a:rPr>
              <a:t>Corso EOA</a:t>
            </a:r>
            <a:endParaRPr/>
          </a:p>
        </p:txBody>
      </p:sp>
      <p:sp>
        <p:nvSpPr>
          <p:cNvPr id="87" name="Google Shape;87;p13"/>
          <p:cNvSpPr txBox="1"/>
          <p:nvPr/>
        </p:nvSpPr>
        <p:spPr>
          <a:xfrm>
            <a:off x="5378118" y="1353569"/>
            <a:ext cx="4727972" cy="495328"/>
          </a:xfrm>
          <a:prstGeom prst="rect">
            <a:avLst/>
          </a:prstGeom>
          <a:noFill/>
          <a:ln>
            <a:noFill/>
          </a:ln>
        </p:spPr>
        <p:txBody>
          <a:bodyPr spcFirstLastPara="1" wrap="square" lIns="0" tIns="0" rIns="0" bIns="0" anchor="t" anchorCtr="0">
            <a:spAutoFit/>
          </a:bodyPr>
          <a:lstStyle/>
          <a:p>
            <a:pPr marL="0" marR="0" lvl="0" indent="0" algn="l" rtl="0">
              <a:lnSpc>
                <a:spcPct val="161030"/>
              </a:lnSpc>
              <a:spcBef>
                <a:spcPts val="0"/>
              </a:spcBef>
              <a:spcAft>
                <a:spcPts val="0"/>
              </a:spcAft>
              <a:buNone/>
            </a:pPr>
            <a:r>
              <a:rPr lang="en-US" sz="1999" b="1" i="0" u="none" strike="noStrike" cap="none" dirty="0">
                <a:solidFill>
                  <a:srgbClr val="FFFFFF"/>
                </a:solidFill>
                <a:latin typeface="Poppins"/>
                <a:ea typeface="Poppins"/>
                <a:cs typeface="Poppins"/>
                <a:sym typeface="Poppins"/>
              </a:rPr>
              <a:t>LAUREA TRIENNALE </a:t>
            </a:r>
            <a:r>
              <a:rPr lang="en-US" sz="1999" b="1" dirty="0">
                <a:solidFill>
                  <a:srgbClr val="FFFFFF"/>
                </a:solidFill>
                <a:latin typeface="Poppins"/>
                <a:ea typeface="Poppins"/>
                <a:cs typeface="Poppins"/>
                <a:sym typeface="Poppins"/>
              </a:rPr>
              <a:t>IN </a:t>
            </a:r>
            <a:r>
              <a:rPr lang="en-US" sz="1999" b="1" i="0" u="none" strike="noStrike" cap="none" dirty="0">
                <a:solidFill>
                  <a:srgbClr val="FFFFFF"/>
                </a:solidFill>
                <a:latin typeface="Poppins"/>
                <a:ea typeface="Poppins"/>
                <a:cs typeface="Poppins"/>
                <a:sym typeface="Poppins"/>
              </a:rPr>
              <a:t>INFORMATICA </a:t>
            </a:r>
            <a:endParaRPr dirty="0"/>
          </a:p>
        </p:txBody>
      </p:sp>
      <p:sp>
        <p:nvSpPr>
          <p:cNvPr id="88" name="Google Shape;88;p13"/>
          <p:cNvSpPr txBox="1"/>
          <p:nvPr/>
        </p:nvSpPr>
        <p:spPr>
          <a:xfrm>
            <a:off x="1031518" y="6294359"/>
            <a:ext cx="6710586" cy="886397"/>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2800" b="1" i="0" u="none" strike="noStrike" cap="none" dirty="0">
                <a:solidFill>
                  <a:srgbClr val="FFFFFF"/>
                </a:solidFill>
                <a:latin typeface="Poppins"/>
                <a:ea typeface="Poppins"/>
                <a:cs typeface="Poppins"/>
                <a:sym typeface="Poppins"/>
              </a:rPr>
              <a:t>Prof. Giuseppe </a:t>
            </a:r>
            <a:r>
              <a:rPr lang="en-US" sz="2800" b="1" i="0" u="none" strike="noStrike" cap="none" dirty="0" err="1">
                <a:solidFill>
                  <a:srgbClr val="FFFFFF"/>
                </a:solidFill>
                <a:latin typeface="Poppins"/>
                <a:ea typeface="Poppins"/>
                <a:cs typeface="Poppins"/>
                <a:sym typeface="Poppins"/>
              </a:rPr>
              <a:t>Piccirillo</a:t>
            </a:r>
            <a:endParaRPr sz="2000" dirty="0"/>
          </a:p>
          <a:p>
            <a:pPr marL="0" marR="0" lvl="0" indent="0" algn="l" rtl="0">
              <a:lnSpc>
                <a:spcPct val="120010"/>
              </a:lnSpc>
              <a:spcBef>
                <a:spcPts val="0"/>
              </a:spcBef>
              <a:spcAft>
                <a:spcPts val="0"/>
              </a:spcAft>
              <a:buNone/>
            </a:pPr>
            <a:endParaRPr sz="2000" b="1" i="0" u="none" strike="noStrike" cap="none" dirty="0">
              <a:solidFill>
                <a:srgbClr val="FFFFFF"/>
              </a:solidFill>
              <a:latin typeface="Poppins"/>
              <a:ea typeface="Poppins"/>
              <a:cs typeface="Poppins"/>
              <a:sym typeface="Poppins"/>
            </a:endParaRPr>
          </a:p>
        </p:txBody>
      </p:sp>
      <p:sp>
        <p:nvSpPr>
          <p:cNvPr id="89" name="Google Shape;89;p13"/>
          <p:cNvSpPr txBox="1"/>
          <p:nvPr/>
        </p:nvSpPr>
        <p:spPr>
          <a:xfrm>
            <a:off x="10451233" y="1439294"/>
            <a:ext cx="5541100" cy="738407"/>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1" i="0" u="none" strike="noStrike" cap="none" dirty="0">
                <a:solidFill>
                  <a:srgbClr val="FFFFFF"/>
                </a:solidFill>
                <a:latin typeface="Poppins"/>
                <a:ea typeface="Poppins"/>
                <a:cs typeface="Poppins"/>
                <a:sym typeface="Poppins"/>
              </a:rPr>
              <a:t>CORSO II SEMESTRE</a:t>
            </a:r>
            <a:endParaRPr dirty="0"/>
          </a:p>
          <a:p>
            <a:pPr marL="0" marR="0" lvl="0" indent="0" algn="l" rtl="0">
              <a:lnSpc>
                <a:spcPct val="120010"/>
              </a:lnSpc>
              <a:spcBef>
                <a:spcPts val="0"/>
              </a:spcBef>
              <a:spcAft>
                <a:spcPts val="0"/>
              </a:spcAft>
              <a:buNone/>
            </a:pPr>
            <a:r>
              <a:rPr lang="en-US" sz="1999" b="1" i="0" u="none" strike="noStrike" cap="none">
                <a:solidFill>
                  <a:srgbClr val="FFFFFF"/>
                </a:solidFill>
                <a:latin typeface="Poppins"/>
                <a:ea typeface="Poppins"/>
                <a:cs typeface="Poppins"/>
                <a:sym typeface="Poppins"/>
              </a:rPr>
              <a:t>2025 - 2026</a:t>
            </a:r>
            <a:endParaRPr dirty="0"/>
          </a:p>
        </p:txBody>
      </p:sp>
      <p:sp>
        <p:nvSpPr>
          <p:cNvPr id="91" name="Google Shape;91;p13"/>
          <p:cNvSpPr txBox="1"/>
          <p:nvPr/>
        </p:nvSpPr>
        <p:spPr>
          <a:xfrm>
            <a:off x="1028700" y="3680181"/>
            <a:ext cx="15187188" cy="553870"/>
          </a:xfrm>
          <a:prstGeom prst="rect">
            <a:avLst/>
          </a:prstGeom>
          <a:noFill/>
          <a:ln>
            <a:noFill/>
          </a:ln>
        </p:spPr>
        <p:txBody>
          <a:bodyPr spcFirstLastPara="1" wrap="square" lIns="0" tIns="0" rIns="0" bIns="0" anchor="t" anchorCtr="0">
            <a:spAutoFit/>
          </a:bodyPr>
          <a:lstStyle/>
          <a:p>
            <a:pPr marL="0" marR="0" lvl="0" indent="0" algn="l" rtl="0">
              <a:lnSpc>
                <a:spcPct val="120006"/>
              </a:lnSpc>
              <a:spcBef>
                <a:spcPts val="0"/>
              </a:spcBef>
              <a:spcAft>
                <a:spcPts val="0"/>
              </a:spcAft>
              <a:buNone/>
            </a:pPr>
            <a:r>
              <a:rPr lang="en-US" sz="2999" b="1" i="0" u="none" strike="noStrike" cap="none" dirty="0">
                <a:solidFill>
                  <a:srgbClr val="FFFFFF"/>
                </a:solidFill>
                <a:latin typeface="Poppins"/>
                <a:ea typeface="Poppins"/>
                <a:cs typeface="Poppins"/>
                <a:sym typeface="Poppins"/>
              </a:rPr>
              <a:t>LEZIONE. 7 -  IL BILANCIO</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COSA C’È NEL PASSIVO?</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05957" y="2881342"/>
            <a:ext cx="14863463" cy="452431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Secondo le disposizioni riportate dal Codice civile, le voci del Passivo si distinguono invece in cinque </a:t>
            </a:r>
            <a:r>
              <a:rPr lang="it-IT" sz="3600" dirty="0" err="1">
                <a:solidFill>
                  <a:srgbClr val="0070C0"/>
                </a:solidFill>
                <a:latin typeface="Poppins" panose="020B0604020202020204" charset="0"/>
                <a:cs typeface="Poppins" panose="020B0604020202020204" charset="0"/>
              </a:rPr>
              <a:t>macroclassi</a:t>
            </a:r>
            <a:r>
              <a:rPr lang="it-IT" sz="3600" dirty="0">
                <a:solidFill>
                  <a:srgbClr val="0070C0"/>
                </a:solidFill>
                <a:latin typeface="Poppins" panose="020B0604020202020204" charset="0"/>
                <a:cs typeface="Poppins" panose="020B0604020202020204" charset="0"/>
              </a:rPr>
              <a:t>:</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Patrimonio netto;</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Fondo per rischi e oneri;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Trattamento di fine rapporto di lavoro subordinato;</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Debiti;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Ratei e risconti passivi.</a:t>
            </a:r>
          </a:p>
        </p:txBody>
      </p:sp>
    </p:spTree>
    <p:extLst>
      <p:ext uri="{BB962C8B-B14F-4D97-AF65-F5344CB8AC3E}">
        <p14:creationId xmlns:p14="http://schemas.microsoft.com/office/powerpoint/2010/main" val="2151423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5693503"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600" b="1" i="0" u="none" strike="noStrike" cap="none" dirty="0">
                <a:solidFill>
                  <a:srgbClr val="216AD9"/>
                </a:solidFill>
                <a:latin typeface="Poppins SemiBold"/>
                <a:ea typeface="Poppins SemiBold"/>
                <a:cs typeface="Poppins SemiBold"/>
                <a:sym typeface="Poppins SemiBold"/>
              </a:rPr>
              <a:t>PATRIMONIO NETTO</a:t>
            </a:r>
            <a:endParaRPr lang="it-IT"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413695" y="2350720"/>
            <a:ext cx="15460610" cy="5632311"/>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Il patrimonio netto rappresenta una parte delle passività e risulta dalla somma tra il capitale sociale, l’utile e le riserve: in sostanza, rappresenta le forze interne sulle quali la società può contare quando ha bisogno di fondi, senza ricorrere all’indebitamento. Più in particolare sono previste alcune </a:t>
            </a:r>
            <a:r>
              <a:rPr lang="it-IT" sz="3600" dirty="0" err="1">
                <a:solidFill>
                  <a:srgbClr val="0070C0"/>
                </a:solidFill>
                <a:latin typeface="Poppins" panose="020B0604020202020204" charset="0"/>
                <a:cs typeface="Poppins" panose="020B0604020202020204" charset="0"/>
              </a:rPr>
              <a:t>sottovoci</a:t>
            </a:r>
            <a:r>
              <a:rPr lang="it-IT" sz="3600" dirty="0">
                <a:solidFill>
                  <a:srgbClr val="0070C0"/>
                </a:solidFill>
                <a:latin typeface="Poppins" panose="020B0604020202020204" charset="0"/>
                <a:cs typeface="Poppins" panose="020B0604020202020204" charset="0"/>
              </a:rPr>
              <a:t> principali:</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Il capitale sociale</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Le riserve</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L’utile</a:t>
            </a:r>
          </a:p>
        </p:txBody>
      </p:sp>
      <p:pic>
        <p:nvPicPr>
          <p:cNvPr id="2" name="Immagine 1">
            <a:extLst>
              <a:ext uri="{FF2B5EF4-FFF2-40B4-BE49-F238E27FC236}">
                <a16:creationId xmlns:a16="http://schemas.microsoft.com/office/drawing/2014/main" id="{B1E85267-FF54-4DBF-91E2-FE6E4CEA2B89}"/>
              </a:ext>
            </a:extLst>
          </p:cNvPr>
          <p:cNvPicPr>
            <a:picLocks noChangeAspect="1"/>
          </p:cNvPicPr>
          <p:nvPr/>
        </p:nvPicPr>
        <p:blipFill>
          <a:blip r:embed="rId3"/>
          <a:stretch>
            <a:fillRect/>
          </a:stretch>
        </p:blipFill>
        <p:spPr>
          <a:xfrm>
            <a:off x="11247753" y="5425793"/>
            <a:ext cx="3858729" cy="4050716"/>
          </a:xfrm>
          <a:prstGeom prst="rect">
            <a:avLst/>
          </a:prstGeom>
        </p:spPr>
      </p:pic>
    </p:spTree>
    <p:extLst>
      <p:ext uri="{BB962C8B-B14F-4D97-AF65-F5344CB8AC3E}">
        <p14:creationId xmlns:p14="http://schemas.microsoft.com/office/powerpoint/2010/main" val="1940753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FONDI PER RISCHI E ONERI</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05956" y="3504797"/>
            <a:ext cx="14863463" cy="2862322"/>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Il Codice civile distingue tre tipologie principali di fondo:</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Fondo per trattamento di quiescenza e obblighi simili;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Fondo per imposte;</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Altri fondi.</a:t>
            </a:r>
          </a:p>
        </p:txBody>
      </p:sp>
    </p:spTree>
    <p:extLst>
      <p:ext uri="{BB962C8B-B14F-4D97-AF65-F5344CB8AC3E}">
        <p14:creationId xmlns:p14="http://schemas.microsoft.com/office/powerpoint/2010/main" val="1272079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TRATTAMENTO DI FINE RAPPORTO</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05956" y="3296979"/>
            <a:ext cx="14863463" cy="2862322"/>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La voce in oggetto raccoglie le trattenute effettuate dalla società per conto dei propri dipendenti per costituire la cosiddetta liquidazione (o Trattamento di Fine Rapporto). Nel caso in cui fossero stati corrisposti anticipi, il fondo deve essere espresso al netto di essi.</a:t>
            </a:r>
          </a:p>
        </p:txBody>
      </p:sp>
      <p:pic>
        <p:nvPicPr>
          <p:cNvPr id="2" name="Immagine 1">
            <a:extLst>
              <a:ext uri="{FF2B5EF4-FFF2-40B4-BE49-F238E27FC236}">
                <a16:creationId xmlns:a16="http://schemas.microsoft.com/office/drawing/2014/main" id="{ED9E4D56-1F32-4E9F-94EC-EE64C01D2DAB}"/>
              </a:ext>
            </a:extLst>
          </p:cNvPr>
          <p:cNvPicPr>
            <a:picLocks noChangeAspect="1"/>
          </p:cNvPicPr>
          <p:nvPr/>
        </p:nvPicPr>
        <p:blipFill rotWithShape="1">
          <a:blip r:embed="rId3"/>
          <a:srcRect l="22727" t="17000" r="22727" b="13182"/>
          <a:stretch/>
        </p:blipFill>
        <p:spPr>
          <a:xfrm>
            <a:off x="7273636" y="6482027"/>
            <a:ext cx="3740728" cy="2660073"/>
          </a:xfrm>
          <a:prstGeom prst="rect">
            <a:avLst/>
          </a:prstGeom>
        </p:spPr>
      </p:pic>
    </p:spTree>
    <p:extLst>
      <p:ext uri="{BB962C8B-B14F-4D97-AF65-F5344CB8AC3E}">
        <p14:creationId xmlns:p14="http://schemas.microsoft.com/office/powerpoint/2010/main" val="5311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DEBITI</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05956" y="2715088"/>
            <a:ext cx="14863463" cy="6740307"/>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In questa voce rientrano tutti i tipi di debito in base alla fonte di provenienza. I principali soggetti verso i quali l’impresa può contrarre debiti sono il pubblico, i soci, le banche, i clienti, i fornitori e lo Stato. </a:t>
            </a:r>
          </a:p>
          <a:p>
            <a:pPr algn="just"/>
            <a:r>
              <a:rPr lang="it-IT" sz="3600" dirty="0">
                <a:solidFill>
                  <a:srgbClr val="0070C0"/>
                </a:solidFill>
                <a:latin typeface="Poppins" panose="020B0604020202020204" charset="0"/>
                <a:cs typeface="Poppins" panose="020B0604020202020204" charset="0"/>
              </a:rPr>
              <a:t>Nel dettaglio:</a:t>
            </a:r>
          </a:p>
          <a:p>
            <a:pPr algn="just"/>
            <a:endParaRPr lang="it-IT" sz="3600" dirty="0">
              <a:solidFill>
                <a:srgbClr val="0070C0"/>
              </a:solidFill>
              <a:latin typeface="Poppins" panose="020B0604020202020204" charset="0"/>
              <a:cs typeface="Poppins" panose="020B0604020202020204" charset="0"/>
            </a:endParaRP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Debiti verso il pubblico;</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Debiti verso i soci;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Debiti verso le banche;</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Debiti verso i clienti;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Debiti verso i fornitori;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Debiti verso lo Stato.</a:t>
            </a:r>
          </a:p>
        </p:txBody>
      </p:sp>
      <p:pic>
        <p:nvPicPr>
          <p:cNvPr id="3" name="Immagine 2">
            <a:extLst>
              <a:ext uri="{FF2B5EF4-FFF2-40B4-BE49-F238E27FC236}">
                <a16:creationId xmlns:a16="http://schemas.microsoft.com/office/drawing/2014/main" id="{D6C187F8-4F88-460B-86A4-4A590763445A}"/>
              </a:ext>
            </a:extLst>
          </p:cNvPr>
          <p:cNvPicPr>
            <a:picLocks noChangeAspect="1"/>
          </p:cNvPicPr>
          <p:nvPr/>
        </p:nvPicPr>
        <p:blipFill rotWithShape="1">
          <a:blip r:embed="rId3"/>
          <a:srcRect l="17167" t="12930" r="16736" b="16565"/>
          <a:stretch/>
        </p:blipFill>
        <p:spPr>
          <a:xfrm>
            <a:off x="11055929" y="5070500"/>
            <a:ext cx="3844635" cy="4384895"/>
          </a:xfrm>
          <a:prstGeom prst="rect">
            <a:avLst/>
          </a:prstGeom>
        </p:spPr>
      </p:pic>
    </p:spTree>
    <p:extLst>
      <p:ext uri="{BB962C8B-B14F-4D97-AF65-F5344CB8AC3E}">
        <p14:creationId xmlns:p14="http://schemas.microsoft.com/office/powerpoint/2010/main" val="2342195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201118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RATEI E RISCONTI PASSIVI</a:t>
            </a:r>
            <a:endParaRPr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05956" y="2985252"/>
            <a:ext cx="14863463" cy="3416320"/>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Se con riferimento ai ratei e risconti attivi si parlava di crediti, quando parliamo di ratei e risconti passivi siamo nel territorio dei </a:t>
            </a:r>
            <a:r>
              <a:rPr lang="it-IT" sz="3600" u="sng" dirty="0">
                <a:solidFill>
                  <a:srgbClr val="0070C0"/>
                </a:solidFill>
                <a:latin typeface="Poppins" panose="020B0604020202020204" charset="0"/>
                <a:cs typeface="Poppins" panose="020B0604020202020204" charset="0"/>
              </a:rPr>
              <a:t>debiti</a:t>
            </a:r>
            <a:r>
              <a:rPr lang="it-IT" sz="3600" dirty="0">
                <a:solidFill>
                  <a:srgbClr val="0070C0"/>
                </a:solidFill>
                <a:latin typeface="Poppins" panose="020B0604020202020204" charset="0"/>
                <a:cs typeface="Poppins" panose="020B0604020202020204" charset="0"/>
              </a:rPr>
              <a:t>. Infatti, i ratei passivi tengono conto di uscite future relative a costi già maturati, ma non ancora liquidati; mentre i risconti passivi rinviano al futuro una quota di ricavi non ancora maturati, ma già incassati.</a:t>
            </a:r>
          </a:p>
        </p:txBody>
      </p:sp>
    </p:spTree>
    <p:extLst>
      <p:ext uri="{BB962C8B-B14F-4D97-AF65-F5344CB8AC3E}">
        <p14:creationId xmlns:p14="http://schemas.microsoft.com/office/powerpoint/2010/main" val="246562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5693503"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600" b="1" i="0" u="none" strike="noStrike" cap="none" dirty="0">
                <a:solidFill>
                  <a:srgbClr val="216AD9"/>
                </a:solidFill>
                <a:latin typeface="Poppins SemiBold"/>
                <a:ea typeface="Poppins SemiBold"/>
                <a:cs typeface="Poppins SemiBold"/>
                <a:sym typeface="Poppins SemiBold"/>
              </a:rPr>
              <a:t>RATEO PASSIVO – ESEMPIO </a:t>
            </a:r>
            <a:endParaRPr lang="it-IT"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141846" y="2881342"/>
            <a:ext cx="16157613" cy="397031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Un esempio tipico di rateo passivo è quello del </a:t>
            </a:r>
            <a:r>
              <a:rPr lang="it-IT" sz="3600" u="sng" dirty="0">
                <a:solidFill>
                  <a:srgbClr val="0070C0"/>
                </a:solidFill>
                <a:latin typeface="Poppins" panose="020B0604020202020204" charset="0"/>
                <a:cs typeface="Poppins" panose="020B0604020202020204" charset="0"/>
              </a:rPr>
              <a:t>mutuo</a:t>
            </a:r>
            <a:r>
              <a:rPr lang="it-IT" sz="3600" dirty="0">
                <a:solidFill>
                  <a:srgbClr val="0070C0"/>
                </a:solidFill>
                <a:latin typeface="Poppins" panose="020B0604020202020204" charset="0"/>
                <a:cs typeface="Poppins" panose="020B0604020202020204" charset="0"/>
              </a:rPr>
              <a:t>, che rientra tra i debiti a medio-lungo termine. Il capitale che la banca ti ha concesso in prestito per acquistare per esempio un macchinario è un capitale da restituire per intero con l’aggiunta dei tassi di interesse. Tassi di interesse che maturano nel tempo, e che sono inclusi tra i costi di competenza dell'esercizio anche quando vengono pagati in quello successivo.</a:t>
            </a:r>
          </a:p>
        </p:txBody>
      </p:sp>
      <p:pic>
        <p:nvPicPr>
          <p:cNvPr id="3" name="Immagine 2">
            <a:extLst>
              <a:ext uri="{FF2B5EF4-FFF2-40B4-BE49-F238E27FC236}">
                <a16:creationId xmlns:a16="http://schemas.microsoft.com/office/drawing/2014/main" id="{EE17DA1F-C6E3-4DF2-B307-B3E6E7326BB2}"/>
              </a:ext>
            </a:extLst>
          </p:cNvPr>
          <p:cNvPicPr>
            <a:picLocks noChangeAspect="1"/>
          </p:cNvPicPr>
          <p:nvPr/>
        </p:nvPicPr>
        <p:blipFill>
          <a:blip r:embed="rId3"/>
          <a:stretch>
            <a:fillRect/>
          </a:stretch>
        </p:blipFill>
        <p:spPr>
          <a:xfrm>
            <a:off x="12417137" y="6504710"/>
            <a:ext cx="3429000" cy="3429000"/>
          </a:xfrm>
          <a:prstGeom prst="rect">
            <a:avLst/>
          </a:prstGeom>
        </p:spPr>
      </p:pic>
    </p:spTree>
    <p:extLst>
      <p:ext uri="{BB962C8B-B14F-4D97-AF65-F5344CB8AC3E}">
        <p14:creationId xmlns:p14="http://schemas.microsoft.com/office/powerpoint/2010/main" val="1379441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605956" y="1144900"/>
            <a:ext cx="15693503"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600" b="1" i="0" u="none" strike="noStrike" cap="none" dirty="0">
                <a:solidFill>
                  <a:srgbClr val="216AD9"/>
                </a:solidFill>
                <a:latin typeface="Poppins SemiBold"/>
                <a:ea typeface="Poppins SemiBold"/>
                <a:cs typeface="Poppins SemiBold"/>
                <a:sym typeface="Poppins SemiBold"/>
              </a:rPr>
              <a:t>RISCONTO PASSIVO – ESEMPIO </a:t>
            </a:r>
            <a:endParaRPr lang="it-IT" dirty="0"/>
          </a:p>
        </p:txBody>
      </p:sp>
      <p:sp>
        <p:nvSpPr>
          <p:cNvPr id="183" name="Google Shape;183;p22"/>
          <p:cNvSpPr txBox="1"/>
          <p:nvPr/>
        </p:nvSpPr>
        <p:spPr>
          <a:xfrm>
            <a:off x="1694985" y="602166"/>
            <a:ext cx="6408024" cy="371043"/>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dirty="0">
                <a:solidFill>
                  <a:srgbClr val="216AD9"/>
                </a:solidFill>
                <a:latin typeface="Poppins"/>
                <a:ea typeface="Poppins"/>
                <a:cs typeface="Poppins"/>
                <a:sym typeface="Poppins"/>
              </a:rPr>
              <a:t>STATO PATRIMONIALE</a:t>
            </a:r>
            <a:endParaRPr lang="en-US" dirty="0"/>
          </a:p>
        </p:txBody>
      </p:sp>
      <p:sp>
        <p:nvSpPr>
          <p:cNvPr id="7" name="CasellaDiTesto 6">
            <a:extLst>
              <a:ext uri="{FF2B5EF4-FFF2-40B4-BE49-F238E27FC236}">
                <a16:creationId xmlns:a16="http://schemas.microsoft.com/office/drawing/2014/main" id="{42A74674-D9B4-42C9-BB0F-CAA96724701C}"/>
              </a:ext>
            </a:extLst>
          </p:cNvPr>
          <p:cNvSpPr txBox="1"/>
          <p:nvPr/>
        </p:nvSpPr>
        <p:spPr>
          <a:xfrm>
            <a:off x="1605956" y="2635121"/>
            <a:ext cx="14656526" cy="5016758"/>
          </a:xfrm>
          <a:prstGeom prst="rect">
            <a:avLst/>
          </a:prstGeom>
          <a:noFill/>
        </p:spPr>
        <p:txBody>
          <a:bodyPr wrap="square">
            <a:spAutoFit/>
          </a:bodyPr>
          <a:lstStyle/>
          <a:p>
            <a:pPr algn="just"/>
            <a:r>
              <a:rPr lang="it-IT" sz="3200" b="0" i="0" dirty="0">
                <a:solidFill>
                  <a:srgbClr val="0070C0"/>
                </a:solidFill>
                <a:effectLst/>
                <a:latin typeface="Poppins" panose="020B0604020202020204" charset="0"/>
                <a:cs typeface="Poppins" panose="020B0604020202020204" charset="0"/>
              </a:rPr>
              <a:t>Prendiamo sempre il caso dell’affitto, ma questa volta immaginiamo che tu abbia un ufficio di proprietà e il 15 di ogni mese incassi da un affittuario un canone mensile pari a 2.000 euro. Arriva il giorno 15 dicembre e quindi ricevi 2.000 euro, di questa somma però, circa la metà è di competenza di dicembre, ma l’altra metà è di competenza fino al 15 gennaio. Per cui tu hai incassato 2.000 euro il 15 dicembre, ma c’è da considerare un risconto passivo, ossia circa 1.000 euro rappresentano un ricavo di competenza di gennaio. In questo caso, viene “ridotto” un ricavo del bilancio in chiusura per portarlo a competenza dell’anno successivo</a:t>
            </a:r>
            <a:endParaRPr lang="it-IT" sz="3200" dirty="0">
              <a:solidFill>
                <a:srgbClr val="0070C0"/>
              </a:solidFill>
              <a:latin typeface="Poppins" panose="020B0604020202020204" charset="0"/>
              <a:cs typeface="Poppins" panose="020B0604020202020204" charset="0"/>
            </a:endParaRPr>
          </a:p>
        </p:txBody>
      </p:sp>
      <p:pic>
        <p:nvPicPr>
          <p:cNvPr id="8" name="Immagine 7">
            <a:extLst>
              <a:ext uri="{FF2B5EF4-FFF2-40B4-BE49-F238E27FC236}">
                <a16:creationId xmlns:a16="http://schemas.microsoft.com/office/drawing/2014/main" id="{74719752-BE1E-4919-8E11-ADC13C23BABA}"/>
              </a:ext>
            </a:extLst>
          </p:cNvPr>
          <p:cNvPicPr>
            <a:picLocks noChangeAspect="1"/>
          </p:cNvPicPr>
          <p:nvPr/>
        </p:nvPicPr>
        <p:blipFill rotWithShape="1">
          <a:blip r:embed="rId3"/>
          <a:srcRect l="13482" t="9462" r="13724" b="11129"/>
          <a:stretch/>
        </p:blipFill>
        <p:spPr>
          <a:xfrm>
            <a:off x="13993993" y="7967132"/>
            <a:ext cx="1749132" cy="1908133"/>
          </a:xfrm>
          <a:prstGeom prst="rect">
            <a:avLst/>
          </a:prstGeom>
        </p:spPr>
      </p:pic>
    </p:spTree>
    <p:extLst>
      <p:ext uri="{BB962C8B-B14F-4D97-AF65-F5344CB8AC3E}">
        <p14:creationId xmlns:p14="http://schemas.microsoft.com/office/powerpoint/2010/main" val="4003456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8230961"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err="1">
                <a:solidFill>
                  <a:srgbClr val="216AD9"/>
                </a:solidFill>
                <a:latin typeface="Poppins SemiBold"/>
                <a:ea typeface="Poppins SemiBold"/>
                <a:cs typeface="Poppins SemiBold"/>
                <a:sym typeface="Poppins SemiBold"/>
              </a:rPr>
              <a:t>Conto</a:t>
            </a:r>
            <a:r>
              <a:rPr lang="en-US" sz="5600" b="1" i="0" u="none" strike="noStrike" cap="none" dirty="0">
                <a:solidFill>
                  <a:srgbClr val="216AD9"/>
                </a:solidFill>
                <a:latin typeface="Poppins SemiBold"/>
                <a:ea typeface="Poppins SemiBold"/>
                <a:cs typeface="Poppins SemiBold"/>
                <a:sym typeface="Poppins SemiBold"/>
              </a:rPr>
              <a:t> </a:t>
            </a:r>
            <a:r>
              <a:rPr lang="en-US" sz="5600" b="1" i="0" u="none" strike="noStrike" cap="none" dirty="0" err="1">
                <a:solidFill>
                  <a:srgbClr val="216AD9"/>
                </a:solidFill>
                <a:latin typeface="Poppins SemiBold"/>
                <a:ea typeface="Poppins SemiBold"/>
                <a:cs typeface="Poppins SemiBold"/>
                <a:sym typeface="Poppins SemiBold"/>
              </a:rPr>
              <a:t>Economico</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561703" y="2939431"/>
            <a:ext cx="17164593" cy="5170646"/>
          </a:xfrm>
          <a:prstGeom prst="rect">
            <a:avLst/>
          </a:prstGeom>
          <a:noFill/>
        </p:spPr>
        <p:txBody>
          <a:bodyPr wrap="square">
            <a:spAutoFit/>
          </a:bodyPr>
          <a:lstStyle/>
          <a:p>
            <a:pPr algn="just"/>
            <a:r>
              <a:rPr lang="it-IT" sz="3000" dirty="0">
                <a:solidFill>
                  <a:srgbClr val="0070C0"/>
                </a:solidFill>
                <a:latin typeface="Poppins" panose="020B0604020202020204" charset="0"/>
                <a:cs typeface="Poppins" panose="020B0604020202020204" charset="0"/>
              </a:rPr>
              <a:t>Il conto economico, è un prospetto che evidenzia la composizione e l’ammontare del risultato economico conseguito dall’impresa al termine dell’esercizio e si ottiene dalla differenza tra i ricavi conseguiti e i costi sostenuti. Se il risultato è positivo l’azienda ha realizzato un </a:t>
            </a:r>
            <a:r>
              <a:rPr lang="it-IT" sz="3000" u="sng" dirty="0">
                <a:solidFill>
                  <a:srgbClr val="0070C0"/>
                </a:solidFill>
                <a:latin typeface="Poppins" panose="020B0604020202020204" charset="0"/>
                <a:cs typeface="Poppins" panose="020B0604020202020204" charset="0"/>
              </a:rPr>
              <a:t>utile</a:t>
            </a:r>
            <a:r>
              <a:rPr lang="it-IT" sz="3000" dirty="0">
                <a:solidFill>
                  <a:srgbClr val="0070C0"/>
                </a:solidFill>
                <a:latin typeface="Poppins" panose="020B0604020202020204" charset="0"/>
                <a:cs typeface="Poppins" panose="020B0604020202020204" charset="0"/>
              </a:rPr>
              <a:t>, se è negativo ha maturato una </a:t>
            </a:r>
            <a:r>
              <a:rPr lang="it-IT" sz="3000" u="sng" dirty="0">
                <a:solidFill>
                  <a:srgbClr val="0070C0"/>
                </a:solidFill>
                <a:latin typeface="Poppins" panose="020B0604020202020204" charset="0"/>
                <a:cs typeface="Poppins" panose="020B0604020202020204" charset="0"/>
              </a:rPr>
              <a:t>perdita</a:t>
            </a:r>
            <a:r>
              <a:rPr lang="it-IT" sz="3000" dirty="0">
                <a:solidFill>
                  <a:srgbClr val="0070C0"/>
                </a:solidFill>
                <a:latin typeface="Poppins" panose="020B0604020202020204" charset="0"/>
                <a:cs typeface="Poppins" panose="020B0604020202020204" charset="0"/>
              </a:rPr>
              <a:t>.</a:t>
            </a:r>
          </a:p>
          <a:p>
            <a:pPr algn="just"/>
            <a:endParaRPr lang="it-IT" sz="3000" dirty="0">
              <a:solidFill>
                <a:srgbClr val="0070C0"/>
              </a:solidFill>
              <a:latin typeface="Poppins" panose="020B0604020202020204" charset="0"/>
              <a:cs typeface="Poppins" panose="020B0604020202020204" charset="0"/>
            </a:endParaRPr>
          </a:p>
          <a:p>
            <a:pPr algn="just"/>
            <a:r>
              <a:rPr lang="it-IT" sz="3000" dirty="0">
                <a:solidFill>
                  <a:srgbClr val="0070C0"/>
                </a:solidFill>
                <a:latin typeface="Poppins" panose="020B0604020202020204" charset="0"/>
                <a:cs typeface="Poppins" panose="020B0604020202020204" charset="0"/>
              </a:rPr>
              <a:t>L’articolo 2425 impone infatti una </a:t>
            </a:r>
            <a:r>
              <a:rPr lang="it-IT" sz="3000" b="1" u="sng" dirty="0">
                <a:solidFill>
                  <a:srgbClr val="0070C0"/>
                </a:solidFill>
                <a:latin typeface="Poppins" panose="020B0604020202020204" charset="0"/>
                <a:cs typeface="Poppins" panose="020B0604020202020204" charset="0"/>
              </a:rPr>
              <a:t>struttura rigida e vincolante</a:t>
            </a:r>
            <a:r>
              <a:rPr lang="it-IT" sz="3000" dirty="0">
                <a:solidFill>
                  <a:srgbClr val="0070C0"/>
                </a:solidFill>
                <a:latin typeface="Poppins" panose="020B0604020202020204" charset="0"/>
                <a:cs typeface="Poppins" panose="020B0604020202020204" charset="0"/>
              </a:rPr>
              <a:t>, che viene detta «scalare per natura», cioè che si sviluppa in verticale (e non più a sezioni contrapposte, come nello stato patrimoniale).</a:t>
            </a:r>
          </a:p>
          <a:p>
            <a:pPr algn="just"/>
            <a:r>
              <a:rPr lang="it-IT" sz="3000" dirty="0">
                <a:solidFill>
                  <a:srgbClr val="0070C0"/>
                </a:solidFill>
                <a:latin typeface="Poppins" panose="020B0604020202020204" charset="0"/>
                <a:cs typeface="Poppins" panose="020B0604020202020204" charset="0"/>
              </a:rPr>
              <a:t>Tale struttura parte dalla rappresentazione dei ricavi di vendita (cioè il valore della produzione) per arrivare al risultato netto dell’esercizio (cioè l’utile o la perdita), attraverso la somma algebrica delle componenti positive e negative della gestione.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8230961"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err="1">
                <a:solidFill>
                  <a:srgbClr val="216AD9"/>
                </a:solidFill>
                <a:latin typeface="Poppins SemiBold"/>
                <a:ea typeface="Poppins SemiBold"/>
                <a:cs typeface="Poppins SemiBold"/>
                <a:sym typeface="Poppins SemiBold"/>
              </a:rPr>
              <a:t>Conto</a:t>
            </a:r>
            <a:r>
              <a:rPr lang="en-US" sz="5600" b="1" i="0" u="none" strike="noStrike" cap="none" dirty="0">
                <a:solidFill>
                  <a:srgbClr val="216AD9"/>
                </a:solidFill>
                <a:latin typeface="Poppins SemiBold"/>
                <a:ea typeface="Poppins SemiBold"/>
                <a:cs typeface="Poppins SemiBold"/>
                <a:sym typeface="Poppins SemiBold"/>
              </a:rPr>
              <a:t> </a:t>
            </a:r>
            <a:r>
              <a:rPr lang="en-US" sz="5600" b="1" i="0" u="none" strike="noStrike" cap="none" dirty="0" err="1">
                <a:solidFill>
                  <a:srgbClr val="216AD9"/>
                </a:solidFill>
                <a:latin typeface="Poppins SemiBold"/>
                <a:ea typeface="Poppins SemiBold"/>
                <a:cs typeface="Poppins SemiBold"/>
                <a:sym typeface="Poppins SemiBold"/>
              </a:rPr>
              <a:t>Economico</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561703" y="2939431"/>
            <a:ext cx="17164593" cy="5170646"/>
          </a:xfrm>
          <a:prstGeom prst="rect">
            <a:avLst/>
          </a:prstGeom>
          <a:noFill/>
        </p:spPr>
        <p:txBody>
          <a:bodyPr wrap="square">
            <a:spAutoFit/>
          </a:bodyPr>
          <a:lstStyle/>
          <a:p>
            <a:pPr algn="just"/>
            <a:r>
              <a:rPr lang="it-IT" sz="3000" dirty="0">
                <a:solidFill>
                  <a:srgbClr val="0070C0"/>
                </a:solidFill>
                <a:latin typeface="Poppins" panose="020B0604020202020204" charset="0"/>
                <a:cs typeface="Poppins" panose="020B0604020202020204" charset="0"/>
              </a:rPr>
              <a:t>La struttura scalare, così come disposta dal Codice civile, si articola nelle seguenti cinque componenti:</a:t>
            </a:r>
          </a:p>
          <a:p>
            <a:pPr algn="just"/>
            <a:endParaRPr lang="it-IT" sz="3000" dirty="0">
              <a:solidFill>
                <a:srgbClr val="0070C0"/>
              </a:solidFill>
              <a:latin typeface="Poppins" panose="020B0604020202020204" charset="0"/>
              <a:cs typeface="Poppins" panose="020B0604020202020204" charset="0"/>
            </a:endParaRPr>
          </a:p>
          <a:p>
            <a:pPr algn="just"/>
            <a:r>
              <a:rPr lang="it-IT" sz="3000" dirty="0">
                <a:solidFill>
                  <a:srgbClr val="0070C0"/>
                </a:solidFill>
                <a:latin typeface="Poppins" panose="020B0604020202020204" charset="0"/>
                <a:cs typeface="Poppins" panose="020B0604020202020204" charset="0"/>
              </a:rPr>
              <a:t>A. Valore della produzione;</a:t>
            </a:r>
          </a:p>
          <a:p>
            <a:pPr algn="just"/>
            <a:r>
              <a:rPr lang="it-IT" sz="3000" dirty="0">
                <a:solidFill>
                  <a:srgbClr val="0070C0"/>
                </a:solidFill>
                <a:latin typeface="Poppins" panose="020B0604020202020204" charset="0"/>
                <a:cs typeface="Poppins" panose="020B0604020202020204" charset="0"/>
              </a:rPr>
              <a:t>B. Costi della produzione;</a:t>
            </a:r>
          </a:p>
          <a:p>
            <a:pPr algn="just"/>
            <a:r>
              <a:rPr lang="it-IT" sz="3000" dirty="0">
                <a:solidFill>
                  <a:srgbClr val="0070C0"/>
                </a:solidFill>
                <a:latin typeface="Poppins" panose="020B0604020202020204" charset="0"/>
                <a:cs typeface="Poppins" panose="020B0604020202020204" charset="0"/>
              </a:rPr>
              <a:t>C. Proventi e oneri finanziari;</a:t>
            </a:r>
          </a:p>
          <a:p>
            <a:pPr algn="just"/>
            <a:r>
              <a:rPr lang="it-IT" sz="3000" dirty="0">
                <a:solidFill>
                  <a:srgbClr val="0070C0"/>
                </a:solidFill>
                <a:latin typeface="Poppins" panose="020B0604020202020204" charset="0"/>
                <a:cs typeface="Poppins" panose="020B0604020202020204" charset="0"/>
              </a:rPr>
              <a:t>D. Rettifiche di valore di attività finanziarie;</a:t>
            </a:r>
          </a:p>
          <a:p>
            <a:pPr algn="just"/>
            <a:r>
              <a:rPr lang="it-IT" sz="3000" dirty="0">
                <a:solidFill>
                  <a:srgbClr val="0070C0"/>
                </a:solidFill>
                <a:latin typeface="Poppins" panose="020B0604020202020204" charset="0"/>
                <a:cs typeface="Poppins" panose="020B0604020202020204" charset="0"/>
              </a:rPr>
              <a:t>E. Proventi e oneri straordinari.</a:t>
            </a:r>
          </a:p>
          <a:p>
            <a:pPr algn="just"/>
            <a:endParaRPr lang="it-IT" sz="3000" dirty="0">
              <a:solidFill>
                <a:srgbClr val="0070C0"/>
              </a:solidFill>
              <a:latin typeface="Poppins" panose="020B0604020202020204" charset="0"/>
              <a:cs typeface="Poppins" panose="020B0604020202020204" charset="0"/>
            </a:endParaRPr>
          </a:p>
          <a:p>
            <a:pPr algn="just"/>
            <a:r>
              <a:rPr lang="it-IT" sz="3000" dirty="0">
                <a:solidFill>
                  <a:srgbClr val="0070C0"/>
                </a:solidFill>
                <a:latin typeface="Poppins" panose="020B0604020202020204" charset="0"/>
                <a:cs typeface="Poppins" panose="020B0604020202020204" charset="0"/>
              </a:rPr>
              <a:t>Infine, secondo la formula (A - B ± C ± D ± E) si ricava il risultato prima delle imposte e, una volta tolte le imposte sul reddito, ecco l’</a:t>
            </a:r>
            <a:r>
              <a:rPr lang="it-IT" sz="3000" u="sng" dirty="0">
                <a:solidFill>
                  <a:srgbClr val="0070C0"/>
                </a:solidFill>
                <a:latin typeface="Poppins" panose="020B0604020202020204" charset="0"/>
                <a:cs typeface="Poppins" panose="020B0604020202020204" charset="0"/>
              </a:rPr>
              <a:t>utile</a:t>
            </a:r>
            <a:r>
              <a:rPr lang="it-IT" sz="3000" dirty="0">
                <a:solidFill>
                  <a:srgbClr val="0070C0"/>
                </a:solidFill>
                <a:latin typeface="Poppins" panose="020B0604020202020204" charset="0"/>
                <a:cs typeface="Poppins" panose="020B0604020202020204" charset="0"/>
              </a:rPr>
              <a:t> (o la perdita) di esercizio.</a:t>
            </a:r>
          </a:p>
        </p:txBody>
      </p:sp>
    </p:spTree>
    <p:extLst>
      <p:ext uri="{BB962C8B-B14F-4D97-AF65-F5344CB8AC3E}">
        <p14:creationId xmlns:p14="http://schemas.microsoft.com/office/powerpoint/2010/main" val="822201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1948544"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VALORE DELLA PRODUZIONE (A)</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652222" y="3216035"/>
            <a:ext cx="14511148" cy="452431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La prima componente del conto economico esprime il valore della produzione ottenuto nell’esercizio in corso, con riferimento sia a quella materiale di beni sia alla prestazione di servizi.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Qui rientrano:</a:t>
            </a:r>
          </a:p>
          <a:p>
            <a:pPr marL="457200" indent="-4572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i ricavi </a:t>
            </a:r>
          </a:p>
          <a:p>
            <a:pPr marL="457200" indent="-4572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le rimanenze.</a:t>
            </a:r>
          </a:p>
        </p:txBody>
      </p:sp>
    </p:spTree>
    <p:extLst>
      <p:ext uri="{BB962C8B-B14F-4D97-AF65-F5344CB8AC3E}">
        <p14:creationId xmlns:p14="http://schemas.microsoft.com/office/powerpoint/2010/main" val="4016697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044420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RICAVI</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501986" y="2685093"/>
            <a:ext cx="15311176" cy="5632311"/>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Tra i ricavi delle vendite e delle prestazioni vanno iscritti quelli al netto dei resi, degli eventuali abbuoni e premi, nonché delle imposte connesse con la vendita dei prodotti e la prestazione dei servizi.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Ma non solo: la voce altri ricavi e proventi elenca quelli marginali rispetto alla tipica attività d’impresa, come gli affitti di terreni, fabbricati, i canoni per la concessione di brevetti o marchi, i risarcimenti assicurativi e le plusvalenze</a:t>
            </a:r>
          </a:p>
          <a:p>
            <a:pPr algn="just"/>
            <a:r>
              <a:rPr lang="it-IT" sz="3600" dirty="0">
                <a:solidFill>
                  <a:srgbClr val="0070C0"/>
                </a:solidFill>
                <a:latin typeface="Poppins" panose="020B0604020202020204" charset="0"/>
                <a:cs typeface="Poppins" panose="020B0604020202020204" charset="0"/>
              </a:rPr>
              <a:t>da alienazione di beni strumentali.</a:t>
            </a:r>
          </a:p>
        </p:txBody>
      </p:sp>
    </p:spTree>
    <p:extLst>
      <p:ext uri="{BB962C8B-B14F-4D97-AF65-F5344CB8AC3E}">
        <p14:creationId xmlns:p14="http://schemas.microsoft.com/office/powerpoint/2010/main" val="666274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044420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RIMANENZE</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2097102"/>
            <a:ext cx="16343562" cy="729430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Riguardano le variazioni delle rimanenze di prodotti in corso di lavorazione, semilavorati e finiti (ossia di tutti gli elementi sui quali l’impresa ha svolto qualche attività di trasformazione). Con questa voce, in pratica, si rettifica o si integra il valore dei ricavi: in particolare, la variazione avrà segno positivo quando le rimanenze finali al termine dell’anno di esercizio hanno un valore superiore a quelle iniziali (e in tal caso l’impresa ha prodotto più di quanto ha venduto e l’eccedenza è stata riversata nel magazzino), viceversa nel caso opposto.</a:t>
            </a:r>
          </a:p>
          <a:p>
            <a:pPr algn="just"/>
            <a:r>
              <a:rPr lang="it-IT" sz="3600" dirty="0">
                <a:solidFill>
                  <a:srgbClr val="0070C0"/>
                </a:solidFill>
                <a:latin typeface="Poppins" panose="020B0604020202020204" charset="0"/>
                <a:cs typeface="Poppins" panose="020B0604020202020204" charset="0"/>
              </a:rPr>
              <a:t>Le stesse considerazioni valgono anche per le variazioni dei lavori in corso su ordinazione, ovvero le variazioni delle rimanenze di tutti quei beni realizzati appositamente «su commessa» del cliente, secondo le specifiche tecniche da lui richieste.</a:t>
            </a:r>
          </a:p>
        </p:txBody>
      </p:sp>
    </p:spTree>
    <p:extLst>
      <p:ext uri="{BB962C8B-B14F-4D97-AF65-F5344CB8AC3E}">
        <p14:creationId xmlns:p14="http://schemas.microsoft.com/office/powerpoint/2010/main" val="866415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1860054"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COSTI DELLA PRODUZIONE (B)</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2421567"/>
            <a:ext cx="16343562" cy="6186309"/>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 costi della produzione possono essere suddivisi in cinque categorie principali, alcune delle quali corrispondono a singole voci riportate nello schema del Codice civile, mentre altre derivano dal raggruppamento di più voci.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Le cinque categorie sono: </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costi (specificamente intesi)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ammortamenti e svalutazioni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rimanenze</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accantonamenti  </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oneri diversi di gestione (categoria residuale).</a:t>
            </a:r>
          </a:p>
        </p:txBody>
      </p:sp>
    </p:spTree>
    <p:extLst>
      <p:ext uri="{BB962C8B-B14F-4D97-AF65-F5344CB8AC3E}">
        <p14:creationId xmlns:p14="http://schemas.microsoft.com/office/powerpoint/2010/main" val="869756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0444209" cy="103412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600" b="1" i="0" u="none" strike="noStrike" cap="none" dirty="0">
                <a:solidFill>
                  <a:srgbClr val="216AD9"/>
                </a:solidFill>
                <a:latin typeface="Poppins SemiBold"/>
                <a:ea typeface="Poppins SemiBold"/>
                <a:cs typeface="Poppins SemiBold"/>
                <a:sym typeface="Poppins SemiBold"/>
              </a:rPr>
              <a:t>COSTI</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3158341"/>
            <a:ext cx="16343562" cy="397031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Si trovano qui i costi per materie prime, sussidiarie, di consumo e merci e i costi per servizi.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Poi ci sono i costi per il godimento di beni di terzi.</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Infine, ci sono i costi per il personale, come quelli di natura retributiva e contributiva sostenuti per i dipendenti.</a:t>
            </a:r>
          </a:p>
        </p:txBody>
      </p:sp>
    </p:spTree>
    <p:extLst>
      <p:ext uri="{BB962C8B-B14F-4D97-AF65-F5344CB8AC3E}">
        <p14:creationId xmlns:p14="http://schemas.microsoft.com/office/powerpoint/2010/main" val="4078068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3629860"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6000" dirty="0">
                <a:solidFill>
                  <a:srgbClr val="0070C0"/>
                </a:solidFill>
                <a:latin typeface="Poppins" panose="020B0604020202020204" charset="0"/>
                <a:cs typeface="Poppins" panose="020B0604020202020204" charset="0"/>
              </a:rPr>
              <a:t>Ammortamenti e svalutazioni</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3158341"/>
            <a:ext cx="16343562" cy="452431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Qui rientrano gli ammortamenti delle immobilizzazioni materiali e immateriali, oltre alle svalutazioni di beni non iscritti tra le attività finanziarie né tra le rimanenze.</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L’ammortamento rappresenta una quota del costo di un bene, ripartito lungo la sua durata economica: in pratica, attraverso la procedura di ammortamento, il costo del bene in questione viene spalmato su più anni.</a:t>
            </a:r>
          </a:p>
        </p:txBody>
      </p:sp>
    </p:spTree>
    <p:extLst>
      <p:ext uri="{BB962C8B-B14F-4D97-AF65-F5344CB8AC3E}">
        <p14:creationId xmlns:p14="http://schemas.microsoft.com/office/powerpoint/2010/main" val="1800157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972219" y="1079134"/>
            <a:ext cx="16579538"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Ammortamenti e svalutazioni – Esempio (1/2)</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2772376"/>
            <a:ext cx="16343562" cy="5324535"/>
          </a:xfrm>
          <a:prstGeom prst="rect">
            <a:avLst/>
          </a:prstGeom>
          <a:noFill/>
        </p:spPr>
        <p:txBody>
          <a:bodyPr wrap="square">
            <a:spAutoFit/>
          </a:bodyPr>
          <a:lstStyle/>
          <a:p>
            <a:pPr algn="just"/>
            <a:endParaRPr lang="it-IT" sz="1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In contabilità il concetto di vita utile è molto importante perché ti permette di calcolare l’ammortamento per suddividere i costi di un cespite. Un </a:t>
            </a:r>
            <a:r>
              <a:rPr lang="it-IT" sz="3600" b="1" u="sng" dirty="0">
                <a:solidFill>
                  <a:srgbClr val="0070C0"/>
                </a:solidFill>
                <a:latin typeface="Poppins" panose="020B0604020202020204" charset="0"/>
                <a:cs typeface="Poppins" panose="020B0604020202020204" charset="0"/>
              </a:rPr>
              <a:t>cespite</a:t>
            </a:r>
            <a:r>
              <a:rPr lang="it-IT" sz="3600" dirty="0">
                <a:solidFill>
                  <a:srgbClr val="0070C0"/>
                </a:solidFill>
                <a:latin typeface="Poppins" panose="020B0604020202020204" charset="0"/>
                <a:cs typeface="Poppins" panose="020B0604020202020204" charset="0"/>
              </a:rPr>
              <a:t> è un bene immateriale o materiale, con una vita utile di più di un anno che riduce il proprio valore a seconda dell’ammortamento.</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La </a:t>
            </a:r>
            <a:r>
              <a:rPr lang="it-IT" sz="3600" b="1" u="sng" dirty="0">
                <a:solidFill>
                  <a:srgbClr val="0070C0"/>
                </a:solidFill>
                <a:latin typeface="Poppins" panose="020B0604020202020204" charset="0"/>
                <a:cs typeface="Poppins" panose="020B0604020202020204" charset="0"/>
              </a:rPr>
              <a:t>vita utile</a:t>
            </a:r>
            <a:r>
              <a:rPr lang="it-IT" sz="3600" dirty="0">
                <a:solidFill>
                  <a:srgbClr val="0070C0"/>
                </a:solidFill>
                <a:latin typeface="Poppins" panose="020B0604020202020204" charset="0"/>
                <a:cs typeface="Poppins" panose="020B0604020202020204" charset="0"/>
              </a:rPr>
              <a:t> è in pratica una previsione che risponde alla domanda: per quanto tempo verrà utilizzato questo macchinario dalla mia azienda?</a:t>
            </a:r>
          </a:p>
        </p:txBody>
      </p:sp>
    </p:spTree>
    <p:extLst>
      <p:ext uri="{BB962C8B-B14F-4D97-AF65-F5344CB8AC3E}">
        <p14:creationId xmlns:p14="http://schemas.microsoft.com/office/powerpoint/2010/main" val="1180339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972219" y="1079134"/>
            <a:ext cx="16579538"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Ammortamenti e svalutazioni – Esempio (2/2)</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2237151"/>
            <a:ext cx="16343562" cy="7755969"/>
          </a:xfrm>
          <a:prstGeom prst="rect">
            <a:avLst/>
          </a:prstGeom>
          <a:noFill/>
        </p:spPr>
        <p:txBody>
          <a:bodyPr wrap="square">
            <a:spAutoFit/>
          </a:bodyPr>
          <a:lstStyle/>
          <a:p>
            <a:pPr algn="just"/>
            <a:r>
              <a:rPr lang="it-IT" sz="3200" dirty="0">
                <a:solidFill>
                  <a:srgbClr val="0070C0"/>
                </a:solidFill>
                <a:latin typeface="Poppins" panose="020B0604020202020204" charset="0"/>
                <a:cs typeface="Poppins" panose="020B0604020202020204" charset="0"/>
              </a:rPr>
              <a:t>Per chiarire cosa sono le </a:t>
            </a:r>
            <a:r>
              <a:rPr lang="it-IT" sz="3200" u="sng" dirty="0">
                <a:solidFill>
                  <a:srgbClr val="0070C0"/>
                </a:solidFill>
                <a:latin typeface="Poppins" panose="020B0604020202020204" charset="0"/>
                <a:cs typeface="Poppins" panose="020B0604020202020204" charset="0"/>
              </a:rPr>
              <a:t>svalutazioni</a:t>
            </a:r>
            <a:r>
              <a:rPr lang="it-IT" sz="3200" dirty="0">
                <a:solidFill>
                  <a:srgbClr val="0070C0"/>
                </a:solidFill>
                <a:latin typeface="Poppins" panose="020B0604020202020204" charset="0"/>
                <a:cs typeface="Poppins" panose="020B0604020202020204" charset="0"/>
              </a:rPr>
              <a:t>, può invece essere utile ricorrere a un esempio. Poniamo il caso di un macchinario che è stato acquistato il 1° gennaio 2018 a un prezzo di 54.000 euro e che presenta una vita utile di sei anni (quindi, ipotizzando un ammortamento a quote costanti, con una quota annuale pari a 54.000/6=9.000 euro). </a:t>
            </a:r>
          </a:p>
          <a:p>
            <a:pPr algn="just"/>
            <a:endParaRPr lang="it-IT" sz="18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Al 31 dicembre 2019 il valore del bene sarà di 45.000 euro (=54.000-9.000), ma ipotizziamo che già dopo un solo anno ci siano indicazioni tali da far presumere che si verifichi una perdita durevole di valore del bene e che l’impresa ritenga che ormai potrebbe rivendere sul mercato quel macchinario a non più di 35.000 euro. </a:t>
            </a:r>
          </a:p>
          <a:p>
            <a:pPr algn="just"/>
            <a:endParaRPr lang="it-IT" sz="2400" dirty="0">
              <a:solidFill>
                <a:srgbClr val="0070C0"/>
              </a:solidFill>
              <a:latin typeface="Poppins" panose="020B0604020202020204" charset="0"/>
              <a:cs typeface="Poppins" panose="020B0604020202020204" charset="0"/>
            </a:endParaRPr>
          </a:p>
          <a:p>
            <a:pPr algn="just"/>
            <a:r>
              <a:rPr lang="it-IT" sz="3200" dirty="0">
                <a:solidFill>
                  <a:srgbClr val="0070C0"/>
                </a:solidFill>
                <a:latin typeface="Poppins" panose="020B0604020202020204" charset="0"/>
                <a:cs typeface="Poppins" panose="020B0604020202020204" charset="0"/>
              </a:rPr>
              <a:t>Praticamente il nuovo valore contabile a seguito della svalutazione del macchinario sarà pari al valore recuperabile del bene (35.000 euro), mentre la perdita durevole di valore di 10.000 euro (=45.000-35.000) verrà riconosciuta come costo tra le svalutazioni.</a:t>
            </a:r>
          </a:p>
        </p:txBody>
      </p:sp>
    </p:spTree>
    <p:extLst>
      <p:ext uri="{BB962C8B-B14F-4D97-AF65-F5344CB8AC3E}">
        <p14:creationId xmlns:p14="http://schemas.microsoft.com/office/powerpoint/2010/main" val="3050117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3629860"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6000" dirty="0">
                <a:solidFill>
                  <a:srgbClr val="0070C0"/>
                </a:solidFill>
                <a:latin typeface="Poppins" panose="020B0604020202020204" charset="0"/>
                <a:cs typeface="Poppins" panose="020B0604020202020204" charset="0"/>
              </a:rPr>
              <a:t>Altre Rimanenze</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2296357"/>
            <a:ext cx="16343562" cy="738663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Tra i «Costi della produzione» (B) ci sono altre variazioni di rimanenze, come già all’interno del «Valore della produzione» (A). </a:t>
            </a:r>
          </a:p>
          <a:p>
            <a:pPr algn="just"/>
            <a:endParaRPr lang="it-IT" sz="18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In questo caso, però, riguardano materie prime e simili, che </a:t>
            </a:r>
            <a:r>
              <a:rPr lang="it-IT" sz="3600" u="sng" dirty="0">
                <a:solidFill>
                  <a:srgbClr val="0070C0"/>
                </a:solidFill>
                <a:latin typeface="Poppins" panose="020B0604020202020204" charset="0"/>
                <a:cs typeface="Poppins" panose="020B0604020202020204" charset="0"/>
              </a:rPr>
              <a:t>devono ancora entrare nel processo produttivo</a:t>
            </a:r>
            <a:r>
              <a:rPr lang="it-IT" sz="3600" dirty="0">
                <a:solidFill>
                  <a:srgbClr val="0070C0"/>
                </a:solidFill>
                <a:latin typeface="Poppins" panose="020B0604020202020204" charset="0"/>
                <a:cs typeface="Poppins" panose="020B0604020202020204" charset="0"/>
              </a:rPr>
              <a:t>. Con questa voce, si rettifica o si integra il costo per materie prime, sussidiarie, di consumo e merci, al fine di determinare il costo complessivo di quelle utilizzate per la produzione. </a:t>
            </a:r>
          </a:p>
          <a:p>
            <a:pPr algn="just"/>
            <a:endParaRPr lang="it-IT" sz="20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La variazione ha segno positivo quando le rimanenze iniziali sono superiori a quelle finali (ovvero l’impresa ha consumato più materiali di quelli che ha ricomprato e la differenza è stata prelevata dal magazzino). Viceversa, quando il valore delle rimanenze finali è superiore a quello delle iniziali, la variazione, ha segno negativo.</a:t>
            </a:r>
          </a:p>
        </p:txBody>
      </p:sp>
    </p:spTree>
    <p:extLst>
      <p:ext uri="{BB962C8B-B14F-4D97-AF65-F5344CB8AC3E}">
        <p14:creationId xmlns:p14="http://schemas.microsoft.com/office/powerpoint/2010/main" val="3478044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3629860"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6000" dirty="0">
                <a:solidFill>
                  <a:srgbClr val="0070C0"/>
                </a:solidFill>
                <a:latin typeface="Poppins" panose="020B0604020202020204" charset="0"/>
                <a:cs typeface="Poppins" panose="020B0604020202020204" charset="0"/>
              </a:rPr>
              <a:t>Accantonamenti</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3158341"/>
            <a:ext cx="16343562" cy="397031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Si tratta di una somma di denaro destinata dalla società a coprire rischi futuri e va ad alimentare un apposito fondo.</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Nella voce del conto economico figurano gli accantonamenti per rischi, e gli altri accantonamenti. </a:t>
            </a:r>
          </a:p>
          <a:p>
            <a:pPr algn="just"/>
            <a:endParaRPr lang="it-IT" sz="3600" dirty="0">
              <a:solidFill>
                <a:srgbClr val="0070C0"/>
              </a:solidFill>
              <a:latin typeface="Poppins" panose="020B0604020202020204" charset="0"/>
              <a:cs typeface="Poppins" panose="020B0604020202020204" charset="0"/>
            </a:endParaRPr>
          </a:p>
          <a:p>
            <a:pPr algn="just"/>
            <a:endParaRPr lang="it-IT" sz="3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452453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3629860"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6000" dirty="0">
                <a:solidFill>
                  <a:srgbClr val="0070C0"/>
                </a:solidFill>
                <a:latin typeface="Poppins" panose="020B0604020202020204" charset="0"/>
                <a:cs typeface="Poppins" panose="020B0604020202020204" charset="0"/>
              </a:rPr>
              <a:t>Oneri Diversi</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2881342"/>
            <a:ext cx="16343562" cy="5078313"/>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Si tratta di una voce marginale, in cui devono essere iscritte le componenti negative di reddito che non trovano posto nelle voci precedenti, che non hanno natura finanziaria né straordinaria e che</a:t>
            </a:r>
          </a:p>
          <a:p>
            <a:pPr algn="just"/>
            <a:r>
              <a:rPr lang="it-IT" sz="3600" dirty="0">
                <a:solidFill>
                  <a:srgbClr val="0070C0"/>
                </a:solidFill>
                <a:latin typeface="Poppins" panose="020B0604020202020204" charset="0"/>
                <a:cs typeface="Poppins" panose="020B0604020202020204" charset="0"/>
              </a:rPr>
              <a:t>non sono relative alle imposte sul reddito.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Qui rientrano le imposte diverse da quelle sul reddito (come quelle di registro e di bollo) e le spese per abbonamenti (per esempio a riviste specializzate di settore).</a:t>
            </a:r>
          </a:p>
          <a:p>
            <a:pPr algn="just"/>
            <a:endParaRPr lang="it-IT" sz="3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1825651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3629860"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6000" dirty="0">
                <a:solidFill>
                  <a:srgbClr val="0070C0"/>
                </a:solidFill>
                <a:latin typeface="Poppins" panose="020B0604020202020204" charset="0"/>
                <a:cs typeface="Poppins" panose="020B0604020202020204" charset="0"/>
              </a:rPr>
              <a:t>Un risultato intermedio (A – B)</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2249259"/>
            <a:ext cx="16343562" cy="729430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Il Codice civile individua nel prospetto scalare del conto economico un primo risultato intermedio, dato dalla differenza tra il «Valore della produzione» (A) e i «Costi della produzione» (B). Tale risultato dovrebbe rappresentare un dato gestionale ed evidenziare il </a:t>
            </a:r>
            <a:r>
              <a:rPr lang="it-IT" sz="3600" u="sng" dirty="0">
                <a:solidFill>
                  <a:srgbClr val="0070C0"/>
                </a:solidFill>
                <a:latin typeface="Poppins" panose="020B0604020202020204" charset="0"/>
                <a:cs typeface="Poppins" panose="020B0604020202020204" charset="0"/>
              </a:rPr>
              <a:t>risultato della gestione operativa </a:t>
            </a:r>
            <a:r>
              <a:rPr lang="it-IT" sz="3600" dirty="0">
                <a:solidFill>
                  <a:srgbClr val="0070C0"/>
                </a:solidFill>
                <a:latin typeface="Poppins" panose="020B0604020202020204" charset="0"/>
                <a:cs typeface="Poppins" panose="020B0604020202020204" charset="0"/>
              </a:rPr>
              <a:t>(o tipica/caratteristica/ordinaria) dell’impresa.</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Dall’analisi delle singole voci, risulta però che sia A sia B contengono in realtà elementi estranei alla gestione operativa dell’impresa.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 procedere a una corretta analisi di bilancio, infatti, è necessario che i componenti positivi e negativi di reddito vengano riclassificati in modo diverso rispetto a quanto fa il Codice civile.</a:t>
            </a:r>
          </a:p>
        </p:txBody>
      </p:sp>
    </p:spTree>
    <p:extLst>
      <p:ext uri="{BB962C8B-B14F-4D97-AF65-F5344CB8AC3E}">
        <p14:creationId xmlns:p14="http://schemas.microsoft.com/office/powerpoint/2010/main" val="223232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5" y="990643"/>
            <a:ext cx="13629860" cy="11079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6000" dirty="0">
                <a:solidFill>
                  <a:srgbClr val="0070C0"/>
                </a:solidFill>
                <a:latin typeface="Poppins" panose="020B0604020202020204" charset="0"/>
                <a:cs typeface="Poppins" panose="020B0604020202020204" charset="0"/>
              </a:rPr>
              <a:t>Proventi e oneri finanziari (C)</a:t>
            </a:r>
            <a:endParaRPr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2249259"/>
            <a:ext cx="16343562" cy="6186309"/>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Dopo aver affrontato la gestione operativa, è arrivato il momento di passare alla gestione finanziaria ed esaminare la terza </a:t>
            </a:r>
            <a:r>
              <a:rPr lang="it-IT" sz="3600" dirty="0" err="1">
                <a:solidFill>
                  <a:srgbClr val="0070C0"/>
                </a:solidFill>
                <a:latin typeface="Poppins" panose="020B0604020202020204" charset="0"/>
                <a:cs typeface="Poppins" panose="020B0604020202020204" charset="0"/>
              </a:rPr>
              <a:t>macroclasse</a:t>
            </a:r>
            <a:r>
              <a:rPr lang="it-IT" sz="3600" dirty="0">
                <a:solidFill>
                  <a:srgbClr val="0070C0"/>
                </a:solidFill>
                <a:latin typeface="Poppins" panose="020B0604020202020204" charset="0"/>
                <a:cs typeface="Poppins" panose="020B0604020202020204" charset="0"/>
              </a:rPr>
              <a:t> che compone il conto economico: i «Proventi e oneri finanziari».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In particolare, esistono due sottoclassi per rilevare i proventi e una per gli oneri: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proventi da partecipazioni (per esempio, i dividendi);</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altri proventi finanziari (per esempio, gli interessi attivi da obbligazioni e Buoni del Tesoro);</a:t>
            </a:r>
          </a:p>
          <a:p>
            <a:pPr marL="571500" indent="-571500" algn="just">
              <a:buClr>
                <a:srgbClr val="0070C0"/>
              </a:buClr>
              <a:buFont typeface="Arial" panose="020B0604020202020204" pitchFamily="34" charset="0"/>
              <a:buChar char="•"/>
            </a:pPr>
            <a:r>
              <a:rPr lang="it-IT" sz="3600" dirty="0">
                <a:solidFill>
                  <a:srgbClr val="0070C0"/>
                </a:solidFill>
                <a:latin typeface="Poppins" panose="020B0604020202020204" charset="0"/>
                <a:cs typeface="Poppins" panose="020B0604020202020204" charset="0"/>
              </a:rPr>
              <a:t>interessi e altri oneri finanziari (per esempio, gli interessi passivi sui mutui e le spese bancarie).</a:t>
            </a:r>
          </a:p>
        </p:txBody>
      </p:sp>
    </p:spTree>
    <p:extLst>
      <p:ext uri="{BB962C8B-B14F-4D97-AF65-F5344CB8AC3E}">
        <p14:creationId xmlns:p14="http://schemas.microsoft.com/office/powerpoint/2010/main" val="1783974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4" y="990643"/>
            <a:ext cx="17936389"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Rettifiche di valore di attività finanziarie (D)</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972219" y="3222653"/>
            <a:ext cx="16343562" cy="501675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C’è una seconda componente di natura finanziaria: si tratta delle «Rettifiche di valore di attività finanziarie»; gli investimenti di natura</a:t>
            </a:r>
          </a:p>
          <a:p>
            <a:pPr algn="just"/>
            <a:r>
              <a:rPr lang="it-IT" sz="3600" dirty="0">
                <a:solidFill>
                  <a:srgbClr val="0070C0"/>
                </a:solidFill>
                <a:latin typeface="Poppins" panose="020B0604020202020204" charset="0"/>
                <a:cs typeface="Poppins" panose="020B0604020202020204" charset="0"/>
              </a:rPr>
              <a:t>finanziaria, infatti, oltre a generare rendimenti possono subire nel corso dell’esercizio modifiche di valore. </a:t>
            </a:r>
          </a:p>
          <a:p>
            <a:pPr algn="just"/>
            <a:endParaRPr lang="it-IT" sz="1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Quando un investimento subisce un incremento di valore, tale variazione in aumento è chiamata </a:t>
            </a:r>
            <a:r>
              <a:rPr lang="it-IT" sz="3600" u="sng" dirty="0">
                <a:solidFill>
                  <a:srgbClr val="0070C0"/>
                </a:solidFill>
                <a:latin typeface="Poppins" panose="020B0604020202020204" charset="0"/>
                <a:cs typeface="Poppins" panose="020B0604020202020204" charset="0"/>
              </a:rPr>
              <a:t>rivalutazione</a:t>
            </a:r>
            <a:r>
              <a:rPr lang="it-IT" sz="3600" dirty="0">
                <a:solidFill>
                  <a:srgbClr val="0070C0"/>
                </a:solidFill>
                <a:latin typeface="Poppins" panose="020B0604020202020204" charset="0"/>
                <a:cs typeface="Poppins" panose="020B0604020202020204" charset="0"/>
              </a:rPr>
              <a:t>; se invece subisce una diminuzione, la variazione in diminuzione è chiamata </a:t>
            </a:r>
            <a:r>
              <a:rPr lang="it-IT" sz="3600" u="sng" dirty="0">
                <a:solidFill>
                  <a:srgbClr val="0070C0"/>
                </a:solidFill>
                <a:latin typeface="Poppins" panose="020B0604020202020204" charset="0"/>
                <a:cs typeface="Poppins" panose="020B0604020202020204" charset="0"/>
              </a:rPr>
              <a:t>svalutazione</a:t>
            </a:r>
            <a:r>
              <a:rPr lang="it-IT" sz="3600" dirty="0">
                <a:solidFill>
                  <a:srgbClr val="0070C0"/>
                </a:solidFill>
                <a:latin typeface="Poppins" panose="020B0604020202020204" charset="0"/>
                <a:cs typeface="Poppins" panose="020B0604020202020204" charset="0"/>
              </a:rPr>
              <a:t>. </a:t>
            </a:r>
          </a:p>
          <a:p>
            <a:pPr algn="just"/>
            <a:endParaRPr lang="it-IT" sz="1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36126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4" y="990643"/>
            <a:ext cx="17936389"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Proventi e oneri straordinari (E)</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38277" y="3193156"/>
            <a:ext cx="15811446" cy="3970318"/>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Questa </a:t>
            </a:r>
            <a:r>
              <a:rPr lang="it-IT" sz="3600" dirty="0" err="1">
                <a:solidFill>
                  <a:srgbClr val="0070C0"/>
                </a:solidFill>
                <a:latin typeface="Poppins" panose="020B0604020202020204" charset="0"/>
                <a:cs typeface="Poppins" panose="020B0604020202020204" charset="0"/>
              </a:rPr>
              <a:t>macroclasse</a:t>
            </a:r>
            <a:r>
              <a:rPr lang="it-IT" sz="3600" dirty="0">
                <a:solidFill>
                  <a:srgbClr val="0070C0"/>
                </a:solidFill>
                <a:latin typeface="Poppins" panose="020B0604020202020204" charset="0"/>
                <a:cs typeface="Poppins" panose="020B0604020202020204" charset="0"/>
              </a:rPr>
              <a:t> raggruppa tutti i ricavi e i costi che non riguardano la gestione ordinaria, cioè l’attività tipica del l’impresa.</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Le voci che rientrano qui sono pertanto le </a:t>
            </a:r>
            <a:r>
              <a:rPr lang="it-IT" sz="3600" u="sng" dirty="0">
                <a:solidFill>
                  <a:srgbClr val="0070C0"/>
                </a:solidFill>
                <a:latin typeface="Poppins" panose="020B0604020202020204" charset="0"/>
                <a:cs typeface="Poppins" panose="020B0604020202020204" charset="0"/>
              </a:rPr>
              <a:t>plusvalenze</a:t>
            </a:r>
            <a:r>
              <a:rPr lang="it-IT" sz="3600" dirty="0">
                <a:solidFill>
                  <a:srgbClr val="0070C0"/>
                </a:solidFill>
                <a:latin typeface="Poppins" panose="020B0604020202020204" charset="0"/>
                <a:cs typeface="Poppins" panose="020B0604020202020204" charset="0"/>
              </a:rPr>
              <a:t> e le </a:t>
            </a:r>
            <a:r>
              <a:rPr lang="it-IT" sz="3600" u="sng" dirty="0">
                <a:solidFill>
                  <a:srgbClr val="0070C0"/>
                </a:solidFill>
                <a:latin typeface="Poppins" panose="020B0604020202020204" charset="0"/>
                <a:cs typeface="Poppins" panose="020B0604020202020204" charset="0"/>
              </a:rPr>
              <a:t>sopravvenienze attive </a:t>
            </a:r>
            <a:r>
              <a:rPr lang="it-IT" sz="3600" dirty="0">
                <a:solidFill>
                  <a:srgbClr val="0070C0"/>
                </a:solidFill>
                <a:latin typeface="Poppins" panose="020B0604020202020204" charset="0"/>
                <a:cs typeface="Poppins" panose="020B0604020202020204" charset="0"/>
              </a:rPr>
              <a:t>(proventi/ricavi) e le </a:t>
            </a:r>
            <a:r>
              <a:rPr lang="it-IT" sz="3600" u="sng" dirty="0">
                <a:solidFill>
                  <a:srgbClr val="0070C0"/>
                </a:solidFill>
                <a:latin typeface="Poppins" panose="020B0604020202020204" charset="0"/>
                <a:cs typeface="Poppins" panose="020B0604020202020204" charset="0"/>
              </a:rPr>
              <a:t>minusvalenze</a:t>
            </a:r>
            <a:r>
              <a:rPr lang="it-IT" sz="3600" dirty="0">
                <a:solidFill>
                  <a:srgbClr val="0070C0"/>
                </a:solidFill>
                <a:latin typeface="Poppins" panose="020B0604020202020204" charset="0"/>
                <a:cs typeface="Poppins" panose="020B0604020202020204" charset="0"/>
              </a:rPr>
              <a:t> e le </a:t>
            </a:r>
            <a:r>
              <a:rPr lang="it-IT" sz="3600" u="sng" dirty="0">
                <a:solidFill>
                  <a:srgbClr val="0070C0"/>
                </a:solidFill>
                <a:latin typeface="Poppins" panose="020B0604020202020204" charset="0"/>
                <a:cs typeface="Poppins" panose="020B0604020202020204" charset="0"/>
              </a:rPr>
              <a:t>sopravvenienze passive </a:t>
            </a:r>
            <a:r>
              <a:rPr lang="it-IT" sz="3600" dirty="0">
                <a:solidFill>
                  <a:srgbClr val="0070C0"/>
                </a:solidFill>
                <a:latin typeface="Poppins" panose="020B0604020202020204" charset="0"/>
                <a:cs typeface="Poppins" panose="020B0604020202020204" charset="0"/>
              </a:rPr>
              <a:t>(costi/oneri).</a:t>
            </a:r>
            <a:endParaRPr lang="it-IT" sz="1600" dirty="0">
              <a:solidFill>
                <a:srgbClr val="0070C0"/>
              </a:solidFill>
              <a:latin typeface="Poppins" panose="020B0604020202020204" charset="0"/>
              <a:cs typeface="Poppins" panose="020B0604020202020204" charset="0"/>
            </a:endParaRPr>
          </a:p>
        </p:txBody>
      </p:sp>
    </p:spTree>
    <p:extLst>
      <p:ext uri="{BB962C8B-B14F-4D97-AF65-F5344CB8AC3E}">
        <p14:creationId xmlns:p14="http://schemas.microsoft.com/office/powerpoint/2010/main" val="3367709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4" y="990643"/>
            <a:ext cx="17936389"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Plusvalenze (o minusvalenze)</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38277" y="2327344"/>
            <a:ext cx="15811446" cy="729430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Plusvalenze e minusvalenze si hanno quando l’impresa decide di vendere un bene di proprietà realizzando un prezzo maggiore del suo valore contabile netto (plusvalenza) o un prezzo inferiore (minusvalenza).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 poter essere classificate come </a:t>
            </a:r>
            <a:r>
              <a:rPr lang="it-IT" sz="3600" u="sng" dirty="0">
                <a:solidFill>
                  <a:srgbClr val="0070C0"/>
                </a:solidFill>
                <a:latin typeface="Poppins" panose="020B0604020202020204" charset="0"/>
                <a:cs typeface="Poppins" panose="020B0604020202020204" charset="0"/>
              </a:rPr>
              <a:t>proventi</a:t>
            </a:r>
            <a:r>
              <a:rPr lang="it-IT" sz="3600" dirty="0">
                <a:solidFill>
                  <a:srgbClr val="0070C0"/>
                </a:solidFill>
                <a:latin typeface="Poppins" panose="020B0604020202020204" charset="0"/>
                <a:cs typeface="Poppins" panose="020B0604020202020204" charset="0"/>
              </a:rPr>
              <a:t> o </a:t>
            </a:r>
            <a:r>
              <a:rPr lang="it-IT" sz="3600" u="sng" dirty="0">
                <a:solidFill>
                  <a:srgbClr val="0070C0"/>
                </a:solidFill>
                <a:latin typeface="Poppins" panose="020B0604020202020204" charset="0"/>
                <a:cs typeface="Poppins" panose="020B0604020202020204" charset="0"/>
              </a:rPr>
              <a:t>oneri straordinari</a:t>
            </a:r>
            <a:r>
              <a:rPr lang="it-IT" sz="3600" dirty="0">
                <a:solidFill>
                  <a:srgbClr val="0070C0"/>
                </a:solidFill>
                <a:latin typeface="Poppins" panose="020B0604020202020204" charset="0"/>
                <a:cs typeface="Poppins" panose="020B0604020202020204" charset="0"/>
              </a:rPr>
              <a:t> è necessario che il bene venduto non rientri nell’attività ordinaria dell’impresa.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Per esempio, la plusvalenza realizzata con la vendita di un impianto utilizzato per la produzione rientra nei proventi ordinari, mentre quella derivante dalla cessione di una villa di proprietà dell’impresa adibita a uso civile fa parte di quelli straordinari.</a:t>
            </a:r>
          </a:p>
        </p:txBody>
      </p:sp>
    </p:spTree>
    <p:extLst>
      <p:ext uri="{BB962C8B-B14F-4D97-AF65-F5344CB8AC3E}">
        <p14:creationId xmlns:p14="http://schemas.microsoft.com/office/powerpoint/2010/main" val="1847816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4" y="990643"/>
            <a:ext cx="17936389"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Sopravvenienze attive (o passive)</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38277" y="2327344"/>
            <a:ext cx="15811446" cy="7294305"/>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Le sopravvenienze attive e passive rappresentano invece ricavi e costi di natura straordinaria perché non hanno carattere ricorrente e si manifestano in modo accidentale.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Possono essere considerate come </a:t>
            </a:r>
            <a:r>
              <a:rPr lang="it-IT" sz="3600" u="sng" dirty="0">
                <a:solidFill>
                  <a:srgbClr val="0070C0"/>
                </a:solidFill>
                <a:latin typeface="Poppins" panose="020B0604020202020204" charset="0"/>
                <a:cs typeface="Poppins" panose="020B0604020202020204" charset="0"/>
              </a:rPr>
              <a:t>sopravvenienze attive</a:t>
            </a:r>
            <a:r>
              <a:rPr lang="it-IT" sz="3600" dirty="0">
                <a:solidFill>
                  <a:srgbClr val="0070C0"/>
                </a:solidFill>
                <a:latin typeface="Poppins" panose="020B0604020202020204" charset="0"/>
                <a:cs typeface="Poppins" panose="020B0604020202020204" charset="0"/>
              </a:rPr>
              <a:t> i rimborsi non previsti e le agevolazioni finanziarie maturate nel passato. </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D’altro canto, considerando per esempio un’impresa che smaltisce rifiuti, costituirebbero una </a:t>
            </a:r>
            <a:r>
              <a:rPr lang="it-IT" sz="3600" u="sng" dirty="0">
                <a:solidFill>
                  <a:srgbClr val="0070C0"/>
                </a:solidFill>
                <a:latin typeface="Poppins" panose="020B0604020202020204" charset="0"/>
                <a:cs typeface="Poppins" panose="020B0604020202020204" charset="0"/>
              </a:rPr>
              <a:t>sopravvenienza passiva</a:t>
            </a:r>
            <a:r>
              <a:rPr lang="it-IT" sz="3600" dirty="0">
                <a:solidFill>
                  <a:srgbClr val="0070C0"/>
                </a:solidFill>
                <a:latin typeface="Poppins" panose="020B0604020202020204" charset="0"/>
                <a:cs typeface="Poppins" panose="020B0604020202020204" charset="0"/>
              </a:rPr>
              <a:t> nel suo conto economico i costi necessari per bonificare le acque inquinate in seguito alla rottura accidentale di alcuni serbatoi di proprietà.</a:t>
            </a:r>
          </a:p>
        </p:txBody>
      </p:sp>
    </p:spTree>
    <p:extLst>
      <p:ext uri="{BB962C8B-B14F-4D97-AF65-F5344CB8AC3E}">
        <p14:creationId xmlns:p14="http://schemas.microsoft.com/office/powerpoint/2010/main" val="2706921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4" y="990643"/>
            <a:ext cx="17936389"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Risultato prima delle imposte</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38277" y="2563318"/>
            <a:ext cx="15811446" cy="6186309"/>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Prima di arrivare all’utile (o perdita) di esercizio, il Codice civile</a:t>
            </a:r>
          </a:p>
          <a:p>
            <a:pPr algn="just"/>
            <a:r>
              <a:rPr lang="it-IT" sz="3600" dirty="0">
                <a:solidFill>
                  <a:srgbClr val="0070C0"/>
                </a:solidFill>
                <a:latin typeface="Poppins" panose="020B0604020202020204" charset="0"/>
                <a:cs typeface="Poppins" panose="020B0604020202020204" charset="0"/>
              </a:rPr>
              <a:t>esplicita un secondo risultato intermedio, il Risultato prima delle imposte, fondamentale per l’analisi e l’interpretazione del conto economico perché non è influenzato dal carico fiscale.</a:t>
            </a: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Il suo ammontare è pari alla differenza tra il valore e i costi della produzione (A – B), cui vanno sommate o sottratte (in base a quello che è il loro segno) le componenti (C), (D) ed (E).</a:t>
            </a:r>
          </a:p>
          <a:p>
            <a:pPr algn="just"/>
            <a:endParaRPr lang="it-IT" sz="3600" dirty="0">
              <a:solidFill>
                <a:srgbClr val="0070C0"/>
              </a:solidFill>
              <a:latin typeface="Poppins" panose="020B0604020202020204" charset="0"/>
              <a:cs typeface="Poppins" panose="020B0604020202020204" charset="0"/>
            </a:endParaRPr>
          </a:p>
          <a:p>
            <a:pPr algn="just"/>
            <a:endParaRPr lang="it-IT" sz="3600" dirty="0">
              <a:solidFill>
                <a:srgbClr val="0070C0"/>
              </a:solidFill>
              <a:latin typeface="Poppins" panose="020B0604020202020204" charset="0"/>
              <a:cs typeface="Poppins" panose="020B0604020202020204" charset="0"/>
            </a:endParaRPr>
          </a:p>
          <a:p>
            <a:pPr algn="ctr"/>
            <a:r>
              <a:rPr lang="it-IT" sz="3600" dirty="0">
                <a:solidFill>
                  <a:srgbClr val="0070C0"/>
                </a:solidFill>
                <a:latin typeface="Poppins" panose="020B0604020202020204" charset="0"/>
                <a:cs typeface="Poppins" panose="020B0604020202020204" charset="0"/>
              </a:rPr>
              <a:t>(A – B ± C ± D ± E) = Risultato prima delle imposte</a:t>
            </a:r>
          </a:p>
        </p:txBody>
      </p:sp>
    </p:spTree>
    <p:extLst>
      <p:ext uri="{BB962C8B-B14F-4D97-AF65-F5344CB8AC3E}">
        <p14:creationId xmlns:p14="http://schemas.microsoft.com/office/powerpoint/2010/main" val="756450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4" y="990643"/>
            <a:ext cx="17936389"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Le imposte sul reddito e l’utile (o la perdita)</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12" name="CasellaDiTesto 11">
            <a:extLst>
              <a:ext uri="{FF2B5EF4-FFF2-40B4-BE49-F238E27FC236}">
                <a16:creationId xmlns:a16="http://schemas.microsoft.com/office/drawing/2014/main" id="{CA162668-F5BD-4F03-9311-C58D0D42A1DE}"/>
              </a:ext>
            </a:extLst>
          </p:cNvPr>
          <p:cNvSpPr txBox="1"/>
          <p:nvPr/>
        </p:nvSpPr>
        <p:spPr>
          <a:xfrm>
            <a:off x="1238277" y="2563318"/>
            <a:ext cx="15811446" cy="5632311"/>
          </a:xfrm>
          <a:prstGeom prst="rect">
            <a:avLst/>
          </a:prstGeom>
          <a:noFill/>
        </p:spPr>
        <p:txBody>
          <a:bodyPr wrap="square">
            <a:spAutoFit/>
          </a:bodyPr>
          <a:lstStyle/>
          <a:p>
            <a:pPr algn="just"/>
            <a:r>
              <a:rPr lang="it-IT" sz="3600" dirty="0">
                <a:solidFill>
                  <a:srgbClr val="0070C0"/>
                </a:solidFill>
                <a:latin typeface="Poppins" panose="020B0604020202020204" charset="0"/>
                <a:cs typeface="Poppins" panose="020B0604020202020204" charset="0"/>
              </a:rPr>
              <a:t>Sottraendo dal Risultato prima delle imposte le Imposte sul reddito di esercizio si determina l’utile o la perdita (comunemente detti anche utile netto o perdita netta, proprio perché al netto delle imposte).</a:t>
            </a:r>
          </a:p>
          <a:p>
            <a:pPr algn="just"/>
            <a:endParaRPr lang="it-IT" sz="3600" dirty="0">
              <a:solidFill>
                <a:srgbClr val="0070C0"/>
              </a:solidFill>
              <a:latin typeface="Poppins" panose="020B0604020202020204" charset="0"/>
              <a:cs typeface="Poppins" panose="020B0604020202020204" charset="0"/>
            </a:endParaRPr>
          </a:p>
          <a:p>
            <a:pPr algn="just"/>
            <a:endParaRPr lang="it-IT" sz="3600" dirty="0">
              <a:solidFill>
                <a:srgbClr val="0070C0"/>
              </a:solidFill>
              <a:latin typeface="Poppins" panose="020B0604020202020204" charset="0"/>
              <a:cs typeface="Poppins" panose="020B0604020202020204" charset="0"/>
            </a:endParaRPr>
          </a:p>
          <a:p>
            <a:pPr algn="just"/>
            <a:r>
              <a:rPr lang="it-IT" sz="3600" dirty="0">
                <a:solidFill>
                  <a:srgbClr val="0070C0"/>
                </a:solidFill>
                <a:latin typeface="Poppins" panose="020B0604020202020204" charset="0"/>
                <a:cs typeface="Poppins" panose="020B0604020202020204" charset="0"/>
              </a:rPr>
              <a:t>N.B. È importante tenere presente che </a:t>
            </a:r>
            <a:r>
              <a:rPr lang="it-IT" sz="3600" u="sng" dirty="0">
                <a:solidFill>
                  <a:srgbClr val="FF0000"/>
                </a:solidFill>
                <a:latin typeface="Poppins" panose="020B0604020202020204" charset="0"/>
                <a:cs typeface="Poppins" panose="020B0604020202020204" charset="0"/>
              </a:rPr>
              <a:t>il valore di questo utile o di questa perdita di esercizio deve essere lo stesso dell’utile o perdita che si trova nello stato patrimoniale</a:t>
            </a:r>
            <a:r>
              <a:rPr lang="it-IT" sz="3600" dirty="0">
                <a:solidFill>
                  <a:srgbClr val="0070C0"/>
                </a:solidFill>
                <a:latin typeface="Poppins" panose="020B0604020202020204" charset="0"/>
                <a:cs typeface="Poppins" panose="020B0604020202020204" charset="0"/>
              </a:rPr>
              <a:t>, altrimenti significa che c’è qualcosa di sbagliato da una parte o dall’altra.</a:t>
            </a:r>
          </a:p>
        </p:txBody>
      </p:sp>
    </p:spTree>
    <p:extLst>
      <p:ext uri="{BB962C8B-B14F-4D97-AF65-F5344CB8AC3E}">
        <p14:creationId xmlns:p14="http://schemas.microsoft.com/office/powerpoint/2010/main" val="3501169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4" y="990643"/>
            <a:ext cx="17936389"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Stato Patrimoniale- Esempio</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pic>
        <p:nvPicPr>
          <p:cNvPr id="5" name="Immagine 4">
            <a:extLst>
              <a:ext uri="{FF2B5EF4-FFF2-40B4-BE49-F238E27FC236}">
                <a16:creationId xmlns:a16="http://schemas.microsoft.com/office/drawing/2014/main" id="{F661F73E-9E14-439B-903C-E5A6799EDAEB}"/>
              </a:ext>
            </a:extLst>
          </p:cNvPr>
          <p:cNvPicPr>
            <a:picLocks noChangeAspect="1"/>
          </p:cNvPicPr>
          <p:nvPr/>
        </p:nvPicPr>
        <p:blipFill>
          <a:blip r:embed="rId3"/>
          <a:stretch>
            <a:fillRect/>
          </a:stretch>
        </p:blipFill>
        <p:spPr>
          <a:xfrm>
            <a:off x="7675417" y="1987839"/>
            <a:ext cx="7730837" cy="8199373"/>
          </a:xfrm>
          <a:prstGeom prst="rect">
            <a:avLst/>
          </a:prstGeom>
        </p:spPr>
      </p:pic>
      <p:sp>
        <p:nvSpPr>
          <p:cNvPr id="10" name="CasellaDiTesto 9">
            <a:extLst>
              <a:ext uri="{FF2B5EF4-FFF2-40B4-BE49-F238E27FC236}">
                <a16:creationId xmlns:a16="http://schemas.microsoft.com/office/drawing/2014/main" id="{50861D6E-43CC-40F1-85D2-AF29A6922C20}"/>
              </a:ext>
            </a:extLst>
          </p:cNvPr>
          <p:cNvSpPr txBox="1"/>
          <p:nvPr/>
        </p:nvSpPr>
        <p:spPr>
          <a:xfrm>
            <a:off x="1769524" y="2881342"/>
            <a:ext cx="5656512" cy="4524315"/>
          </a:xfrm>
          <a:prstGeom prst="rect">
            <a:avLst/>
          </a:prstGeom>
          <a:noFill/>
        </p:spPr>
        <p:txBody>
          <a:bodyPr wrap="square">
            <a:spAutoFit/>
          </a:bodyPr>
          <a:lstStyle/>
          <a:p>
            <a:r>
              <a:rPr lang="it-IT" sz="3600" dirty="0">
                <a:solidFill>
                  <a:srgbClr val="0070C0"/>
                </a:solidFill>
                <a:latin typeface="Poppins" panose="020B0604020202020204" charset="0"/>
                <a:cs typeface="Poppins" panose="020B0604020202020204" charset="0"/>
              </a:rPr>
              <a:t>Esaminiamo le voci dello stato patrimoniale di un’ipotetica azienda,  la </a:t>
            </a:r>
            <a:r>
              <a:rPr lang="it-IT" sz="3600" dirty="0" err="1">
                <a:solidFill>
                  <a:srgbClr val="0070C0"/>
                </a:solidFill>
                <a:latin typeface="Poppins" panose="020B0604020202020204" charset="0"/>
                <a:cs typeface="Poppins" panose="020B0604020202020204" charset="0"/>
              </a:rPr>
              <a:t>Gonne&amp;Pantaloni</a:t>
            </a:r>
            <a:r>
              <a:rPr lang="it-IT" sz="3600" dirty="0">
                <a:solidFill>
                  <a:srgbClr val="0070C0"/>
                </a:solidFill>
                <a:latin typeface="Poppins" panose="020B0604020202020204" charset="0"/>
                <a:cs typeface="Poppins" panose="020B0604020202020204" charset="0"/>
              </a:rPr>
              <a:t> s.r.l., che produce e vende capi  d’abbigliamento</a:t>
            </a:r>
          </a:p>
        </p:txBody>
      </p:sp>
    </p:spTree>
    <p:extLst>
      <p:ext uri="{BB962C8B-B14F-4D97-AF65-F5344CB8AC3E}">
        <p14:creationId xmlns:p14="http://schemas.microsoft.com/office/powerpoint/2010/main" val="35514697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4" y="990643"/>
            <a:ext cx="17936389"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Conto Economico - Esempio</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pic>
        <p:nvPicPr>
          <p:cNvPr id="3" name="Immagine 2">
            <a:extLst>
              <a:ext uri="{FF2B5EF4-FFF2-40B4-BE49-F238E27FC236}">
                <a16:creationId xmlns:a16="http://schemas.microsoft.com/office/drawing/2014/main" id="{F9174E82-1E26-421B-95E1-43755B63A3B0}"/>
              </a:ext>
            </a:extLst>
          </p:cNvPr>
          <p:cNvPicPr>
            <a:picLocks noChangeAspect="1"/>
          </p:cNvPicPr>
          <p:nvPr/>
        </p:nvPicPr>
        <p:blipFill>
          <a:blip r:embed="rId3"/>
          <a:stretch>
            <a:fillRect/>
          </a:stretch>
        </p:blipFill>
        <p:spPr>
          <a:xfrm>
            <a:off x="5214196" y="2060169"/>
            <a:ext cx="7540119" cy="7622826"/>
          </a:xfrm>
          <a:prstGeom prst="rect">
            <a:avLst/>
          </a:prstGeom>
        </p:spPr>
      </p:pic>
    </p:spTree>
    <p:extLst>
      <p:ext uri="{BB962C8B-B14F-4D97-AF65-F5344CB8AC3E}">
        <p14:creationId xmlns:p14="http://schemas.microsoft.com/office/powerpoint/2010/main" val="25821665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4" y="990643"/>
            <a:ext cx="17936389"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NOTA INTEGRATIVA</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6" name="CasellaDiTesto 5">
            <a:extLst>
              <a:ext uri="{FF2B5EF4-FFF2-40B4-BE49-F238E27FC236}">
                <a16:creationId xmlns:a16="http://schemas.microsoft.com/office/drawing/2014/main" id="{26F0EF83-5DFB-471E-BE13-939F8171D6B1}"/>
              </a:ext>
            </a:extLst>
          </p:cNvPr>
          <p:cNvSpPr txBox="1"/>
          <p:nvPr/>
        </p:nvSpPr>
        <p:spPr>
          <a:xfrm>
            <a:off x="1501984" y="2355274"/>
            <a:ext cx="14907491" cy="5478423"/>
          </a:xfrm>
          <a:prstGeom prst="rect">
            <a:avLst/>
          </a:prstGeom>
          <a:noFill/>
        </p:spPr>
        <p:txBody>
          <a:bodyPr wrap="square">
            <a:spAutoFit/>
          </a:bodyPr>
          <a:lstStyle/>
          <a:p>
            <a:pPr algn="just"/>
            <a:r>
              <a:rPr lang="it-IT" sz="3500" dirty="0">
                <a:solidFill>
                  <a:srgbClr val="0070C0"/>
                </a:solidFill>
                <a:latin typeface="Poppins" panose="020B0604020202020204" charset="0"/>
                <a:cs typeface="Poppins" panose="020B0604020202020204" charset="0"/>
              </a:rPr>
              <a:t>La nota integrativa è il terzo documento che compone il bilancio e ha lo scopo di illustrare in modo dettagliato il contenuto degli schemi di bilancio e i criteri di valutazione utilizzati per la loro redazione (per esempio, spiegando quali criteri sono stati scelti nella valutazione dei crediti, del magazzino ecc.). </a:t>
            </a:r>
          </a:p>
          <a:p>
            <a:pPr algn="just"/>
            <a:endParaRPr lang="it-IT" sz="3500" dirty="0">
              <a:solidFill>
                <a:srgbClr val="0070C0"/>
              </a:solidFill>
              <a:latin typeface="Poppins" panose="020B0604020202020204" charset="0"/>
              <a:cs typeface="Poppins" panose="020B0604020202020204" charset="0"/>
            </a:endParaRPr>
          </a:p>
          <a:p>
            <a:pPr algn="just"/>
            <a:r>
              <a:rPr lang="it-IT" sz="3500" dirty="0">
                <a:solidFill>
                  <a:srgbClr val="0070C0"/>
                </a:solidFill>
                <a:latin typeface="Poppins" panose="020B0604020202020204" charset="0"/>
                <a:cs typeface="Poppins" panose="020B0604020202020204" charset="0"/>
              </a:rPr>
              <a:t>In particolare il Codice civile, all’articolo 2427, descrive le informazioni che devono essere contenute nella nota integrativa e l’ordine in cui devono figurare, anche se lascia una certa libertà nella scelta del modo in cui presentarle.</a:t>
            </a:r>
          </a:p>
        </p:txBody>
      </p:sp>
    </p:spTree>
    <p:extLst>
      <p:ext uri="{BB962C8B-B14F-4D97-AF65-F5344CB8AC3E}">
        <p14:creationId xmlns:p14="http://schemas.microsoft.com/office/powerpoint/2010/main" val="429507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81" name="Google Shape;181;p22"/>
          <p:cNvSpPr txBox="1"/>
          <p:nvPr/>
        </p:nvSpPr>
        <p:spPr>
          <a:xfrm>
            <a:off x="1501984" y="990643"/>
            <a:ext cx="17936389" cy="99719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it-IT" sz="5400" dirty="0">
                <a:solidFill>
                  <a:srgbClr val="0070C0"/>
                </a:solidFill>
                <a:latin typeface="Poppins" panose="020B0604020202020204" charset="0"/>
                <a:cs typeface="Poppins" panose="020B0604020202020204" charset="0"/>
              </a:rPr>
              <a:t>NOTA INTEGRATIVA</a:t>
            </a:r>
            <a:endParaRPr sz="1200" dirty="0"/>
          </a:p>
        </p:txBody>
      </p:sp>
      <p:sp>
        <p:nvSpPr>
          <p:cNvPr id="183" name="Google Shape;183;p22"/>
          <p:cNvSpPr txBox="1"/>
          <p:nvPr/>
        </p:nvSpPr>
        <p:spPr>
          <a:xfrm>
            <a:off x="1652222" y="604005"/>
            <a:ext cx="6450787" cy="314308"/>
          </a:xfrm>
          <a:prstGeom prst="rect">
            <a:avLst/>
          </a:prstGeom>
          <a:noFill/>
          <a:ln>
            <a:noFill/>
          </a:ln>
        </p:spPr>
        <p:txBody>
          <a:bodyPr spcFirstLastPara="1" wrap="square" lIns="0" tIns="0" rIns="0" bIns="0" anchor="t" anchorCtr="0">
            <a:spAutoFit/>
          </a:bodyPr>
          <a:lstStyle/>
          <a:p>
            <a:pPr marL="0" marR="0" lvl="0" indent="0" algn="l" rtl="0">
              <a:lnSpc>
                <a:spcPct val="120010"/>
              </a:lnSpc>
              <a:spcBef>
                <a:spcPts val="0"/>
              </a:spcBef>
              <a:spcAft>
                <a:spcPts val="0"/>
              </a:spcAft>
              <a:buNone/>
            </a:pPr>
            <a:r>
              <a:rPr lang="en-US" sz="1999" b="0" i="0" u="none" strike="noStrike" cap="none">
                <a:solidFill>
                  <a:srgbClr val="216AD9"/>
                </a:solidFill>
                <a:latin typeface="Poppins"/>
                <a:ea typeface="Poppins"/>
                <a:cs typeface="Poppins"/>
                <a:sym typeface="Poppins"/>
              </a:rPr>
              <a:t>IL BILANCIO </a:t>
            </a:r>
            <a:endParaRPr/>
          </a:p>
        </p:txBody>
      </p:sp>
      <p:sp>
        <p:nvSpPr>
          <p:cNvPr id="6" name="CasellaDiTesto 5">
            <a:extLst>
              <a:ext uri="{FF2B5EF4-FFF2-40B4-BE49-F238E27FC236}">
                <a16:creationId xmlns:a16="http://schemas.microsoft.com/office/drawing/2014/main" id="{26F0EF83-5DFB-471E-BE13-939F8171D6B1}"/>
              </a:ext>
            </a:extLst>
          </p:cNvPr>
          <p:cNvSpPr txBox="1"/>
          <p:nvPr/>
        </p:nvSpPr>
        <p:spPr>
          <a:xfrm>
            <a:off x="1346737" y="2854037"/>
            <a:ext cx="15594525" cy="3862596"/>
          </a:xfrm>
          <a:prstGeom prst="rect">
            <a:avLst/>
          </a:prstGeom>
          <a:noFill/>
        </p:spPr>
        <p:txBody>
          <a:bodyPr wrap="square">
            <a:spAutoFit/>
          </a:bodyPr>
          <a:lstStyle/>
          <a:p>
            <a:pPr algn="just"/>
            <a:r>
              <a:rPr lang="it-IT" sz="3500" dirty="0">
                <a:solidFill>
                  <a:srgbClr val="0070C0"/>
                </a:solidFill>
                <a:latin typeface="Poppins" panose="020B0604020202020204" charset="0"/>
                <a:cs typeface="Poppins" panose="020B0604020202020204" charset="0"/>
              </a:rPr>
              <a:t> Le tematiche che devono essere trattate all’interno della nota integrativa possono essere riassunte in quattro aspetti principali:</a:t>
            </a:r>
          </a:p>
          <a:p>
            <a:pPr algn="just"/>
            <a:endParaRPr lang="it-IT" sz="3500" dirty="0">
              <a:solidFill>
                <a:srgbClr val="0070C0"/>
              </a:solidFill>
              <a:latin typeface="Poppins" panose="020B0604020202020204" charset="0"/>
              <a:cs typeface="Poppins" panose="020B0604020202020204" charset="0"/>
            </a:endParaRPr>
          </a:p>
          <a:p>
            <a:pPr marL="457200" indent="-457200" algn="just">
              <a:buClr>
                <a:srgbClr val="0070C0"/>
              </a:buClr>
              <a:buFont typeface="Arial" panose="020B0604020202020204" pitchFamily="34" charset="0"/>
              <a:buChar char="•"/>
            </a:pPr>
            <a:r>
              <a:rPr lang="it-IT" sz="3500" dirty="0">
                <a:solidFill>
                  <a:srgbClr val="0070C0"/>
                </a:solidFill>
                <a:latin typeface="Poppins" panose="020B0604020202020204" charset="0"/>
                <a:cs typeface="Poppins" panose="020B0604020202020204" charset="0"/>
              </a:rPr>
              <a:t>criteri adottati</a:t>
            </a:r>
          </a:p>
          <a:p>
            <a:pPr marL="457200" indent="-457200" algn="just">
              <a:buClr>
                <a:srgbClr val="0070C0"/>
              </a:buClr>
              <a:buFont typeface="Arial" panose="020B0604020202020204" pitchFamily="34" charset="0"/>
              <a:buChar char="•"/>
            </a:pPr>
            <a:r>
              <a:rPr lang="it-IT" sz="3500" dirty="0">
                <a:solidFill>
                  <a:srgbClr val="0070C0"/>
                </a:solidFill>
                <a:latin typeface="Poppins" panose="020B0604020202020204" charset="0"/>
                <a:cs typeface="Poppins" panose="020B0604020202020204" charset="0"/>
              </a:rPr>
              <a:t>movimentazioni avvenute</a:t>
            </a:r>
          </a:p>
          <a:p>
            <a:pPr marL="457200" indent="-457200" algn="just">
              <a:buClr>
                <a:srgbClr val="0070C0"/>
              </a:buClr>
              <a:buFont typeface="Arial" panose="020B0604020202020204" pitchFamily="34" charset="0"/>
              <a:buChar char="•"/>
            </a:pPr>
            <a:r>
              <a:rPr lang="it-IT" sz="3500" dirty="0">
                <a:solidFill>
                  <a:srgbClr val="0070C0"/>
                </a:solidFill>
                <a:latin typeface="Poppins" panose="020B0604020202020204" charset="0"/>
                <a:cs typeface="Poppins" panose="020B0604020202020204" charset="0"/>
              </a:rPr>
              <a:t>dettaglio delle voci di conto economico e stato patrimoniale</a:t>
            </a:r>
          </a:p>
          <a:p>
            <a:pPr marL="457200" indent="-457200" algn="just">
              <a:buClr>
                <a:srgbClr val="0070C0"/>
              </a:buClr>
              <a:buFont typeface="Arial" panose="020B0604020202020204" pitchFamily="34" charset="0"/>
              <a:buChar char="•"/>
            </a:pPr>
            <a:r>
              <a:rPr lang="it-IT" sz="3500" dirty="0">
                <a:solidFill>
                  <a:srgbClr val="0070C0"/>
                </a:solidFill>
                <a:latin typeface="Poppins" panose="020B0604020202020204" charset="0"/>
                <a:cs typeface="Poppins" panose="020B0604020202020204" charset="0"/>
              </a:rPr>
              <a:t>altri dati integrativi</a:t>
            </a:r>
          </a:p>
        </p:txBody>
      </p:sp>
    </p:spTree>
    <p:extLst>
      <p:ext uri="{BB962C8B-B14F-4D97-AF65-F5344CB8AC3E}">
        <p14:creationId xmlns:p14="http://schemas.microsoft.com/office/powerpoint/2010/main" val="105837073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5D4170B-3678-4632-8E13-4875D2160B7C}"/>
</file>

<file path=customXml/itemProps2.xml><?xml version="1.0" encoding="utf-8"?>
<ds:datastoreItem xmlns:ds="http://schemas.openxmlformats.org/officeDocument/2006/customXml" ds:itemID="{17518294-27DE-4368-8510-1F377F92513A}"/>
</file>

<file path=customXml/itemProps3.xml><?xml version="1.0" encoding="utf-8"?>
<ds:datastoreItem xmlns:ds="http://schemas.openxmlformats.org/officeDocument/2006/customXml" ds:itemID="{A10A2451-1A08-4AD8-812D-7B2ECDD461C2}"/>
</file>

<file path=docProps/app.xml><?xml version="1.0" encoding="utf-8"?>
<Properties xmlns="http://schemas.openxmlformats.org/officeDocument/2006/extended-properties" xmlns:vt="http://schemas.openxmlformats.org/officeDocument/2006/docPropsVTypes">
  <TotalTime>714</TotalTime>
  <Words>2767</Words>
  <Application>Microsoft Office PowerPoint</Application>
  <PresentationFormat>Personalizzato</PresentationFormat>
  <Paragraphs>212</Paragraphs>
  <Slides>34</Slides>
  <Notes>34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34</vt:i4>
      </vt:variant>
    </vt:vector>
  </HeadingPairs>
  <TitlesOfParts>
    <vt:vector size="39" baseType="lpstr">
      <vt:lpstr>Poppins SemiBold</vt:lpstr>
      <vt:lpstr>Arial</vt:lpstr>
      <vt:lpstr>Calibri</vt:lpstr>
      <vt:lpstr>Poppins</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Lenovo</dc:creator>
  <cp:lastModifiedBy>Piccirillo Giuseppe</cp:lastModifiedBy>
  <cp:revision>18</cp:revision>
  <dcterms:modified xsi:type="dcterms:W3CDTF">2026-04-23T09:58:27Z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