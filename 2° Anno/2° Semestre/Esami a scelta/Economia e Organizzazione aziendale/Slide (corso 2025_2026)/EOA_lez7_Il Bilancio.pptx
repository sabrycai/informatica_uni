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9.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31.xml" ContentType="application/vnd.openxmlformats-officedocument.presentationml.slide+xml"/>
  <Override PartName="/ppt/slides/slide34.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slideLayouts/slideLayout1.xml" ContentType="application/vnd.openxmlformats-officedocument.presentationml.slideLayout+xml"/>
  <Override PartName="/ppt/notesSlides/notesSlide8.xml" ContentType="application/vnd.openxmlformats-officedocument.presentationml.notesSlide+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notesSlides/notesSlide2.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slideLayouts/slideLayout6.xml" ContentType="application/vnd.openxmlformats-officedocument.presentationml.slideLayout+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24.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34.xml" ContentType="application/vnd.openxmlformats-officedocument.presentationml.notesSlide+xml"/>
  <Override PartName="/ppt/notesSlides/notesSlide37.xml" ContentType="application/vnd.openxmlformats-officedocument.presentationml.notesSlide+xml"/>
  <Override PartName="/ppt/notesSlides/notesSlide33.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28.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9"/>
  </p:notesMasterIdLst>
  <p:sldIdLst>
    <p:sldId id="256" r:id="rId2"/>
    <p:sldId id="261" r:id="rId3"/>
    <p:sldId id="279" r:id="rId4"/>
    <p:sldId id="262" r:id="rId5"/>
    <p:sldId id="783" r:id="rId6"/>
    <p:sldId id="264" r:id="rId7"/>
    <p:sldId id="662" r:id="rId8"/>
    <p:sldId id="283" r:id="rId9"/>
    <p:sldId id="663" r:id="rId10"/>
    <p:sldId id="664" r:id="rId11"/>
    <p:sldId id="665" r:id="rId12"/>
    <p:sldId id="682" r:id="rId13"/>
    <p:sldId id="654" r:id="rId14"/>
    <p:sldId id="306" r:id="rId15"/>
    <p:sldId id="723" r:id="rId16"/>
    <p:sldId id="778" r:id="rId17"/>
    <p:sldId id="717" r:id="rId18"/>
    <p:sldId id="779" r:id="rId19"/>
    <p:sldId id="738" r:id="rId20"/>
    <p:sldId id="291" r:id="rId21"/>
    <p:sldId id="705" r:id="rId22"/>
    <p:sldId id="342" r:id="rId23"/>
    <p:sldId id="706" r:id="rId24"/>
    <p:sldId id="720" r:id="rId25"/>
    <p:sldId id="781" r:id="rId26"/>
    <p:sldId id="724" r:id="rId27"/>
    <p:sldId id="725" r:id="rId28"/>
    <p:sldId id="739" r:id="rId29"/>
    <p:sldId id="686" r:id="rId30"/>
    <p:sldId id="293" r:id="rId31"/>
    <p:sldId id="265" r:id="rId32"/>
    <p:sldId id="784" r:id="rId33"/>
    <p:sldId id="785" r:id="rId34"/>
    <p:sldId id="786" r:id="rId35"/>
    <p:sldId id="787" r:id="rId36"/>
    <p:sldId id="788" r:id="rId37"/>
    <p:sldId id="789" r:id="rId38"/>
    <p:sldId id="790" r:id="rId39"/>
    <p:sldId id="791" r:id="rId40"/>
    <p:sldId id="792" r:id="rId41"/>
    <p:sldId id="793" r:id="rId42"/>
    <p:sldId id="794" r:id="rId43"/>
    <p:sldId id="795" r:id="rId44"/>
    <p:sldId id="796" r:id="rId45"/>
    <p:sldId id="797" r:id="rId46"/>
    <p:sldId id="798" r:id="rId47"/>
    <p:sldId id="799" r:id="rId48"/>
  </p:sldIdLst>
  <p:sldSz cx="18288000" cy="10287000"/>
  <p:notesSz cx="6858000" cy="9144000"/>
  <p:embeddedFontLst>
    <p:embeddedFont>
      <p:font typeface="Calibri" panose="020F0502020204030204" pitchFamily="34" charset="0"/>
      <p:regular r:id="rId50"/>
      <p:bold r:id="rId51"/>
      <p:italic r:id="rId52"/>
      <p:boldItalic r:id="rId53"/>
    </p:embeddedFont>
    <p:embeddedFont>
      <p:font typeface="Open Sans" panose="020B0604020202020204" charset="0"/>
      <p:regular r:id="rId54"/>
      <p:bold r:id="rId55"/>
      <p:italic r:id="rId56"/>
      <p:boldItalic r:id="rId57"/>
    </p:embeddedFont>
    <p:embeddedFont>
      <p:font typeface="Poppins" panose="020B0604020202020204" charset="0"/>
      <p:bold r:id="rId58"/>
      <p:boldItalic r:id="rId59"/>
    </p:embeddedFont>
    <p:embeddedFont>
      <p:font typeface="Poppins SemiBold" panose="020B0604020202020204" charset="0"/>
      <p:regular r:id="rId60"/>
      <p:bold r:id="rId61"/>
      <p:italic r:id="rId62"/>
      <p:boldItalic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136" autoAdjust="0"/>
  </p:normalViewPr>
  <p:slideViewPr>
    <p:cSldViewPr snapToGrid="0">
      <p:cViewPr varScale="1">
        <p:scale>
          <a:sx n="47" d="100"/>
          <a:sy n="47" d="100"/>
        </p:scale>
        <p:origin x="1138"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4.fntdata"/><Relationship Id="rId68"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1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4" Type="http://schemas.openxmlformats.org/officeDocument/2006/relationships/presProps" Target="presProps.xml"/><Relationship Id="rId69" Type="http://schemas.openxmlformats.org/officeDocument/2006/relationships/customXml" Target="../customXml/item2.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1.fntdata"/><Relationship Id="rId55"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4923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2" name="Google Shape;16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5774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9" name="Google Shape;16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egnaposto immagine diapositiva 1">
            <a:extLst>
              <a:ext uri="{FF2B5EF4-FFF2-40B4-BE49-F238E27FC236}">
                <a16:creationId xmlns:a16="http://schemas.microsoft.com/office/drawing/2014/main" id="{86ECAF05-DF61-4C16-9098-6E634DC30AFA}"/>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Segnaposto note 2">
            <a:extLst>
              <a:ext uri="{FF2B5EF4-FFF2-40B4-BE49-F238E27FC236}">
                <a16:creationId xmlns:a16="http://schemas.microsoft.com/office/drawing/2014/main" id="{FE48D0E2-72B3-4B2A-88F9-40F4FDB6720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58750" indent="0">
              <a:spcBef>
                <a:spcPct val="0"/>
              </a:spcBef>
              <a:buNone/>
            </a:pPr>
            <a:endParaRPr lang="it-IT" altLang="it-IT" b="0" dirty="0"/>
          </a:p>
        </p:txBody>
      </p:sp>
      <p:sp>
        <p:nvSpPr>
          <p:cNvPr id="12292" name="Segnaposto numero diapositiva 3">
            <a:extLst>
              <a:ext uri="{FF2B5EF4-FFF2-40B4-BE49-F238E27FC236}">
                <a16:creationId xmlns:a16="http://schemas.microsoft.com/office/drawing/2014/main" id="{720F7D85-D5C3-4DC7-8167-44951ABA617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BEDFE18E-FB7A-46EC-91ED-FF3FACE15D15}" type="slidenum">
              <a:rPr lang="it-IT" altLang="it-IT"/>
              <a:pPr fontAlgn="base">
                <a:spcBef>
                  <a:spcPct val="0"/>
                </a:spcBef>
                <a:spcAft>
                  <a:spcPct val="0"/>
                </a:spcAft>
              </a:pPr>
              <a:t>7</a:t>
            </a:fld>
            <a:endParaRPr lang="it-IT" altLang="it-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48CFB7B3-FFE7-41C6-8B23-25E914DC1FE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36BFA1F8-D278-4924-9B50-59E0D8A7AE42}" type="slidenum">
              <a:rPr lang="it-IT" altLang="it-IT"/>
              <a:pPr fontAlgn="base">
                <a:spcBef>
                  <a:spcPct val="0"/>
                </a:spcBef>
                <a:spcAft>
                  <a:spcPct val="0"/>
                </a:spcAft>
              </a:pPr>
              <a:t>8</a:t>
            </a:fld>
            <a:endParaRPr lang="it-IT" altLang="it-IT"/>
          </a:p>
        </p:txBody>
      </p:sp>
      <p:sp>
        <p:nvSpPr>
          <p:cNvPr id="14339" name="Rectangle 2">
            <a:extLst>
              <a:ext uri="{FF2B5EF4-FFF2-40B4-BE49-F238E27FC236}">
                <a16:creationId xmlns:a16="http://schemas.microsoft.com/office/drawing/2014/main" id="{9F3B019C-96F6-4A4B-8669-1D3A6E8F289B}"/>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0" name="Rectangle 3">
            <a:extLst>
              <a:ext uri="{FF2B5EF4-FFF2-40B4-BE49-F238E27FC236}">
                <a16:creationId xmlns:a16="http://schemas.microsoft.com/office/drawing/2014/main" id="{45F11667-267D-4EC4-9E5E-D0EA04A3D7C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it-IT" altLang="it-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48CFB7B3-FFE7-41C6-8B23-25E914DC1FE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36BFA1F8-D278-4924-9B50-59E0D8A7AE42}" type="slidenum">
              <a:rPr lang="it-IT" altLang="it-IT"/>
              <a:pPr fontAlgn="base">
                <a:spcBef>
                  <a:spcPct val="0"/>
                </a:spcBef>
                <a:spcAft>
                  <a:spcPct val="0"/>
                </a:spcAft>
              </a:pPr>
              <a:t>9</a:t>
            </a:fld>
            <a:endParaRPr lang="it-IT" altLang="it-IT"/>
          </a:p>
        </p:txBody>
      </p:sp>
      <p:sp>
        <p:nvSpPr>
          <p:cNvPr id="14339" name="Rectangle 2">
            <a:extLst>
              <a:ext uri="{FF2B5EF4-FFF2-40B4-BE49-F238E27FC236}">
                <a16:creationId xmlns:a16="http://schemas.microsoft.com/office/drawing/2014/main" id="{9F3B019C-96F6-4A4B-8669-1D3A6E8F289B}"/>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0" name="Rectangle 3">
            <a:extLst>
              <a:ext uri="{FF2B5EF4-FFF2-40B4-BE49-F238E27FC236}">
                <a16:creationId xmlns:a16="http://schemas.microsoft.com/office/drawing/2014/main" id="{45F11667-267D-4EC4-9E5E-D0EA04A3D7C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it-IT" altLang="it-IT"/>
          </a:p>
        </p:txBody>
      </p:sp>
    </p:spTree>
    <p:extLst>
      <p:ext uri="{BB962C8B-B14F-4D97-AF65-F5344CB8AC3E}">
        <p14:creationId xmlns:p14="http://schemas.microsoft.com/office/powerpoint/2010/main" val="4152397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48CFB7B3-FFE7-41C6-8B23-25E914DC1FE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36BFA1F8-D278-4924-9B50-59E0D8A7AE42}" type="slidenum">
              <a:rPr lang="it-IT" altLang="it-IT"/>
              <a:pPr fontAlgn="base">
                <a:spcBef>
                  <a:spcPct val="0"/>
                </a:spcBef>
                <a:spcAft>
                  <a:spcPct val="0"/>
                </a:spcAft>
              </a:pPr>
              <a:t>10</a:t>
            </a:fld>
            <a:endParaRPr lang="it-IT" altLang="it-IT"/>
          </a:p>
        </p:txBody>
      </p:sp>
      <p:sp>
        <p:nvSpPr>
          <p:cNvPr id="14339" name="Rectangle 2">
            <a:extLst>
              <a:ext uri="{FF2B5EF4-FFF2-40B4-BE49-F238E27FC236}">
                <a16:creationId xmlns:a16="http://schemas.microsoft.com/office/drawing/2014/main" id="{9F3B019C-96F6-4A4B-8669-1D3A6E8F289B}"/>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0" name="Rectangle 3">
            <a:extLst>
              <a:ext uri="{FF2B5EF4-FFF2-40B4-BE49-F238E27FC236}">
                <a16:creationId xmlns:a16="http://schemas.microsoft.com/office/drawing/2014/main" id="{45F11667-267D-4EC4-9E5E-D0EA04A3D7C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it-IT" altLang="it-IT"/>
          </a:p>
        </p:txBody>
      </p:sp>
    </p:spTree>
    <p:extLst>
      <p:ext uri="{BB962C8B-B14F-4D97-AF65-F5344CB8AC3E}">
        <p14:creationId xmlns:p14="http://schemas.microsoft.com/office/powerpoint/2010/main" val="8192564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48CFB7B3-FFE7-41C6-8B23-25E914DC1FE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36BFA1F8-D278-4924-9B50-59E0D8A7AE42}" type="slidenum">
              <a:rPr lang="it-IT" altLang="it-IT"/>
              <a:pPr fontAlgn="base">
                <a:spcBef>
                  <a:spcPct val="0"/>
                </a:spcBef>
                <a:spcAft>
                  <a:spcPct val="0"/>
                </a:spcAft>
              </a:pPr>
              <a:t>11</a:t>
            </a:fld>
            <a:endParaRPr lang="it-IT" altLang="it-IT"/>
          </a:p>
        </p:txBody>
      </p:sp>
      <p:sp>
        <p:nvSpPr>
          <p:cNvPr id="14339" name="Rectangle 2">
            <a:extLst>
              <a:ext uri="{FF2B5EF4-FFF2-40B4-BE49-F238E27FC236}">
                <a16:creationId xmlns:a16="http://schemas.microsoft.com/office/drawing/2014/main" id="{9F3B019C-96F6-4A4B-8669-1D3A6E8F289B}"/>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0" name="Rectangle 3">
            <a:extLst>
              <a:ext uri="{FF2B5EF4-FFF2-40B4-BE49-F238E27FC236}">
                <a16:creationId xmlns:a16="http://schemas.microsoft.com/office/drawing/2014/main" id="{45F11667-267D-4EC4-9E5E-D0EA04A3D7C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it-IT" altLang="it-IT" dirty="0"/>
          </a:p>
        </p:txBody>
      </p:sp>
    </p:spTree>
    <p:extLst>
      <p:ext uri="{BB962C8B-B14F-4D97-AF65-F5344CB8AC3E}">
        <p14:creationId xmlns:p14="http://schemas.microsoft.com/office/powerpoint/2010/main" val="18866466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egnaposto immagine diapositiva 1">
            <a:extLst>
              <a:ext uri="{FF2B5EF4-FFF2-40B4-BE49-F238E27FC236}">
                <a16:creationId xmlns:a16="http://schemas.microsoft.com/office/drawing/2014/main" id="{5AA18E72-A081-45EF-A39E-92D1D5AEA068}"/>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Segnaposto note 2">
            <a:extLst>
              <a:ext uri="{FF2B5EF4-FFF2-40B4-BE49-F238E27FC236}">
                <a16:creationId xmlns:a16="http://schemas.microsoft.com/office/drawing/2014/main" id="{F13FE1F6-9044-4186-A6D1-CBEAE341C74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it-IT" altLang="it-IT"/>
          </a:p>
        </p:txBody>
      </p:sp>
      <p:sp>
        <p:nvSpPr>
          <p:cNvPr id="23556" name="Segnaposto numero diapositiva 3">
            <a:extLst>
              <a:ext uri="{FF2B5EF4-FFF2-40B4-BE49-F238E27FC236}">
                <a16:creationId xmlns:a16="http://schemas.microsoft.com/office/drawing/2014/main" id="{9544D5E6-E567-4E9B-98CC-A7C6211492E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EE7848C2-E4F8-42E7-B72D-20687A1CE177}" type="slidenum">
              <a:rPr lang="it-IT" altLang="it-IT"/>
              <a:pPr fontAlgn="base">
                <a:spcBef>
                  <a:spcPct val="0"/>
                </a:spcBef>
                <a:spcAft>
                  <a:spcPct val="0"/>
                </a:spcAft>
              </a:pPr>
              <a:t>12</a:t>
            </a:fld>
            <a:endParaRPr lang="it-IT" altLang="it-IT"/>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egnaposto immagine diapositiva 1">
            <a:extLst>
              <a:ext uri="{FF2B5EF4-FFF2-40B4-BE49-F238E27FC236}">
                <a16:creationId xmlns:a16="http://schemas.microsoft.com/office/drawing/2014/main" id="{4EA2AF81-DC73-45C3-80B7-756BB42B81CF}"/>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Segnaposto note 2">
            <a:extLst>
              <a:ext uri="{FF2B5EF4-FFF2-40B4-BE49-F238E27FC236}">
                <a16:creationId xmlns:a16="http://schemas.microsoft.com/office/drawing/2014/main" id="{901501DE-9197-4E51-993E-2DF89272D2C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it-IT" altLang="it-IT"/>
          </a:p>
        </p:txBody>
      </p:sp>
      <p:sp>
        <p:nvSpPr>
          <p:cNvPr id="25604" name="Segnaposto numero diapositiva 3">
            <a:extLst>
              <a:ext uri="{FF2B5EF4-FFF2-40B4-BE49-F238E27FC236}">
                <a16:creationId xmlns:a16="http://schemas.microsoft.com/office/drawing/2014/main" id="{3471AA58-FCD6-4EA3-A954-6E94C9CF3F4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70C96363-73E6-4A34-9A5F-B85D800444EB}" type="slidenum">
              <a:rPr lang="it-IT" altLang="it-IT"/>
              <a:pPr fontAlgn="base">
                <a:spcBef>
                  <a:spcPct val="0"/>
                </a:spcBef>
                <a:spcAft>
                  <a:spcPct val="0"/>
                </a:spcAft>
              </a:pPr>
              <a:t>13</a:t>
            </a:fld>
            <a:endParaRPr lang="it-IT" altLang="it-IT"/>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3E332240-4E75-4346-9585-621DDC8C155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84C9405A-60CB-4BC8-9A13-28CE18A343A5}" type="slidenum">
              <a:rPr lang="it-IT" altLang="it-IT"/>
              <a:pPr fontAlgn="base">
                <a:spcBef>
                  <a:spcPct val="0"/>
                </a:spcBef>
                <a:spcAft>
                  <a:spcPct val="0"/>
                </a:spcAft>
              </a:pPr>
              <a:t>15</a:t>
            </a:fld>
            <a:endParaRPr lang="it-IT" altLang="it-IT"/>
          </a:p>
        </p:txBody>
      </p:sp>
      <p:sp>
        <p:nvSpPr>
          <p:cNvPr id="28675" name="Rectangle 2">
            <a:extLst>
              <a:ext uri="{FF2B5EF4-FFF2-40B4-BE49-F238E27FC236}">
                <a16:creationId xmlns:a16="http://schemas.microsoft.com/office/drawing/2014/main" id="{D959783A-5568-4C86-872A-FC6A0E863C3E}"/>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0EB3D12B-1829-4E9C-B2AF-B3F9E23FE3D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it-IT" altLang="it-IT"/>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7777AA22-84EC-4361-BCAB-43F1312DCD3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AA64F227-6E13-48D4-AF0E-A794A62E7B47}" type="slidenum">
              <a:rPr lang="it-IT" altLang="it-IT"/>
              <a:pPr fontAlgn="base">
                <a:spcBef>
                  <a:spcPct val="0"/>
                </a:spcBef>
                <a:spcAft>
                  <a:spcPct val="0"/>
                </a:spcAft>
              </a:pPr>
              <a:t>16</a:t>
            </a:fld>
            <a:endParaRPr lang="it-IT" altLang="it-IT"/>
          </a:p>
        </p:txBody>
      </p:sp>
      <p:sp>
        <p:nvSpPr>
          <p:cNvPr id="30723" name="Rectangle 2">
            <a:extLst>
              <a:ext uri="{FF2B5EF4-FFF2-40B4-BE49-F238E27FC236}">
                <a16:creationId xmlns:a16="http://schemas.microsoft.com/office/drawing/2014/main" id="{D2DFBFC4-C942-4F18-8E4B-8E788C5E30B3}"/>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4" name="Rectangle 3">
            <a:extLst>
              <a:ext uri="{FF2B5EF4-FFF2-40B4-BE49-F238E27FC236}">
                <a16:creationId xmlns:a16="http://schemas.microsoft.com/office/drawing/2014/main" id="{4F3A4CD2-430A-4603-8734-EFDFA81FDCD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it-IT" altLang="it-IT"/>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9FD6D520-2897-4955-B754-85AC27C8BF0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30E9D7FE-FD2B-4427-AA5C-CC3E1AC1A191}" type="slidenum">
              <a:rPr lang="it-IT" altLang="it-IT"/>
              <a:pPr fontAlgn="base">
                <a:spcBef>
                  <a:spcPct val="0"/>
                </a:spcBef>
                <a:spcAft>
                  <a:spcPct val="0"/>
                </a:spcAft>
              </a:pPr>
              <a:t>17</a:t>
            </a:fld>
            <a:endParaRPr lang="it-IT" altLang="it-IT"/>
          </a:p>
        </p:txBody>
      </p:sp>
      <p:sp>
        <p:nvSpPr>
          <p:cNvPr id="32771" name="Rectangle 2">
            <a:extLst>
              <a:ext uri="{FF2B5EF4-FFF2-40B4-BE49-F238E27FC236}">
                <a16:creationId xmlns:a16="http://schemas.microsoft.com/office/drawing/2014/main" id="{CF3B4C4D-2D51-42AC-9E0B-0C5BA571DA6B}"/>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2" name="Rectangle 3">
            <a:extLst>
              <a:ext uri="{FF2B5EF4-FFF2-40B4-BE49-F238E27FC236}">
                <a16:creationId xmlns:a16="http://schemas.microsoft.com/office/drawing/2014/main" id="{EEF6F00E-4FA0-4E67-B221-08C9AA32B8C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it-IT" altLang="it-IT"/>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CBF7B4DF-781B-4514-951A-A30D37D6046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69AFF978-4332-4772-A71B-25800EDE8A02}" type="slidenum">
              <a:rPr lang="it-IT" altLang="it-IT"/>
              <a:pPr fontAlgn="base">
                <a:spcBef>
                  <a:spcPct val="0"/>
                </a:spcBef>
                <a:spcAft>
                  <a:spcPct val="0"/>
                </a:spcAft>
              </a:pPr>
              <a:t>18</a:t>
            </a:fld>
            <a:endParaRPr lang="it-IT" altLang="it-IT"/>
          </a:p>
        </p:txBody>
      </p:sp>
      <p:sp>
        <p:nvSpPr>
          <p:cNvPr id="34819" name="Rectangle 2">
            <a:extLst>
              <a:ext uri="{FF2B5EF4-FFF2-40B4-BE49-F238E27FC236}">
                <a16:creationId xmlns:a16="http://schemas.microsoft.com/office/drawing/2014/main" id="{A5835F64-3350-4D90-9C54-C4A32689E774}"/>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20" name="Rectangle 3">
            <a:extLst>
              <a:ext uri="{FF2B5EF4-FFF2-40B4-BE49-F238E27FC236}">
                <a16:creationId xmlns:a16="http://schemas.microsoft.com/office/drawing/2014/main" id="{BC8D7ECC-B72D-4B2E-AF18-5B63F97EB64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it-IT" altLang="it-IT"/>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81C5CBE6-56FF-4F3B-98B6-4BF2D7A335C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1ACC1D23-B963-499E-8F44-41E0FA9BFE65}" type="slidenum">
              <a:rPr lang="it-IT" altLang="it-IT"/>
              <a:pPr fontAlgn="base">
                <a:spcBef>
                  <a:spcPct val="0"/>
                </a:spcBef>
                <a:spcAft>
                  <a:spcPct val="0"/>
                </a:spcAft>
              </a:pPr>
              <a:t>19</a:t>
            </a:fld>
            <a:endParaRPr lang="it-IT" altLang="it-IT"/>
          </a:p>
        </p:txBody>
      </p:sp>
      <p:sp>
        <p:nvSpPr>
          <p:cNvPr id="36867" name="Rectangle 2">
            <a:extLst>
              <a:ext uri="{FF2B5EF4-FFF2-40B4-BE49-F238E27FC236}">
                <a16:creationId xmlns:a16="http://schemas.microsoft.com/office/drawing/2014/main" id="{000FE9C2-9B30-4C2F-893A-4BB1E9453036}"/>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8" name="Rectangle 3">
            <a:extLst>
              <a:ext uri="{FF2B5EF4-FFF2-40B4-BE49-F238E27FC236}">
                <a16:creationId xmlns:a16="http://schemas.microsoft.com/office/drawing/2014/main" id="{724B556D-FB3A-452D-928C-96B6B23D632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it-IT" altLang="it-IT"/>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233C840A-9123-4C18-ACC0-B89B2386B72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68AA045B-5DFB-4CD6-8D57-9920DAB582B0}" type="slidenum">
              <a:rPr lang="it-IT" altLang="it-IT"/>
              <a:pPr fontAlgn="base">
                <a:spcBef>
                  <a:spcPct val="0"/>
                </a:spcBef>
                <a:spcAft>
                  <a:spcPct val="0"/>
                </a:spcAft>
              </a:pPr>
              <a:t>20</a:t>
            </a:fld>
            <a:endParaRPr lang="it-IT" altLang="it-IT"/>
          </a:p>
        </p:txBody>
      </p:sp>
      <p:sp>
        <p:nvSpPr>
          <p:cNvPr id="38915" name="Rectangle 2">
            <a:extLst>
              <a:ext uri="{FF2B5EF4-FFF2-40B4-BE49-F238E27FC236}">
                <a16:creationId xmlns:a16="http://schemas.microsoft.com/office/drawing/2014/main" id="{9BF39BFD-5519-4B04-8613-59EAAFCD5132}"/>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6" name="Rectangle 3">
            <a:extLst>
              <a:ext uri="{FF2B5EF4-FFF2-40B4-BE49-F238E27FC236}">
                <a16:creationId xmlns:a16="http://schemas.microsoft.com/office/drawing/2014/main" id="{4BEBDF85-B520-40A8-9E64-62D104E0FF9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it-IT" altLang="it-IT"/>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78C40312-E908-4604-8B6B-0C70FA1C0A3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2E8C009E-2E28-425C-BE34-89124F614A2E}" type="slidenum">
              <a:rPr lang="it-IT" altLang="it-IT"/>
              <a:pPr fontAlgn="base">
                <a:spcBef>
                  <a:spcPct val="0"/>
                </a:spcBef>
                <a:spcAft>
                  <a:spcPct val="0"/>
                </a:spcAft>
              </a:pPr>
              <a:t>24</a:t>
            </a:fld>
            <a:endParaRPr lang="it-IT" altLang="it-IT"/>
          </a:p>
        </p:txBody>
      </p:sp>
      <p:sp>
        <p:nvSpPr>
          <p:cNvPr id="44035" name="Rectangle 2">
            <a:extLst>
              <a:ext uri="{FF2B5EF4-FFF2-40B4-BE49-F238E27FC236}">
                <a16:creationId xmlns:a16="http://schemas.microsoft.com/office/drawing/2014/main" id="{3732625E-5FCE-4391-B624-72CACE85298D}"/>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6" name="Rectangle 3">
            <a:extLst>
              <a:ext uri="{FF2B5EF4-FFF2-40B4-BE49-F238E27FC236}">
                <a16:creationId xmlns:a16="http://schemas.microsoft.com/office/drawing/2014/main" id="{49F6DD20-2BEF-45FC-8536-4B8714388F6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it-IT" altLang="it-IT"/>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8A5C7EE3-A1F8-438F-A18E-669203856F2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9B91E75-2C81-4D5E-A5A1-FFCB46928687}" type="slidenum">
              <a:rPr lang="it-IT" altLang="it-IT"/>
              <a:pPr fontAlgn="base">
                <a:spcBef>
                  <a:spcPct val="0"/>
                </a:spcBef>
                <a:spcAft>
                  <a:spcPct val="0"/>
                </a:spcAft>
              </a:pPr>
              <a:t>25</a:t>
            </a:fld>
            <a:endParaRPr lang="it-IT" altLang="it-IT"/>
          </a:p>
        </p:txBody>
      </p:sp>
      <p:sp>
        <p:nvSpPr>
          <p:cNvPr id="46083" name="Rectangle 2">
            <a:extLst>
              <a:ext uri="{FF2B5EF4-FFF2-40B4-BE49-F238E27FC236}">
                <a16:creationId xmlns:a16="http://schemas.microsoft.com/office/drawing/2014/main" id="{1C275BA2-5452-4502-88A9-6D099F711630}"/>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4" name="Rectangle 3">
            <a:extLst>
              <a:ext uri="{FF2B5EF4-FFF2-40B4-BE49-F238E27FC236}">
                <a16:creationId xmlns:a16="http://schemas.microsoft.com/office/drawing/2014/main" id="{0BE67A53-F9F8-4DF6-B2BC-47B950B06F8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it-IT" altLang="it-IT"/>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B75E9FE6-9EA1-40F2-834F-1D80F1F9A1F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455F5102-B740-4772-A025-11E88D8166A8}" type="slidenum">
              <a:rPr lang="it-IT" altLang="it-IT"/>
              <a:pPr fontAlgn="base">
                <a:spcBef>
                  <a:spcPct val="0"/>
                </a:spcBef>
                <a:spcAft>
                  <a:spcPct val="0"/>
                </a:spcAft>
              </a:pPr>
              <a:t>26</a:t>
            </a:fld>
            <a:endParaRPr lang="it-IT" altLang="it-IT"/>
          </a:p>
        </p:txBody>
      </p:sp>
      <p:sp>
        <p:nvSpPr>
          <p:cNvPr id="48131" name="Rectangle 2">
            <a:extLst>
              <a:ext uri="{FF2B5EF4-FFF2-40B4-BE49-F238E27FC236}">
                <a16:creationId xmlns:a16="http://schemas.microsoft.com/office/drawing/2014/main" id="{2912B3F1-8140-4E6B-89D5-5441BBBCBCE3}"/>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2" name="Rectangle 3">
            <a:extLst>
              <a:ext uri="{FF2B5EF4-FFF2-40B4-BE49-F238E27FC236}">
                <a16:creationId xmlns:a16="http://schemas.microsoft.com/office/drawing/2014/main" id="{00FE05BC-E12B-46C9-A586-8273E98029C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it-IT" altLang="it-IT"/>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E12A88F0-91AE-4550-B940-2AC8331EAD0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D80A2A4-6967-45B0-8CF0-212F1F0AF4E8}" type="slidenum">
              <a:rPr lang="it-IT" altLang="it-IT"/>
              <a:pPr fontAlgn="base">
                <a:spcBef>
                  <a:spcPct val="0"/>
                </a:spcBef>
                <a:spcAft>
                  <a:spcPct val="0"/>
                </a:spcAft>
              </a:pPr>
              <a:t>27</a:t>
            </a:fld>
            <a:endParaRPr lang="it-IT" altLang="it-IT"/>
          </a:p>
        </p:txBody>
      </p:sp>
      <p:sp>
        <p:nvSpPr>
          <p:cNvPr id="50179" name="Rectangle 2">
            <a:extLst>
              <a:ext uri="{FF2B5EF4-FFF2-40B4-BE49-F238E27FC236}">
                <a16:creationId xmlns:a16="http://schemas.microsoft.com/office/drawing/2014/main" id="{5BF9BF8C-7271-4290-A035-C5A371DF981B}"/>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80" name="Rectangle 3">
            <a:extLst>
              <a:ext uri="{FF2B5EF4-FFF2-40B4-BE49-F238E27FC236}">
                <a16:creationId xmlns:a16="http://schemas.microsoft.com/office/drawing/2014/main" id="{44E29B02-6309-42D9-A5FB-0211E45AE0B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it-IT" altLang="it-IT"/>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22532BBA-F485-4100-AC5C-64DBCE8FD14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4CADE30-2E48-41A1-94EF-199C272D90EB}" type="slidenum">
              <a:rPr lang="it-IT" altLang="it-IT"/>
              <a:pPr fontAlgn="base">
                <a:spcBef>
                  <a:spcPct val="0"/>
                </a:spcBef>
                <a:spcAft>
                  <a:spcPct val="0"/>
                </a:spcAft>
              </a:pPr>
              <a:t>28</a:t>
            </a:fld>
            <a:endParaRPr lang="it-IT" altLang="it-IT"/>
          </a:p>
        </p:txBody>
      </p:sp>
      <p:sp>
        <p:nvSpPr>
          <p:cNvPr id="52227" name="Rectangle 2">
            <a:extLst>
              <a:ext uri="{FF2B5EF4-FFF2-40B4-BE49-F238E27FC236}">
                <a16:creationId xmlns:a16="http://schemas.microsoft.com/office/drawing/2014/main" id="{DBC602AD-F76A-4197-A02A-4A01EE4E8E90}"/>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a:extLst>
              <a:ext uri="{FF2B5EF4-FFF2-40B4-BE49-F238E27FC236}">
                <a16:creationId xmlns:a16="http://schemas.microsoft.com/office/drawing/2014/main" id="{517C30A1-D140-4CB4-91D9-A2E19A2A5E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it-IT" altLang="it-IT"/>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8FF8DDE0-FB77-4195-8420-2DCC9D56F08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0DFCDA91-6B98-475E-BEDA-B4F52DB64068}" type="slidenum">
              <a:rPr lang="it-IT" altLang="it-IT"/>
              <a:pPr fontAlgn="base">
                <a:spcBef>
                  <a:spcPct val="0"/>
                </a:spcBef>
                <a:spcAft>
                  <a:spcPct val="0"/>
                </a:spcAft>
              </a:pPr>
              <a:t>29</a:t>
            </a:fld>
            <a:endParaRPr lang="it-IT" altLang="it-IT"/>
          </a:p>
        </p:txBody>
      </p:sp>
      <p:sp>
        <p:nvSpPr>
          <p:cNvPr id="54275" name="Rectangle 2">
            <a:extLst>
              <a:ext uri="{FF2B5EF4-FFF2-40B4-BE49-F238E27FC236}">
                <a16:creationId xmlns:a16="http://schemas.microsoft.com/office/drawing/2014/main" id="{F4CD4711-3599-4DC2-9465-DD0B8EFF2BBB}"/>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6" name="Rectangle 3">
            <a:extLst>
              <a:ext uri="{FF2B5EF4-FFF2-40B4-BE49-F238E27FC236}">
                <a16:creationId xmlns:a16="http://schemas.microsoft.com/office/drawing/2014/main" id="{42AA8D1E-5CBB-43D7-A8AD-FE9BA91ADED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it-IT" altLang="it-IT"/>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804E98D7-B2E8-41A2-B415-8CD5FEC22C0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F268EAF6-A449-4677-AC21-78AB9C93C3FF}" type="slidenum">
              <a:rPr lang="it-IT" altLang="it-IT"/>
              <a:pPr fontAlgn="base">
                <a:spcBef>
                  <a:spcPct val="0"/>
                </a:spcBef>
                <a:spcAft>
                  <a:spcPct val="0"/>
                </a:spcAft>
              </a:pPr>
              <a:t>30</a:t>
            </a:fld>
            <a:endParaRPr lang="it-IT" altLang="it-IT"/>
          </a:p>
        </p:txBody>
      </p:sp>
      <p:sp>
        <p:nvSpPr>
          <p:cNvPr id="56323" name="Rectangle 2">
            <a:extLst>
              <a:ext uri="{FF2B5EF4-FFF2-40B4-BE49-F238E27FC236}">
                <a16:creationId xmlns:a16="http://schemas.microsoft.com/office/drawing/2014/main" id="{8A73DE4E-3B66-403B-9D3B-5C478A83D2B0}"/>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4" name="Rectangle 3">
            <a:extLst>
              <a:ext uri="{FF2B5EF4-FFF2-40B4-BE49-F238E27FC236}">
                <a16:creationId xmlns:a16="http://schemas.microsoft.com/office/drawing/2014/main" id="{1FBA56DB-DEDD-44EA-9679-16FC6962CF8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it-IT" altLang="it-IT"/>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32102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20055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36038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92416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84356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33300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39211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97502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0860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92931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68250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93922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96899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96158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59986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7721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79EA"/>
        </a:solidFill>
        <a:effectLst/>
      </p:bgPr>
    </p:bg>
    <p:spTree>
      <p:nvGrpSpPr>
        <p:cNvPr id="1" name="Shape 83"/>
        <p:cNvGrpSpPr/>
        <p:nvPr/>
      </p:nvGrpSpPr>
      <p:grpSpPr>
        <a:xfrm>
          <a:off x="0" y="0"/>
          <a:ext cx="0" cy="0"/>
          <a:chOff x="0" y="0"/>
          <a:chExt cx="0" cy="0"/>
        </a:xfrm>
      </p:grpSpPr>
      <p:sp>
        <p:nvSpPr>
          <p:cNvPr id="84" name="Google Shape;84;p13"/>
          <p:cNvSpPr/>
          <p:nvPr/>
        </p:nvSpPr>
        <p:spPr>
          <a:xfrm>
            <a:off x="1028700" y="1251422"/>
            <a:ext cx="4059950" cy="1443525"/>
          </a:xfrm>
          <a:custGeom>
            <a:avLst/>
            <a:gdLst/>
            <a:ahLst/>
            <a:cxnLst/>
            <a:rect l="l" t="t" r="r" b="b"/>
            <a:pathLst>
              <a:path w="4059950" h="1443525" extrusionOk="0">
                <a:moveTo>
                  <a:pt x="0" y="0"/>
                </a:moveTo>
                <a:lnTo>
                  <a:pt x="4059950" y="0"/>
                </a:lnTo>
                <a:lnTo>
                  <a:pt x="4059950" y="1443525"/>
                </a:lnTo>
                <a:lnTo>
                  <a:pt x="0" y="1443525"/>
                </a:lnTo>
                <a:lnTo>
                  <a:pt x="0" y="0"/>
                </a:lnTo>
                <a:close/>
              </a:path>
            </a:pathLst>
          </a:custGeom>
          <a:blipFill rotWithShape="1">
            <a:blip r:embed="rId3">
              <a:alphaModFix/>
            </a:blip>
            <a:stretch>
              <a:fillRect b="-259"/>
            </a:stretch>
          </a:blipFill>
          <a:ln>
            <a:noFill/>
          </a:ln>
        </p:spPr>
      </p:sp>
      <p:pic>
        <p:nvPicPr>
          <p:cNvPr id="85" name="Google Shape;85;p13"/>
          <p:cNvPicPr preferRelativeResize="0"/>
          <p:nvPr/>
        </p:nvPicPr>
        <p:blipFill rotWithShape="1">
          <a:blip r:embed="rId4">
            <a:alphaModFix/>
          </a:blip>
          <a:srcRect/>
          <a:stretch/>
        </p:blipFill>
        <p:spPr>
          <a:xfrm>
            <a:off x="11651525" y="4573199"/>
            <a:ext cx="5607775" cy="4458181"/>
          </a:xfrm>
          <a:prstGeom prst="rect">
            <a:avLst/>
          </a:prstGeom>
          <a:noFill/>
          <a:ln>
            <a:noFill/>
          </a:ln>
        </p:spPr>
      </p:pic>
      <p:sp>
        <p:nvSpPr>
          <p:cNvPr id="86" name="Google Shape;86;p13"/>
          <p:cNvSpPr txBox="1"/>
          <p:nvPr/>
        </p:nvSpPr>
        <p:spPr>
          <a:xfrm>
            <a:off x="1028700" y="4802439"/>
            <a:ext cx="7248985" cy="1352484"/>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400" b="1" i="0" u="none" strike="noStrike" cap="none">
                <a:solidFill>
                  <a:srgbClr val="FFFFFF"/>
                </a:solidFill>
                <a:latin typeface="Poppins SemiBold"/>
                <a:ea typeface="Poppins SemiBold"/>
                <a:cs typeface="Poppins SemiBold"/>
                <a:sym typeface="Poppins SemiBold"/>
              </a:rPr>
              <a:t>Corso EOA</a:t>
            </a:r>
            <a:endParaRPr/>
          </a:p>
        </p:txBody>
      </p:sp>
      <p:sp>
        <p:nvSpPr>
          <p:cNvPr id="87" name="Google Shape;87;p13"/>
          <p:cNvSpPr txBox="1"/>
          <p:nvPr/>
        </p:nvSpPr>
        <p:spPr>
          <a:xfrm>
            <a:off x="5378118" y="1353569"/>
            <a:ext cx="4727972" cy="495328"/>
          </a:xfrm>
          <a:prstGeom prst="rect">
            <a:avLst/>
          </a:prstGeom>
          <a:noFill/>
          <a:ln>
            <a:noFill/>
          </a:ln>
        </p:spPr>
        <p:txBody>
          <a:bodyPr spcFirstLastPara="1" wrap="square" lIns="0" tIns="0" rIns="0" bIns="0" anchor="t" anchorCtr="0">
            <a:spAutoFit/>
          </a:bodyPr>
          <a:lstStyle/>
          <a:p>
            <a:pPr marL="0" marR="0" lvl="0" indent="0" algn="l" rtl="0">
              <a:lnSpc>
                <a:spcPct val="161030"/>
              </a:lnSpc>
              <a:spcBef>
                <a:spcPts val="0"/>
              </a:spcBef>
              <a:spcAft>
                <a:spcPts val="0"/>
              </a:spcAft>
              <a:buNone/>
            </a:pPr>
            <a:r>
              <a:rPr lang="en-US" sz="1999" b="1" i="0" u="none" strike="noStrike" cap="none" dirty="0">
                <a:solidFill>
                  <a:srgbClr val="FFFFFF"/>
                </a:solidFill>
                <a:latin typeface="Poppins"/>
                <a:ea typeface="Poppins"/>
                <a:cs typeface="Poppins"/>
                <a:sym typeface="Poppins"/>
              </a:rPr>
              <a:t>LAUREA TRIENNALE </a:t>
            </a:r>
            <a:r>
              <a:rPr lang="en-US" sz="1999" b="1" dirty="0">
                <a:solidFill>
                  <a:srgbClr val="FFFFFF"/>
                </a:solidFill>
                <a:latin typeface="Poppins"/>
                <a:ea typeface="Poppins"/>
                <a:cs typeface="Poppins"/>
                <a:sym typeface="Poppins"/>
              </a:rPr>
              <a:t>IN </a:t>
            </a:r>
            <a:r>
              <a:rPr lang="en-US" sz="1999" b="1" i="0" u="none" strike="noStrike" cap="none" dirty="0">
                <a:solidFill>
                  <a:srgbClr val="FFFFFF"/>
                </a:solidFill>
                <a:latin typeface="Poppins"/>
                <a:ea typeface="Poppins"/>
                <a:cs typeface="Poppins"/>
                <a:sym typeface="Poppins"/>
              </a:rPr>
              <a:t>INFORMATICA </a:t>
            </a:r>
            <a:endParaRPr dirty="0"/>
          </a:p>
        </p:txBody>
      </p:sp>
      <p:sp>
        <p:nvSpPr>
          <p:cNvPr id="88" name="Google Shape;88;p13"/>
          <p:cNvSpPr txBox="1"/>
          <p:nvPr/>
        </p:nvSpPr>
        <p:spPr>
          <a:xfrm>
            <a:off x="1031518" y="6294359"/>
            <a:ext cx="6710586" cy="886397"/>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2800" b="1" i="0" u="none" strike="noStrike" cap="none" dirty="0">
                <a:solidFill>
                  <a:srgbClr val="FFFFFF"/>
                </a:solidFill>
                <a:latin typeface="Poppins"/>
                <a:ea typeface="Poppins"/>
                <a:cs typeface="Poppins"/>
                <a:sym typeface="Poppins"/>
              </a:rPr>
              <a:t>Prof. Giuseppe </a:t>
            </a:r>
            <a:r>
              <a:rPr lang="en-US" sz="2800" b="1" i="0" u="none" strike="noStrike" cap="none" dirty="0" err="1">
                <a:solidFill>
                  <a:srgbClr val="FFFFFF"/>
                </a:solidFill>
                <a:latin typeface="Poppins"/>
                <a:ea typeface="Poppins"/>
                <a:cs typeface="Poppins"/>
                <a:sym typeface="Poppins"/>
              </a:rPr>
              <a:t>Piccirillo</a:t>
            </a:r>
            <a:endParaRPr sz="2000" dirty="0"/>
          </a:p>
          <a:p>
            <a:pPr marL="0" marR="0" lvl="0" indent="0" algn="l" rtl="0">
              <a:lnSpc>
                <a:spcPct val="120010"/>
              </a:lnSpc>
              <a:spcBef>
                <a:spcPts val="0"/>
              </a:spcBef>
              <a:spcAft>
                <a:spcPts val="0"/>
              </a:spcAft>
              <a:buNone/>
            </a:pPr>
            <a:endParaRPr sz="2000" b="1" i="0" u="none" strike="noStrike" cap="none" dirty="0">
              <a:solidFill>
                <a:srgbClr val="FFFFFF"/>
              </a:solidFill>
              <a:latin typeface="Poppins"/>
              <a:ea typeface="Poppins"/>
              <a:cs typeface="Poppins"/>
              <a:sym typeface="Poppins"/>
            </a:endParaRPr>
          </a:p>
        </p:txBody>
      </p:sp>
      <p:sp>
        <p:nvSpPr>
          <p:cNvPr id="89" name="Google Shape;89;p13"/>
          <p:cNvSpPr txBox="1"/>
          <p:nvPr/>
        </p:nvSpPr>
        <p:spPr>
          <a:xfrm>
            <a:off x="10451233" y="1439294"/>
            <a:ext cx="5541100" cy="738407"/>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1" i="0" u="none" strike="noStrike" cap="none" dirty="0">
                <a:solidFill>
                  <a:srgbClr val="FFFFFF"/>
                </a:solidFill>
                <a:latin typeface="Poppins"/>
                <a:ea typeface="Poppins"/>
                <a:cs typeface="Poppins"/>
                <a:sym typeface="Poppins"/>
              </a:rPr>
              <a:t>CORSO II SEMESTRE</a:t>
            </a:r>
            <a:endParaRPr dirty="0"/>
          </a:p>
          <a:p>
            <a:pPr marL="0" marR="0" lvl="0" indent="0" algn="l" rtl="0">
              <a:lnSpc>
                <a:spcPct val="120010"/>
              </a:lnSpc>
              <a:spcBef>
                <a:spcPts val="0"/>
              </a:spcBef>
              <a:spcAft>
                <a:spcPts val="0"/>
              </a:spcAft>
              <a:buNone/>
            </a:pPr>
            <a:r>
              <a:rPr lang="en-US" sz="1999" b="1" i="0" u="none" strike="noStrike" cap="none">
                <a:solidFill>
                  <a:srgbClr val="FFFFFF"/>
                </a:solidFill>
                <a:latin typeface="Poppins"/>
                <a:ea typeface="Poppins"/>
                <a:cs typeface="Poppins"/>
                <a:sym typeface="Poppins"/>
              </a:rPr>
              <a:t>2025 - 2026</a:t>
            </a:r>
            <a:endParaRPr dirty="0"/>
          </a:p>
        </p:txBody>
      </p:sp>
      <p:sp>
        <p:nvSpPr>
          <p:cNvPr id="91" name="Google Shape;91;p13"/>
          <p:cNvSpPr txBox="1"/>
          <p:nvPr/>
        </p:nvSpPr>
        <p:spPr>
          <a:xfrm>
            <a:off x="1028700" y="3680181"/>
            <a:ext cx="15187188" cy="553870"/>
          </a:xfrm>
          <a:prstGeom prst="rect">
            <a:avLst/>
          </a:prstGeom>
          <a:noFill/>
          <a:ln>
            <a:noFill/>
          </a:ln>
        </p:spPr>
        <p:txBody>
          <a:bodyPr spcFirstLastPara="1" wrap="square" lIns="0" tIns="0" rIns="0" bIns="0" anchor="t" anchorCtr="0">
            <a:spAutoFit/>
          </a:bodyPr>
          <a:lstStyle/>
          <a:p>
            <a:pPr marL="0" marR="0" lvl="0" indent="0" algn="l" rtl="0">
              <a:lnSpc>
                <a:spcPct val="120006"/>
              </a:lnSpc>
              <a:spcBef>
                <a:spcPts val="0"/>
              </a:spcBef>
              <a:spcAft>
                <a:spcPts val="0"/>
              </a:spcAft>
              <a:buNone/>
            </a:pPr>
            <a:r>
              <a:rPr lang="en-US" sz="2999" b="1" i="0" u="none" strike="noStrike" cap="none" dirty="0">
                <a:solidFill>
                  <a:srgbClr val="FFFFFF"/>
                </a:solidFill>
                <a:latin typeface="Poppins"/>
                <a:ea typeface="Poppins"/>
                <a:cs typeface="Poppins"/>
                <a:sym typeface="Poppins"/>
              </a:rPr>
              <a:t>LEZIONE. </a:t>
            </a:r>
            <a:r>
              <a:rPr lang="en-US" sz="2999" b="1" i="0" u="none" strike="noStrike" cap="none">
                <a:solidFill>
                  <a:srgbClr val="FFFFFF"/>
                </a:solidFill>
                <a:latin typeface="Poppins"/>
                <a:ea typeface="Poppins"/>
                <a:cs typeface="Poppins"/>
                <a:sym typeface="Poppins"/>
              </a:rPr>
              <a:t>7 </a:t>
            </a:r>
            <a:r>
              <a:rPr lang="en-US" sz="2999" b="1" i="0" u="none" strike="noStrike" cap="none" dirty="0">
                <a:solidFill>
                  <a:srgbClr val="FFFFFF"/>
                </a:solidFill>
                <a:latin typeface="Poppins"/>
                <a:ea typeface="Poppins"/>
                <a:cs typeface="Poppins"/>
                <a:sym typeface="Poppins"/>
              </a:rPr>
              <a:t>-  IL BILANCIO</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49"/>
        <p:cNvGrpSpPr/>
        <p:nvPr/>
      </p:nvGrpSpPr>
      <p:grpSpPr>
        <a:xfrm>
          <a:off x="0" y="0"/>
          <a:ext cx="0" cy="0"/>
          <a:chOff x="0" y="0"/>
          <a:chExt cx="0" cy="0"/>
        </a:xfrm>
      </p:grpSpPr>
      <p:sp>
        <p:nvSpPr>
          <p:cNvPr id="150" name="Google Shape;150;p18"/>
          <p:cNvSpPr txBox="1"/>
          <p:nvPr/>
        </p:nvSpPr>
        <p:spPr>
          <a:xfrm>
            <a:off x="1547719" y="2171926"/>
            <a:ext cx="9081910" cy="147732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b="1" i="0" u="none" strike="noStrike" cap="none" dirty="0">
                <a:solidFill>
                  <a:srgbClr val="0070C0"/>
                </a:solidFill>
                <a:latin typeface="Poppins SemiBold"/>
                <a:ea typeface="Poppins SemiBold"/>
                <a:cs typeface="Poppins SemiBold"/>
                <a:sym typeface="Poppins SemiBold"/>
              </a:rPr>
              <a:t>Il </a:t>
            </a:r>
            <a:r>
              <a:rPr lang="en-US" sz="8000" b="1" i="0" u="none" strike="noStrike" cap="none" dirty="0" err="1">
                <a:solidFill>
                  <a:srgbClr val="0070C0"/>
                </a:solidFill>
                <a:latin typeface="Poppins SemiBold"/>
                <a:ea typeface="Poppins SemiBold"/>
                <a:cs typeface="Poppins SemiBold"/>
                <a:sym typeface="Poppins SemiBold"/>
              </a:rPr>
              <a:t>bilancio</a:t>
            </a:r>
            <a:r>
              <a:rPr lang="en-US" sz="8000" b="1" i="0" u="none" strike="noStrike" cap="none" dirty="0">
                <a:solidFill>
                  <a:srgbClr val="0070C0"/>
                </a:solidFill>
                <a:latin typeface="Poppins SemiBold"/>
                <a:ea typeface="Poppins SemiBold"/>
                <a:cs typeface="Poppins SemiBold"/>
                <a:sym typeface="Poppins SemiBold"/>
              </a:rPr>
              <a:t> </a:t>
            </a:r>
            <a:endParaRPr sz="2400" dirty="0">
              <a:solidFill>
                <a:srgbClr val="0070C0"/>
              </a:solidFill>
            </a:endParaRPr>
          </a:p>
        </p:txBody>
      </p:sp>
      <p:sp>
        <p:nvSpPr>
          <p:cNvPr id="151" name="Google Shape;151;p18"/>
          <p:cNvSpPr txBox="1"/>
          <p:nvPr/>
        </p:nvSpPr>
        <p:spPr>
          <a:xfrm>
            <a:off x="1547719" y="3559909"/>
            <a:ext cx="15607078" cy="5251438"/>
          </a:xfrm>
          <a:prstGeom prst="rect">
            <a:avLst/>
          </a:prstGeom>
          <a:noFill/>
          <a:ln>
            <a:noFill/>
          </a:ln>
        </p:spPr>
        <p:txBody>
          <a:bodyPr spcFirstLastPara="1" wrap="square" lIns="0" tIns="0" rIns="0" bIns="0" anchor="t" anchorCtr="0">
            <a:spAutoFit/>
          </a:bodyPr>
          <a:lstStyle/>
          <a:p>
            <a:pPr marL="0" marR="0" lvl="0" indent="0" algn="just" rtl="0">
              <a:lnSpc>
                <a:spcPct val="365500"/>
              </a:lnSpc>
              <a:spcBef>
                <a:spcPts val="0"/>
              </a:spcBef>
              <a:spcAft>
                <a:spcPts val="0"/>
              </a:spcAft>
              <a:buNone/>
            </a:pPr>
            <a:endParaRPr sz="1800" b="0" i="0" u="none" strike="noStrike" cap="none" dirty="0">
              <a:solidFill>
                <a:srgbClr val="0070C0"/>
              </a:solidFill>
              <a:latin typeface="Calibri"/>
              <a:ea typeface="Calibri"/>
              <a:cs typeface="Calibri"/>
              <a:sym typeface="Calibri"/>
            </a:endParaRPr>
          </a:p>
          <a:p>
            <a:pPr marL="0" marR="0" lvl="0" indent="0" algn="just" rtl="0">
              <a:lnSpc>
                <a:spcPct val="140008"/>
              </a:lnSpc>
              <a:spcBef>
                <a:spcPts val="0"/>
              </a:spcBef>
              <a:spcAft>
                <a:spcPts val="0"/>
              </a:spcAft>
              <a:buNone/>
            </a:pPr>
            <a:r>
              <a:rPr lang="en-US" sz="4699" b="1" i="0" u="sng" strike="noStrike" cap="none" dirty="0">
                <a:solidFill>
                  <a:srgbClr val="0070C0"/>
                </a:solidFill>
                <a:latin typeface="Poppins"/>
                <a:ea typeface="Poppins"/>
                <a:cs typeface="Poppins"/>
                <a:sym typeface="Poppins"/>
              </a:rPr>
              <a:t>Che </a:t>
            </a:r>
            <a:r>
              <a:rPr lang="en-US" sz="4699" b="1" i="0" u="sng" strike="noStrike" cap="none" dirty="0" err="1">
                <a:solidFill>
                  <a:srgbClr val="0070C0"/>
                </a:solidFill>
                <a:latin typeface="Poppins"/>
                <a:ea typeface="Poppins"/>
                <a:cs typeface="Poppins"/>
                <a:sym typeface="Poppins"/>
              </a:rPr>
              <a:t>cos’è</a:t>
            </a:r>
            <a:r>
              <a:rPr lang="en-US" sz="4699" b="1" i="0" u="sng" strike="noStrike" cap="none" dirty="0">
                <a:solidFill>
                  <a:srgbClr val="0070C0"/>
                </a:solidFill>
                <a:latin typeface="Poppins"/>
                <a:ea typeface="Poppins"/>
                <a:cs typeface="Poppins"/>
                <a:sym typeface="Poppins"/>
              </a:rPr>
              <a:t> </a:t>
            </a:r>
            <a:r>
              <a:rPr lang="en-US" sz="4699" b="1" i="0" u="sng" strike="noStrike" cap="none" dirty="0" err="1">
                <a:solidFill>
                  <a:srgbClr val="0070C0"/>
                </a:solidFill>
                <a:latin typeface="Poppins"/>
                <a:ea typeface="Poppins"/>
                <a:cs typeface="Poppins"/>
                <a:sym typeface="Poppins"/>
              </a:rPr>
              <a:t>il</a:t>
            </a:r>
            <a:r>
              <a:rPr lang="en-US" sz="4699" b="1" i="0" u="sng" strike="noStrike" cap="none" dirty="0">
                <a:solidFill>
                  <a:srgbClr val="0070C0"/>
                </a:solidFill>
                <a:latin typeface="Poppins"/>
                <a:ea typeface="Poppins"/>
                <a:cs typeface="Poppins"/>
                <a:sym typeface="Poppins"/>
              </a:rPr>
              <a:t> </a:t>
            </a:r>
            <a:r>
              <a:rPr lang="en-US" sz="4699" b="1" i="0" u="sng" strike="noStrike" cap="none" dirty="0" err="1">
                <a:solidFill>
                  <a:srgbClr val="0070C0"/>
                </a:solidFill>
                <a:latin typeface="Poppins"/>
                <a:ea typeface="Poppins"/>
                <a:cs typeface="Poppins"/>
                <a:sym typeface="Poppins"/>
              </a:rPr>
              <a:t>Bilancio</a:t>
            </a:r>
            <a:r>
              <a:rPr lang="en-US" sz="4699" b="1" i="0" u="sng" strike="noStrike" cap="none" dirty="0">
                <a:solidFill>
                  <a:srgbClr val="0070C0"/>
                </a:solidFill>
                <a:latin typeface="Poppins"/>
                <a:ea typeface="Poppins"/>
                <a:cs typeface="Poppins"/>
                <a:sym typeface="Poppins"/>
              </a:rPr>
              <a:t>? </a:t>
            </a:r>
            <a:endParaRPr dirty="0">
              <a:solidFill>
                <a:srgbClr val="0070C0"/>
              </a:solidFill>
            </a:endParaRPr>
          </a:p>
          <a:p>
            <a:pPr marL="0" marR="0" lvl="0" indent="0" algn="just" rtl="0">
              <a:lnSpc>
                <a:spcPct val="140008"/>
              </a:lnSpc>
              <a:spcBef>
                <a:spcPts val="0"/>
              </a:spcBef>
              <a:spcAft>
                <a:spcPts val="0"/>
              </a:spcAft>
              <a:buNone/>
            </a:pPr>
            <a:endParaRPr sz="4699" b="1" i="0" u="sng" strike="noStrike" cap="none" dirty="0">
              <a:solidFill>
                <a:srgbClr val="0070C0"/>
              </a:solidFill>
              <a:latin typeface="Poppins"/>
              <a:ea typeface="Poppins"/>
              <a:cs typeface="Poppins"/>
              <a:sym typeface="Poppins"/>
            </a:endParaRPr>
          </a:p>
          <a:p>
            <a:pPr marL="0" marR="0" lvl="0" indent="0" algn="just" rtl="0">
              <a:lnSpc>
                <a:spcPct val="140008"/>
              </a:lnSpc>
              <a:spcBef>
                <a:spcPts val="0"/>
              </a:spcBef>
              <a:spcAft>
                <a:spcPts val="0"/>
              </a:spcAft>
              <a:buNone/>
            </a:pPr>
            <a:r>
              <a:rPr lang="en-US" sz="4699" b="1" i="0" u="sng" strike="noStrike" cap="none" dirty="0">
                <a:solidFill>
                  <a:srgbClr val="0070C0"/>
                </a:solidFill>
                <a:latin typeface="Poppins"/>
                <a:ea typeface="Poppins"/>
                <a:cs typeface="Poppins"/>
                <a:sym typeface="Poppins"/>
              </a:rPr>
              <a:t>Di </a:t>
            </a:r>
            <a:r>
              <a:rPr lang="en-US" sz="4699" b="1" i="0" u="sng" strike="noStrike" cap="none" dirty="0" err="1">
                <a:solidFill>
                  <a:srgbClr val="0070C0"/>
                </a:solidFill>
                <a:latin typeface="Poppins"/>
                <a:ea typeface="Poppins"/>
                <a:cs typeface="Poppins"/>
                <a:sym typeface="Poppins"/>
              </a:rPr>
              <a:t>quali</a:t>
            </a:r>
            <a:r>
              <a:rPr lang="en-US" sz="4699" b="1" i="0" u="sng" strike="noStrike" cap="none" dirty="0">
                <a:solidFill>
                  <a:srgbClr val="0070C0"/>
                </a:solidFill>
                <a:latin typeface="Poppins"/>
                <a:ea typeface="Poppins"/>
                <a:cs typeface="Poppins"/>
                <a:sym typeface="Poppins"/>
              </a:rPr>
              <a:t> </a:t>
            </a:r>
            <a:r>
              <a:rPr lang="en-US" sz="4699" b="1" i="0" u="sng" strike="noStrike" cap="none" dirty="0" err="1">
                <a:solidFill>
                  <a:srgbClr val="0070C0"/>
                </a:solidFill>
                <a:latin typeface="Poppins"/>
                <a:ea typeface="Poppins"/>
                <a:cs typeface="Poppins"/>
                <a:sym typeface="Poppins"/>
              </a:rPr>
              <a:t>documenti</a:t>
            </a:r>
            <a:r>
              <a:rPr lang="en-US" sz="4699" b="1" i="0" u="sng" strike="noStrike" cap="none" dirty="0">
                <a:solidFill>
                  <a:srgbClr val="0070C0"/>
                </a:solidFill>
                <a:latin typeface="Poppins"/>
                <a:ea typeface="Poppins"/>
                <a:cs typeface="Poppins"/>
                <a:sym typeface="Poppins"/>
              </a:rPr>
              <a:t> </a:t>
            </a:r>
            <a:r>
              <a:rPr lang="en-US" sz="4699" b="1" i="0" u="sng" strike="noStrike" cap="none" dirty="0" err="1">
                <a:solidFill>
                  <a:srgbClr val="0070C0"/>
                </a:solidFill>
                <a:latin typeface="Poppins"/>
                <a:ea typeface="Poppins"/>
                <a:cs typeface="Poppins"/>
                <a:sym typeface="Poppins"/>
              </a:rPr>
              <a:t>si</a:t>
            </a:r>
            <a:r>
              <a:rPr lang="en-US" sz="4699" b="1" i="0" u="sng" strike="noStrike" cap="none" dirty="0">
                <a:solidFill>
                  <a:srgbClr val="0070C0"/>
                </a:solidFill>
                <a:latin typeface="Poppins"/>
                <a:ea typeface="Poppins"/>
                <a:cs typeface="Poppins"/>
                <a:sym typeface="Poppins"/>
              </a:rPr>
              <a:t> </a:t>
            </a:r>
            <a:r>
              <a:rPr lang="en-US" sz="4699" b="1" i="0" u="sng" strike="noStrike" cap="none" dirty="0" err="1">
                <a:solidFill>
                  <a:srgbClr val="0070C0"/>
                </a:solidFill>
                <a:latin typeface="Poppins"/>
                <a:ea typeface="Poppins"/>
                <a:cs typeface="Poppins"/>
                <a:sym typeface="Poppins"/>
              </a:rPr>
              <a:t>compone</a:t>
            </a:r>
            <a:r>
              <a:rPr lang="en-US" sz="4699" b="1" i="0" u="sng" strike="noStrike" cap="none" dirty="0">
                <a:solidFill>
                  <a:srgbClr val="0070C0"/>
                </a:solidFill>
                <a:latin typeface="Poppins"/>
                <a:ea typeface="Poppins"/>
                <a:cs typeface="Poppins"/>
                <a:sym typeface="Poppins"/>
              </a:rPr>
              <a:t>? </a:t>
            </a:r>
            <a:endParaRPr dirty="0">
              <a:solidFill>
                <a:srgbClr val="0070C0"/>
              </a:solidFill>
            </a:endParaRPr>
          </a:p>
          <a:p>
            <a:pPr marL="0" marR="0" lvl="0" indent="0" algn="just" rtl="0">
              <a:lnSpc>
                <a:spcPct val="83400"/>
              </a:lnSpc>
              <a:spcBef>
                <a:spcPts val="0"/>
              </a:spcBef>
              <a:spcAft>
                <a:spcPts val="0"/>
              </a:spcAft>
              <a:buNone/>
            </a:pPr>
            <a:endParaRPr sz="4699" b="1" i="0" u="sng" strike="noStrike" cap="none" dirty="0">
              <a:solidFill>
                <a:srgbClr val="0070C0"/>
              </a:solidFill>
              <a:latin typeface="Poppins"/>
              <a:ea typeface="Poppins"/>
              <a:cs typeface="Poppins"/>
              <a:sym typeface="Poppins"/>
            </a:endParaRPr>
          </a:p>
          <a:p>
            <a:pPr marL="0" marR="0" lvl="0" indent="0" algn="just" rtl="0">
              <a:lnSpc>
                <a:spcPct val="83400"/>
              </a:lnSpc>
              <a:spcBef>
                <a:spcPts val="0"/>
              </a:spcBef>
              <a:spcAft>
                <a:spcPts val="0"/>
              </a:spcAft>
              <a:buNone/>
            </a:pPr>
            <a:endParaRPr sz="4699" b="1" i="0" u="sng" strike="noStrike" cap="none" dirty="0">
              <a:solidFill>
                <a:srgbClr val="0070C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26"/>
        <p:cNvGrpSpPr/>
        <p:nvPr/>
      </p:nvGrpSpPr>
      <p:grpSpPr>
        <a:xfrm>
          <a:off x="0" y="0"/>
          <a:ext cx="0" cy="0"/>
          <a:chOff x="0" y="0"/>
          <a:chExt cx="0" cy="0"/>
        </a:xfrm>
      </p:grpSpPr>
      <p:sp>
        <p:nvSpPr>
          <p:cNvPr id="130" name="Google Shape;130;p17"/>
          <p:cNvSpPr txBox="1"/>
          <p:nvPr/>
        </p:nvSpPr>
        <p:spPr>
          <a:xfrm>
            <a:off x="1101436" y="2417830"/>
            <a:ext cx="16026448" cy="3230693"/>
          </a:xfrm>
          <a:prstGeom prst="rect">
            <a:avLst/>
          </a:prstGeom>
          <a:noFill/>
          <a:ln>
            <a:noFill/>
          </a:ln>
        </p:spPr>
        <p:txBody>
          <a:bodyPr spcFirstLastPara="1" wrap="square" lIns="0" tIns="0" rIns="0" bIns="0" anchor="t" anchorCtr="0">
            <a:spAutoFit/>
          </a:bodyPr>
          <a:lstStyle/>
          <a:p>
            <a:pPr marL="0" marR="0" lvl="0" indent="0" algn="just" rtl="0">
              <a:lnSpc>
                <a:spcPct val="150017"/>
              </a:lnSpc>
              <a:spcBef>
                <a:spcPts val="0"/>
              </a:spcBef>
              <a:spcAft>
                <a:spcPts val="0"/>
              </a:spcAft>
              <a:buNone/>
            </a:pPr>
            <a:r>
              <a:rPr lang="en-US" sz="2799" dirty="0">
                <a:solidFill>
                  <a:srgbClr val="0070C0"/>
                </a:solidFill>
                <a:latin typeface="Poppins"/>
                <a:ea typeface="Poppins"/>
                <a:cs typeface="Poppins"/>
                <a:sym typeface="Poppins"/>
              </a:rPr>
              <a:t>I</a:t>
            </a:r>
            <a:r>
              <a:rPr lang="en-US" sz="2799" i="0" u="none" strike="noStrike" cap="none" dirty="0">
                <a:solidFill>
                  <a:srgbClr val="0070C0"/>
                </a:solidFill>
                <a:latin typeface="Poppins"/>
                <a:ea typeface="Poppins"/>
                <a:cs typeface="Poppins"/>
                <a:sym typeface="Poppins"/>
              </a:rPr>
              <a:t>l </a:t>
            </a:r>
            <a:r>
              <a:rPr lang="en-US" sz="2799" i="0" u="none" strike="noStrike" cap="none" dirty="0" err="1">
                <a:solidFill>
                  <a:srgbClr val="0070C0"/>
                </a:solidFill>
                <a:latin typeface="Poppins"/>
                <a:ea typeface="Poppins"/>
                <a:cs typeface="Poppins"/>
                <a:sym typeface="Poppins"/>
              </a:rPr>
              <a:t>bilancio</a:t>
            </a:r>
            <a:r>
              <a:rPr lang="en-US" sz="2799" i="0" u="none" strike="noStrike" cap="none" dirty="0">
                <a:solidFill>
                  <a:srgbClr val="0070C0"/>
                </a:solidFill>
                <a:latin typeface="Poppins"/>
                <a:ea typeface="Poppins"/>
                <a:cs typeface="Poppins"/>
                <a:sym typeface="Poppins"/>
              </a:rPr>
              <a:t> di </a:t>
            </a:r>
            <a:r>
              <a:rPr lang="en-US" sz="2799" i="0" u="none" strike="noStrike" cap="none" dirty="0" err="1">
                <a:solidFill>
                  <a:srgbClr val="0070C0"/>
                </a:solidFill>
                <a:latin typeface="Poppins"/>
                <a:ea typeface="Poppins"/>
                <a:cs typeface="Poppins"/>
                <a:sym typeface="Poppins"/>
              </a:rPr>
              <a:t>esercizio</a:t>
            </a:r>
            <a:r>
              <a:rPr lang="en-US" sz="2799" i="0" u="none" strike="noStrike" cap="none" dirty="0">
                <a:solidFill>
                  <a:srgbClr val="0070C0"/>
                </a:solidFill>
                <a:latin typeface="Poppins"/>
                <a:ea typeface="Poppins"/>
                <a:cs typeface="Poppins"/>
                <a:sym typeface="Poppins"/>
              </a:rPr>
              <a:t> è un </a:t>
            </a:r>
            <a:r>
              <a:rPr lang="en-US" sz="2799" i="0" u="none" strike="noStrike" cap="none" dirty="0" err="1">
                <a:solidFill>
                  <a:srgbClr val="0070C0"/>
                </a:solidFill>
                <a:latin typeface="Poppins"/>
                <a:ea typeface="Poppins"/>
                <a:cs typeface="Poppins"/>
                <a:sym typeface="Poppins"/>
              </a:rPr>
              <a:t>insieme</a:t>
            </a:r>
            <a:r>
              <a:rPr lang="en-US" sz="2799" i="0" u="none" strike="noStrike" cap="none" dirty="0">
                <a:solidFill>
                  <a:srgbClr val="0070C0"/>
                </a:solidFill>
                <a:latin typeface="Poppins"/>
                <a:ea typeface="Poppins"/>
                <a:cs typeface="Poppins"/>
                <a:sym typeface="Poppins"/>
              </a:rPr>
              <a:t> di </a:t>
            </a:r>
            <a:r>
              <a:rPr lang="en-US" sz="2799" i="0" u="none" strike="noStrike" cap="none" dirty="0" err="1">
                <a:solidFill>
                  <a:srgbClr val="0070C0"/>
                </a:solidFill>
                <a:latin typeface="Poppins"/>
                <a:ea typeface="Poppins"/>
                <a:cs typeface="Poppins"/>
                <a:sym typeface="Poppins"/>
              </a:rPr>
              <a:t>documenti</a:t>
            </a:r>
            <a:r>
              <a:rPr lang="en-US" sz="2799" i="0" u="none" strike="noStrike" cap="none" dirty="0">
                <a:solidFill>
                  <a:srgbClr val="0070C0"/>
                </a:solidFill>
                <a:latin typeface="Poppins"/>
                <a:ea typeface="Poppins"/>
                <a:cs typeface="Poppins"/>
                <a:sym typeface="Poppins"/>
              </a:rPr>
              <a:t> e </a:t>
            </a:r>
            <a:r>
              <a:rPr lang="en-US" sz="2799" i="0" u="none" strike="noStrike" cap="none" dirty="0" err="1">
                <a:solidFill>
                  <a:srgbClr val="0070C0"/>
                </a:solidFill>
                <a:latin typeface="Poppins"/>
                <a:ea typeface="Poppins"/>
                <a:cs typeface="Poppins"/>
                <a:sym typeface="Poppins"/>
              </a:rPr>
              <a:t>fornisce</a:t>
            </a:r>
            <a:r>
              <a:rPr lang="en-US" sz="2799" i="0" u="none" strike="noStrike" cap="none" dirty="0">
                <a:solidFill>
                  <a:srgbClr val="0070C0"/>
                </a:solidFill>
                <a:latin typeface="Poppins"/>
                <a:ea typeface="Poppins"/>
                <a:cs typeface="Poppins"/>
                <a:sym typeface="Poppins"/>
              </a:rPr>
              <a:t> </a:t>
            </a:r>
            <a:r>
              <a:rPr lang="en-US" sz="2799" i="0" u="none" strike="noStrike" cap="none" dirty="0" err="1">
                <a:solidFill>
                  <a:srgbClr val="0070C0"/>
                </a:solidFill>
                <a:latin typeface="Poppins"/>
                <a:ea typeface="Poppins"/>
                <a:cs typeface="Poppins"/>
                <a:sym typeface="Poppins"/>
              </a:rPr>
              <a:t>informazioni</a:t>
            </a:r>
            <a:r>
              <a:rPr lang="en-US" sz="2799" i="0" u="none" strike="noStrike" cap="none" dirty="0">
                <a:solidFill>
                  <a:srgbClr val="0070C0"/>
                </a:solidFill>
                <a:latin typeface="Poppins"/>
                <a:ea typeface="Poppins"/>
                <a:cs typeface="Poppins"/>
                <a:sym typeface="Poppins"/>
              </a:rPr>
              <a:t> </a:t>
            </a:r>
            <a:r>
              <a:rPr lang="en-US" sz="2799" i="0" u="none" strike="noStrike" cap="none" dirty="0" err="1">
                <a:solidFill>
                  <a:srgbClr val="0070C0"/>
                </a:solidFill>
                <a:latin typeface="Poppins"/>
                <a:ea typeface="Poppins"/>
                <a:cs typeface="Poppins"/>
                <a:sym typeface="Poppins"/>
              </a:rPr>
              <a:t>sulla</a:t>
            </a:r>
            <a:r>
              <a:rPr lang="en-US" sz="2799" i="0" u="none" strike="noStrike" cap="none" dirty="0">
                <a:solidFill>
                  <a:srgbClr val="0070C0"/>
                </a:solidFill>
                <a:latin typeface="Poppins"/>
                <a:ea typeface="Poppins"/>
                <a:cs typeface="Poppins"/>
                <a:sym typeface="Poppins"/>
              </a:rPr>
              <a:t> </a:t>
            </a:r>
            <a:r>
              <a:rPr lang="en-US" sz="2799" i="0" u="none" strike="noStrike" cap="none" dirty="0" err="1">
                <a:solidFill>
                  <a:srgbClr val="0070C0"/>
                </a:solidFill>
                <a:latin typeface="Poppins"/>
                <a:ea typeface="Poppins"/>
                <a:cs typeface="Poppins"/>
                <a:sym typeface="Poppins"/>
              </a:rPr>
              <a:t>situazione</a:t>
            </a:r>
            <a:r>
              <a:rPr lang="en-US" sz="2799" i="0" u="none" strike="noStrike" cap="none" dirty="0">
                <a:solidFill>
                  <a:srgbClr val="0070C0"/>
                </a:solidFill>
                <a:latin typeface="Poppins"/>
                <a:ea typeface="Poppins"/>
                <a:cs typeface="Poppins"/>
                <a:sym typeface="Poppins"/>
              </a:rPr>
              <a:t> </a:t>
            </a:r>
            <a:r>
              <a:rPr lang="en-US" sz="2799" i="0" u="none" strike="noStrike" cap="none" dirty="0" err="1">
                <a:solidFill>
                  <a:srgbClr val="0070C0"/>
                </a:solidFill>
                <a:latin typeface="Poppins"/>
                <a:ea typeface="Poppins"/>
                <a:cs typeface="Poppins"/>
                <a:sym typeface="Poppins"/>
              </a:rPr>
              <a:t>economica</a:t>
            </a:r>
            <a:r>
              <a:rPr lang="en-US" sz="2799" i="0" u="none" strike="noStrike" cap="none" dirty="0">
                <a:solidFill>
                  <a:srgbClr val="0070C0"/>
                </a:solidFill>
                <a:latin typeface="Poppins"/>
                <a:ea typeface="Poppins"/>
                <a:cs typeface="Poppins"/>
                <a:sym typeface="Poppins"/>
              </a:rPr>
              <a:t>, </a:t>
            </a:r>
            <a:r>
              <a:rPr lang="en-US" sz="2799" i="0" u="none" strike="noStrike" cap="none" dirty="0" err="1">
                <a:solidFill>
                  <a:srgbClr val="0070C0"/>
                </a:solidFill>
                <a:latin typeface="Poppins"/>
                <a:ea typeface="Poppins"/>
                <a:cs typeface="Poppins"/>
                <a:sym typeface="Poppins"/>
              </a:rPr>
              <a:t>patrimoniale</a:t>
            </a:r>
            <a:r>
              <a:rPr lang="en-US" sz="2799" i="0" u="none" strike="noStrike" cap="none" dirty="0">
                <a:solidFill>
                  <a:srgbClr val="0070C0"/>
                </a:solidFill>
                <a:latin typeface="Poppins"/>
                <a:ea typeface="Poppins"/>
                <a:cs typeface="Poppins"/>
                <a:sym typeface="Poppins"/>
              </a:rPr>
              <a:t> e </a:t>
            </a:r>
            <a:r>
              <a:rPr lang="en-US" sz="2799" i="0" u="none" strike="noStrike" cap="none" dirty="0" err="1">
                <a:solidFill>
                  <a:srgbClr val="0070C0"/>
                </a:solidFill>
                <a:latin typeface="Poppins"/>
                <a:ea typeface="Poppins"/>
                <a:cs typeface="Poppins"/>
                <a:sym typeface="Poppins"/>
              </a:rPr>
              <a:t>finanziaria</a:t>
            </a:r>
            <a:r>
              <a:rPr lang="en-US" sz="2799" i="0" u="none" strike="noStrike" cap="none" dirty="0">
                <a:solidFill>
                  <a:srgbClr val="0070C0"/>
                </a:solidFill>
                <a:latin typeface="Poppins"/>
                <a:ea typeface="Poppins"/>
                <a:cs typeface="Poppins"/>
                <a:sym typeface="Poppins"/>
              </a:rPr>
              <a:t> </a:t>
            </a:r>
            <a:r>
              <a:rPr lang="en-US" sz="2799" i="0" u="none" strike="noStrike" cap="none" dirty="0" err="1">
                <a:solidFill>
                  <a:srgbClr val="0070C0"/>
                </a:solidFill>
                <a:latin typeface="Poppins"/>
                <a:ea typeface="Poppins"/>
                <a:cs typeface="Poppins"/>
                <a:sym typeface="Poppins"/>
              </a:rPr>
              <a:t>dell'azienda</a:t>
            </a:r>
            <a:r>
              <a:rPr lang="en-US" sz="2799" i="0" u="none" strike="noStrike" cap="none" dirty="0">
                <a:solidFill>
                  <a:srgbClr val="0070C0"/>
                </a:solidFill>
                <a:latin typeface="Poppins"/>
                <a:ea typeface="Poppins"/>
                <a:cs typeface="Poppins"/>
                <a:sym typeface="Poppins"/>
              </a:rPr>
              <a:t> e </a:t>
            </a:r>
            <a:r>
              <a:rPr lang="en-US" sz="2799" i="0" u="none" strike="noStrike" cap="none" dirty="0" err="1">
                <a:solidFill>
                  <a:srgbClr val="0070C0"/>
                </a:solidFill>
                <a:latin typeface="Poppins"/>
                <a:ea typeface="Poppins"/>
                <a:cs typeface="Poppins"/>
                <a:sym typeface="Poppins"/>
              </a:rPr>
              <a:t>permette</a:t>
            </a:r>
            <a:r>
              <a:rPr lang="en-US" sz="2799" i="0" u="none" strike="noStrike" cap="none" dirty="0">
                <a:solidFill>
                  <a:srgbClr val="0070C0"/>
                </a:solidFill>
                <a:latin typeface="Poppins"/>
                <a:ea typeface="Poppins"/>
                <a:cs typeface="Poppins"/>
                <a:sym typeface="Poppins"/>
              </a:rPr>
              <a:t> di </a:t>
            </a:r>
            <a:r>
              <a:rPr lang="en-US" sz="2799" i="0" u="none" strike="noStrike" cap="none" dirty="0" err="1">
                <a:solidFill>
                  <a:srgbClr val="0070C0"/>
                </a:solidFill>
                <a:latin typeface="Poppins"/>
                <a:ea typeface="Poppins"/>
                <a:cs typeface="Poppins"/>
                <a:sym typeface="Poppins"/>
              </a:rPr>
              <a:t>determinare</a:t>
            </a:r>
            <a:r>
              <a:rPr lang="en-US" sz="2799" i="0" u="none" strike="noStrike" cap="none" dirty="0">
                <a:solidFill>
                  <a:srgbClr val="0070C0"/>
                </a:solidFill>
                <a:latin typeface="Poppins"/>
                <a:ea typeface="Poppins"/>
                <a:cs typeface="Poppins"/>
                <a:sym typeface="Poppins"/>
              </a:rPr>
              <a:t> </a:t>
            </a:r>
            <a:r>
              <a:rPr lang="en-US" sz="2799" i="0" u="none" strike="noStrike" cap="none" dirty="0" err="1">
                <a:solidFill>
                  <a:srgbClr val="0070C0"/>
                </a:solidFill>
                <a:latin typeface="Poppins"/>
                <a:ea typeface="Poppins"/>
                <a:cs typeface="Poppins"/>
                <a:sym typeface="Poppins"/>
              </a:rPr>
              <a:t>il</a:t>
            </a:r>
            <a:r>
              <a:rPr lang="en-US" sz="2799" i="0" u="none" strike="noStrike" cap="none" dirty="0">
                <a:solidFill>
                  <a:srgbClr val="0070C0"/>
                </a:solidFill>
                <a:latin typeface="Poppins"/>
                <a:ea typeface="Poppins"/>
                <a:cs typeface="Poppins"/>
                <a:sym typeface="Poppins"/>
              </a:rPr>
              <a:t> </a:t>
            </a:r>
            <a:r>
              <a:rPr lang="en-US" sz="2799" i="0" u="none" strike="noStrike" cap="none" dirty="0" err="1">
                <a:solidFill>
                  <a:srgbClr val="0070C0"/>
                </a:solidFill>
                <a:latin typeface="Poppins"/>
                <a:ea typeface="Poppins"/>
                <a:cs typeface="Poppins"/>
                <a:sym typeface="Poppins"/>
              </a:rPr>
              <a:t>risultato</a:t>
            </a:r>
            <a:r>
              <a:rPr lang="en-US" sz="2799" i="0" u="none" strike="noStrike" cap="none" dirty="0">
                <a:solidFill>
                  <a:srgbClr val="0070C0"/>
                </a:solidFill>
                <a:latin typeface="Poppins"/>
                <a:ea typeface="Poppins"/>
                <a:cs typeface="Poppins"/>
                <a:sym typeface="Poppins"/>
              </a:rPr>
              <a:t> </a:t>
            </a:r>
            <a:r>
              <a:rPr lang="en-US" sz="2799" i="0" u="none" strike="noStrike" cap="none" dirty="0" err="1">
                <a:solidFill>
                  <a:srgbClr val="0070C0"/>
                </a:solidFill>
                <a:latin typeface="Poppins"/>
                <a:ea typeface="Poppins"/>
                <a:cs typeface="Poppins"/>
                <a:sym typeface="Poppins"/>
              </a:rPr>
              <a:t>economico</a:t>
            </a:r>
            <a:r>
              <a:rPr lang="en-US" sz="2799" i="0" u="none" strike="noStrike" cap="none" dirty="0">
                <a:solidFill>
                  <a:srgbClr val="0070C0"/>
                </a:solidFill>
                <a:latin typeface="Poppins"/>
                <a:ea typeface="Poppins"/>
                <a:cs typeface="Poppins"/>
                <a:sym typeface="Poppins"/>
              </a:rPr>
              <a:t> </a:t>
            </a:r>
            <a:r>
              <a:rPr lang="en-US" sz="2799" i="0" u="none" strike="noStrike" cap="none" dirty="0" err="1">
                <a:solidFill>
                  <a:srgbClr val="0070C0"/>
                </a:solidFill>
                <a:latin typeface="Poppins"/>
                <a:ea typeface="Poppins"/>
                <a:cs typeface="Poppins"/>
                <a:sym typeface="Poppins"/>
              </a:rPr>
              <a:t>dell'esercizio</a:t>
            </a:r>
            <a:r>
              <a:rPr lang="en-US" sz="2799" dirty="0">
                <a:solidFill>
                  <a:srgbClr val="0070C0"/>
                </a:solidFill>
                <a:latin typeface="Poppins"/>
                <a:ea typeface="Poppins"/>
                <a:cs typeface="Poppins"/>
                <a:sym typeface="Poppins"/>
              </a:rPr>
              <a:t>. </a:t>
            </a:r>
            <a:r>
              <a:rPr lang="it-IT" sz="2799" i="0" u="none" strike="noStrike" cap="none" dirty="0">
                <a:solidFill>
                  <a:srgbClr val="0070C0"/>
                </a:solidFill>
                <a:latin typeface="Poppins"/>
                <a:ea typeface="Poppins"/>
                <a:cs typeface="Poppins"/>
                <a:sym typeface="Poppins"/>
              </a:rPr>
              <a:t>Il bilancio è un documento di dimensioni variabili: si può dire che all’aumentare delle dimensioni dell’impresa, aumenta il numero di pagine del relativo bilancio.</a:t>
            </a:r>
            <a:endParaRPr dirty="0">
              <a:solidFill>
                <a:srgbClr val="0070C0"/>
              </a:solidFill>
            </a:endParaRPr>
          </a:p>
        </p:txBody>
      </p:sp>
      <p:sp>
        <p:nvSpPr>
          <p:cNvPr id="131" name="Google Shape;131;p17"/>
          <p:cNvSpPr txBox="1"/>
          <p:nvPr/>
        </p:nvSpPr>
        <p:spPr>
          <a:xfrm>
            <a:off x="1101436" y="1508369"/>
            <a:ext cx="4758306" cy="738664"/>
          </a:xfrm>
          <a:prstGeom prst="rect">
            <a:avLst/>
          </a:prstGeom>
          <a:noFill/>
          <a:ln>
            <a:noFill/>
          </a:ln>
        </p:spPr>
        <p:txBody>
          <a:bodyPr spcFirstLastPara="1" wrap="square" lIns="0" tIns="0" rIns="0" bIns="0" anchor="t" anchorCtr="0">
            <a:spAutoFit/>
          </a:bodyPr>
          <a:lstStyle/>
          <a:p>
            <a:pPr marL="0" marR="0" lvl="0" indent="0" algn="l" rtl="0">
              <a:lnSpc>
                <a:spcPct val="119972"/>
              </a:lnSpc>
              <a:spcBef>
                <a:spcPts val="0"/>
              </a:spcBef>
              <a:spcAft>
                <a:spcPts val="0"/>
              </a:spcAft>
              <a:buNone/>
            </a:pPr>
            <a:r>
              <a:rPr lang="en-US" sz="4000" b="1" i="0" u="none" strike="noStrike" cap="none" dirty="0">
                <a:solidFill>
                  <a:srgbClr val="0070C0"/>
                </a:solidFill>
                <a:latin typeface="Poppins SemiBold"/>
                <a:ea typeface="Poppins SemiBold"/>
                <a:cs typeface="Poppins SemiBold"/>
                <a:sym typeface="Poppins SemiBold"/>
              </a:rPr>
              <a:t>Il </a:t>
            </a:r>
            <a:r>
              <a:rPr lang="en-US" sz="4000" b="1" i="0" u="none" strike="noStrike" cap="none" dirty="0" err="1">
                <a:solidFill>
                  <a:srgbClr val="0070C0"/>
                </a:solidFill>
                <a:latin typeface="Poppins SemiBold"/>
                <a:ea typeface="Poppins SemiBold"/>
                <a:cs typeface="Poppins SemiBold"/>
                <a:sym typeface="Poppins SemiBold"/>
              </a:rPr>
              <a:t>bilancio</a:t>
            </a:r>
            <a:r>
              <a:rPr lang="en-US" sz="4000" b="1" i="0" u="none" strike="noStrike" cap="none" dirty="0">
                <a:solidFill>
                  <a:srgbClr val="0070C0"/>
                </a:solidFill>
                <a:latin typeface="Poppins SemiBold"/>
                <a:ea typeface="Poppins SemiBold"/>
                <a:cs typeface="Poppins SemiBold"/>
                <a:sym typeface="Poppins SemiBold"/>
              </a:rPr>
              <a:t> </a:t>
            </a:r>
            <a:endParaRPr sz="2000" dirty="0">
              <a:solidFill>
                <a:srgbClr val="0070C0"/>
              </a:solidFill>
            </a:endParaRPr>
          </a:p>
        </p:txBody>
      </p:sp>
      <p:sp>
        <p:nvSpPr>
          <p:cNvPr id="132" name="Google Shape;132;p17"/>
          <p:cNvSpPr txBox="1"/>
          <p:nvPr/>
        </p:nvSpPr>
        <p:spPr>
          <a:xfrm>
            <a:off x="1101436" y="808324"/>
            <a:ext cx="3379776" cy="332399"/>
          </a:xfrm>
          <a:prstGeom prst="rect">
            <a:avLst/>
          </a:prstGeom>
          <a:noFill/>
          <a:ln>
            <a:noFill/>
          </a:ln>
        </p:spPr>
        <p:txBody>
          <a:bodyPr spcFirstLastPara="1" wrap="square" lIns="0" tIns="0" rIns="0" bIns="0" anchor="t" anchorCtr="0">
            <a:spAutoFit/>
          </a:bodyPr>
          <a:lstStyle/>
          <a:p>
            <a:pPr marL="0" marR="0" lvl="0" indent="0" algn="l" rtl="0">
              <a:lnSpc>
                <a:spcPct val="120057"/>
              </a:lnSpc>
              <a:spcBef>
                <a:spcPts val="0"/>
              </a:spcBef>
              <a:spcAft>
                <a:spcPts val="0"/>
              </a:spcAft>
              <a:buNone/>
            </a:pPr>
            <a:r>
              <a:rPr lang="en-US" sz="1800" b="0" i="0" u="none" strike="noStrike" cap="none" dirty="0">
                <a:solidFill>
                  <a:srgbClr val="0070C0"/>
                </a:solidFill>
                <a:latin typeface="Poppins"/>
                <a:ea typeface="Poppins"/>
                <a:cs typeface="Poppins"/>
                <a:sym typeface="Poppins"/>
              </a:rPr>
              <a:t>DEFINIZIONE</a:t>
            </a:r>
            <a:endParaRPr sz="3200" dirty="0">
              <a:solidFill>
                <a:srgbClr val="0070C0"/>
              </a:solidFill>
            </a:endParaRPr>
          </a:p>
        </p:txBody>
      </p:sp>
      <p:sp>
        <p:nvSpPr>
          <p:cNvPr id="133" name="Google Shape;133;p17"/>
          <p:cNvSpPr txBox="1"/>
          <p:nvPr/>
        </p:nvSpPr>
        <p:spPr>
          <a:xfrm>
            <a:off x="5185216" y="6296870"/>
            <a:ext cx="8321777" cy="738664"/>
          </a:xfrm>
          <a:prstGeom prst="rect">
            <a:avLst/>
          </a:prstGeom>
          <a:noFill/>
          <a:ln>
            <a:noFill/>
          </a:ln>
        </p:spPr>
        <p:txBody>
          <a:bodyPr spcFirstLastPara="1" wrap="square" lIns="0" tIns="0" rIns="0" bIns="0" anchor="t" anchorCtr="0">
            <a:spAutoFit/>
          </a:bodyPr>
          <a:lstStyle/>
          <a:p>
            <a:pPr marL="0" marR="0" lvl="0" indent="0" algn="just" rtl="0">
              <a:lnSpc>
                <a:spcPct val="150017"/>
              </a:lnSpc>
              <a:spcBef>
                <a:spcPts val="0"/>
              </a:spcBef>
              <a:spcAft>
                <a:spcPts val="0"/>
              </a:spcAft>
              <a:buNone/>
            </a:pPr>
            <a:r>
              <a:rPr lang="en-US" sz="3200" b="1" i="0" u="none" strike="noStrike" cap="none" dirty="0">
                <a:solidFill>
                  <a:srgbClr val="0070C0"/>
                </a:solidFill>
                <a:latin typeface="Poppins"/>
                <a:ea typeface="Poppins"/>
                <a:cs typeface="Poppins"/>
                <a:sym typeface="Poppins"/>
              </a:rPr>
              <a:t>È </a:t>
            </a:r>
            <a:r>
              <a:rPr lang="en-US" sz="3200" b="1" i="0" u="none" strike="noStrike" cap="none" dirty="0" err="1">
                <a:solidFill>
                  <a:srgbClr val="0070C0"/>
                </a:solidFill>
                <a:latin typeface="Poppins"/>
                <a:ea typeface="Poppins"/>
                <a:cs typeface="Poppins"/>
                <a:sym typeface="Poppins"/>
              </a:rPr>
              <a:t>costituto</a:t>
            </a:r>
            <a:r>
              <a:rPr lang="en-US" sz="3200" b="1" i="0" u="none" strike="noStrike" cap="none" dirty="0">
                <a:solidFill>
                  <a:srgbClr val="0070C0"/>
                </a:solidFill>
                <a:latin typeface="Poppins"/>
                <a:ea typeface="Poppins"/>
                <a:cs typeface="Poppins"/>
                <a:sym typeface="Poppins"/>
              </a:rPr>
              <a:t> </a:t>
            </a:r>
            <a:r>
              <a:rPr lang="en-US" sz="3200" b="1" i="0" u="none" strike="noStrike" cap="none" dirty="0" err="1">
                <a:solidFill>
                  <a:srgbClr val="0070C0"/>
                </a:solidFill>
                <a:latin typeface="Poppins"/>
                <a:ea typeface="Poppins"/>
                <a:cs typeface="Poppins"/>
                <a:sym typeface="Poppins"/>
              </a:rPr>
              <a:t>dai</a:t>
            </a:r>
            <a:r>
              <a:rPr lang="en-US" sz="3200" b="1" i="0" u="none" strike="noStrike" cap="none" dirty="0">
                <a:solidFill>
                  <a:srgbClr val="0070C0"/>
                </a:solidFill>
                <a:latin typeface="Poppins"/>
                <a:ea typeface="Poppins"/>
                <a:cs typeface="Poppins"/>
                <a:sym typeface="Poppins"/>
              </a:rPr>
              <a:t> </a:t>
            </a:r>
            <a:r>
              <a:rPr lang="en-US" sz="3200" b="1" i="0" u="none" strike="noStrike" cap="none" dirty="0" err="1">
                <a:solidFill>
                  <a:srgbClr val="0070C0"/>
                </a:solidFill>
                <a:latin typeface="Poppins"/>
                <a:ea typeface="Poppins"/>
                <a:cs typeface="Poppins"/>
                <a:sym typeface="Poppins"/>
              </a:rPr>
              <a:t>seguenti</a:t>
            </a:r>
            <a:r>
              <a:rPr lang="en-US" sz="3200" b="1" i="0" u="none" strike="noStrike" cap="none" dirty="0">
                <a:solidFill>
                  <a:srgbClr val="0070C0"/>
                </a:solidFill>
                <a:latin typeface="Poppins"/>
                <a:ea typeface="Poppins"/>
                <a:cs typeface="Poppins"/>
                <a:sym typeface="Poppins"/>
              </a:rPr>
              <a:t> </a:t>
            </a:r>
            <a:r>
              <a:rPr lang="en-US" sz="3200" b="1" i="0" u="none" strike="noStrike" cap="none" dirty="0" err="1">
                <a:solidFill>
                  <a:srgbClr val="0070C0"/>
                </a:solidFill>
                <a:latin typeface="Poppins"/>
                <a:ea typeface="Poppins"/>
                <a:cs typeface="Poppins"/>
                <a:sym typeface="Poppins"/>
              </a:rPr>
              <a:t>documenti</a:t>
            </a:r>
            <a:r>
              <a:rPr lang="en-US" sz="3200" b="1" i="0" u="none" strike="noStrike" cap="none" dirty="0">
                <a:solidFill>
                  <a:srgbClr val="0070C0"/>
                </a:solidFill>
                <a:latin typeface="Poppins"/>
                <a:ea typeface="Poppins"/>
                <a:cs typeface="Poppins"/>
                <a:sym typeface="Poppins"/>
              </a:rPr>
              <a:t>:</a:t>
            </a:r>
            <a:endParaRPr dirty="0">
              <a:solidFill>
                <a:srgbClr val="0070C0"/>
              </a:solidFill>
            </a:endParaRPr>
          </a:p>
        </p:txBody>
      </p:sp>
      <p:sp>
        <p:nvSpPr>
          <p:cNvPr id="134" name="Google Shape;134;p17"/>
          <p:cNvSpPr txBox="1"/>
          <p:nvPr/>
        </p:nvSpPr>
        <p:spPr>
          <a:xfrm>
            <a:off x="6527242" y="6992487"/>
            <a:ext cx="5233516" cy="2215415"/>
          </a:xfrm>
          <a:prstGeom prst="rect">
            <a:avLst/>
          </a:prstGeom>
          <a:noFill/>
          <a:ln>
            <a:noFill/>
          </a:ln>
        </p:spPr>
        <p:txBody>
          <a:bodyPr spcFirstLastPara="1" wrap="square" lIns="0" tIns="0" rIns="0" bIns="0" anchor="t" anchorCtr="0">
            <a:spAutoFit/>
          </a:bodyPr>
          <a:lstStyle/>
          <a:p>
            <a:pPr marL="457200" marR="0" lvl="0" indent="-457200" algn="just" rtl="0">
              <a:lnSpc>
                <a:spcPct val="150015"/>
              </a:lnSpc>
              <a:spcBef>
                <a:spcPts val="0"/>
              </a:spcBef>
              <a:spcAft>
                <a:spcPts val="0"/>
              </a:spcAft>
              <a:buClr>
                <a:srgbClr val="0070C0"/>
              </a:buClr>
              <a:buFont typeface="Arial" panose="020B0604020202020204" pitchFamily="34" charset="0"/>
              <a:buChar char="•"/>
            </a:pPr>
            <a:r>
              <a:rPr lang="en-US" sz="3199" b="1" i="0" u="none" strike="noStrike" cap="none" dirty="0" err="1">
                <a:solidFill>
                  <a:srgbClr val="0070C0"/>
                </a:solidFill>
                <a:latin typeface="Poppins"/>
                <a:ea typeface="Poppins"/>
                <a:cs typeface="Poppins"/>
                <a:sym typeface="Poppins"/>
              </a:rPr>
              <a:t>Stato</a:t>
            </a:r>
            <a:r>
              <a:rPr lang="en-US" sz="3199" b="1" i="0" u="none" strike="noStrike" cap="none" dirty="0">
                <a:solidFill>
                  <a:srgbClr val="0070C0"/>
                </a:solidFill>
                <a:latin typeface="Poppins"/>
                <a:ea typeface="Poppins"/>
                <a:cs typeface="Poppins"/>
                <a:sym typeface="Poppins"/>
              </a:rPr>
              <a:t> </a:t>
            </a:r>
            <a:r>
              <a:rPr lang="en-US" sz="3199" b="1" i="0" u="none" strike="noStrike" cap="none" dirty="0" err="1">
                <a:solidFill>
                  <a:srgbClr val="0070C0"/>
                </a:solidFill>
                <a:latin typeface="Poppins"/>
                <a:ea typeface="Poppins"/>
                <a:cs typeface="Poppins"/>
                <a:sym typeface="Poppins"/>
              </a:rPr>
              <a:t>Patrimoniale</a:t>
            </a:r>
            <a:endParaRPr lang="en-US" sz="3199" b="1" i="0" u="none" strike="noStrike" cap="none" dirty="0">
              <a:solidFill>
                <a:srgbClr val="0070C0"/>
              </a:solidFill>
              <a:latin typeface="Poppins"/>
              <a:ea typeface="Poppins"/>
              <a:cs typeface="Poppins"/>
              <a:sym typeface="Poppins"/>
            </a:endParaRPr>
          </a:p>
          <a:p>
            <a:pPr marL="457200" marR="0" lvl="0" indent="-457200" algn="just" rtl="0">
              <a:lnSpc>
                <a:spcPct val="150015"/>
              </a:lnSpc>
              <a:spcBef>
                <a:spcPts val="0"/>
              </a:spcBef>
              <a:spcAft>
                <a:spcPts val="0"/>
              </a:spcAft>
              <a:buClr>
                <a:srgbClr val="0070C0"/>
              </a:buClr>
              <a:buFont typeface="Arial" panose="020B0604020202020204" pitchFamily="34" charset="0"/>
              <a:buChar char="•"/>
            </a:pPr>
            <a:r>
              <a:rPr lang="en-US" sz="3199" b="1" dirty="0" err="1">
                <a:solidFill>
                  <a:srgbClr val="0070C0"/>
                </a:solidFill>
                <a:latin typeface="Poppins"/>
                <a:cs typeface="Poppins"/>
                <a:sym typeface="Poppins"/>
              </a:rPr>
              <a:t>Conto</a:t>
            </a:r>
            <a:r>
              <a:rPr lang="en-US" sz="3199" b="1" dirty="0">
                <a:solidFill>
                  <a:srgbClr val="0070C0"/>
                </a:solidFill>
                <a:latin typeface="Poppins"/>
                <a:cs typeface="Poppins"/>
                <a:sym typeface="Poppins"/>
              </a:rPr>
              <a:t> </a:t>
            </a:r>
            <a:r>
              <a:rPr lang="en-US" sz="3199" b="1" dirty="0" err="1">
                <a:solidFill>
                  <a:srgbClr val="0070C0"/>
                </a:solidFill>
                <a:latin typeface="Poppins"/>
                <a:cs typeface="Poppins"/>
                <a:sym typeface="Poppins"/>
              </a:rPr>
              <a:t>Economico</a:t>
            </a:r>
            <a:endParaRPr lang="en-US" sz="3199" b="1" dirty="0">
              <a:solidFill>
                <a:srgbClr val="0070C0"/>
              </a:solidFill>
              <a:latin typeface="Poppins"/>
              <a:cs typeface="Poppins"/>
              <a:sym typeface="Poppins"/>
            </a:endParaRPr>
          </a:p>
          <a:p>
            <a:pPr marL="457200" marR="0" lvl="0" indent="-457200" algn="just" rtl="0">
              <a:lnSpc>
                <a:spcPct val="150015"/>
              </a:lnSpc>
              <a:spcBef>
                <a:spcPts val="0"/>
              </a:spcBef>
              <a:spcAft>
                <a:spcPts val="0"/>
              </a:spcAft>
              <a:buClr>
                <a:srgbClr val="0070C0"/>
              </a:buClr>
              <a:buFont typeface="Arial" panose="020B0604020202020204" pitchFamily="34" charset="0"/>
              <a:buChar char="•"/>
            </a:pPr>
            <a:r>
              <a:rPr lang="en-US" sz="3199" b="1" dirty="0">
                <a:solidFill>
                  <a:srgbClr val="0070C0"/>
                </a:solidFill>
                <a:latin typeface="Poppins"/>
                <a:cs typeface="Poppins"/>
                <a:sym typeface="Poppins"/>
              </a:rPr>
              <a:t>Nota </a:t>
            </a:r>
            <a:r>
              <a:rPr lang="en-US" sz="3199" b="1" dirty="0" err="1">
                <a:solidFill>
                  <a:srgbClr val="0070C0"/>
                </a:solidFill>
                <a:latin typeface="Poppins"/>
                <a:cs typeface="Poppins"/>
                <a:sym typeface="Poppins"/>
              </a:rPr>
              <a:t>Integrativa</a:t>
            </a:r>
            <a:endParaRPr dirty="0">
              <a:solidFill>
                <a:srgbClr val="0070C0"/>
              </a:solidFill>
            </a:endParaRPr>
          </a:p>
        </p:txBody>
      </p:sp>
    </p:spTree>
    <p:extLst>
      <p:ext uri="{BB962C8B-B14F-4D97-AF65-F5344CB8AC3E}">
        <p14:creationId xmlns:p14="http://schemas.microsoft.com/office/powerpoint/2010/main" val="2603597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56"/>
        <p:cNvGrpSpPr/>
        <p:nvPr/>
      </p:nvGrpSpPr>
      <p:grpSpPr>
        <a:xfrm>
          <a:off x="0" y="0"/>
          <a:ext cx="0" cy="0"/>
          <a:chOff x="0" y="0"/>
          <a:chExt cx="0" cy="0"/>
        </a:xfrm>
      </p:grpSpPr>
      <p:sp>
        <p:nvSpPr>
          <p:cNvPr id="157" name="Google Shape;157;p19"/>
          <p:cNvSpPr txBox="1"/>
          <p:nvPr/>
        </p:nvSpPr>
        <p:spPr>
          <a:xfrm>
            <a:off x="1149237" y="1505259"/>
            <a:ext cx="14084886" cy="147732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b="1" i="0" u="none" strike="noStrike" cap="none" dirty="0" err="1">
                <a:solidFill>
                  <a:srgbClr val="0070C0"/>
                </a:solidFill>
                <a:latin typeface="Open Sans"/>
                <a:ea typeface="Open Sans"/>
                <a:cs typeface="Open Sans"/>
                <a:sym typeface="Open Sans"/>
              </a:rPr>
              <a:t>Perchè</a:t>
            </a:r>
            <a:r>
              <a:rPr lang="en-US" sz="8000" b="1" i="0" u="none" strike="noStrike" cap="none" dirty="0">
                <a:solidFill>
                  <a:srgbClr val="0070C0"/>
                </a:solidFill>
                <a:latin typeface="Open Sans"/>
                <a:ea typeface="Open Sans"/>
                <a:cs typeface="Open Sans"/>
                <a:sym typeface="Open Sans"/>
              </a:rPr>
              <a:t> </a:t>
            </a:r>
            <a:r>
              <a:rPr lang="en-US" sz="8000" b="1" i="0" u="none" strike="noStrike" cap="none" dirty="0" err="1">
                <a:solidFill>
                  <a:srgbClr val="0070C0"/>
                </a:solidFill>
                <a:latin typeface="Open Sans"/>
                <a:ea typeface="Open Sans"/>
                <a:cs typeface="Open Sans"/>
                <a:sym typeface="Open Sans"/>
              </a:rPr>
              <a:t>leggere</a:t>
            </a:r>
            <a:r>
              <a:rPr lang="en-US" sz="8000" b="1" i="0" u="none" strike="noStrike" cap="none" dirty="0">
                <a:solidFill>
                  <a:srgbClr val="0070C0"/>
                </a:solidFill>
                <a:latin typeface="Open Sans"/>
                <a:ea typeface="Open Sans"/>
                <a:cs typeface="Open Sans"/>
                <a:sym typeface="Open Sans"/>
              </a:rPr>
              <a:t> un </a:t>
            </a:r>
            <a:r>
              <a:rPr lang="en-US" sz="8000" b="1" i="0" u="none" strike="noStrike" cap="none" dirty="0" err="1">
                <a:solidFill>
                  <a:srgbClr val="0070C0"/>
                </a:solidFill>
                <a:latin typeface="Open Sans"/>
                <a:ea typeface="Open Sans"/>
                <a:cs typeface="Open Sans"/>
                <a:sym typeface="Open Sans"/>
              </a:rPr>
              <a:t>bilancio</a:t>
            </a:r>
            <a:endParaRPr dirty="0">
              <a:solidFill>
                <a:srgbClr val="0070C0"/>
              </a:solidFill>
            </a:endParaRPr>
          </a:p>
        </p:txBody>
      </p:sp>
      <p:sp>
        <p:nvSpPr>
          <p:cNvPr id="158" name="Google Shape;158;p19"/>
          <p:cNvSpPr txBox="1"/>
          <p:nvPr/>
        </p:nvSpPr>
        <p:spPr>
          <a:xfrm>
            <a:off x="941418" y="3935276"/>
            <a:ext cx="15989526" cy="4430828"/>
          </a:xfrm>
          <a:prstGeom prst="rect">
            <a:avLst/>
          </a:prstGeom>
          <a:noFill/>
          <a:ln>
            <a:noFill/>
          </a:ln>
        </p:spPr>
        <p:txBody>
          <a:bodyPr spcFirstLastPara="1" wrap="square" lIns="0" tIns="0" rIns="0" bIns="0" anchor="t" anchorCtr="0">
            <a:spAutoFit/>
          </a:bodyPr>
          <a:lstStyle/>
          <a:p>
            <a:pPr marL="690877" marR="0" lvl="1" indent="-345439" algn="just" rtl="0">
              <a:lnSpc>
                <a:spcPct val="150015"/>
              </a:lnSpc>
              <a:spcBef>
                <a:spcPts val="0"/>
              </a:spcBef>
              <a:spcAft>
                <a:spcPts val="0"/>
              </a:spcAft>
              <a:buClr>
                <a:srgbClr val="0070C0"/>
              </a:buClr>
              <a:buSzPts val="3199"/>
              <a:buFont typeface="Arial"/>
              <a:buChar char="•"/>
            </a:pPr>
            <a:r>
              <a:rPr lang="en-US" sz="3199" b="0" i="0" u="none" strike="noStrike" cap="none" dirty="0">
                <a:solidFill>
                  <a:srgbClr val="0070C0"/>
                </a:solidFill>
                <a:latin typeface="Open Sans"/>
                <a:ea typeface="Open Sans"/>
                <a:cs typeface="Open Sans"/>
                <a:sym typeface="Open Sans"/>
              </a:rPr>
              <a:t>È un </a:t>
            </a:r>
            <a:r>
              <a:rPr lang="en-US" sz="3199" b="0" i="0" u="none" strike="noStrike" cap="none" dirty="0" err="1">
                <a:solidFill>
                  <a:srgbClr val="0070C0"/>
                </a:solidFill>
                <a:latin typeface="Open Sans"/>
                <a:ea typeface="Open Sans"/>
                <a:cs typeface="Open Sans"/>
                <a:sym typeface="Open Sans"/>
              </a:rPr>
              <a:t>documento</a:t>
            </a:r>
            <a:r>
              <a:rPr lang="en-US" sz="3199" b="0" i="0" u="none" strike="noStrike" cap="none" dirty="0">
                <a:solidFill>
                  <a:srgbClr val="0070C0"/>
                </a:solidFill>
                <a:latin typeface="Open Sans"/>
                <a:ea typeface="Open Sans"/>
                <a:cs typeface="Open Sans"/>
                <a:sym typeface="Open Sans"/>
              </a:rPr>
              <a:t> </a:t>
            </a:r>
            <a:r>
              <a:rPr lang="en-US" sz="3199" b="0" i="0" u="none" strike="noStrike" cap="none" dirty="0" err="1">
                <a:solidFill>
                  <a:srgbClr val="0070C0"/>
                </a:solidFill>
                <a:latin typeface="Open Sans"/>
                <a:ea typeface="Open Sans"/>
                <a:cs typeface="Open Sans"/>
                <a:sym typeface="Open Sans"/>
              </a:rPr>
              <a:t>informativo</a:t>
            </a:r>
            <a:r>
              <a:rPr lang="en-US" sz="3199" b="0" i="0" u="none" strike="noStrike" cap="none" dirty="0">
                <a:solidFill>
                  <a:srgbClr val="0070C0"/>
                </a:solidFill>
                <a:latin typeface="Open Sans"/>
                <a:ea typeface="Open Sans"/>
                <a:cs typeface="Open Sans"/>
                <a:sym typeface="Open Sans"/>
              </a:rPr>
              <a:t> </a:t>
            </a:r>
            <a:r>
              <a:rPr lang="en-US" sz="3199" b="0" i="0" u="none" strike="noStrike" cap="none" dirty="0" err="1">
                <a:solidFill>
                  <a:srgbClr val="0070C0"/>
                </a:solidFill>
                <a:latin typeface="Open Sans"/>
                <a:ea typeface="Open Sans"/>
                <a:cs typeface="Open Sans"/>
                <a:sym typeface="Open Sans"/>
              </a:rPr>
              <a:t>sulla</a:t>
            </a:r>
            <a:r>
              <a:rPr lang="en-US" sz="3199" b="0" i="0" u="none" strike="noStrike" cap="none" dirty="0">
                <a:solidFill>
                  <a:srgbClr val="0070C0"/>
                </a:solidFill>
                <a:latin typeface="Open Sans"/>
                <a:ea typeface="Open Sans"/>
                <a:cs typeface="Open Sans"/>
                <a:sym typeface="Open Sans"/>
              </a:rPr>
              <a:t> </a:t>
            </a:r>
            <a:r>
              <a:rPr lang="en-US" sz="3199" b="0" i="0" u="none" strike="noStrike" cap="none" dirty="0" err="1">
                <a:solidFill>
                  <a:srgbClr val="0070C0"/>
                </a:solidFill>
                <a:latin typeface="Open Sans"/>
                <a:ea typeface="Open Sans"/>
                <a:cs typeface="Open Sans"/>
                <a:sym typeface="Open Sans"/>
              </a:rPr>
              <a:t>gestione</a:t>
            </a:r>
            <a:r>
              <a:rPr lang="en-US" sz="3199" b="0" i="0" u="none" strike="noStrike" cap="none" dirty="0">
                <a:solidFill>
                  <a:srgbClr val="0070C0"/>
                </a:solidFill>
                <a:latin typeface="Open Sans"/>
                <a:ea typeface="Open Sans"/>
                <a:cs typeface="Open Sans"/>
                <a:sym typeface="Open Sans"/>
              </a:rPr>
              <a:t> </a:t>
            </a:r>
            <a:r>
              <a:rPr lang="en-US" sz="3199" b="0" i="0" u="none" strike="noStrike" cap="none" dirty="0" err="1">
                <a:solidFill>
                  <a:srgbClr val="0070C0"/>
                </a:solidFill>
                <a:latin typeface="Open Sans"/>
                <a:ea typeface="Open Sans"/>
                <a:cs typeface="Open Sans"/>
                <a:sym typeface="Open Sans"/>
              </a:rPr>
              <a:t>aziendale</a:t>
            </a:r>
            <a:endParaRPr dirty="0">
              <a:solidFill>
                <a:srgbClr val="0070C0"/>
              </a:solidFill>
            </a:endParaRPr>
          </a:p>
          <a:p>
            <a:pPr marL="690877" marR="0" lvl="1" indent="-345439" algn="just" rtl="0">
              <a:lnSpc>
                <a:spcPct val="150015"/>
              </a:lnSpc>
              <a:spcBef>
                <a:spcPts val="0"/>
              </a:spcBef>
              <a:spcAft>
                <a:spcPts val="0"/>
              </a:spcAft>
              <a:buClr>
                <a:srgbClr val="0070C0"/>
              </a:buClr>
              <a:buSzPts val="3199"/>
              <a:buFont typeface="Arial"/>
              <a:buChar char="•"/>
            </a:pPr>
            <a:r>
              <a:rPr lang="en-US" sz="3199" b="0" i="0" u="none" strike="noStrike" cap="none" dirty="0">
                <a:solidFill>
                  <a:srgbClr val="0070C0"/>
                </a:solidFill>
                <a:latin typeface="Open Sans"/>
                <a:ea typeface="Open Sans"/>
                <a:cs typeface="Open Sans"/>
                <a:sym typeface="Open Sans"/>
              </a:rPr>
              <a:t>Per </a:t>
            </a:r>
            <a:r>
              <a:rPr lang="en-US" sz="3199" b="0" i="0" u="none" strike="noStrike" cap="none" dirty="0" err="1">
                <a:solidFill>
                  <a:srgbClr val="0070C0"/>
                </a:solidFill>
                <a:latin typeface="Open Sans"/>
                <a:ea typeface="Open Sans"/>
                <a:cs typeface="Open Sans"/>
                <a:sym typeface="Open Sans"/>
              </a:rPr>
              <a:t>conoscere</a:t>
            </a:r>
            <a:r>
              <a:rPr lang="en-US" sz="3199" b="0" i="0" u="none" strike="noStrike" cap="none" dirty="0">
                <a:solidFill>
                  <a:srgbClr val="0070C0"/>
                </a:solidFill>
                <a:latin typeface="Open Sans"/>
                <a:ea typeface="Open Sans"/>
                <a:cs typeface="Open Sans"/>
                <a:sym typeface="Open Sans"/>
              </a:rPr>
              <a:t> la </a:t>
            </a:r>
            <a:r>
              <a:rPr lang="en-US" sz="3199" b="0" i="0" u="none" strike="noStrike" cap="none" dirty="0" err="1">
                <a:solidFill>
                  <a:srgbClr val="0070C0"/>
                </a:solidFill>
                <a:latin typeface="Open Sans"/>
                <a:ea typeface="Open Sans"/>
                <a:cs typeface="Open Sans"/>
                <a:sym typeface="Open Sans"/>
              </a:rPr>
              <a:t>situazione</a:t>
            </a:r>
            <a:r>
              <a:rPr lang="en-US" sz="3199" b="0" i="0" u="none" strike="noStrike" cap="none" dirty="0">
                <a:solidFill>
                  <a:srgbClr val="0070C0"/>
                </a:solidFill>
                <a:latin typeface="Open Sans"/>
                <a:ea typeface="Open Sans"/>
                <a:cs typeface="Open Sans"/>
                <a:sym typeface="Open Sans"/>
              </a:rPr>
              <a:t> </a:t>
            </a:r>
            <a:r>
              <a:rPr lang="en-US" sz="3199" b="0" i="0" u="none" strike="noStrike" cap="none" dirty="0" err="1">
                <a:solidFill>
                  <a:srgbClr val="0070C0"/>
                </a:solidFill>
                <a:latin typeface="Open Sans"/>
                <a:ea typeface="Open Sans"/>
                <a:cs typeface="Open Sans"/>
                <a:sym typeface="Open Sans"/>
              </a:rPr>
              <a:t>economica</a:t>
            </a:r>
            <a:r>
              <a:rPr lang="en-US" sz="3199" b="0" i="0" u="none" strike="noStrike" cap="none" dirty="0">
                <a:solidFill>
                  <a:srgbClr val="0070C0"/>
                </a:solidFill>
                <a:latin typeface="Open Sans"/>
                <a:ea typeface="Open Sans"/>
                <a:cs typeface="Open Sans"/>
                <a:sym typeface="Open Sans"/>
              </a:rPr>
              <a:t>, </a:t>
            </a:r>
            <a:r>
              <a:rPr lang="en-US" sz="3199" b="0" i="0" u="none" strike="noStrike" cap="none" dirty="0" err="1">
                <a:solidFill>
                  <a:srgbClr val="0070C0"/>
                </a:solidFill>
                <a:latin typeface="Open Sans"/>
                <a:ea typeface="Open Sans"/>
                <a:cs typeface="Open Sans"/>
                <a:sym typeface="Open Sans"/>
              </a:rPr>
              <a:t>finanziaria</a:t>
            </a:r>
            <a:r>
              <a:rPr lang="en-US" sz="3199" b="0" i="0" u="none" strike="noStrike" cap="none" dirty="0">
                <a:solidFill>
                  <a:srgbClr val="0070C0"/>
                </a:solidFill>
                <a:latin typeface="Open Sans"/>
                <a:ea typeface="Open Sans"/>
                <a:cs typeface="Open Sans"/>
                <a:sym typeface="Open Sans"/>
              </a:rPr>
              <a:t> e </a:t>
            </a:r>
            <a:r>
              <a:rPr lang="en-US" sz="3199" b="0" i="0" u="none" strike="noStrike" cap="none" dirty="0" err="1">
                <a:solidFill>
                  <a:srgbClr val="0070C0"/>
                </a:solidFill>
                <a:latin typeface="Open Sans"/>
                <a:ea typeface="Open Sans"/>
                <a:cs typeface="Open Sans"/>
                <a:sym typeface="Open Sans"/>
              </a:rPr>
              <a:t>patrimoniale</a:t>
            </a:r>
            <a:r>
              <a:rPr lang="en-US" sz="3199" b="0" i="0" u="none" strike="noStrike" cap="none" dirty="0">
                <a:solidFill>
                  <a:srgbClr val="0070C0"/>
                </a:solidFill>
                <a:latin typeface="Open Sans"/>
                <a:ea typeface="Open Sans"/>
                <a:cs typeface="Open Sans"/>
                <a:sym typeface="Open Sans"/>
              </a:rPr>
              <a:t> di una </a:t>
            </a:r>
            <a:r>
              <a:rPr lang="en-US" sz="3199" b="0" i="0" u="none" strike="noStrike" cap="none" dirty="0" err="1">
                <a:solidFill>
                  <a:srgbClr val="0070C0"/>
                </a:solidFill>
                <a:latin typeface="Open Sans"/>
                <a:ea typeface="Open Sans"/>
                <a:cs typeface="Open Sans"/>
                <a:sym typeface="Open Sans"/>
              </a:rPr>
              <a:t>società</a:t>
            </a:r>
            <a:endParaRPr dirty="0">
              <a:solidFill>
                <a:srgbClr val="0070C0"/>
              </a:solidFill>
            </a:endParaRPr>
          </a:p>
          <a:p>
            <a:pPr marL="690877" marR="0" lvl="1" indent="-345439" algn="just" rtl="0">
              <a:lnSpc>
                <a:spcPct val="150015"/>
              </a:lnSpc>
              <a:spcBef>
                <a:spcPts val="0"/>
              </a:spcBef>
              <a:spcAft>
                <a:spcPts val="0"/>
              </a:spcAft>
              <a:buClr>
                <a:srgbClr val="0070C0"/>
              </a:buClr>
              <a:buSzPts val="3199"/>
              <a:buFont typeface="Arial"/>
              <a:buChar char="•"/>
            </a:pPr>
            <a:r>
              <a:rPr lang="en-US" sz="3199" dirty="0">
                <a:solidFill>
                  <a:srgbClr val="0070C0"/>
                </a:solidFill>
                <a:latin typeface="Open Sans"/>
                <a:ea typeface="Open Sans"/>
                <a:cs typeface="Open Sans"/>
                <a:sym typeface="Open Sans"/>
              </a:rPr>
              <a:t>P</a:t>
            </a:r>
            <a:r>
              <a:rPr lang="en-US" sz="3199" b="0" i="0" u="none" strike="noStrike" cap="none" dirty="0">
                <a:solidFill>
                  <a:srgbClr val="0070C0"/>
                </a:solidFill>
                <a:latin typeface="Open Sans"/>
                <a:ea typeface="Open Sans"/>
                <a:cs typeface="Open Sans"/>
                <a:sym typeface="Open Sans"/>
              </a:rPr>
              <a:t>er </a:t>
            </a:r>
            <a:r>
              <a:rPr lang="en-US" sz="3199" b="0" i="0" u="none" strike="noStrike" cap="none" dirty="0" err="1">
                <a:solidFill>
                  <a:srgbClr val="0070C0"/>
                </a:solidFill>
                <a:latin typeface="Open Sans"/>
                <a:ea typeface="Open Sans"/>
                <a:cs typeface="Open Sans"/>
                <a:sym typeface="Open Sans"/>
              </a:rPr>
              <a:t>scegliere</a:t>
            </a:r>
            <a:r>
              <a:rPr lang="en-US" sz="3199" b="0" i="0" u="none" strike="noStrike" cap="none" dirty="0">
                <a:solidFill>
                  <a:srgbClr val="0070C0"/>
                </a:solidFill>
                <a:latin typeface="Open Sans"/>
                <a:ea typeface="Open Sans"/>
                <a:cs typeface="Open Sans"/>
                <a:sym typeface="Open Sans"/>
              </a:rPr>
              <a:t> </a:t>
            </a:r>
            <a:r>
              <a:rPr lang="en-US" sz="3199" dirty="0">
                <a:solidFill>
                  <a:srgbClr val="0070C0"/>
                </a:solidFill>
                <a:latin typeface="Open Sans"/>
                <a:ea typeface="Open Sans"/>
                <a:cs typeface="Open Sans"/>
                <a:sym typeface="Open Sans"/>
              </a:rPr>
              <a:t>di</a:t>
            </a:r>
            <a:r>
              <a:rPr lang="en-US" sz="3199" b="0" i="0" u="none" strike="noStrike" cap="none" dirty="0">
                <a:solidFill>
                  <a:srgbClr val="0070C0"/>
                </a:solidFill>
                <a:latin typeface="Open Sans"/>
                <a:ea typeface="Open Sans"/>
                <a:cs typeface="Open Sans"/>
                <a:sym typeface="Open Sans"/>
              </a:rPr>
              <a:t> </a:t>
            </a:r>
            <a:r>
              <a:rPr lang="en-US" sz="3199" b="0" i="0" u="none" strike="noStrike" cap="none" dirty="0" err="1">
                <a:solidFill>
                  <a:srgbClr val="0070C0"/>
                </a:solidFill>
                <a:latin typeface="Open Sans"/>
                <a:ea typeface="Open Sans"/>
                <a:cs typeface="Open Sans"/>
                <a:sym typeface="Open Sans"/>
              </a:rPr>
              <a:t>investire</a:t>
            </a:r>
            <a:r>
              <a:rPr lang="en-US" sz="3199" b="0" i="0" u="none" strike="noStrike" cap="none" dirty="0">
                <a:solidFill>
                  <a:srgbClr val="0070C0"/>
                </a:solidFill>
                <a:latin typeface="Open Sans"/>
                <a:ea typeface="Open Sans"/>
                <a:cs typeface="Open Sans"/>
                <a:sym typeface="Open Sans"/>
              </a:rPr>
              <a:t> in una </a:t>
            </a:r>
            <a:r>
              <a:rPr lang="en-US" sz="3199" b="0" i="0" u="none" strike="noStrike" cap="none" dirty="0" err="1">
                <a:solidFill>
                  <a:srgbClr val="0070C0"/>
                </a:solidFill>
                <a:latin typeface="Open Sans"/>
                <a:ea typeface="Open Sans"/>
                <a:cs typeface="Open Sans"/>
                <a:sym typeface="Open Sans"/>
              </a:rPr>
              <a:t>società</a:t>
            </a:r>
            <a:endParaRPr dirty="0">
              <a:solidFill>
                <a:srgbClr val="0070C0"/>
              </a:solidFill>
            </a:endParaRPr>
          </a:p>
          <a:p>
            <a:pPr marL="690877" marR="0" lvl="1" indent="-345439" algn="just" rtl="0">
              <a:lnSpc>
                <a:spcPct val="150015"/>
              </a:lnSpc>
              <a:spcBef>
                <a:spcPts val="0"/>
              </a:spcBef>
              <a:spcAft>
                <a:spcPts val="0"/>
              </a:spcAft>
              <a:buClr>
                <a:srgbClr val="0070C0"/>
              </a:buClr>
              <a:buSzPts val="3199"/>
              <a:buFont typeface="Arial"/>
              <a:buChar char="•"/>
            </a:pPr>
            <a:r>
              <a:rPr lang="en-US" sz="3199" dirty="0">
                <a:solidFill>
                  <a:srgbClr val="0070C0"/>
                </a:solidFill>
                <a:latin typeface="Open Sans"/>
                <a:ea typeface="Open Sans"/>
                <a:cs typeface="Open Sans"/>
                <a:sym typeface="Open Sans"/>
              </a:rPr>
              <a:t>P</a:t>
            </a:r>
            <a:r>
              <a:rPr lang="en-US" sz="3199" b="0" i="0" u="none" strike="noStrike" cap="none" dirty="0">
                <a:solidFill>
                  <a:srgbClr val="0070C0"/>
                </a:solidFill>
                <a:latin typeface="Open Sans"/>
                <a:ea typeface="Open Sans"/>
                <a:cs typeface="Open Sans"/>
                <a:sym typeface="Open Sans"/>
              </a:rPr>
              <a:t>er </a:t>
            </a:r>
            <a:r>
              <a:rPr lang="en-US" sz="3199" b="0" i="0" u="none" strike="noStrike" cap="none" dirty="0" err="1">
                <a:solidFill>
                  <a:srgbClr val="0070C0"/>
                </a:solidFill>
                <a:latin typeface="Open Sans"/>
                <a:ea typeface="Open Sans"/>
                <a:cs typeface="Open Sans"/>
                <a:sym typeface="Open Sans"/>
              </a:rPr>
              <a:t>finanziare</a:t>
            </a:r>
            <a:r>
              <a:rPr lang="en-US" sz="3199" b="0" i="0" u="none" strike="noStrike" cap="none" dirty="0">
                <a:solidFill>
                  <a:srgbClr val="0070C0"/>
                </a:solidFill>
                <a:latin typeface="Open Sans"/>
                <a:ea typeface="Open Sans"/>
                <a:cs typeface="Open Sans"/>
                <a:sym typeface="Open Sans"/>
              </a:rPr>
              <a:t> una </a:t>
            </a:r>
            <a:r>
              <a:rPr lang="en-US" sz="3199" b="0" i="0" u="none" strike="noStrike" cap="none" dirty="0" err="1">
                <a:solidFill>
                  <a:srgbClr val="0070C0"/>
                </a:solidFill>
                <a:latin typeface="Open Sans"/>
                <a:ea typeface="Open Sans"/>
                <a:cs typeface="Open Sans"/>
                <a:sym typeface="Open Sans"/>
              </a:rPr>
              <a:t>società</a:t>
            </a:r>
            <a:r>
              <a:rPr lang="en-US" sz="3199" b="0" i="0" u="none" strike="noStrike" cap="none" dirty="0">
                <a:solidFill>
                  <a:srgbClr val="0070C0"/>
                </a:solidFill>
                <a:latin typeface="Open Sans"/>
                <a:ea typeface="Open Sans"/>
                <a:cs typeface="Open Sans"/>
                <a:sym typeface="Open Sans"/>
              </a:rPr>
              <a:t> </a:t>
            </a:r>
            <a:endParaRPr dirty="0">
              <a:solidFill>
                <a:srgbClr val="0070C0"/>
              </a:solidFill>
            </a:endParaRPr>
          </a:p>
          <a:p>
            <a:pPr marL="690877" marR="0" lvl="1" indent="-345439" algn="just" rtl="0">
              <a:lnSpc>
                <a:spcPct val="150015"/>
              </a:lnSpc>
              <a:spcBef>
                <a:spcPts val="0"/>
              </a:spcBef>
              <a:spcAft>
                <a:spcPts val="0"/>
              </a:spcAft>
              <a:buClr>
                <a:srgbClr val="0070C0"/>
              </a:buClr>
              <a:buSzPts val="3199"/>
              <a:buFont typeface="Arial"/>
              <a:buChar char="•"/>
            </a:pPr>
            <a:r>
              <a:rPr lang="en-US" sz="3199" dirty="0">
                <a:solidFill>
                  <a:srgbClr val="0070C0"/>
                </a:solidFill>
                <a:latin typeface="Open Sans"/>
                <a:ea typeface="Open Sans"/>
                <a:cs typeface="Open Sans"/>
                <a:sym typeface="Open Sans"/>
              </a:rPr>
              <a:t>P</a:t>
            </a:r>
            <a:r>
              <a:rPr lang="en-US" sz="3199" b="0" i="0" u="none" strike="noStrike" cap="none" dirty="0">
                <a:solidFill>
                  <a:srgbClr val="0070C0"/>
                </a:solidFill>
                <a:latin typeface="Open Sans"/>
                <a:ea typeface="Open Sans"/>
                <a:cs typeface="Open Sans"/>
                <a:sym typeface="Open Sans"/>
              </a:rPr>
              <a:t>er </a:t>
            </a:r>
            <a:r>
              <a:rPr lang="en-US" sz="3199" b="0" i="0" u="none" strike="noStrike" cap="none" dirty="0" err="1">
                <a:solidFill>
                  <a:srgbClr val="0070C0"/>
                </a:solidFill>
                <a:latin typeface="Open Sans"/>
                <a:ea typeface="Open Sans"/>
                <a:cs typeface="Open Sans"/>
                <a:sym typeface="Open Sans"/>
              </a:rPr>
              <a:t>sviluppare</a:t>
            </a:r>
            <a:r>
              <a:rPr lang="en-US" sz="3199" b="0" i="0" u="none" strike="noStrike" cap="none" dirty="0">
                <a:solidFill>
                  <a:srgbClr val="0070C0"/>
                </a:solidFill>
                <a:latin typeface="Open Sans"/>
                <a:ea typeface="Open Sans"/>
                <a:cs typeface="Open Sans"/>
                <a:sym typeface="Open Sans"/>
              </a:rPr>
              <a:t> partnership </a:t>
            </a:r>
            <a:endParaRPr dirty="0">
              <a:solidFill>
                <a:srgbClr val="0070C0"/>
              </a:solidFill>
            </a:endParaRPr>
          </a:p>
          <a:p>
            <a:pPr marL="690877" marR="0" lvl="1" indent="-345439" algn="just" rtl="0">
              <a:lnSpc>
                <a:spcPct val="150015"/>
              </a:lnSpc>
              <a:spcBef>
                <a:spcPts val="0"/>
              </a:spcBef>
              <a:spcAft>
                <a:spcPts val="0"/>
              </a:spcAft>
              <a:buClr>
                <a:srgbClr val="0070C0"/>
              </a:buClr>
              <a:buSzPts val="3199"/>
              <a:buFont typeface="Arial"/>
              <a:buChar char="•"/>
            </a:pPr>
            <a:r>
              <a:rPr lang="en-US" sz="3199" dirty="0">
                <a:solidFill>
                  <a:srgbClr val="0070C0"/>
                </a:solidFill>
                <a:latin typeface="Open Sans"/>
                <a:ea typeface="Open Sans"/>
                <a:cs typeface="Open Sans"/>
                <a:sym typeface="Open Sans"/>
              </a:rPr>
              <a:t>P</a:t>
            </a:r>
            <a:r>
              <a:rPr lang="en-US" sz="3199" b="0" i="0" u="none" strike="noStrike" cap="none" dirty="0">
                <a:solidFill>
                  <a:srgbClr val="0070C0"/>
                </a:solidFill>
                <a:latin typeface="Open Sans"/>
                <a:ea typeface="Open Sans"/>
                <a:cs typeface="Open Sans"/>
                <a:sym typeface="Open Sans"/>
              </a:rPr>
              <a:t>er </a:t>
            </a:r>
            <a:r>
              <a:rPr lang="en-US" sz="3199" b="0" i="0" u="none" strike="noStrike" cap="none" dirty="0" err="1">
                <a:solidFill>
                  <a:srgbClr val="0070C0"/>
                </a:solidFill>
                <a:latin typeface="Open Sans"/>
                <a:ea typeface="Open Sans"/>
                <a:cs typeface="Open Sans"/>
                <a:sym typeface="Open Sans"/>
              </a:rPr>
              <a:t>analizzare</a:t>
            </a:r>
            <a:r>
              <a:rPr lang="en-US" sz="3199" b="0" i="0" u="none" strike="noStrike" cap="none" dirty="0">
                <a:solidFill>
                  <a:srgbClr val="0070C0"/>
                </a:solidFill>
                <a:latin typeface="Open Sans"/>
                <a:ea typeface="Open Sans"/>
                <a:cs typeface="Open Sans"/>
                <a:sym typeface="Open Sans"/>
              </a:rPr>
              <a:t> </a:t>
            </a:r>
            <a:r>
              <a:rPr lang="en-US" sz="3199" b="0" i="0" u="none" strike="noStrike" cap="none" dirty="0" err="1">
                <a:solidFill>
                  <a:srgbClr val="0070C0"/>
                </a:solidFill>
                <a:latin typeface="Open Sans"/>
                <a:ea typeface="Open Sans"/>
                <a:cs typeface="Open Sans"/>
                <a:sym typeface="Open Sans"/>
              </a:rPr>
              <a:t>i</a:t>
            </a:r>
            <a:r>
              <a:rPr lang="en-US" sz="3199" b="0" i="0" u="none" strike="noStrike" cap="none" dirty="0">
                <a:solidFill>
                  <a:srgbClr val="0070C0"/>
                </a:solidFill>
                <a:latin typeface="Open Sans"/>
                <a:ea typeface="Open Sans"/>
                <a:cs typeface="Open Sans"/>
                <a:sym typeface="Open Sans"/>
              </a:rPr>
              <a:t> </a:t>
            </a:r>
            <a:r>
              <a:rPr lang="en-US" sz="3199" b="0" i="0" u="none" strike="noStrike" cap="none" dirty="0" err="1">
                <a:solidFill>
                  <a:srgbClr val="0070C0"/>
                </a:solidFill>
                <a:latin typeface="Open Sans"/>
                <a:ea typeface="Open Sans"/>
                <a:cs typeface="Open Sans"/>
                <a:sym typeface="Open Sans"/>
              </a:rPr>
              <a:t>concorrenti</a:t>
            </a:r>
            <a:r>
              <a:rPr lang="en-US" sz="3199" b="0" i="0" u="none" strike="noStrike" cap="none" dirty="0">
                <a:solidFill>
                  <a:srgbClr val="0070C0"/>
                </a:solidFill>
                <a:latin typeface="Open Sans"/>
                <a:ea typeface="Open Sans"/>
                <a:cs typeface="Open Sans"/>
                <a:sym typeface="Open Sans"/>
              </a:rPr>
              <a:t> </a:t>
            </a:r>
            <a:r>
              <a:rPr lang="en-US" sz="3199" b="0" i="0" u="none" strike="noStrike" cap="none" dirty="0" err="1">
                <a:solidFill>
                  <a:srgbClr val="0070C0"/>
                </a:solidFill>
                <a:latin typeface="Open Sans"/>
                <a:ea typeface="Open Sans"/>
                <a:cs typeface="Open Sans"/>
                <a:sym typeface="Open Sans"/>
              </a:rPr>
              <a:t>presenti</a:t>
            </a:r>
            <a:r>
              <a:rPr lang="en-US" sz="3199" b="0" i="0" u="none" strike="noStrike" cap="none" dirty="0">
                <a:solidFill>
                  <a:srgbClr val="0070C0"/>
                </a:solidFill>
                <a:latin typeface="Open Sans"/>
                <a:ea typeface="Open Sans"/>
                <a:cs typeface="Open Sans"/>
                <a:sym typeface="Open Sans"/>
              </a:rPr>
              <a:t> in un </a:t>
            </a:r>
            <a:r>
              <a:rPr lang="en-US" sz="3199" b="0" i="0" u="none" strike="noStrike" cap="none" dirty="0" err="1">
                <a:solidFill>
                  <a:srgbClr val="0070C0"/>
                </a:solidFill>
                <a:latin typeface="Open Sans"/>
                <a:ea typeface="Open Sans"/>
                <a:cs typeface="Open Sans"/>
                <a:sym typeface="Open Sans"/>
              </a:rPr>
              <a:t>mercato</a:t>
            </a:r>
            <a:r>
              <a:rPr lang="en-US" sz="3199" b="0" i="0" u="none" strike="noStrike" cap="none" dirty="0">
                <a:solidFill>
                  <a:srgbClr val="0070C0"/>
                </a:solidFill>
                <a:latin typeface="Open Sans"/>
                <a:ea typeface="Open Sans"/>
                <a:cs typeface="Open Sans"/>
                <a:sym typeface="Open Sans"/>
              </a:rPr>
              <a:t> </a:t>
            </a:r>
            <a:endParaRPr dirty="0">
              <a:solidFill>
                <a:srgbClr val="0070C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p:nvPr/>
        </p:nvSpPr>
        <p:spPr>
          <a:xfrm>
            <a:off x="1227876" y="226865"/>
            <a:ext cx="15832243"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err="1">
                <a:solidFill>
                  <a:srgbClr val="216AD9"/>
                </a:solidFill>
                <a:latin typeface="Poppins SemiBold"/>
                <a:ea typeface="Poppins SemiBold"/>
                <a:cs typeface="Poppins SemiBold"/>
                <a:sym typeface="Poppins SemiBold"/>
              </a:rPr>
              <a:t>Lettura</a:t>
            </a:r>
            <a:r>
              <a:rPr lang="en-US" sz="5600" b="1" i="0" u="none" strike="noStrike" cap="none" dirty="0">
                <a:solidFill>
                  <a:srgbClr val="216AD9"/>
                </a:solidFill>
                <a:latin typeface="Poppins SemiBold"/>
                <a:ea typeface="Poppins SemiBold"/>
                <a:cs typeface="Poppins SemiBold"/>
                <a:sym typeface="Poppins SemiBold"/>
              </a:rPr>
              <a:t> del </a:t>
            </a:r>
            <a:r>
              <a:rPr lang="en-US" sz="5600" b="1" i="0" u="none" strike="noStrike" cap="none" dirty="0" err="1">
                <a:solidFill>
                  <a:srgbClr val="216AD9"/>
                </a:solidFill>
                <a:latin typeface="Poppins SemiBold"/>
                <a:ea typeface="Poppins SemiBold"/>
                <a:cs typeface="Poppins SemiBold"/>
                <a:sym typeface="Poppins SemiBold"/>
              </a:rPr>
              <a:t>bilancio</a:t>
            </a:r>
            <a:r>
              <a:rPr lang="en-US" sz="5600" b="1" i="0" u="none" strike="noStrike" cap="none" dirty="0">
                <a:solidFill>
                  <a:srgbClr val="216AD9"/>
                </a:solidFill>
                <a:latin typeface="Poppins SemiBold"/>
                <a:ea typeface="Poppins SemiBold"/>
                <a:cs typeface="Poppins SemiBold"/>
                <a:sym typeface="Poppins SemiBold"/>
              </a:rPr>
              <a:t> e </a:t>
            </a:r>
            <a:r>
              <a:rPr lang="en-US" sz="5600" b="1" i="0" u="none" strike="noStrike" cap="none" dirty="0" err="1">
                <a:solidFill>
                  <a:srgbClr val="216AD9"/>
                </a:solidFill>
                <a:latin typeface="Poppins SemiBold"/>
                <a:ea typeface="Poppins SemiBold"/>
                <a:cs typeface="Poppins SemiBold"/>
                <a:sym typeface="Poppins SemiBold"/>
              </a:rPr>
              <a:t>prospettiva</a:t>
            </a:r>
            <a:r>
              <a:rPr lang="en-US" sz="5600" b="1" i="0" u="none" strike="noStrike" cap="none" dirty="0">
                <a:solidFill>
                  <a:srgbClr val="216AD9"/>
                </a:solidFill>
                <a:latin typeface="Poppins SemiBold"/>
                <a:ea typeface="Poppins SemiBold"/>
                <a:cs typeface="Poppins SemiBold"/>
                <a:sym typeface="Poppins SemiBold"/>
              </a:rPr>
              <a:t> di </a:t>
            </a:r>
            <a:r>
              <a:rPr lang="en-US" sz="5600" b="1" dirty="0" err="1">
                <a:solidFill>
                  <a:srgbClr val="216AD9"/>
                </a:solidFill>
                <a:latin typeface="Poppins SemiBold"/>
                <a:ea typeface="Poppins SemiBold"/>
                <a:cs typeface="Poppins SemiBold"/>
                <a:sym typeface="Poppins SemiBold"/>
              </a:rPr>
              <a:t>analisi</a:t>
            </a:r>
            <a:endParaRPr dirty="0"/>
          </a:p>
        </p:txBody>
      </p:sp>
      <p:sp>
        <p:nvSpPr>
          <p:cNvPr id="165" name="Google Shape;165;p20"/>
          <p:cNvSpPr txBox="1"/>
          <p:nvPr/>
        </p:nvSpPr>
        <p:spPr>
          <a:xfrm>
            <a:off x="600888" y="1413417"/>
            <a:ext cx="17295226" cy="8873583"/>
          </a:xfrm>
          <a:prstGeom prst="rect">
            <a:avLst/>
          </a:prstGeom>
          <a:noFill/>
          <a:ln>
            <a:noFill/>
          </a:ln>
        </p:spPr>
        <p:txBody>
          <a:bodyPr spcFirstLastPara="1" wrap="square" lIns="0" tIns="0" rIns="0" bIns="0" anchor="t" anchorCtr="0">
            <a:spAutoFit/>
          </a:bodyPr>
          <a:lstStyle/>
          <a:p>
            <a:pPr marR="0" lvl="0" algn="just" rtl="0">
              <a:lnSpc>
                <a:spcPct val="140014"/>
              </a:lnSpc>
              <a:spcBef>
                <a:spcPts val="0"/>
              </a:spcBef>
              <a:spcAft>
                <a:spcPts val="0"/>
              </a:spcAft>
            </a:pPr>
            <a:r>
              <a:rPr lang="en-US" sz="2799" b="1" i="0" u="sng" strike="noStrike" cap="none" dirty="0">
                <a:solidFill>
                  <a:srgbClr val="0070C0"/>
                </a:solidFill>
                <a:latin typeface="Poppins" panose="020B0604020202020204" charset="0"/>
                <a:ea typeface="Poppins"/>
                <a:cs typeface="Poppins" panose="020B0604020202020204" charset="0"/>
                <a:sym typeface="Poppins"/>
              </a:rPr>
              <a:t>Prospettiva </a:t>
            </a:r>
            <a:r>
              <a:rPr lang="en-US" sz="2799" b="1" i="0" u="sng" strike="noStrike" cap="none" dirty="0" err="1">
                <a:solidFill>
                  <a:srgbClr val="0070C0"/>
                </a:solidFill>
                <a:latin typeface="Poppins" panose="020B0604020202020204" charset="0"/>
                <a:ea typeface="Poppins"/>
                <a:cs typeface="Poppins" panose="020B0604020202020204" charset="0"/>
                <a:sym typeface="Poppins"/>
              </a:rPr>
              <a:t>economica</a:t>
            </a:r>
            <a:r>
              <a:rPr lang="en-US" sz="2799" b="1" i="0" u="sng" strike="noStrike" cap="none" dirty="0">
                <a:solidFill>
                  <a:srgbClr val="0070C0"/>
                </a:solidFill>
                <a:latin typeface="Poppins" panose="020B0604020202020204" charset="0"/>
                <a:ea typeface="Poppins"/>
                <a:cs typeface="Poppins" panose="020B0604020202020204" charset="0"/>
                <a:sym typeface="Poppins"/>
              </a:rPr>
              <a:t>: </a:t>
            </a:r>
            <a:endParaRPr b="1" u="sng" dirty="0">
              <a:solidFill>
                <a:srgbClr val="0070C0"/>
              </a:solidFill>
              <a:latin typeface="Poppins" panose="020B0604020202020204" charset="0"/>
              <a:cs typeface="Poppins" panose="020B0604020202020204" charset="0"/>
            </a:endParaRPr>
          </a:p>
          <a:p>
            <a:pPr marL="0" marR="0" lvl="0" indent="0" algn="just" rtl="0">
              <a:lnSpc>
                <a:spcPct val="140014"/>
              </a:lnSpc>
              <a:spcBef>
                <a:spcPts val="0"/>
              </a:spcBef>
              <a:spcAft>
                <a:spcPts val="0"/>
              </a:spcAft>
              <a:buNone/>
            </a:pPr>
            <a:r>
              <a:rPr lang="it-IT" sz="2799" b="0" i="0" u="none" strike="noStrike" cap="none" dirty="0">
                <a:solidFill>
                  <a:srgbClr val="0070C0"/>
                </a:solidFill>
                <a:latin typeface="Poppins" panose="020B0604020202020204" charset="0"/>
                <a:ea typeface="Poppins"/>
                <a:cs typeface="Poppins" panose="020B0604020202020204" charset="0"/>
                <a:sym typeface="Poppins"/>
              </a:rPr>
              <a:t>Consente di formulare giudizi sulla gestione del capitale aziendale, in termini sia di efficacia degli investimenti effettuati (per esempio in macchinari, terreni o scorte) sia di equilibrio generale tra entrate e uscite.</a:t>
            </a:r>
          </a:p>
          <a:p>
            <a:pPr marL="0" marR="0" lvl="0" indent="0" algn="just" rtl="0">
              <a:lnSpc>
                <a:spcPct val="140014"/>
              </a:lnSpc>
              <a:spcBef>
                <a:spcPts val="0"/>
              </a:spcBef>
              <a:spcAft>
                <a:spcPts val="0"/>
              </a:spcAft>
              <a:buNone/>
            </a:pPr>
            <a:endParaRPr lang="en-US" sz="1000" dirty="0">
              <a:solidFill>
                <a:srgbClr val="0070C0"/>
              </a:solidFill>
              <a:latin typeface="Poppins" panose="020B0604020202020204" charset="0"/>
              <a:ea typeface="Poppins"/>
              <a:cs typeface="Poppins" panose="020B0604020202020204" charset="0"/>
              <a:sym typeface="Poppins"/>
            </a:endParaRPr>
          </a:p>
          <a:p>
            <a:pPr marR="0" lvl="0" algn="just" rtl="0">
              <a:lnSpc>
                <a:spcPct val="140014"/>
              </a:lnSpc>
              <a:spcBef>
                <a:spcPts val="0"/>
              </a:spcBef>
              <a:spcAft>
                <a:spcPts val="0"/>
              </a:spcAft>
            </a:pPr>
            <a:r>
              <a:rPr lang="en-US" sz="2799" b="1" i="0" u="sng" strike="noStrike" cap="none" dirty="0">
                <a:solidFill>
                  <a:srgbClr val="0070C0"/>
                </a:solidFill>
                <a:latin typeface="Poppins" panose="020B0604020202020204" charset="0"/>
                <a:ea typeface="Poppins"/>
                <a:cs typeface="Poppins" panose="020B0604020202020204" charset="0"/>
                <a:sym typeface="Poppins"/>
              </a:rPr>
              <a:t>Prospettiva </a:t>
            </a:r>
            <a:r>
              <a:rPr lang="en-US" sz="2799" b="1" i="0" u="sng" strike="noStrike" cap="none" dirty="0" err="1">
                <a:solidFill>
                  <a:srgbClr val="0070C0"/>
                </a:solidFill>
                <a:latin typeface="Poppins" panose="020B0604020202020204" charset="0"/>
                <a:ea typeface="Poppins"/>
                <a:cs typeface="Poppins" panose="020B0604020202020204" charset="0"/>
                <a:sym typeface="Poppins"/>
              </a:rPr>
              <a:t>finanziaria</a:t>
            </a:r>
            <a:r>
              <a:rPr lang="en-US" sz="2799" b="1" i="0" u="sng" strike="noStrike" cap="none" dirty="0">
                <a:solidFill>
                  <a:srgbClr val="0070C0"/>
                </a:solidFill>
                <a:latin typeface="Poppins" panose="020B0604020202020204" charset="0"/>
                <a:ea typeface="Poppins"/>
                <a:cs typeface="Poppins" panose="020B0604020202020204" charset="0"/>
                <a:sym typeface="Poppins"/>
              </a:rPr>
              <a:t> </a:t>
            </a:r>
          </a:p>
          <a:p>
            <a:pPr marR="0" lvl="0" algn="just" rtl="0">
              <a:lnSpc>
                <a:spcPct val="140014"/>
              </a:lnSpc>
              <a:spcBef>
                <a:spcPts val="0"/>
              </a:spcBef>
              <a:spcAft>
                <a:spcPts val="0"/>
              </a:spcAft>
            </a:pPr>
            <a:r>
              <a:rPr lang="en-US" sz="2799" b="0" i="0" u="none" strike="noStrike" cap="none" dirty="0">
                <a:solidFill>
                  <a:srgbClr val="0070C0"/>
                </a:solidFill>
                <a:latin typeface="Poppins" panose="020B0604020202020204" charset="0"/>
                <a:ea typeface="Poppins"/>
                <a:cs typeface="Poppins" panose="020B0604020202020204" charset="0"/>
                <a:sym typeface="Poppins"/>
              </a:rPr>
              <a:t>In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un’ottica</a:t>
            </a:r>
            <a:r>
              <a:rPr lang="en-US" sz="2799" b="0" i="0" u="none" strike="noStrike" cap="none" dirty="0">
                <a:solidFill>
                  <a:srgbClr val="0070C0"/>
                </a:solidFill>
                <a:latin typeface="Poppins" panose="020B0604020202020204" charset="0"/>
                <a:ea typeface="Poppins"/>
                <a:cs typeface="Poppins" panose="020B0604020202020204" charset="0"/>
                <a:sym typeface="Poppins"/>
              </a:rPr>
              <a:t>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finanziaria</a:t>
            </a:r>
            <a:r>
              <a:rPr lang="en-US" sz="2799" b="0" i="0" u="none" strike="noStrike" cap="none" dirty="0">
                <a:solidFill>
                  <a:srgbClr val="0070C0"/>
                </a:solidFill>
                <a:latin typeface="Poppins" panose="020B0604020202020204" charset="0"/>
                <a:ea typeface="Poppins"/>
                <a:cs typeface="Poppins" panose="020B0604020202020204" charset="0"/>
                <a:sym typeface="Poppins"/>
              </a:rPr>
              <a:t>,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invece</a:t>
            </a:r>
            <a:r>
              <a:rPr lang="en-US" sz="2799" b="0" i="0" u="none" strike="noStrike" cap="none" dirty="0">
                <a:solidFill>
                  <a:srgbClr val="0070C0"/>
                </a:solidFill>
                <a:latin typeface="Poppins" panose="020B0604020202020204" charset="0"/>
                <a:ea typeface="Poppins"/>
                <a:cs typeface="Poppins" panose="020B0604020202020204" charset="0"/>
                <a:sym typeface="Poppins"/>
              </a:rPr>
              <a:t>,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il</a:t>
            </a:r>
            <a:r>
              <a:rPr lang="en-US" sz="2799" b="0" i="0" u="none" strike="noStrike" cap="none" dirty="0">
                <a:solidFill>
                  <a:srgbClr val="0070C0"/>
                </a:solidFill>
                <a:latin typeface="Poppins" panose="020B0604020202020204" charset="0"/>
                <a:ea typeface="Poppins"/>
                <a:cs typeface="Poppins" panose="020B0604020202020204" charset="0"/>
                <a:sym typeface="Poppins"/>
              </a:rPr>
              <a:t>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bilancio</a:t>
            </a:r>
            <a:r>
              <a:rPr lang="en-US" sz="2799" b="0" i="0" u="none" strike="noStrike" cap="none" dirty="0">
                <a:solidFill>
                  <a:srgbClr val="0070C0"/>
                </a:solidFill>
                <a:latin typeface="Poppins" panose="020B0604020202020204" charset="0"/>
                <a:ea typeface="Poppins"/>
                <a:cs typeface="Poppins" panose="020B0604020202020204" charset="0"/>
                <a:sym typeface="Poppins"/>
              </a:rPr>
              <a:t>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rappresenta</a:t>
            </a:r>
            <a:r>
              <a:rPr lang="en-US" sz="2799" b="0" i="0" u="none" strike="noStrike" cap="none" dirty="0">
                <a:solidFill>
                  <a:srgbClr val="0070C0"/>
                </a:solidFill>
                <a:latin typeface="Poppins" panose="020B0604020202020204" charset="0"/>
                <a:ea typeface="Poppins"/>
                <a:cs typeface="Poppins" panose="020B0604020202020204" charset="0"/>
                <a:sym typeface="Poppins"/>
              </a:rPr>
              <a:t>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il</a:t>
            </a:r>
            <a:r>
              <a:rPr lang="en-US" sz="2799" b="0" i="0" u="none" strike="noStrike" cap="none" dirty="0">
                <a:solidFill>
                  <a:srgbClr val="0070C0"/>
                </a:solidFill>
                <a:latin typeface="Poppins" panose="020B0604020202020204" charset="0"/>
                <a:ea typeface="Poppins"/>
                <a:cs typeface="Poppins" panose="020B0604020202020204" charset="0"/>
                <a:sym typeface="Poppins"/>
              </a:rPr>
              <a:t>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principale</a:t>
            </a:r>
            <a:r>
              <a:rPr lang="en-US" sz="2799" b="0" i="0" u="none" strike="noStrike" cap="none" dirty="0">
                <a:solidFill>
                  <a:srgbClr val="0070C0"/>
                </a:solidFill>
                <a:latin typeface="Poppins" panose="020B0604020202020204" charset="0"/>
                <a:ea typeface="Poppins"/>
                <a:cs typeface="Poppins" panose="020B0604020202020204" charset="0"/>
                <a:sym typeface="Poppins"/>
              </a:rPr>
              <a:t>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strumento</a:t>
            </a:r>
            <a:r>
              <a:rPr lang="en-US" sz="2799" b="0" i="0" u="none" strike="noStrike" cap="none" dirty="0">
                <a:solidFill>
                  <a:srgbClr val="0070C0"/>
                </a:solidFill>
                <a:latin typeface="Poppins" panose="020B0604020202020204" charset="0"/>
                <a:ea typeface="Poppins"/>
                <a:cs typeface="Poppins" panose="020B0604020202020204" charset="0"/>
                <a:sym typeface="Poppins"/>
              </a:rPr>
              <a:t> per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capire</a:t>
            </a:r>
            <a:r>
              <a:rPr lang="en-US" sz="2799" b="0" i="0" u="none" strike="noStrike" cap="none" dirty="0">
                <a:solidFill>
                  <a:srgbClr val="0070C0"/>
                </a:solidFill>
                <a:latin typeface="Poppins" panose="020B0604020202020204" charset="0"/>
                <a:ea typeface="Poppins"/>
                <a:cs typeface="Poppins" panose="020B0604020202020204" charset="0"/>
                <a:sym typeface="Poppins"/>
              </a:rPr>
              <a:t> dove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vengono</a:t>
            </a:r>
            <a:r>
              <a:rPr lang="en-US" sz="2799" b="0" i="0" u="none" strike="noStrike" cap="none" dirty="0">
                <a:solidFill>
                  <a:srgbClr val="0070C0"/>
                </a:solidFill>
                <a:latin typeface="Poppins" panose="020B0604020202020204" charset="0"/>
                <a:ea typeface="Poppins"/>
                <a:cs typeface="Poppins" panose="020B0604020202020204" charset="0"/>
                <a:sym typeface="Poppins"/>
              </a:rPr>
              <a:t>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reperite</a:t>
            </a:r>
            <a:r>
              <a:rPr lang="en-US" sz="2799" b="0" i="0" u="none" strike="noStrike" cap="none" dirty="0">
                <a:solidFill>
                  <a:srgbClr val="0070C0"/>
                </a:solidFill>
                <a:latin typeface="Poppins" panose="020B0604020202020204" charset="0"/>
                <a:ea typeface="Poppins"/>
                <a:cs typeface="Poppins" panose="020B0604020202020204" charset="0"/>
                <a:sym typeface="Poppins"/>
              </a:rPr>
              <a:t> e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successivamente</a:t>
            </a:r>
            <a:r>
              <a:rPr lang="en-US" sz="2799" b="0" i="0" u="none" strike="noStrike" cap="none" dirty="0">
                <a:solidFill>
                  <a:srgbClr val="0070C0"/>
                </a:solidFill>
                <a:latin typeface="Poppins" panose="020B0604020202020204" charset="0"/>
                <a:ea typeface="Poppins"/>
                <a:cs typeface="Poppins" panose="020B0604020202020204" charset="0"/>
                <a:sym typeface="Poppins"/>
              </a:rPr>
              <a:t>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impiegate</a:t>
            </a:r>
            <a:r>
              <a:rPr lang="en-US" sz="2799" b="0" i="0" u="none" strike="noStrike" cap="none" dirty="0">
                <a:solidFill>
                  <a:srgbClr val="0070C0"/>
                </a:solidFill>
                <a:latin typeface="Poppins" panose="020B0604020202020204" charset="0"/>
                <a:ea typeface="Poppins"/>
                <a:cs typeface="Poppins" panose="020B0604020202020204" charset="0"/>
                <a:sym typeface="Poppins"/>
              </a:rPr>
              <a:t> le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risorse</a:t>
            </a:r>
            <a:r>
              <a:rPr lang="en-US" sz="2799" b="0" i="0" u="none" strike="noStrike" cap="none" dirty="0">
                <a:solidFill>
                  <a:srgbClr val="0070C0"/>
                </a:solidFill>
                <a:latin typeface="Poppins" panose="020B0604020202020204" charset="0"/>
                <a:ea typeface="Poppins"/>
                <a:cs typeface="Poppins" panose="020B0604020202020204" charset="0"/>
                <a:sym typeface="Poppins"/>
              </a:rPr>
              <a:t>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finanziarie</a:t>
            </a:r>
            <a:r>
              <a:rPr lang="en-US" sz="2799" b="0" i="0" u="none" strike="noStrike" cap="none" dirty="0">
                <a:solidFill>
                  <a:srgbClr val="0070C0"/>
                </a:solidFill>
                <a:latin typeface="Poppins" panose="020B0604020202020204" charset="0"/>
                <a:ea typeface="Poppins"/>
                <a:cs typeface="Poppins" panose="020B0604020202020204" charset="0"/>
                <a:sym typeface="Poppins"/>
              </a:rPr>
              <a:t>,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cioè</a:t>
            </a:r>
            <a:r>
              <a:rPr lang="en-US" sz="2799" b="0" i="0" u="none" strike="noStrike" cap="none" dirty="0">
                <a:solidFill>
                  <a:srgbClr val="0070C0"/>
                </a:solidFill>
                <a:latin typeface="Poppins" panose="020B0604020202020204" charset="0"/>
                <a:ea typeface="Poppins"/>
                <a:cs typeface="Poppins" panose="020B0604020202020204" charset="0"/>
                <a:sym typeface="Poppins"/>
              </a:rPr>
              <a:t> I soldi.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L’azienda</a:t>
            </a:r>
            <a:r>
              <a:rPr lang="en-US" sz="2799" b="0" i="0" u="none" strike="noStrike" cap="none" dirty="0">
                <a:solidFill>
                  <a:srgbClr val="0070C0"/>
                </a:solidFill>
                <a:latin typeface="Poppins" panose="020B0604020202020204" charset="0"/>
                <a:ea typeface="Poppins"/>
                <a:cs typeface="Poppins" panose="020B0604020202020204" charset="0"/>
                <a:sym typeface="Poppins"/>
              </a:rPr>
              <a:t> è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equilibrata</a:t>
            </a:r>
            <a:r>
              <a:rPr lang="en-US" sz="2799" b="0" i="0" u="none" strike="noStrike" cap="none" dirty="0">
                <a:solidFill>
                  <a:srgbClr val="0070C0"/>
                </a:solidFill>
                <a:latin typeface="Poppins" panose="020B0604020202020204" charset="0"/>
                <a:ea typeface="Poppins"/>
                <a:cs typeface="Poppins" panose="020B0604020202020204" charset="0"/>
                <a:sym typeface="Poppins"/>
              </a:rPr>
              <a:t> dal punto di vista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finanziario</a:t>
            </a:r>
            <a:r>
              <a:rPr lang="en-US" sz="2799" b="0" i="0" u="none" strike="noStrike" cap="none" dirty="0">
                <a:solidFill>
                  <a:srgbClr val="0070C0"/>
                </a:solidFill>
                <a:latin typeface="Poppins" panose="020B0604020202020204" charset="0"/>
                <a:ea typeface="Poppins"/>
                <a:cs typeface="Poppins" panose="020B0604020202020204" charset="0"/>
                <a:sym typeface="Poppins"/>
              </a:rPr>
              <a:t>, se le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spese</a:t>
            </a:r>
            <a:r>
              <a:rPr lang="en-US" sz="2799" b="0" i="0" u="none" strike="noStrike" cap="none" dirty="0">
                <a:solidFill>
                  <a:srgbClr val="0070C0"/>
                </a:solidFill>
                <a:latin typeface="Poppins" panose="020B0604020202020204" charset="0"/>
                <a:ea typeface="Poppins"/>
                <a:cs typeface="Poppins" panose="020B0604020202020204" charset="0"/>
                <a:sym typeface="Poppins"/>
              </a:rPr>
              <a:t>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sono</a:t>
            </a:r>
            <a:r>
              <a:rPr lang="en-US" sz="2799" b="0" i="0" u="none" strike="noStrike" cap="none" dirty="0">
                <a:solidFill>
                  <a:srgbClr val="0070C0"/>
                </a:solidFill>
                <a:latin typeface="Poppins" panose="020B0604020202020204" charset="0"/>
                <a:ea typeface="Poppins"/>
                <a:cs typeface="Poppins" panose="020B0604020202020204" charset="0"/>
                <a:sym typeface="Poppins"/>
              </a:rPr>
              <a:t> state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effettuate</a:t>
            </a:r>
            <a:r>
              <a:rPr lang="en-US" sz="2799" b="0" i="0" u="none" strike="noStrike" cap="none" dirty="0">
                <a:solidFill>
                  <a:srgbClr val="0070C0"/>
                </a:solidFill>
                <a:latin typeface="Poppins" panose="020B0604020202020204" charset="0"/>
                <a:ea typeface="Poppins"/>
                <a:cs typeface="Poppins" panose="020B0604020202020204" charset="0"/>
                <a:sym typeface="Poppins"/>
              </a:rPr>
              <a:t> con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criterio</a:t>
            </a:r>
            <a:r>
              <a:rPr lang="en-US" sz="2799" b="0" i="0" u="none" strike="noStrike" cap="none" dirty="0">
                <a:solidFill>
                  <a:srgbClr val="0070C0"/>
                </a:solidFill>
                <a:latin typeface="Poppins" panose="020B0604020202020204" charset="0"/>
                <a:ea typeface="Poppins"/>
                <a:cs typeface="Poppins" panose="020B0604020202020204" charset="0"/>
                <a:sym typeface="Poppins"/>
              </a:rPr>
              <a:t> e non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compromettono</a:t>
            </a:r>
            <a:r>
              <a:rPr lang="en-US" sz="2799" b="0" i="0" u="none" strike="noStrike" cap="none" dirty="0">
                <a:solidFill>
                  <a:srgbClr val="0070C0"/>
                </a:solidFill>
                <a:latin typeface="Poppins" panose="020B0604020202020204" charset="0"/>
                <a:ea typeface="Poppins"/>
                <a:cs typeface="Poppins" panose="020B0604020202020204" charset="0"/>
                <a:sym typeface="Poppins"/>
              </a:rPr>
              <a:t> la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sua</a:t>
            </a:r>
            <a:r>
              <a:rPr lang="en-US" sz="2799" b="0" i="0" u="none" strike="noStrike" cap="none" dirty="0">
                <a:solidFill>
                  <a:srgbClr val="0070C0"/>
                </a:solidFill>
                <a:latin typeface="Poppins" panose="020B0604020202020204" charset="0"/>
                <a:ea typeface="Poppins"/>
                <a:cs typeface="Poppins" panose="020B0604020202020204" charset="0"/>
                <a:sym typeface="Poppins"/>
              </a:rPr>
              <a:t>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continuità</a:t>
            </a:r>
            <a:r>
              <a:rPr lang="en-US" sz="2799" b="0" i="0" u="none" strike="noStrike" cap="none" dirty="0">
                <a:solidFill>
                  <a:srgbClr val="0070C0"/>
                </a:solidFill>
                <a:latin typeface="Poppins" panose="020B0604020202020204" charset="0"/>
                <a:ea typeface="Poppins"/>
                <a:cs typeface="Poppins" panose="020B0604020202020204" charset="0"/>
                <a:sym typeface="Poppins"/>
              </a:rPr>
              <a:t> </a:t>
            </a:r>
            <a:r>
              <a:rPr lang="en-US" sz="2799" b="0" i="0" u="none" strike="noStrike" cap="none" dirty="0" err="1">
                <a:solidFill>
                  <a:srgbClr val="0070C0"/>
                </a:solidFill>
                <a:latin typeface="Poppins" panose="020B0604020202020204" charset="0"/>
                <a:ea typeface="Poppins"/>
                <a:cs typeface="Poppins" panose="020B0604020202020204" charset="0"/>
                <a:sym typeface="Poppins"/>
              </a:rPr>
              <a:t>operativa</a:t>
            </a:r>
            <a:r>
              <a:rPr lang="en-US" sz="2799" b="0" i="0" u="none" strike="noStrike" cap="none" dirty="0">
                <a:solidFill>
                  <a:srgbClr val="0070C0"/>
                </a:solidFill>
                <a:latin typeface="Poppins" panose="020B0604020202020204" charset="0"/>
                <a:ea typeface="Poppins"/>
                <a:cs typeface="Poppins" panose="020B0604020202020204" charset="0"/>
                <a:sym typeface="Poppins"/>
              </a:rPr>
              <a:t>.</a:t>
            </a:r>
          </a:p>
          <a:p>
            <a:pPr marL="0" marR="0" lvl="0" indent="0" algn="just" rtl="0">
              <a:lnSpc>
                <a:spcPct val="140014"/>
              </a:lnSpc>
              <a:spcBef>
                <a:spcPts val="0"/>
              </a:spcBef>
              <a:spcAft>
                <a:spcPts val="0"/>
              </a:spcAft>
              <a:buNone/>
            </a:pPr>
            <a:endParaRPr lang="en-US" sz="1000" b="0" i="0" u="none" strike="noStrike" cap="none" dirty="0">
              <a:solidFill>
                <a:srgbClr val="0070C0"/>
              </a:solidFill>
              <a:latin typeface="Poppins" panose="020B0604020202020204" charset="0"/>
              <a:ea typeface="Poppins"/>
              <a:cs typeface="Poppins" panose="020B0604020202020204" charset="0"/>
              <a:sym typeface="Poppins"/>
            </a:endParaRPr>
          </a:p>
          <a:p>
            <a:pPr marL="0" marR="0" lvl="0" indent="0" algn="just" rtl="0">
              <a:lnSpc>
                <a:spcPct val="140014"/>
              </a:lnSpc>
              <a:spcBef>
                <a:spcPts val="0"/>
              </a:spcBef>
              <a:spcAft>
                <a:spcPts val="0"/>
              </a:spcAft>
              <a:buNone/>
            </a:pPr>
            <a:r>
              <a:rPr lang="en-US" sz="2799" b="1" i="0" u="sng" strike="noStrike" cap="none" dirty="0">
                <a:solidFill>
                  <a:srgbClr val="0070C0"/>
                </a:solidFill>
                <a:latin typeface="Poppins" panose="020B0604020202020204" charset="0"/>
                <a:ea typeface="Poppins"/>
                <a:cs typeface="Poppins" panose="020B0604020202020204" charset="0"/>
                <a:sym typeface="Poppins"/>
              </a:rPr>
              <a:t>Prospettiva </a:t>
            </a:r>
            <a:r>
              <a:rPr lang="en-US" sz="2799" b="1" i="0" u="sng" strike="noStrike" cap="none" dirty="0" err="1">
                <a:solidFill>
                  <a:srgbClr val="0070C0"/>
                </a:solidFill>
                <a:latin typeface="Poppins" panose="020B0604020202020204" charset="0"/>
                <a:ea typeface="Poppins"/>
                <a:cs typeface="Poppins" panose="020B0604020202020204" charset="0"/>
                <a:sym typeface="Poppins"/>
              </a:rPr>
              <a:t>patrimoniale</a:t>
            </a:r>
            <a:endParaRPr lang="en-US" sz="2799" b="1" i="0" u="sng" strike="noStrike" cap="none" dirty="0">
              <a:solidFill>
                <a:srgbClr val="0070C0"/>
              </a:solidFill>
              <a:latin typeface="Poppins" panose="020B0604020202020204" charset="0"/>
              <a:ea typeface="Poppins"/>
              <a:cs typeface="Poppins" panose="020B0604020202020204" charset="0"/>
              <a:sym typeface="Poppins"/>
            </a:endParaRPr>
          </a:p>
          <a:p>
            <a:pPr marL="0" marR="0" lvl="0" indent="0" algn="just" rtl="0">
              <a:lnSpc>
                <a:spcPct val="140014"/>
              </a:lnSpc>
              <a:spcBef>
                <a:spcPts val="0"/>
              </a:spcBef>
              <a:spcAft>
                <a:spcPts val="0"/>
              </a:spcAft>
              <a:buNone/>
            </a:pPr>
            <a:r>
              <a:rPr lang="it-IT" sz="2799" b="0" i="0" u="none" strike="noStrike" cap="none" dirty="0">
                <a:solidFill>
                  <a:srgbClr val="0070C0"/>
                </a:solidFill>
                <a:latin typeface="Poppins" panose="020B0604020202020204" charset="0"/>
                <a:ea typeface="Poppins"/>
                <a:cs typeface="Poppins" panose="020B0604020202020204" charset="0"/>
                <a:sym typeface="Poppins"/>
              </a:rPr>
              <a:t>Infine, valutare la situazione patrimoniale di un’impresa significa accertare la sua capacità di dotarsi di un’efficace struttura economica e finanziaria, attraverso l’equilibrio tra le attività (tutto ciò che l’azienda possiede) e le passività (i debiti che ha contratto nei confronti dei soci e dei terzi).</a:t>
            </a:r>
            <a:endParaRPr sz="2799" b="0" i="0" u="none" strike="noStrike" cap="none" dirty="0">
              <a:solidFill>
                <a:srgbClr val="0070C0"/>
              </a:solidFill>
              <a:latin typeface="Poppins" panose="020B0604020202020204" charset="0"/>
              <a:ea typeface="Poppins"/>
              <a:cs typeface="Poppins" panose="020B0604020202020204" charset="0"/>
              <a:sym typeface="Poppins"/>
            </a:endParaRPr>
          </a:p>
        </p:txBody>
      </p:sp>
    </p:spTree>
    <p:extLst>
      <p:ext uri="{BB962C8B-B14F-4D97-AF65-F5344CB8AC3E}">
        <p14:creationId xmlns:p14="http://schemas.microsoft.com/office/powerpoint/2010/main" val="3371496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70"/>
        <p:cNvGrpSpPr/>
        <p:nvPr/>
      </p:nvGrpSpPr>
      <p:grpSpPr>
        <a:xfrm>
          <a:off x="0" y="0"/>
          <a:ext cx="0" cy="0"/>
          <a:chOff x="0" y="0"/>
          <a:chExt cx="0" cy="0"/>
        </a:xfrm>
      </p:grpSpPr>
      <p:sp>
        <p:nvSpPr>
          <p:cNvPr id="171" name="Google Shape;171;p21"/>
          <p:cNvSpPr txBox="1"/>
          <p:nvPr/>
        </p:nvSpPr>
        <p:spPr>
          <a:xfrm>
            <a:off x="2094970" y="989705"/>
            <a:ext cx="14084886" cy="2954655"/>
          </a:xfrm>
          <a:prstGeom prst="rect">
            <a:avLst/>
          </a:prstGeom>
          <a:solidFill>
            <a:schemeClr val="bg1"/>
          </a:solid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b="1" i="0" u="none" strike="noStrike" cap="none" dirty="0" err="1">
                <a:solidFill>
                  <a:srgbClr val="0070C0"/>
                </a:solidFill>
                <a:latin typeface="Open Sans"/>
                <a:ea typeface="Open Sans"/>
                <a:cs typeface="Open Sans"/>
                <a:sym typeface="Open Sans"/>
              </a:rPr>
              <a:t>Altri</a:t>
            </a:r>
            <a:r>
              <a:rPr lang="en-US" sz="8000" b="1" i="0" u="none" strike="noStrike" cap="none" dirty="0">
                <a:solidFill>
                  <a:srgbClr val="0070C0"/>
                </a:solidFill>
                <a:latin typeface="Open Sans"/>
                <a:ea typeface="Open Sans"/>
                <a:cs typeface="Open Sans"/>
                <a:sym typeface="Open Sans"/>
              </a:rPr>
              <a:t> </a:t>
            </a:r>
            <a:r>
              <a:rPr lang="en-US" sz="8000" b="1" i="0" u="none" strike="noStrike" cap="none" dirty="0" err="1">
                <a:solidFill>
                  <a:srgbClr val="0070C0"/>
                </a:solidFill>
                <a:latin typeface="Open Sans"/>
                <a:ea typeface="Open Sans"/>
                <a:cs typeface="Open Sans"/>
                <a:sym typeface="Open Sans"/>
              </a:rPr>
              <a:t>documenti</a:t>
            </a:r>
            <a:endParaRPr dirty="0">
              <a:solidFill>
                <a:srgbClr val="0070C0"/>
              </a:solidFill>
            </a:endParaRPr>
          </a:p>
          <a:p>
            <a:pPr marL="0" marR="0" lvl="0" indent="0" algn="l" rtl="0">
              <a:lnSpc>
                <a:spcPct val="120000"/>
              </a:lnSpc>
              <a:spcBef>
                <a:spcPts val="0"/>
              </a:spcBef>
              <a:spcAft>
                <a:spcPts val="0"/>
              </a:spcAft>
              <a:buNone/>
            </a:pPr>
            <a:endParaRPr sz="8000" b="1" i="0" u="none" strike="noStrike" cap="none" dirty="0">
              <a:solidFill>
                <a:srgbClr val="0070C0"/>
              </a:solidFill>
              <a:latin typeface="Open Sans"/>
              <a:ea typeface="Open Sans"/>
              <a:cs typeface="Open Sans"/>
              <a:sym typeface="Open Sans"/>
            </a:endParaRPr>
          </a:p>
        </p:txBody>
      </p:sp>
      <p:sp>
        <p:nvSpPr>
          <p:cNvPr id="172" name="Google Shape;172;p21"/>
          <p:cNvSpPr txBox="1"/>
          <p:nvPr/>
        </p:nvSpPr>
        <p:spPr>
          <a:xfrm>
            <a:off x="2090579" y="2609549"/>
            <a:ext cx="14089277" cy="7292766"/>
          </a:xfrm>
          <a:prstGeom prst="rect">
            <a:avLst/>
          </a:prstGeom>
          <a:solidFill>
            <a:schemeClr val="bg1"/>
          </a:solidFill>
          <a:ln>
            <a:noFill/>
          </a:ln>
        </p:spPr>
        <p:txBody>
          <a:bodyPr spcFirstLastPara="1" wrap="square" lIns="0" tIns="0" rIns="0" bIns="0" anchor="t" anchorCtr="0">
            <a:spAutoFit/>
          </a:bodyPr>
          <a:lstStyle/>
          <a:p>
            <a:pPr marL="0" marR="0" lvl="0" indent="0" algn="just" rtl="0">
              <a:lnSpc>
                <a:spcPct val="150017"/>
              </a:lnSpc>
              <a:spcBef>
                <a:spcPts val="0"/>
              </a:spcBef>
              <a:spcAft>
                <a:spcPts val="0"/>
              </a:spcAft>
              <a:buNone/>
            </a:pPr>
            <a:r>
              <a:rPr lang="en-US" sz="2799" b="0" i="0" u="none" strike="noStrike" cap="none" dirty="0">
                <a:solidFill>
                  <a:srgbClr val="0070C0"/>
                </a:solidFill>
                <a:latin typeface="Open Sans"/>
                <a:ea typeface="Open Sans"/>
                <a:cs typeface="Open Sans"/>
                <a:sym typeface="Open Sans"/>
              </a:rPr>
              <a:t>Per </a:t>
            </a:r>
            <a:r>
              <a:rPr lang="en-US" sz="2799" b="0" i="0" u="none" strike="noStrike" cap="none" dirty="0" err="1">
                <a:solidFill>
                  <a:srgbClr val="0070C0"/>
                </a:solidFill>
                <a:latin typeface="Open Sans"/>
                <a:ea typeface="Open Sans"/>
                <a:cs typeface="Open Sans"/>
                <a:sym typeface="Open Sans"/>
              </a:rPr>
              <a:t>ogni</a:t>
            </a:r>
            <a:r>
              <a:rPr lang="en-US" sz="2799" b="0" i="0" u="none" strike="noStrike" cap="none" dirty="0">
                <a:solidFill>
                  <a:srgbClr val="0070C0"/>
                </a:solidFill>
                <a:latin typeface="Open Sans"/>
                <a:ea typeface="Open Sans"/>
                <a:cs typeface="Open Sans"/>
                <a:sym typeface="Open Sans"/>
              </a:rPr>
              <a:t> anno in cui opera (</a:t>
            </a:r>
            <a:r>
              <a:rPr lang="en-US" sz="2799" b="0" i="0" u="none" strike="noStrike" cap="none" dirty="0" err="1">
                <a:solidFill>
                  <a:srgbClr val="0070C0"/>
                </a:solidFill>
                <a:latin typeface="Open Sans"/>
                <a:ea typeface="Open Sans"/>
                <a:cs typeface="Open Sans"/>
                <a:sym typeface="Open Sans"/>
              </a:rPr>
              <a:t>detto</a:t>
            </a:r>
            <a:r>
              <a:rPr lang="en-US" sz="2799" b="0" i="0" u="none" strike="noStrike" cap="none" dirty="0">
                <a:solidFill>
                  <a:srgbClr val="0070C0"/>
                </a:solidFill>
                <a:latin typeface="Open Sans"/>
                <a:ea typeface="Open Sans"/>
                <a:cs typeface="Open Sans"/>
                <a:sym typeface="Open Sans"/>
              </a:rPr>
              <a:t> </a:t>
            </a:r>
            <a:r>
              <a:rPr lang="en-US" sz="2799" b="0" i="0" u="none" strike="noStrike" cap="none" dirty="0" err="1">
                <a:solidFill>
                  <a:srgbClr val="0070C0"/>
                </a:solidFill>
                <a:latin typeface="Open Sans"/>
                <a:ea typeface="Open Sans"/>
                <a:cs typeface="Open Sans"/>
                <a:sym typeface="Open Sans"/>
              </a:rPr>
              <a:t>anche</a:t>
            </a:r>
            <a:r>
              <a:rPr lang="en-US" sz="2799" b="0" i="0" u="none" strike="noStrike" cap="none" dirty="0">
                <a:solidFill>
                  <a:srgbClr val="0070C0"/>
                </a:solidFill>
                <a:latin typeface="Open Sans"/>
                <a:ea typeface="Open Sans"/>
                <a:cs typeface="Open Sans"/>
                <a:sym typeface="Open Sans"/>
              </a:rPr>
              <a:t> anno di </a:t>
            </a:r>
            <a:r>
              <a:rPr lang="en-US" sz="2799" b="0" i="0" u="none" strike="noStrike" cap="none" dirty="0" err="1">
                <a:solidFill>
                  <a:srgbClr val="0070C0"/>
                </a:solidFill>
                <a:latin typeface="Open Sans"/>
                <a:ea typeface="Open Sans"/>
                <a:cs typeface="Open Sans"/>
                <a:sym typeface="Open Sans"/>
              </a:rPr>
              <a:t>esercizio</a:t>
            </a:r>
            <a:r>
              <a:rPr lang="en-US" sz="2799" b="0" i="0" u="none" strike="noStrike" cap="none" dirty="0">
                <a:solidFill>
                  <a:srgbClr val="0070C0"/>
                </a:solidFill>
                <a:latin typeface="Open Sans"/>
                <a:ea typeface="Open Sans"/>
                <a:cs typeface="Open Sans"/>
                <a:sym typeface="Open Sans"/>
              </a:rPr>
              <a:t>), </a:t>
            </a:r>
            <a:r>
              <a:rPr lang="en-US" sz="2799" b="0" i="0" u="none" strike="noStrike" cap="none" dirty="0" err="1">
                <a:solidFill>
                  <a:srgbClr val="0070C0"/>
                </a:solidFill>
                <a:latin typeface="Open Sans"/>
                <a:ea typeface="Open Sans"/>
                <a:cs typeface="Open Sans"/>
                <a:sym typeface="Open Sans"/>
              </a:rPr>
              <a:t>l’impresa</a:t>
            </a:r>
            <a:r>
              <a:rPr lang="en-US" sz="2799" b="0" i="0" u="none" strike="noStrike" cap="none" dirty="0">
                <a:solidFill>
                  <a:srgbClr val="0070C0"/>
                </a:solidFill>
                <a:latin typeface="Open Sans"/>
                <a:ea typeface="Open Sans"/>
                <a:cs typeface="Open Sans"/>
                <a:sym typeface="Open Sans"/>
              </a:rPr>
              <a:t> </a:t>
            </a:r>
            <a:r>
              <a:rPr lang="en-US" sz="2799" b="0" i="0" u="none" strike="noStrike" cap="none" dirty="0" err="1">
                <a:solidFill>
                  <a:srgbClr val="0070C0"/>
                </a:solidFill>
                <a:latin typeface="Open Sans"/>
                <a:ea typeface="Open Sans"/>
                <a:cs typeface="Open Sans"/>
                <a:sym typeface="Open Sans"/>
              </a:rPr>
              <a:t>deve</a:t>
            </a:r>
            <a:r>
              <a:rPr lang="en-US" sz="2799" b="0" i="0" u="none" strike="noStrike" cap="none" dirty="0">
                <a:solidFill>
                  <a:srgbClr val="0070C0"/>
                </a:solidFill>
                <a:latin typeface="Open Sans"/>
                <a:ea typeface="Open Sans"/>
                <a:cs typeface="Open Sans"/>
                <a:sym typeface="Open Sans"/>
              </a:rPr>
              <a:t> </a:t>
            </a:r>
            <a:r>
              <a:rPr lang="en-US" sz="2799" b="0" i="0" u="none" strike="noStrike" cap="none" dirty="0" err="1">
                <a:solidFill>
                  <a:srgbClr val="0070C0"/>
                </a:solidFill>
                <a:latin typeface="Open Sans"/>
                <a:ea typeface="Open Sans"/>
                <a:cs typeface="Open Sans"/>
                <a:sym typeface="Open Sans"/>
              </a:rPr>
              <a:t>redigere</a:t>
            </a:r>
            <a:r>
              <a:rPr lang="en-US" sz="2799" b="0" i="0" u="none" strike="noStrike" cap="none" dirty="0">
                <a:solidFill>
                  <a:srgbClr val="0070C0"/>
                </a:solidFill>
                <a:latin typeface="Open Sans"/>
                <a:ea typeface="Open Sans"/>
                <a:cs typeface="Open Sans"/>
                <a:sym typeface="Open Sans"/>
              </a:rPr>
              <a:t>, </a:t>
            </a:r>
            <a:r>
              <a:rPr lang="en-US" sz="2799" b="0" i="0" u="none" strike="noStrike" cap="none" dirty="0" err="1">
                <a:solidFill>
                  <a:srgbClr val="0070C0"/>
                </a:solidFill>
                <a:latin typeface="Open Sans"/>
                <a:ea typeface="Open Sans"/>
                <a:cs typeface="Open Sans"/>
                <a:sym typeface="Open Sans"/>
              </a:rPr>
              <a:t>seguendo</a:t>
            </a:r>
            <a:r>
              <a:rPr lang="en-US" sz="2799" b="0" i="0" u="none" strike="noStrike" cap="none" dirty="0">
                <a:solidFill>
                  <a:srgbClr val="0070C0"/>
                </a:solidFill>
                <a:latin typeface="Open Sans"/>
                <a:ea typeface="Open Sans"/>
                <a:cs typeface="Open Sans"/>
                <a:sym typeface="Open Sans"/>
              </a:rPr>
              <a:t> </a:t>
            </a:r>
            <a:r>
              <a:rPr lang="en-US" sz="2799" b="1" i="0" u="none" strike="noStrike" cap="none" dirty="0" err="1">
                <a:solidFill>
                  <a:srgbClr val="0070C0"/>
                </a:solidFill>
                <a:latin typeface="Open Sans"/>
                <a:ea typeface="Open Sans"/>
                <a:cs typeface="Open Sans"/>
                <a:sym typeface="Open Sans"/>
              </a:rPr>
              <a:t>il</a:t>
            </a:r>
            <a:r>
              <a:rPr lang="en-US" sz="2799" b="1" i="0" u="none" strike="noStrike" cap="none" dirty="0">
                <a:solidFill>
                  <a:srgbClr val="0070C0"/>
                </a:solidFill>
                <a:latin typeface="Open Sans"/>
                <a:ea typeface="Open Sans"/>
                <a:cs typeface="Open Sans"/>
                <a:sym typeface="Open Sans"/>
              </a:rPr>
              <a:t> principio di </a:t>
            </a:r>
            <a:r>
              <a:rPr lang="en-US" sz="2799" b="1" i="0" u="none" strike="noStrike" cap="none" dirty="0" err="1">
                <a:solidFill>
                  <a:srgbClr val="0070C0"/>
                </a:solidFill>
                <a:latin typeface="Open Sans"/>
                <a:ea typeface="Open Sans"/>
                <a:cs typeface="Open Sans"/>
                <a:sym typeface="Open Sans"/>
              </a:rPr>
              <a:t>competenza</a:t>
            </a:r>
            <a:r>
              <a:rPr lang="en-US" sz="2799" b="0" i="0" u="none" strike="noStrike" cap="none" dirty="0">
                <a:solidFill>
                  <a:srgbClr val="0070C0"/>
                </a:solidFill>
                <a:latin typeface="Open Sans"/>
                <a:ea typeface="Open Sans"/>
                <a:cs typeface="Open Sans"/>
                <a:sym typeface="Open Sans"/>
              </a:rPr>
              <a:t>:</a:t>
            </a:r>
            <a:endParaRPr dirty="0">
              <a:solidFill>
                <a:srgbClr val="0070C0"/>
              </a:solidFill>
            </a:endParaRPr>
          </a:p>
          <a:p>
            <a:pPr marL="604519" marR="0" lvl="1" indent="-302260" algn="just" rtl="0">
              <a:lnSpc>
                <a:spcPct val="150017"/>
              </a:lnSpc>
              <a:spcBef>
                <a:spcPts val="0"/>
              </a:spcBef>
              <a:spcAft>
                <a:spcPts val="0"/>
              </a:spcAft>
              <a:buClr>
                <a:srgbClr val="FFFFFF"/>
              </a:buClr>
              <a:buSzPts val="2799"/>
              <a:buFont typeface="Arial"/>
              <a:buChar char="•"/>
            </a:pPr>
            <a:r>
              <a:rPr lang="en-US" sz="2799" b="0" i="0" u="none" strike="noStrike" cap="none" dirty="0" err="1">
                <a:solidFill>
                  <a:srgbClr val="0070C0"/>
                </a:solidFill>
                <a:latin typeface="Open Sans"/>
                <a:ea typeface="Open Sans"/>
                <a:cs typeface="Open Sans"/>
                <a:sym typeface="Open Sans"/>
              </a:rPr>
              <a:t>stato</a:t>
            </a:r>
            <a:r>
              <a:rPr lang="en-US" sz="2799" b="0" i="0" u="none" strike="noStrike" cap="none" dirty="0">
                <a:solidFill>
                  <a:srgbClr val="0070C0"/>
                </a:solidFill>
                <a:latin typeface="Open Sans"/>
                <a:ea typeface="Open Sans"/>
                <a:cs typeface="Open Sans"/>
                <a:sym typeface="Open Sans"/>
              </a:rPr>
              <a:t> </a:t>
            </a:r>
            <a:r>
              <a:rPr lang="en-US" sz="2799" b="0" i="0" u="none" strike="noStrike" cap="none" dirty="0" err="1">
                <a:solidFill>
                  <a:srgbClr val="0070C0"/>
                </a:solidFill>
                <a:latin typeface="Open Sans"/>
                <a:ea typeface="Open Sans"/>
                <a:cs typeface="Open Sans"/>
                <a:sym typeface="Open Sans"/>
              </a:rPr>
              <a:t>patrimoniale</a:t>
            </a:r>
            <a:endParaRPr dirty="0">
              <a:solidFill>
                <a:srgbClr val="0070C0"/>
              </a:solidFill>
            </a:endParaRPr>
          </a:p>
          <a:p>
            <a:pPr marL="604519" marR="0" lvl="1" indent="-302260" algn="just" rtl="0">
              <a:lnSpc>
                <a:spcPct val="150017"/>
              </a:lnSpc>
              <a:spcBef>
                <a:spcPts val="0"/>
              </a:spcBef>
              <a:spcAft>
                <a:spcPts val="0"/>
              </a:spcAft>
              <a:buClr>
                <a:srgbClr val="FFFFFF"/>
              </a:buClr>
              <a:buSzPts val="2799"/>
              <a:buFont typeface="Arial"/>
              <a:buChar char="•"/>
            </a:pPr>
            <a:r>
              <a:rPr lang="en-US" sz="2799" b="0" i="0" u="none" strike="noStrike" cap="none" dirty="0" err="1">
                <a:solidFill>
                  <a:srgbClr val="0070C0"/>
                </a:solidFill>
                <a:latin typeface="Open Sans"/>
                <a:ea typeface="Open Sans"/>
                <a:cs typeface="Open Sans"/>
                <a:sym typeface="Open Sans"/>
              </a:rPr>
              <a:t>conto</a:t>
            </a:r>
            <a:r>
              <a:rPr lang="en-US" sz="2799" b="0" i="0" u="none" strike="noStrike" cap="none" dirty="0">
                <a:solidFill>
                  <a:srgbClr val="0070C0"/>
                </a:solidFill>
                <a:latin typeface="Open Sans"/>
                <a:ea typeface="Open Sans"/>
                <a:cs typeface="Open Sans"/>
                <a:sym typeface="Open Sans"/>
              </a:rPr>
              <a:t> </a:t>
            </a:r>
            <a:r>
              <a:rPr lang="en-US" sz="2799" b="0" i="0" u="none" strike="noStrike" cap="none" dirty="0" err="1">
                <a:solidFill>
                  <a:srgbClr val="0070C0"/>
                </a:solidFill>
                <a:latin typeface="Open Sans"/>
                <a:ea typeface="Open Sans"/>
                <a:cs typeface="Open Sans"/>
                <a:sym typeface="Open Sans"/>
              </a:rPr>
              <a:t>economico</a:t>
            </a:r>
            <a:endParaRPr dirty="0">
              <a:solidFill>
                <a:srgbClr val="0070C0"/>
              </a:solidFill>
            </a:endParaRPr>
          </a:p>
          <a:p>
            <a:pPr marL="604519" marR="0" lvl="1" indent="-302260" algn="just" rtl="0">
              <a:lnSpc>
                <a:spcPct val="150017"/>
              </a:lnSpc>
              <a:spcBef>
                <a:spcPts val="0"/>
              </a:spcBef>
              <a:spcAft>
                <a:spcPts val="0"/>
              </a:spcAft>
              <a:buClr>
                <a:srgbClr val="FFFFFF"/>
              </a:buClr>
              <a:buSzPts val="2799"/>
              <a:buFont typeface="Arial"/>
              <a:buChar char="•"/>
            </a:pPr>
            <a:r>
              <a:rPr lang="en-US" sz="2799" b="0" i="0" u="none" strike="noStrike" cap="none" dirty="0">
                <a:solidFill>
                  <a:srgbClr val="0070C0"/>
                </a:solidFill>
                <a:latin typeface="Open Sans"/>
                <a:ea typeface="Open Sans"/>
                <a:cs typeface="Open Sans"/>
                <a:sym typeface="Open Sans"/>
              </a:rPr>
              <a:t>nota </a:t>
            </a:r>
            <a:r>
              <a:rPr lang="en-US" sz="2799" b="0" i="0" u="none" strike="noStrike" cap="none" dirty="0" err="1">
                <a:solidFill>
                  <a:srgbClr val="0070C0"/>
                </a:solidFill>
                <a:latin typeface="Open Sans"/>
                <a:ea typeface="Open Sans"/>
                <a:cs typeface="Open Sans"/>
                <a:sym typeface="Open Sans"/>
              </a:rPr>
              <a:t>integrativa</a:t>
            </a:r>
            <a:endParaRPr dirty="0">
              <a:solidFill>
                <a:srgbClr val="0070C0"/>
              </a:solidFill>
            </a:endParaRPr>
          </a:p>
          <a:p>
            <a:pPr marL="0" marR="0" lvl="0" indent="0" algn="just" rtl="0">
              <a:lnSpc>
                <a:spcPct val="150017"/>
              </a:lnSpc>
              <a:spcBef>
                <a:spcPts val="0"/>
              </a:spcBef>
              <a:spcAft>
                <a:spcPts val="0"/>
              </a:spcAft>
              <a:buNone/>
            </a:pPr>
            <a:endParaRPr sz="2799" b="0" i="0" u="none" strike="noStrike" cap="none" dirty="0">
              <a:solidFill>
                <a:srgbClr val="0070C0"/>
              </a:solidFill>
              <a:latin typeface="Open Sans"/>
              <a:ea typeface="Open Sans"/>
              <a:cs typeface="Open Sans"/>
              <a:sym typeface="Open Sans"/>
            </a:endParaRPr>
          </a:p>
          <a:p>
            <a:pPr marL="0" marR="0" lvl="0" indent="0" algn="just" rtl="0">
              <a:lnSpc>
                <a:spcPct val="150017"/>
              </a:lnSpc>
              <a:spcBef>
                <a:spcPts val="0"/>
              </a:spcBef>
              <a:spcAft>
                <a:spcPts val="0"/>
              </a:spcAft>
              <a:buNone/>
            </a:pPr>
            <a:r>
              <a:rPr lang="en-US" sz="2799" b="0" i="0" u="none" strike="noStrike" cap="none" dirty="0" err="1">
                <a:solidFill>
                  <a:srgbClr val="0070C0"/>
                </a:solidFill>
                <a:latin typeface="Open Sans"/>
                <a:ea typeface="Open Sans"/>
                <a:cs typeface="Open Sans"/>
                <a:sym typeface="Open Sans"/>
              </a:rPr>
              <a:t>Inoltre</a:t>
            </a:r>
            <a:r>
              <a:rPr lang="en-US" sz="2799" b="0" i="0" u="none" strike="noStrike" cap="none" dirty="0">
                <a:solidFill>
                  <a:srgbClr val="0070C0"/>
                </a:solidFill>
                <a:latin typeface="Open Sans"/>
                <a:ea typeface="Open Sans"/>
                <a:cs typeface="Open Sans"/>
                <a:sym typeface="Open Sans"/>
              </a:rPr>
              <a:t> per le </a:t>
            </a:r>
            <a:r>
              <a:rPr lang="en-US" sz="2799" b="0" i="0" u="none" strike="noStrike" cap="none" dirty="0" err="1">
                <a:solidFill>
                  <a:srgbClr val="0070C0"/>
                </a:solidFill>
                <a:latin typeface="Open Sans"/>
                <a:ea typeface="Open Sans"/>
                <a:cs typeface="Open Sans"/>
                <a:sym typeface="Open Sans"/>
              </a:rPr>
              <a:t>aziende</a:t>
            </a:r>
            <a:r>
              <a:rPr lang="en-US" sz="2799" b="0" i="0" u="none" strike="noStrike" cap="none" dirty="0">
                <a:solidFill>
                  <a:srgbClr val="0070C0"/>
                </a:solidFill>
                <a:latin typeface="Open Sans"/>
                <a:ea typeface="Open Sans"/>
                <a:cs typeface="Open Sans"/>
                <a:sym typeface="Open Sans"/>
              </a:rPr>
              <a:t> di </a:t>
            </a:r>
            <a:r>
              <a:rPr lang="en-US" sz="2799" b="0" i="0" u="none" strike="noStrike" cap="none" dirty="0" err="1">
                <a:solidFill>
                  <a:srgbClr val="0070C0"/>
                </a:solidFill>
                <a:latin typeface="Open Sans"/>
                <a:ea typeface="Open Sans"/>
                <a:cs typeface="Open Sans"/>
                <a:sym typeface="Open Sans"/>
              </a:rPr>
              <a:t>maggiori</a:t>
            </a:r>
            <a:r>
              <a:rPr lang="en-US" sz="2799" b="0" i="0" u="none" strike="noStrike" cap="none" dirty="0">
                <a:solidFill>
                  <a:srgbClr val="0070C0"/>
                </a:solidFill>
                <a:latin typeface="Open Sans"/>
                <a:ea typeface="Open Sans"/>
                <a:cs typeface="Open Sans"/>
                <a:sym typeface="Open Sans"/>
              </a:rPr>
              <a:t> </a:t>
            </a:r>
            <a:r>
              <a:rPr lang="en-US" sz="2799" b="0" i="0" u="none" strike="noStrike" cap="none" dirty="0" err="1">
                <a:solidFill>
                  <a:srgbClr val="0070C0"/>
                </a:solidFill>
                <a:latin typeface="Open Sans"/>
                <a:ea typeface="Open Sans"/>
                <a:cs typeface="Open Sans"/>
                <a:sym typeface="Open Sans"/>
              </a:rPr>
              <a:t>dimensioni</a:t>
            </a:r>
            <a:r>
              <a:rPr lang="en-US" sz="2799" b="0" i="0" u="none" strike="noStrike" cap="none" dirty="0">
                <a:solidFill>
                  <a:srgbClr val="0070C0"/>
                </a:solidFill>
                <a:latin typeface="Open Sans"/>
                <a:ea typeface="Open Sans"/>
                <a:cs typeface="Open Sans"/>
                <a:sym typeface="Open Sans"/>
              </a:rPr>
              <a:t> </a:t>
            </a:r>
            <a:r>
              <a:rPr lang="en-US" sz="2799" b="0" i="0" u="none" strike="noStrike" cap="none" dirty="0" err="1">
                <a:solidFill>
                  <a:srgbClr val="0070C0"/>
                </a:solidFill>
                <a:latin typeface="Open Sans"/>
                <a:ea typeface="Open Sans"/>
                <a:cs typeface="Open Sans"/>
                <a:sym typeface="Open Sans"/>
              </a:rPr>
              <a:t>vengono</a:t>
            </a:r>
            <a:r>
              <a:rPr lang="en-US" sz="2799" b="0" i="0" u="none" strike="noStrike" cap="none" dirty="0">
                <a:solidFill>
                  <a:srgbClr val="0070C0"/>
                </a:solidFill>
                <a:latin typeface="Open Sans"/>
                <a:ea typeface="Open Sans"/>
                <a:cs typeface="Open Sans"/>
                <a:sym typeface="Open Sans"/>
              </a:rPr>
              <a:t> </a:t>
            </a:r>
            <a:r>
              <a:rPr lang="en-US" sz="2799" b="0" i="0" u="none" strike="noStrike" cap="none" dirty="0" err="1">
                <a:solidFill>
                  <a:srgbClr val="0070C0"/>
                </a:solidFill>
                <a:latin typeface="Open Sans"/>
                <a:ea typeface="Open Sans"/>
                <a:cs typeface="Open Sans"/>
                <a:sym typeface="Open Sans"/>
              </a:rPr>
              <a:t>redatti</a:t>
            </a:r>
            <a:r>
              <a:rPr lang="en-US" sz="2799" b="0" i="0" u="none" strike="noStrike" cap="none" dirty="0">
                <a:solidFill>
                  <a:srgbClr val="0070C0"/>
                </a:solidFill>
                <a:latin typeface="Open Sans"/>
                <a:ea typeface="Open Sans"/>
                <a:cs typeface="Open Sans"/>
                <a:sym typeface="Open Sans"/>
              </a:rPr>
              <a:t> </a:t>
            </a:r>
            <a:r>
              <a:rPr lang="en-US" sz="2799" b="0" i="0" u="none" strike="noStrike" cap="none" dirty="0" err="1">
                <a:solidFill>
                  <a:srgbClr val="0070C0"/>
                </a:solidFill>
                <a:latin typeface="Open Sans"/>
                <a:ea typeface="Open Sans"/>
                <a:cs typeface="Open Sans"/>
                <a:sym typeface="Open Sans"/>
              </a:rPr>
              <a:t>anche</a:t>
            </a:r>
            <a:r>
              <a:rPr lang="en-US" sz="2799" b="0" i="0" u="none" strike="noStrike" cap="none" dirty="0">
                <a:solidFill>
                  <a:srgbClr val="0070C0"/>
                </a:solidFill>
                <a:latin typeface="Open Sans"/>
                <a:ea typeface="Open Sans"/>
                <a:cs typeface="Open Sans"/>
                <a:sym typeface="Open Sans"/>
              </a:rPr>
              <a:t>:</a:t>
            </a:r>
            <a:endParaRPr dirty="0">
              <a:solidFill>
                <a:srgbClr val="0070C0"/>
              </a:solidFill>
            </a:endParaRPr>
          </a:p>
          <a:p>
            <a:pPr marL="604519" marR="0" lvl="1" indent="-302260" algn="just" rtl="0">
              <a:lnSpc>
                <a:spcPct val="150017"/>
              </a:lnSpc>
              <a:spcBef>
                <a:spcPts val="0"/>
              </a:spcBef>
              <a:spcAft>
                <a:spcPts val="0"/>
              </a:spcAft>
              <a:buClr>
                <a:srgbClr val="FFFFFF"/>
              </a:buClr>
              <a:buSzPts val="2799"/>
              <a:buFont typeface="Arial"/>
              <a:buChar char="•"/>
            </a:pPr>
            <a:r>
              <a:rPr lang="en-US" sz="2799" b="1" i="0" u="none" strike="noStrike" cap="none" dirty="0" err="1">
                <a:solidFill>
                  <a:srgbClr val="0070C0"/>
                </a:solidFill>
                <a:latin typeface="Open Sans"/>
                <a:ea typeface="Open Sans"/>
                <a:cs typeface="Open Sans"/>
                <a:sym typeface="Open Sans"/>
              </a:rPr>
              <a:t>relazione</a:t>
            </a:r>
            <a:r>
              <a:rPr lang="en-US" sz="2799" b="1" i="0" u="none" strike="noStrike" cap="none" dirty="0">
                <a:solidFill>
                  <a:srgbClr val="0070C0"/>
                </a:solidFill>
                <a:latin typeface="Open Sans"/>
                <a:ea typeface="Open Sans"/>
                <a:cs typeface="Open Sans"/>
                <a:sym typeface="Open Sans"/>
              </a:rPr>
              <a:t> </a:t>
            </a:r>
            <a:r>
              <a:rPr lang="en-US" sz="2799" b="1" i="0" u="none" strike="noStrike" cap="none" dirty="0" err="1">
                <a:solidFill>
                  <a:srgbClr val="0070C0"/>
                </a:solidFill>
                <a:latin typeface="Open Sans"/>
                <a:ea typeface="Open Sans"/>
                <a:cs typeface="Open Sans"/>
                <a:sym typeface="Open Sans"/>
              </a:rPr>
              <a:t>sulla</a:t>
            </a:r>
            <a:r>
              <a:rPr lang="en-US" sz="2799" b="1" i="0" u="none" strike="noStrike" cap="none" dirty="0">
                <a:solidFill>
                  <a:srgbClr val="0070C0"/>
                </a:solidFill>
                <a:latin typeface="Open Sans"/>
                <a:ea typeface="Open Sans"/>
                <a:cs typeface="Open Sans"/>
                <a:sym typeface="Open Sans"/>
              </a:rPr>
              <a:t> </a:t>
            </a:r>
            <a:r>
              <a:rPr lang="en-US" sz="2799" b="1" i="0" u="none" strike="noStrike" cap="none" dirty="0" err="1">
                <a:solidFill>
                  <a:srgbClr val="0070C0"/>
                </a:solidFill>
                <a:latin typeface="Open Sans"/>
                <a:ea typeface="Open Sans"/>
                <a:cs typeface="Open Sans"/>
                <a:sym typeface="Open Sans"/>
              </a:rPr>
              <a:t>gestione</a:t>
            </a:r>
            <a:endParaRPr dirty="0">
              <a:solidFill>
                <a:srgbClr val="0070C0"/>
              </a:solidFill>
            </a:endParaRPr>
          </a:p>
          <a:p>
            <a:pPr marL="604519" marR="0" lvl="1" indent="-302260" algn="just" rtl="0">
              <a:lnSpc>
                <a:spcPct val="150017"/>
              </a:lnSpc>
              <a:spcBef>
                <a:spcPts val="0"/>
              </a:spcBef>
              <a:spcAft>
                <a:spcPts val="0"/>
              </a:spcAft>
              <a:buClr>
                <a:srgbClr val="FFFFFF"/>
              </a:buClr>
              <a:buSzPts val="2799"/>
              <a:buFont typeface="Arial"/>
              <a:buChar char="•"/>
            </a:pPr>
            <a:r>
              <a:rPr lang="en-US" sz="2799" b="1" i="0" u="none" strike="noStrike" cap="none" dirty="0" err="1">
                <a:solidFill>
                  <a:srgbClr val="0070C0"/>
                </a:solidFill>
                <a:latin typeface="Open Sans"/>
                <a:ea typeface="Open Sans"/>
                <a:cs typeface="Open Sans"/>
                <a:sym typeface="Open Sans"/>
              </a:rPr>
              <a:t>relazione</a:t>
            </a:r>
            <a:r>
              <a:rPr lang="en-US" sz="2799" b="1" i="0" u="none" strike="noStrike" cap="none" dirty="0">
                <a:solidFill>
                  <a:srgbClr val="0070C0"/>
                </a:solidFill>
                <a:latin typeface="Open Sans"/>
                <a:ea typeface="Open Sans"/>
                <a:cs typeface="Open Sans"/>
                <a:sym typeface="Open Sans"/>
              </a:rPr>
              <a:t> del </a:t>
            </a:r>
            <a:r>
              <a:rPr lang="en-US" sz="2799" b="1" i="0" u="none" strike="noStrike" cap="none" dirty="0" err="1">
                <a:solidFill>
                  <a:srgbClr val="0070C0"/>
                </a:solidFill>
                <a:latin typeface="Open Sans"/>
                <a:ea typeface="Open Sans"/>
                <a:cs typeface="Open Sans"/>
                <a:sym typeface="Open Sans"/>
              </a:rPr>
              <a:t>collegio</a:t>
            </a:r>
            <a:r>
              <a:rPr lang="en-US" sz="2799" b="1" i="0" u="none" strike="noStrike" cap="none" dirty="0">
                <a:solidFill>
                  <a:srgbClr val="0070C0"/>
                </a:solidFill>
                <a:latin typeface="Open Sans"/>
                <a:ea typeface="Open Sans"/>
                <a:cs typeface="Open Sans"/>
                <a:sym typeface="Open Sans"/>
              </a:rPr>
              <a:t> </a:t>
            </a:r>
            <a:r>
              <a:rPr lang="en-US" sz="2799" b="1" i="0" u="none" strike="noStrike" cap="none" dirty="0" err="1">
                <a:solidFill>
                  <a:srgbClr val="0070C0"/>
                </a:solidFill>
                <a:latin typeface="Open Sans"/>
                <a:ea typeface="Open Sans"/>
                <a:cs typeface="Open Sans"/>
                <a:sym typeface="Open Sans"/>
              </a:rPr>
              <a:t>sindacale</a:t>
            </a:r>
            <a:r>
              <a:rPr lang="en-US" sz="2799" b="1" i="0" u="none" strike="noStrike" cap="none" dirty="0">
                <a:solidFill>
                  <a:srgbClr val="0070C0"/>
                </a:solidFill>
                <a:latin typeface="Open Sans"/>
                <a:ea typeface="Open Sans"/>
                <a:cs typeface="Open Sans"/>
                <a:sym typeface="Open Sans"/>
              </a:rPr>
              <a:t> </a:t>
            </a:r>
            <a:endParaRPr dirty="0">
              <a:solidFill>
                <a:srgbClr val="0070C0"/>
              </a:solidFill>
            </a:endParaRPr>
          </a:p>
          <a:p>
            <a:pPr marL="604519" marR="0" lvl="1" indent="-302260" algn="just" rtl="0">
              <a:lnSpc>
                <a:spcPct val="150017"/>
              </a:lnSpc>
              <a:spcBef>
                <a:spcPts val="0"/>
              </a:spcBef>
              <a:spcAft>
                <a:spcPts val="0"/>
              </a:spcAft>
              <a:buClr>
                <a:srgbClr val="FFFFFF"/>
              </a:buClr>
              <a:buSzPts val="2799"/>
              <a:buFont typeface="Arial"/>
              <a:buChar char="•"/>
            </a:pPr>
            <a:r>
              <a:rPr lang="en-US" sz="2799" b="1" i="0" u="none" strike="noStrike" cap="none" dirty="0" err="1">
                <a:solidFill>
                  <a:srgbClr val="0070C0"/>
                </a:solidFill>
                <a:latin typeface="Open Sans"/>
                <a:ea typeface="Open Sans"/>
                <a:cs typeface="Open Sans"/>
                <a:sym typeface="Open Sans"/>
              </a:rPr>
              <a:t>relazione</a:t>
            </a:r>
            <a:r>
              <a:rPr lang="en-US" sz="2799" b="1" i="0" u="none" strike="noStrike" cap="none" dirty="0">
                <a:solidFill>
                  <a:srgbClr val="0070C0"/>
                </a:solidFill>
                <a:latin typeface="Open Sans"/>
                <a:ea typeface="Open Sans"/>
                <a:cs typeface="Open Sans"/>
                <a:sym typeface="Open Sans"/>
              </a:rPr>
              <a:t> del </a:t>
            </a:r>
            <a:r>
              <a:rPr lang="en-US" sz="2799" b="1" i="0" u="none" strike="noStrike" cap="none" dirty="0" err="1">
                <a:solidFill>
                  <a:srgbClr val="0070C0"/>
                </a:solidFill>
                <a:latin typeface="Open Sans"/>
                <a:ea typeface="Open Sans"/>
                <a:cs typeface="Open Sans"/>
                <a:sym typeface="Open Sans"/>
              </a:rPr>
              <a:t>revisore</a:t>
            </a:r>
            <a:r>
              <a:rPr lang="en-US" sz="2799" b="1" i="0" u="none" strike="noStrike" cap="none" dirty="0">
                <a:solidFill>
                  <a:srgbClr val="0070C0"/>
                </a:solidFill>
                <a:latin typeface="Open Sans"/>
                <a:ea typeface="Open Sans"/>
                <a:cs typeface="Open Sans"/>
                <a:sym typeface="Open Sans"/>
              </a:rPr>
              <a:t> </a:t>
            </a:r>
            <a:r>
              <a:rPr lang="en-US" sz="2799" b="1" i="0" u="none" strike="noStrike" cap="none" dirty="0" err="1">
                <a:solidFill>
                  <a:srgbClr val="0070C0"/>
                </a:solidFill>
                <a:latin typeface="Open Sans"/>
                <a:ea typeface="Open Sans"/>
                <a:cs typeface="Open Sans"/>
                <a:sym typeface="Open Sans"/>
              </a:rPr>
              <a:t>contabile</a:t>
            </a:r>
            <a:endParaRPr dirty="0">
              <a:solidFill>
                <a:srgbClr val="0070C0"/>
              </a:solidFill>
            </a:endParaRPr>
          </a:p>
          <a:p>
            <a:pPr marL="0" marR="0" lvl="0" indent="0" algn="just" rtl="0">
              <a:lnSpc>
                <a:spcPct val="192890"/>
              </a:lnSpc>
              <a:spcBef>
                <a:spcPts val="0"/>
              </a:spcBef>
              <a:spcAft>
                <a:spcPts val="0"/>
              </a:spcAft>
              <a:buNone/>
            </a:pPr>
            <a:endParaRPr sz="2799" b="1" i="0" u="none" strike="noStrike" cap="none" dirty="0">
              <a:solidFill>
                <a:srgbClr val="0070C0"/>
              </a:solidFill>
              <a:latin typeface="Open Sans"/>
              <a:ea typeface="Open Sans"/>
              <a:cs typeface="Open Sans"/>
              <a:sym typeface="Open Sans"/>
            </a:endParaRPr>
          </a:p>
        </p:txBody>
      </p:sp>
      <p:sp>
        <p:nvSpPr>
          <p:cNvPr id="173" name="Google Shape;173;p21"/>
          <p:cNvSpPr txBox="1"/>
          <p:nvPr/>
        </p:nvSpPr>
        <p:spPr>
          <a:xfrm>
            <a:off x="2094970" y="501077"/>
            <a:ext cx="6450787" cy="369204"/>
          </a:xfrm>
          <a:prstGeom prst="rect">
            <a:avLst/>
          </a:prstGeom>
          <a:solidFill>
            <a:schemeClr val="bg1"/>
          </a:solid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0070C0"/>
                </a:solidFill>
                <a:latin typeface="Poppins"/>
                <a:ea typeface="Poppins"/>
                <a:cs typeface="Poppins"/>
                <a:sym typeface="Poppins"/>
              </a:rPr>
              <a:t>BILANCIO </a:t>
            </a:r>
            <a:endParaRPr>
              <a:solidFill>
                <a:srgbClr val="0070C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5D91DF82-4CA4-4389-BE37-57EE3E927FC2}"/>
              </a:ext>
            </a:extLst>
          </p:cNvPr>
          <p:cNvSpPr/>
          <p:nvPr/>
        </p:nvSpPr>
        <p:spPr>
          <a:xfrm>
            <a:off x="4974433" y="1685966"/>
            <a:ext cx="7043123" cy="2862322"/>
          </a:xfrm>
          <a:prstGeom prst="rect">
            <a:avLst/>
          </a:prstGeom>
          <a:solidFill>
            <a:schemeClr val="bg1"/>
          </a:solidFill>
        </p:spPr>
        <p:txBody>
          <a:bodyPr wrap="square">
            <a:spAutoFit/>
          </a:bodyPr>
          <a:lstStyle/>
          <a:p>
            <a:pPr algn="ctr">
              <a:defRPr/>
            </a:pPr>
            <a:r>
              <a:rPr lang="it-IT" sz="3000" dirty="0">
                <a:solidFill>
                  <a:srgbClr val="0070C0"/>
                </a:solidFill>
                <a:latin typeface="Poppins" panose="020B0604020202020204" charset="0"/>
                <a:cs typeface="Poppins" panose="020B0604020202020204" charset="0"/>
              </a:rPr>
              <a:t>Il bilancio deve essere redatto con </a:t>
            </a:r>
            <a:r>
              <a:rPr lang="it-IT" sz="3000" b="1" dirty="0">
                <a:solidFill>
                  <a:srgbClr val="0070C0"/>
                </a:solidFill>
                <a:latin typeface="Poppins" panose="020B0604020202020204" charset="0"/>
                <a:cs typeface="Poppins" panose="020B0604020202020204" charset="0"/>
              </a:rPr>
              <a:t>chiarezza</a:t>
            </a:r>
            <a:r>
              <a:rPr lang="it-IT" sz="3000" dirty="0">
                <a:solidFill>
                  <a:srgbClr val="0070C0"/>
                </a:solidFill>
                <a:latin typeface="Poppins" panose="020B0604020202020204" charset="0"/>
                <a:cs typeface="Poppins" panose="020B0604020202020204" charset="0"/>
              </a:rPr>
              <a:t> e deve rappresentare in </a:t>
            </a:r>
            <a:r>
              <a:rPr lang="it-IT" sz="3000" b="1" dirty="0">
                <a:solidFill>
                  <a:srgbClr val="0070C0"/>
                </a:solidFill>
                <a:latin typeface="Poppins" panose="020B0604020202020204" charset="0"/>
                <a:cs typeface="Poppins" panose="020B0604020202020204" charset="0"/>
              </a:rPr>
              <a:t>modo veritiero e corretto </a:t>
            </a:r>
            <a:r>
              <a:rPr lang="it-IT" sz="3000" dirty="0">
                <a:solidFill>
                  <a:srgbClr val="0070C0"/>
                </a:solidFill>
                <a:latin typeface="Poppins" panose="020B0604020202020204" charset="0"/>
                <a:cs typeface="Poppins" panose="020B0604020202020204" charset="0"/>
              </a:rPr>
              <a:t>la situazione patrimoniale e finanziaria della società e il risultato economico dell'esercizio.</a:t>
            </a:r>
          </a:p>
        </p:txBody>
      </p:sp>
      <p:sp>
        <p:nvSpPr>
          <p:cNvPr id="11267" name="Rettangolo 11">
            <a:extLst>
              <a:ext uri="{FF2B5EF4-FFF2-40B4-BE49-F238E27FC236}">
                <a16:creationId xmlns:a16="http://schemas.microsoft.com/office/drawing/2014/main" id="{AF03AD52-F6F7-4782-92F8-8DB88066DA10}"/>
              </a:ext>
            </a:extLst>
          </p:cNvPr>
          <p:cNvSpPr>
            <a:spLocks noChangeArrowheads="1"/>
          </p:cNvSpPr>
          <p:nvPr/>
        </p:nvSpPr>
        <p:spPr bwMode="auto">
          <a:xfrm>
            <a:off x="433388" y="2378463"/>
            <a:ext cx="4314825" cy="738664"/>
          </a:xfrm>
          <a:prstGeom prst="rect">
            <a:avLst/>
          </a:prstGeom>
          <a:solidFill>
            <a:schemeClr val="bg1"/>
          </a:solidFill>
          <a:ln w="9525">
            <a:solidFill>
              <a:srgbClr val="0070C0"/>
            </a:solidFill>
            <a:miter lim="800000"/>
            <a:headEnd/>
            <a:tailEnd/>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r>
              <a:rPr lang="it-IT" altLang="it-IT" sz="2100" b="1" dirty="0">
                <a:solidFill>
                  <a:srgbClr val="0070C0"/>
                </a:solidFill>
                <a:latin typeface="Poppins" panose="020B0604020202020204" charset="0"/>
                <a:cs typeface="Poppins" panose="020B0604020202020204" charset="0"/>
              </a:rPr>
              <a:t>OIC 11, p. 6 + art. 2423 (clausole di bilancio)</a:t>
            </a:r>
          </a:p>
        </p:txBody>
      </p:sp>
      <p:sp>
        <p:nvSpPr>
          <p:cNvPr id="3" name="Rettangolo 2">
            <a:extLst>
              <a:ext uri="{FF2B5EF4-FFF2-40B4-BE49-F238E27FC236}">
                <a16:creationId xmlns:a16="http://schemas.microsoft.com/office/drawing/2014/main" id="{32DABA10-329F-4678-9CB9-F2D3591F5001}"/>
              </a:ext>
            </a:extLst>
          </p:cNvPr>
          <p:cNvSpPr/>
          <p:nvPr/>
        </p:nvSpPr>
        <p:spPr>
          <a:xfrm>
            <a:off x="4974433" y="6849680"/>
            <a:ext cx="7043130" cy="2400657"/>
          </a:xfrm>
          <a:prstGeom prst="rect">
            <a:avLst/>
          </a:prstGeom>
          <a:solidFill>
            <a:schemeClr val="bg1"/>
          </a:solidFill>
        </p:spPr>
        <p:txBody>
          <a:bodyPr wrap="square">
            <a:spAutoFit/>
          </a:bodyPr>
          <a:lstStyle/>
          <a:p>
            <a:pPr algn="ctr">
              <a:defRPr/>
            </a:pPr>
            <a:r>
              <a:rPr lang="it-IT" sz="3000" dirty="0">
                <a:solidFill>
                  <a:srgbClr val="0070C0"/>
                </a:solidFill>
                <a:latin typeface="Poppins" panose="020B0604020202020204" charset="0"/>
                <a:cs typeface="Poppins" panose="020B0604020202020204" charset="0"/>
              </a:rPr>
              <a:t>Per redigere il bilancio con chiarezza e fornire una rappresentazione veritiera e corretta devono essere rispettati i postulati del bilancio. </a:t>
            </a:r>
          </a:p>
        </p:txBody>
      </p:sp>
      <p:sp>
        <p:nvSpPr>
          <p:cNvPr id="11270" name="CasellaDiTesto 10">
            <a:extLst>
              <a:ext uri="{FF2B5EF4-FFF2-40B4-BE49-F238E27FC236}">
                <a16:creationId xmlns:a16="http://schemas.microsoft.com/office/drawing/2014/main" id="{6F850511-18DF-448C-86B1-3F6EEBF64187}"/>
              </a:ext>
            </a:extLst>
          </p:cNvPr>
          <p:cNvSpPr txBox="1">
            <a:spLocks noChangeArrowheads="1"/>
          </p:cNvSpPr>
          <p:nvPr/>
        </p:nvSpPr>
        <p:spPr bwMode="auto">
          <a:xfrm>
            <a:off x="1944972" y="511284"/>
            <a:ext cx="1439805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800" b="1" dirty="0">
                <a:solidFill>
                  <a:srgbClr val="0070C0"/>
                </a:solidFill>
                <a:latin typeface="Poppins" panose="020B0604020202020204" charset="0"/>
                <a:cs typeface="Poppins" panose="020B0604020202020204" charset="0"/>
              </a:rPr>
              <a:t>La clausola generale e i postulati di bilancio</a:t>
            </a:r>
          </a:p>
        </p:txBody>
      </p:sp>
      <p:pic>
        <p:nvPicPr>
          <p:cNvPr id="11272" name="Immagine 12">
            <a:extLst>
              <a:ext uri="{FF2B5EF4-FFF2-40B4-BE49-F238E27FC236}">
                <a16:creationId xmlns:a16="http://schemas.microsoft.com/office/drawing/2014/main" id="{BE2B49E4-C4D1-4723-8244-ED00D420CD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1995" r="22008" b="20316"/>
          <a:stretch>
            <a:fillRect/>
          </a:stretch>
        </p:blipFill>
        <p:spPr bwMode="auto">
          <a:xfrm>
            <a:off x="12017566" y="2532819"/>
            <a:ext cx="6270434" cy="5870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7" name="Connettore 1 6">
            <a:extLst>
              <a:ext uri="{FF2B5EF4-FFF2-40B4-BE49-F238E27FC236}">
                <a16:creationId xmlns:a16="http://schemas.microsoft.com/office/drawing/2014/main" id="{719B7D3C-1BE7-4453-82E5-016B5F71E86A}"/>
              </a:ext>
            </a:extLst>
          </p:cNvPr>
          <p:cNvCxnSpPr>
            <a:cxnSpLocks/>
          </p:cNvCxnSpPr>
          <p:nvPr/>
        </p:nvCxnSpPr>
        <p:spPr>
          <a:xfrm flipV="1">
            <a:off x="12393455" y="1864868"/>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6" name="Freccia bidirezionale verticale 5">
            <a:extLst>
              <a:ext uri="{FF2B5EF4-FFF2-40B4-BE49-F238E27FC236}">
                <a16:creationId xmlns:a16="http://schemas.microsoft.com/office/drawing/2014/main" id="{A8084729-3A6B-4A3E-900A-B136903DEF29}"/>
              </a:ext>
            </a:extLst>
          </p:cNvPr>
          <p:cNvSpPr/>
          <p:nvPr/>
        </p:nvSpPr>
        <p:spPr>
          <a:xfrm>
            <a:off x="2095500" y="3370217"/>
            <a:ext cx="1152525" cy="3704478"/>
          </a:xfrm>
          <a:prstGeom prst="upDown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t-IT" sz="2100">
              <a:latin typeface="Poppins" panose="020B0604020202020204" charset="0"/>
              <a:cs typeface="Poppins" panose="020B0604020202020204" charset="0"/>
            </a:endParaRPr>
          </a:p>
        </p:txBody>
      </p:sp>
      <p:sp>
        <p:nvSpPr>
          <p:cNvPr id="15" name="Rettangolo 9">
            <a:extLst>
              <a:ext uri="{FF2B5EF4-FFF2-40B4-BE49-F238E27FC236}">
                <a16:creationId xmlns:a16="http://schemas.microsoft.com/office/drawing/2014/main" id="{E558FDD9-DA68-4A55-B3CF-6D61A3C924B5}"/>
              </a:ext>
            </a:extLst>
          </p:cNvPr>
          <p:cNvSpPr>
            <a:spLocks noChangeArrowheads="1"/>
          </p:cNvSpPr>
          <p:nvPr/>
        </p:nvSpPr>
        <p:spPr bwMode="auto">
          <a:xfrm>
            <a:off x="433387" y="7580888"/>
            <a:ext cx="4314825" cy="738664"/>
          </a:xfrm>
          <a:prstGeom prst="rect">
            <a:avLst/>
          </a:prstGeom>
          <a:solidFill>
            <a:schemeClr val="bg1"/>
          </a:solidFill>
          <a:ln w="9525">
            <a:solidFill>
              <a:srgbClr val="0070C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r>
              <a:rPr lang="pl-PL" altLang="it-IT" sz="2100" b="1" dirty="0">
                <a:solidFill>
                  <a:srgbClr val="0070C0"/>
                </a:solidFill>
                <a:latin typeface="Poppins" panose="020B0604020202020204" charset="0"/>
                <a:cs typeface="Poppins" panose="020B0604020202020204" charset="0"/>
              </a:rPr>
              <a:t>OIC 11, p. 13</a:t>
            </a:r>
          </a:p>
          <a:p>
            <a:pPr algn="ctr" eaLnBrk="1" hangingPunct="1"/>
            <a:r>
              <a:rPr lang="pl-PL" altLang="it-IT" sz="2100" b="1" dirty="0">
                <a:solidFill>
                  <a:srgbClr val="0070C0"/>
                </a:solidFill>
                <a:latin typeface="Poppins" panose="020B0604020202020204" charset="0"/>
                <a:cs typeface="Poppins" panose="020B0604020202020204" charset="0"/>
              </a:rPr>
              <a:t>(Postulati)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7" name="Rectangle 3">
            <a:extLst>
              <a:ext uri="{FF2B5EF4-FFF2-40B4-BE49-F238E27FC236}">
                <a16:creationId xmlns:a16="http://schemas.microsoft.com/office/drawing/2014/main" id="{E2A746F2-96E0-48C6-BE52-90D6FB3107D4}"/>
              </a:ext>
            </a:extLst>
          </p:cNvPr>
          <p:cNvSpPr>
            <a:spLocks noGrp="1" noChangeArrowheads="1"/>
          </p:cNvSpPr>
          <p:nvPr>
            <p:ph idx="1"/>
          </p:nvPr>
        </p:nvSpPr>
        <p:spPr>
          <a:xfrm>
            <a:off x="776288" y="2078833"/>
            <a:ext cx="11252493" cy="6796088"/>
          </a:xfrm>
        </p:spPr>
        <p:txBody>
          <a:bodyPr rtlCol="0">
            <a:normAutofit/>
          </a:bodyPr>
          <a:lstStyle/>
          <a:p>
            <a:pPr marL="0" indent="0" algn="just">
              <a:buNone/>
              <a:defRPr/>
            </a:pPr>
            <a:r>
              <a:rPr lang="it-IT" altLang="it-IT" sz="3600" dirty="0">
                <a:solidFill>
                  <a:srgbClr val="0070C0"/>
                </a:solidFill>
                <a:latin typeface="Poppins" panose="020B0604020202020204" charset="0"/>
                <a:cs typeface="Poppins" panose="020B0604020202020204" charset="0"/>
              </a:rPr>
              <a:t>L’art. 2423, 2° c. del cod. civ., stabilisce i principi fondamentali, o clausole generali del bilancio: il bilancio deve essere redatto con </a:t>
            </a:r>
            <a:r>
              <a:rPr lang="it-IT" altLang="it-IT" sz="3600" i="1" dirty="0">
                <a:solidFill>
                  <a:srgbClr val="0070C0"/>
                </a:solidFill>
                <a:latin typeface="Poppins" panose="020B0604020202020204" charset="0"/>
                <a:cs typeface="Poppins" panose="020B0604020202020204" charset="0"/>
              </a:rPr>
              <a:t>chiarezza</a:t>
            </a:r>
            <a:r>
              <a:rPr lang="it-IT" altLang="it-IT" sz="3600" dirty="0">
                <a:solidFill>
                  <a:srgbClr val="0070C0"/>
                </a:solidFill>
                <a:latin typeface="Poppins" panose="020B0604020202020204" charset="0"/>
                <a:cs typeface="Poppins" panose="020B0604020202020204" charset="0"/>
              </a:rPr>
              <a:t> e deve </a:t>
            </a:r>
            <a:r>
              <a:rPr lang="it-IT" altLang="it-IT" sz="3600" i="1" dirty="0">
                <a:solidFill>
                  <a:srgbClr val="0070C0"/>
                </a:solidFill>
                <a:latin typeface="Poppins" panose="020B0604020202020204" charset="0"/>
                <a:cs typeface="Poppins" panose="020B0604020202020204" charset="0"/>
              </a:rPr>
              <a:t>rappresentare in modo veritiero e corretto</a:t>
            </a:r>
            <a:r>
              <a:rPr lang="it-IT" altLang="it-IT" sz="3600" dirty="0">
                <a:solidFill>
                  <a:srgbClr val="0070C0"/>
                </a:solidFill>
                <a:latin typeface="Poppins" panose="020B0604020202020204" charset="0"/>
                <a:cs typeface="Poppins" panose="020B0604020202020204" charset="0"/>
              </a:rPr>
              <a:t> la situazione patrimoniale e finanziaria della società e il risultato economico dell'esercizio.</a:t>
            </a:r>
          </a:p>
          <a:p>
            <a:pPr marL="0" indent="0" algn="just">
              <a:buNone/>
              <a:defRPr/>
            </a:pPr>
            <a:endParaRPr lang="it-IT" altLang="it-IT" sz="3600" dirty="0">
              <a:solidFill>
                <a:srgbClr val="0070C0"/>
              </a:solidFill>
              <a:latin typeface="Poppins" panose="020B0604020202020204" charset="0"/>
              <a:cs typeface="Poppins" panose="020B0604020202020204" charset="0"/>
            </a:endParaRPr>
          </a:p>
          <a:p>
            <a:pPr algn="just">
              <a:buClr>
                <a:srgbClr val="0070C0"/>
              </a:buClr>
              <a:buFont typeface="Wingdings" panose="05000000000000000000" pitchFamily="2" charset="2"/>
              <a:buChar char="§"/>
              <a:defRPr/>
            </a:pPr>
            <a:r>
              <a:rPr lang="it-IT" altLang="it-IT" sz="3600" dirty="0">
                <a:solidFill>
                  <a:srgbClr val="0070C0"/>
                </a:solidFill>
                <a:latin typeface="Poppins" panose="020B0604020202020204" charset="0"/>
                <a:cs typeface="Poppins" panose="020B0604020202020204" charset="0"/>
              </a:rPr>
              <a:t>Chiarezza</a:t>
            </a:r>
          </a:p>
          <a:p>
            <a:pPr algn="just">
              <a:buClr>
                <a:srgbClr val="0070C0"/>
              </a:buClr>
              <a:buFont typeface="Wingdings" panose="05000000000000000000" pitchFamily="2" charset="2"/>
              <a:buChar char="§"/>
              <a:defRPr/>
            </a:pPr>
            <a:r>
              <a:rPr lang="it-IT" altLang="it-IT" sz="3600" dirty="0">
                <a:solidFill>
                  <a:srgbClr val="0070C0"/>
                </a:solidFill>
                <a:latin typeface="Poppins" panose="020B0604020202020204" charset="0"/>
                <a:cs typeface="Poppins" panose="020B0604020202020204" charset="0"/>
              </a:rPr>
              <a:t>Verità</a:t>
            </a:r>
          </a:p>
          <a:p>
            <a:pPr algn="just">
              <a:buClr>
                <a:srgbClr val="0070C0"/>
              </a:buClr>
              <a:buFont typeface="Wingdings" panose="05000000000000000000" pitchFamily="2" charset="2"/>
              <a:buChar char="§"/>
              <a:defRPr/>
            </a:pPr>
            <a:r>
              <a:rPr lang="it-IT" altLang="it-IT" sz="3600" dirty="0">
                <a:solidFill>
                  <a:srgbClr val="0070C0"/>
                </a:solidFill>
                <a:latin typeface="Poppins" panose="020B0604020202020204" charset="0"/>
                <a:cs typeface="Poppins" panose="020B0604020202020204" charset="0"/>
              </a:rPr>
              <a:t>Correttezza</a:t>
            </a:r>
          </a:p>
        </p:txBody>
      </p:sp>
      <p:sp>
        <p:nvSpPr>
          <p:cNvPr id="13315" name="CasellaDiTesto 3">
            <a:extLst>
              <a:ext uri="{FF2B5EF4-FFF2-40B4-BE49-F238E27FC236}">
                <a16:creationId xmlns:a16="http://schemas.microsoft.com/office/drawing/2014/main" id="{B1C864FC-1FF2-46A5-9505-53861380C5F2}"/>
              </a:ext>
            </a:extLst>
          </p:cNvPr>
          <p:cNvSpPr txBox="1">
            <a:spLocks noChangeArrowheads="1"/>
          </p:cNvSpPr>
          <p:nvPr/>
        </p:nvSpPr>
        <p:spPr bwMode="auto">
          <a:xfrm>
            <a:off x="776288" y="404813"/>
            <a:ext cx="124872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800" b="1" dirty="0">
                <a:solidFill>
                  <a:srgbClr val="0070C0"/>
                </a:solidFill>
                <a:latin typeface="Poppins" panose="020B0604020202020204" charset="0"/>
                <a:cs typeface="Poppins" panose="020B0604020202020204" charset="0"/>
              </a:rPr>
              <a:t>La clausola generale (1/4) </a:t>
            </a:r>
            <a:endParaRPr lang="it-IT" altLang="it-IT" sz="4800" dirty="0">
              <a:solidFill>
                <a:srgbClr val="0070C0"/>
              </a:solidFill>
              <a:latin typeface="Poppins" panose="020B0604020202020204" charset="0"/>
              <a:cs typeface="Poppins" panose="020B0604020202020204" charset="0"/>
            </a:endParaRPr>
          </a:p>
        </p:txBody>
      </p:sp>
      <p:pic>
        <p:nvPicPr>
          <p:cNvPr id="13317" name="Picture 2" descr="Risultati immagini per bulb icon">
            <a:extLst>
              <a:ext uri="{FF2B5EF4-FFF2-40B4-BE49-F238E27FC236}">
                <a16:creationId xmlns:a16="http://schemas.microsoft.com/office/drawing/2014/main" id="{4C8C9435-0EE8-4121-876B-04320270C2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5481"/>
          <a:stretch>
            <a:fillRect/>
          </a:stretch>
        </p:blipFill>
        <p:spPr bwMode="auto">
          <a:xfrm>
            <a:off x="13437395" y="1716883"/>
            <a:ext cx="4850606" cy="751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nettore 1 6">
            <a:extLst>
              <a:ext uri="{FF2B5EF4-FFF2-40B4-BE49-F238E27FC236}">
                <a16:creationId xmlns:a16="http://schemas.microsoft.com/office/drawing/2014/main" id="{13E12579-8EF1-441E-8B2E-46FB9846E468}"/>
              </a:ext>
            </a:extLst>
          </p:cNvPr>
          <p:cNvCxnSpPr>
            <a:cxnSpLocks/>
          </p:cNvCxnSpPr>
          <p:nvPr/>
        </p:nvCxnSpPr>
        <p:spPr>
          <a:xfrm flipV="1">
            <a:off x="12733089" y="1643064"/>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7" name="Rectangle 3">
            <a:extLst>
              <a:ext uri="{FF2B5EF4-FFF2-40B4-BE49-F238E27FC236}">
                <a16:creationId xmlns:a16="http://schemas.microsoft.com/office/drawing/2014/main" id="{E2A746F2-96E0-48C6-BE52-90D6FB3107D4}"/>
              </a:ext>
            </a:extLst>
          </p:cNvPr>
          <p:cNvSpPr>
            <a:spLocks noGrp="1" noChangeArrowheads="1"/>
          </p:cNvSpPr>
          <p:nvPr>
            <p:ph idx="1"/>
          </p:nvPr>
        </p:nvSpPr>
        <p:spPr>
          <a:xfrm>
            <a:off x="776287" y="2601347"/>
            <a:ext cx="11502798" cy="5471498"/>
          </a:xfrm>
        </p:spPr>
        <p:txBody>
          <a:bodyPr rtlCol="0">
            <a:normAutofit/>
          </a:bodyPr>
          <a:lstStyle/>
          <a:p>
            <a:pPr marL="571500" indent="-571500" algn="just">
              <a:buClr>
                <a:srgbClr val="0070C0"/>
              </a:buClr>
              <a:defRPr/>
            </a:pPr>
            <a:r>
              <a:rPr lang="it-IT" altLang="it-IT" sz="3600" b="1" dirty="0">
                <a:solidFill>
                  <a:srgbClr val="0070C0"/>
                </a:solidFill>
                <a:latin typeface="Poppins" panose="020B0604020202020204" charset="0"/>
                <a:cs typeface="Poppins" panose="020B0604020202020204" charset="0"/>
              </a:rPr>
              <a:t>Comprensibilità, intelligibilità</a:t>
            </a:r>
            <a:r>
              <a:rPr lang="it-IT" altLang="it-IT" sz="3600" dirty="0">
                <a:solidFill>
                  <a:srgbClr val="0070C0"/>
                </a:solidFill>
                <a:latin typeface="Poppins" panose="020B0604020202020204" charset="0"/>
                <a:cs typeface="Poppins" panose="020B0604020202020204" charset="0"/>
              </a:rPr>
              <a:t>: le informazioni contenute nel bilancio devono essere comprensibili agli utilizzatori</a:t>
            </a:r>
          </a:p>
          <a:p>
            <a:pPr marL="571500" indent="-571500" algn="just">
              <a:defRPr/>
            </a:pPr>
            <a:endParaRPr lang="it-IT" altLang="it-IT" sz="3600" dirty="0">
              <a:solidFill>
                <a:srgbClr val="0070C0"/>
              </a:solidFill>
              <a:latin typeface="Poppins" panose="020B0604020202020204" charset="0"/>
              <a:cs typeface="Poppins" panose="020B0604020202020204" charset="0"/>
            </a:endParaRPr>
          </a:p>
          <a:p>
            <a:pPr marL="571500" indent="-571500" algn="just">
              <a:buClr>
                <a:srgbClr val="0070C0"/>
              </a:buClr>
              <a:defRPr/>
            </a:pPr>
            <a:r>
              <a:rPr lang="it-IT" altLang="it-IT" sz="3600" b="1" dirty="0">
                <a:solidFill>
                  <a:srgbClr val="0070C0"/>
                </a:solidFill>
                <a:latin typeface="Poppins" panose="020B0604020202020204" charset="0"/>
                <a:cs typeface="Poppins" panose="020B0604020202020204" charset="0"/>
              </a:rPr>
              <a:t>Principio contabile n° 11</a:t>
            </a:r>
            <a:r>
              <a:rPr lang="it-IT" altLang="it-IT" sz="3600" dirty="0">
                <a:solidFill>
                  <a:srgbClr val="0070C0"/>
                </a:solidFill>
                <a:latin typeface="Poppins" panose="020B0604020202020204" charset="0"/>
                <a:cs typeface="Poppins" panose="020B0604020202020204" charset="0"/>
              </a:rPr>
              <a:t>: il bilancio deve essere comprensibile e perciò deve essere analitico e corredato dalla nota integrativa in modo da facilitare l’intelligibilità della schematica simbologia contabile</a:t>
            </a:r>
          </a:p>
        </p:txBody>
      </p:sp>
      <p:sp>
        <p:nvSpPr>
          <p:cNvPr id="13315" name="CasellaDiTesto 3">
            <a:extLst>
              <a:ext uri="{FF2B5EF4-FFF2-40B4-BE49-F238E27FC236}">
                <a16:creationId xmlns:a16="http://schemas.microsoft.com/office/drawing/2014/main" id="{B1C864FC-1FF2-46A5-9505-53861380C5F2}"/>
              </a:ext>
            </a:extLst>
          </p:cNvPr>
          <p:cNvSpPr txBox="1">
            <a:spLocks noChangeArrowheads="1"/>
          </p:cNvSpPr>
          <p:nvPr/>
        </p:nvSpPr>
        <p:spPr bwMode="auto">
          <a:xfrm>
            <a:off x="776288" y="404813"/>
            <a:ext cx="1398474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800" b="1" dirty="0">
                <a:solidFill>
                  <a:srgbClr val="0070C0"/>
                </a:solidFill>
                <a:latin typeface="Poppins" panose="020B0604020202020204" charset="0"/>
                <a:cs typeface="Poppins" panose="020B0604020202020204" charset="0"/>
              </a:rPr>
              <a:t>La clausola generale (2/4) – La Chiarezza</a:t>
            </a:r>
            <a:endParaRPr lang="it-IT" altLang="it-IT" sz="4800" dirty="0">
              <a:solidFill>
                <a:srgbClr val="0070C0"/>
              </a:solidFill>
              <a:latin typeface="Poppins" panose="020B0604020202020204" charset="0"/>
              <a:cs typeface="Poppins" panose="020B0604020202020204" charset="0"/>
            </a:endParaRPr>
          </a:p>
        </p:txBody>
      </p:sp>
      <p:pic>
        <p:nvPicPr>
          <p:cNvPr id="13317" name="Picture 2" descr="Risultati immagini per bulb icon">
            <a:extLst>
              <a:ext uri="{FF2B5EF4-FFF2-40B4-BE49-F238E27FC236}">
                <a16:creationId xmlns:a16="http://schemas.microsoft.com/office/drawing/2014/main" id="{4C8C9435-0EE8-4121-876B-04320270C2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5481"/>
          <a:stretch>
            <a:fillRect/>
          </a:stretch>
        </p:blipFill>
        <p:spPr bwMode="auto">
          <a:xfrm>
            <a:off x="13437395" y="1716883"/>
            <a:ext cx="4850606" cy="751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nettore 1 6">
            <a:extLst>
              <a:ext uri="{FF2B5EF4-FFF2-40B4-BE49-F238E27FC236}">
                <a16:creationId xmlns:a16="http://schemas.microsoft.com/office/drawing/2014/main" id="{13E12579-8EF1-441E-8B2E-46FB9846E468}"/>
              </a:ext>
            </a:extLst>
          </p:cNvPr>
          <p:cNvCxnSpPr>
            <a:cxnSpLocks/>
          </p:cNvCxnSpPr>
          <p:nvPr/>
        </p:nvCxnSpPr>
        <p:spPr>
          <a:xfrm flipV="1">
            <a:off x="12733089" y="1643064"/>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976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7" name="Rectangle 3">
            <a:extLst>
              <a:ext uri="{FF2B5EF4-FFF2-40B4-BE49-F238E27FC236}">
                <a16:creationId xmlns:a16="http://schemas.microsoft.com/office/drawing/2014/main" id="{E2A746F2-96E0-48C6-BE52-90D6FB3107D4}"/>
              </a:ext>
            </a:extLst>
          </p:cNvPr>
          <p:cNvSpPr>
            <a:spLocks noGrp="1" noChangeArrowheads="1"/>
          </p:cNvSpPr>
          <p:nvPr>
            <p:ph idx="1"/>
          </p:nvPr>
        </p:nvSpPr>
        <p:spPr>
          <a:xfrm>
            <a:off x="776287" y="2601347"/>
            <a:ext cx="11502798" cy="5471498"/>
          </a:xfrm>
        </p:spPr>
        <p:txBody>
          <a:bodyPr rtlCol="0">
            <a:normAutofit lnSpcReduction="10000"/>
          </a:bodyPr>
          <a:lstStyle/>
          <a:p>
            <a:pPr marL="571500" indent="-571500" algn="just">
              <a:buClr>
                <a:srgbClr val="0070C0"/>
              </a:buClr>
              <a:defRPr/>
            </a:pPr>
            <a:r>
              <a:rPr lang="it-IT" altLang="it-IT" sz="3600" b="1" dirty="0">
                <a:solidFill>
                  <a:srgbClr val="0070C0"/>
                </a:solidFill>
                <a:latin typeface="Poppins" panose="020B0604020202020204" charset="0"/>
                <a:cs typeface="Poppins" panose="020B0604020202020204" charset="0"/>
              </a:rPr>
              <a:t>Veridicità</a:t>
            </a:r>
          </a:p>
          <a:p>
            <a:pPr marL="0" indent="0" algn="just">
              <a:buClr>
                <a:srgbClr val="0070C0"/>
              </a:buClr>
              <a:buNone/>
              <a:defRPr/>
            </a:pPr>
            <a:r>
              <a:rPr lang="it-IT" altLang="it-IT" sz="3600" b="1" dirty="0">
                <a:solidFill>
                  <a:srgbClr val="0070C0"/>
                </a:solidFill>
                <a:latin typeface="Poppins" panose="020B0604020202020204" charset="0"/>
                <a:cs typeface="Poppins" panose="020B0604020202020204" charset="0"/>
              </a:rPr>
              <a:t>Coerenza nella formulazione delle stime e delle congetture utilizzate per la formazione del bilancio</a:t>
            </a:r>
          </a:p>
          <a:p>
            <a:pPr marL="0" indent="0" algn="just">
              <a:buClr>
                <a:srgbClr val="0070C0"/>
              </a:buClr>
              <a:buNone/>
              <a:defRPr/>
            </a:pPr>
            <a:endParaRPr lang="it-IT" altLang="it-IT" sz="3600" b="1" dirty="0">
              <a:solidFill>
                <a:srgbClr val="0070C0"/>
              </a:solidFill>
              <a:latin typeface="Poppins" panose="020B0604020202020204" charset="0"/>
              <a:cs typeface="Poppins" panose="020B0604020202020204" charset="0"/>
            </a:endParaRPr>
          </a:p>
          <a:p>
            <a:pPr marL="571500" indent="-571500" algn="just">
              <a:buClr>
                <a:srgbClr val="0070C0"/>
              </a:buClr>
              <a:defRPr/>
            </a:pPr>
            <a:endParaRPr lang="it-IT" altLang="it-IT" sz="3600" b="1" dirty="0">
              <a:solidFill>
                <a:srgbClr val="0070C0"/>
              </a:solidFill>
              <a:latin typeface="Poppins" panose="020B0604020202020204" charset="0"/>
              <a:cs typeface="Poppins" panose="020B0604020202020204" charset="0"/>
            </a:endParaRPr>
          </a:p>
          <a:p>
            <a:pPr marL="571500" indent="-571500" algn="just">
              <a:buClr>
                <a:srgbClr val="0070C0"/>
              </a:buClr>
              <a:defRPr/>
            </a:pPr>
            <a:r>
              <a:rPr lang="it-IT" altLang="it-IT" sz="3600" b="1" dirty="0">
                <a:solidFill>
                  <a:srgbClr val="0070C0"/>
                </a:solidFill>
                <a:latin typeface="Poppins" panose="020B0604020202020204" charset="0"/>
                <a:cs typeface="Poppins" panose="020B0604020202020204" charset="0"/>
              </a:rPr>
              <a:t>Correttezza</a:t>
            </a:r>
          </a:p>
          <a:p>
            <a:pPr marL="0" indent="0" algn="just">
              <a:buClr>
                <a:srgbClr val="0070C0"/>
              </a:buClr>
              <a:buNone/>
              <a:defRPr/>
            </a:pPr>
            <a:r>
              <a:rPr lang="it-IT" altLang="it-IT" sz="3600" b="1" dirty="0">
                <a:solidFill>
                  <a:srgbClr val="0070C0"/>
                </a:solidFill>
                <a:latin typeface="Poppins" panose="020B0604020202020204" charset="0"/>
                <a:cs typeface="Poppins" panose="020B0604020202020204" charset="0"/>
              </a:rPr>
              <a:t>Utilizzo di criteri tecnicamente corretti nella determinazione dei valori e corretta comunicazione delle informazioni </a:t>
            </a:r>
          </a:p>
        </p:txBody>
      </p:sp>
      <p:sp>
        <p:nvSpPr>
          <p:cNvPr id="13315" name="CasellaDiTesto 3">
            <a:extLst>
              <a:ext uri="{FF2B5EF4-FFF2-40B4-BE49-F238E27FC236}">
                <a16:creationId xmlns:a16="http://schemas.microsoft.com/office/drawing/2014/main" id="{B1C864FC-1FF2-46A5-9505-53861380C5F2}"/>
              </a:ext>
            </a:extLst>
          </p:cNvPr>
          <p:cNvSpPr txBox="1">
            <a:spLocks noChangeArrowheads="1"/>
          </p:cNvSpPr>
          <p:nvPr/>
        </p:nvSpPr>
        <p:spPr bwMode="auto">
          <a:xfrm>
            <a:off x="731521" y="404813"/>
            <a:ext cx="1682495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800" b="1" dirty="0">
                <a:solidFill>
                  <a:srgbClr val="0070C0"/>
                </a:solidFill>
                <a:latin typeface="Poppins" panose="020B0604020202020204" charset="0"/>
                <a:cs typeface="Poppins" panose="020B0604020202020204" charset="0"/>
              </a:rPr>
              <a:t>La clausola generale (3/4) – La verità e la Correttezza</a:t>
            </a:r>
            <a:endParaRPr lang="it-IT" altLang="it-IT" sz="4800" dirty="0">
              <a:solidFill>
                <a:srgbClr val="0070C0"/>
              </a:solidFill>
              <a:latin typeface="Poppins" panose="020B0604020202020204" charset="0"/>
              <a:cs typeface="Poppins" panose="020B0604020202020204" charset="0"/>
            </a:endParaRPr>
          </a:p>
        </p:txBody>
      </p:sp>
      <p:pic>
        <p:nvPicPr>
          <p:cNvPr id="13317" name="Picture 2" descr="Risultati immagini per bulb icon">
            <a:extLst>
              <a:ext uri="{FF2B5EF4-FFF2-40B4-BE49-F238E27FC236}">
                <a16:creationId xmlns:a16="http://schemas.microsoft.com/office/drawing/2014/main" id="{4C8C9435-0EE8-4121-876B-04320270C2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5481"/>
          <a:stretch>
            <a:fillRect/>
          </a:stretch>
        </p:blipFill>
        <p:spPr bwMode="auto">
          <a:xfrm>
            <a:off x="13437395" y="1716883"/>
            <a:ext cx="4850606" cy="751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nettore 1 6">
            <a:extLst>
              <a:ext uri="{FF2B5EF4-FFF2-40B4-BE49-F238E27FC236}">
                <a16:creationId xmlns:a16="http://schemas.microsoft.com/office/drawing/2014/main" id="{13E12579-8EF1-441E-8B2E-46FB9846E468}"/>
              </a:ext>
            </a:extLst>
          </p:cNvPr>
          <p:cNvCxnSpPr>
            <a:cxnSpLocks/>
          </p:cNvCxnSpPr>
          <p:nvPr/>
        </p:nvCxnSpPr>
        <p:spPr>
          <a:xfrm flipV="1">
            <a:off x="12733089" y="1643064"/>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0117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7" name="Rectangle 3">
            <a:extLst>
              <a:ext uri="{FF2B5EF4-FFF2-40B4-BE49-F238E27FC236}">
                <a16:creationId xmlns:a16="http://schemas.microsoft.com/office/drawing/2014/main" id="{E2A746F2-96E0-48C6-BE52-90D6FB3107D4}"/>
              </a:ext>
            </a:extLst>
          </p:cNvPr>
          <p:cNvSpPr>
            <a:spLocks noGrp="1" noChangeArrowheads="1"/>
          </p:cNvSpPr>
          <p:nvPr>
            <p:ph idx="1"/>
          </p:nvPr>
        </p:nvSpPr>
        <p:spPr>
          <a:xfrm>
            <a:off x="776287" y="2601347"/>
            <a:ext cx="11502798" cy="5471498"/>
          </a:xfrm>
        </p:spPr>
        <p:txBody>
          <a:bodyPr rtlCol="0">
            <a:normAutofit fontScale="92500" lnSpcReduction="20000"/>
          </a:bodyPr>
          <a:lstStyle/>
          <a:p>
            <a:pPr marL="571500" indent="-571500" algn="just">
              <a:buClr>
                <a:srgbClr val="0070C0"/>
              </a:buClr>
              <a:defRPr/>
            </a:pPr>
            <a:r>
              <a:rPr lang="it-IT" altLang="it-IT" sz="3600" b="1" dirty="0">
                <a:solidFill>
                  <a:srgbClr val="0070C0"/>
                </a:solidFill>
                <a:latin typeface="Poppins" panose="020B0604020202020204" charset="0"/>
                <a:cs typeface="Poppins" panose="020B0604020202020204" charset="0"/>
              </a:rPr>
              <a:t>Se le informazioni richieste da specifiche disposizioni di legge non sono sufficienti a dare una rappresentazione veritiera e corretta, si devono fornire le informazioni complementari necessarie allo scopo </a:t>
            </a:r>
          </a:p>
          <a:p>
            <a:pPr marL="571500" indent="-571500" algn="just">
              <a:buClr>
                <a:srgbClr val="0070C0"/>
              </a:buClr>
              <a:defRPr/>
            </a:pPr>
            <a:endParaRPr lang="it-IT" altLang="it-IT" sz="3600" b="1" dirty="0">
              <a:solidFill>
                <a:srgbClr val="0070C0"/>
              </a:solidFill>
              <a:latin typeface="Poppins" panose="020B0604020202020204" charset="0"/>
              <a:cs typeface="Poppins" panose="020B0604020202020204" charset="0"/>
            </a:endParaRPr>
          </a:p>
          <a:p>
            <a:pPr marL="571500" indent="-571500" algn="just">
              <a:buClr>
                <a:srgbClr val="0070C0"/>
              </a:buClr>
              <a:defRPr/>
            </a:pPr>
            <a:r>
              <a:rPr lang="it-IT" altLang="it-IT" sz="3600" b="1" dirty="0">
                <a:solidFill>
                  <a:srgbClr val="0070C0"/>
                </a:solidFill>
                <a:latin typeface="Poppins" panose="020B0604020202020204" charset="0"/>
                <a:cs typeface="Poppins" panose="020B0604020202020204" charset="0"/>
              </a:rPr>
              <a:t>Se in casi eccezionali l’osservanza delle  specifiche disposizioni di legge non consente la rappresentazione veritiera e corretta bisogna derogare alla disposizione legislativa e motivare ed illustrare in nota integrativa gli  effetti della deroga</a:t>
            </a:r>
          </a:p>
        </p:txBody>
      </p:sp>
      <p:sp>
        <p:nvSpPr>
          <p:cNvPr id="13315" name="CasellaDiTesto 3">
            <a:extLst>
              <a:ext uri="{FF2B5EF4-FFF2-40B4-BE49-F238E27FC236}">
                <a16:creationId xmlns:a16="http://schemas.microsoft.com/office/drawing/2014/main" id="{B1C864FC-1FF2-46A5-9505-53861380C5F2}"/>
              </a:ext>
            </a:extLst>
          </p:cNvPr>
          <p:cNvSpPr txBox="1">
            <a:spLocks noChangeArrowheads="1"/>
          </p:cNvSpPr>
          <p:nvPr/>
        </p:nvSpPr>
        <p:spPr bwMode="auto">
          <a:xfrm>
            <a:off x="731520" y="404813"/>
            <a:ext cx="1700783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800" b="1" dirty="0">
                <a:solidFill>
                  <a:srgbClr val="0070C0"/>
                </a:solidFill>
                <a:latin typeface="Poppins" panose="020B0604020202020204" charset="0"/>
                <a:cs typeface="Poppins" panose="020B0604020202020204" charset="0"/>
              </a:rPr>
              <a:t>La clausola generale (4/4) – La verità e la Correttezza</a:t>
            </a:r>
            <a:endParaRPr lang="it-IT" altLang="it-IT" sz="4800" dirty="0">
              <a:solidFill>
                <a:srgbClr val="0070C0"/>
              </a:solidFill>
              <a:latin typeface="Poppins" panose="020B0604020202020204" charset="0"/>
              <a:cs typeface="Poppins" panose="020B0604020202020204" charset="0"/>
            </a:endParaRPr>
          </a:p>
        </p:txBody>
      </p:sp>
      <p:sp>
        <p:nvSpPr>
          <p:cNvPr id="5" name="Segnaposto numero diapositiva 4">
            <a:extLst>
              <a:ext uri="{FF2B5EF4-FFF2-40B4-BE49-F238E27FC236}">
                <a16:creationId xmlns:a16="http://schemas.microsoft.com/office/drawing/2014/main" id="{47826FF3-8611-4932-9D70-696FF146F9E1}"/>
              </a:ext>
            </a:extLst>
          </p:cNvPr>
          <p:cNvSpPr>
            <a:spLocks noGrp="1"/>
          </p:cNvSpPr>
          <p:nvPr>
            <p:ph type="sldNum" sz="quarter" idx="12"/>
          </p:nvPr>
        </p:nvSpPr>
        <p:spPr/>
        <p:txBody>
          <a:bodyPr/>
          <a:lstStyle/>
          <a:p>
            <a:pPr>
              <a:defRPr/>
            </a:pPr>
            <a:fld id="{F0CFDA75-43AF-45D6-BA83-649F3CFC6524}" type="slidenum">
              <a:rPr lang="it-IT"/>
              <a:pPr>
                <a:defRPr/>
              </a:pPr>
              <a:t>11</a:t>
            </a:fld>
            <a:endParaRPr lang="it-IT"/>
          </a:p>
        </p:txBody>
      </p:sp>
      <p:pic>
        <p:nvPicPr>
          <p:cNvPr id="13317" name="Picture 2" descr="Risultati immagini per bulb icon">
            <a:extLst>
              <a:ext uri="{FF2B5EF4-FFF2-40B4-BE49-F238E27FC236}">
                <a16:creationId xmlns:a16="http://schemas.microsoft.com/office/drawing/2014/main" id="{4C8C9435-0EE8-4121-876B-04320270C2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5481"/>
          <a:stretch>
            <a:fillRect/>
          </a:stretch>
        </p:blipFill>
        <p:spPr bwMode="auto">
          <a:xfrm>
            <a:off x="13437395" y="1716883"/>
            <a:ext cx="4850606" cy="751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nettore 1 6">
            <a:extLst>
              <a:ext uri="{FF2B5EF4-FFF2-40B4-BE49-F238E27FC236}">
                <a16:creationId xmlns:a16="http://schemas.microsoft.com/office/drawing/2014/main" id="{13E12579-8EF1-441E-8B2E-46FB9846E468}"/>
              </a:ext>
            </a:extLst>
          </p:cNvPr>
          <p:cNvCxnSpPr>
            <a:cxnSpLocks/>
          </p:cNvCxnSpPr>
          <p:nvPr/>
        </p:nvCxnSpPr>
        <p:spPr>
          <a:xfrm flipV="1">
            <a:off x="12733089" y="1643064"/>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8877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asellaDiTesto 8">
            <a:extLst>
              <a:ext uri="{FF2B5EF4-FFF2-40B4-BE49-F238E27FC236}">
                <a16:creationId xmlns:a16="http://schemas.microsoft.com/office/drawing/2014/main" id="{E2B32886-4D89-4902-83A2-192A2A50B99B}"/>
              </a:ext>
            </a:extLst>
          </p:cNvPr>
          <p:cNvSpPr txBox="1">
            <a:spLocks noChangeArrowheads="1"/>
          </p:cNvSpPr>
          <p:nvPr/>
        </p:nvSpPr>
        <p:spPr bwMode="auto">
          <a:xfrm>
            <a:off x="776288" y="404813"/>
            <a:ext cx="124872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800" b="1" dirty="0">
                <a:solidFill>
                  <a:srgbClr val="0070C0"/>
                </a:solidFill>
                <a:latin typeface="Poppins" panose="020B0604020202020204" charset="0"/>
                <a:cs typeface="Poppins" panose="020B0604020202020204" charset="0"/>
              </a:rPr>
              <a:t>I postulati di bilancio</a:t>
            </a:r>
            <a:endParaRPr lang="it-IT" altLang="it-IT" sz="4800" dirty="0">
              <a:solidFill>
                <a:srgbClr val="0070C0"/>
              </a:solidFill>
              <a:latin typeface="Poppins" panose="020B0604020202020204" charset="0"/>
              <a:cs typeface="Poppins" panose="020B0604020202020204" charset="0"/>
            </a:endParaRPr>
          </a:p>
        </p:txBody>
      </p:sp>
      <p:sp>
        <p:nvSpPr>
          <p:cNvPr id="3" name="Rettangolo 2">
            <a:extLst>
              <a:ext uri="{FF2B5EF4-FFF2-40B4-BE49-F238E27FC236}">
                <a16:creationId xmlns:a16="http://schemas.microsoft.com/office/drawing/2014/main" id="{1DD61F4A-4B0B-4AF1-884D-F976D2CCF1C8}"/>
              </a:ext>
            </a:extLst>
          </p:cNvPr>
          <p:cNvSpPr/>
          <p:nvPr/>
        </p:nvSpPr>
        <p:spPr>
          <a:xfrm>
            <a:off x="928688" y="3164682"/>
            <a:ext cx="10298907" cy="6093976"/>
          </a:xfrm>
          <a:prstGeom prst="rect">
            <a:avLst/>
          </a:prstGeom>
          <a:solidFill>
            <a:schemeClr val="bg1"/>
          </a:solidFill>
          <a:ln>
            <a:solidFill>
              <a:schemeClr val="bg1"/>
            </a:solidFill>
          </a:ln>
        </p:spPr>
        <p:txBody>
          <a:bodyPr>
            <a:spAutoFit/>
          </a:bodyPr>
          <a:lstStyle/>
          <a:p>
            <a:pPr marL="771525" indent="-771525">
              <a:buClr>
                <a:srgbClr val="0070C0"/>
              </a:buClr>
              <a:buFontTx/>
              <a:buAutoNum type="alphaLcParenR"/>
              <a:defRPr/>
            </a:pPr>
            <a:r>
              <a:rPr lang="it-IT" sz="3000" dirty="0">
                <a:solidFill>
                  <a:srgbClr val="0070C0"/>
                </a:solidFill>
                <a:latin typeface="Poppins" panose="020B0604020202020204" charset="0"/>
                <a:cs typeface="Poppins" panose="020B0604020202020204" charset="0"/>
              </a:rPr>
              <a:t>Prudenza</a:t>
            </a:r>
          </a:p>
          <a:p>
            <a:pPr marL="771525" indent="-771525">
              <a:buClr>
                <a:srgbClr val="C00000"/>
              </a:buClr>
              <a:buFontTx/>
              <a:buAutoNum type="alphaLcParenR"/>
              <a:defRPr/>
            </a:pPr>
            <a:endParaRPr lang="it-IT" sz="3000" dirty="0">
              <a:solidFill>
                <a:srgbClr val="0070C0"/>
              </a:solidFill>
              <a:latin typeface="Poppins" panose="020B0604020202020204" charset="0"/>
              <a:cs typeface="Poppins" panose="020B0604020202020204" charset="0"/>
            </a:endParaRPr>
          </a:p>
          <a:p>
            <a:pPr marL="771525" indent="-771525">
              <a:buClr>
                <a:srgbClr val="0070C0"/>
              </a:buClr>
              <a:buFontTx/>
              <a:buAutoNum type="alphaLcParenR"/>
              <a:defRPr/>
            </a:pPr>
            <a:r>
              <a:rPr lang="it-IT" sz="3000" dirty="0">
                <a:solidFill>
                  <a:srgbClr val="0070C0"/>
                </a:solidFill>
                <a:latin typeface="Poppins" panose="020B0604020202020204" charset="0"/>
                <a:cs typeface="Poppins" panose="020B0604020202020204" charset="0"/>
              </a:rPr>
              <a:t>Sostanza economica</a:t>
            </a:r>
          </a:p>
          <a:p>
            <a:pPr marL="771525" indent="-771525">
              <a:buClr>
                <a:srgbClr val="C00000"/>
              </a:buClr>
              <a:buFontTx/>
              <a:buAutoNum type="alphaLcParenR"/>
              <a:defRPr/>
            </a:pPr>
            <a:endParaRPr lang="it-IT" sz="3000" dirty="0">
              <a:solidFill>
                <a:srgbClr val="0070C0"/>
              </a:solidFill>
              <a:latin typeface="Poppins" panose="020B0604020202020204" charset="0"/>
              <a:cs typeface="Poppins" panose="020B0604020202020204" charset="0"/>
            </a:endParaRPr>
          </a:p>
          <a:p>
            <a:pPr marL="771525" indent="-771525">
              <a:buClr>
                <a:srgbClr val="0070C0"/>
              </a:buClr>
              <a:buFontTx/>
              <a:buAutoNum type="alphaLcParenR"/>
              <a:defRPr/>
            </a:pPr>
            <a:r>
              <a:rPr lang="it-IT" sz="3000" dirty="0">
                <a:solidFill>
                  <a:srgbClr val="0070C0"/>
                </a:solidFill>
                <a:latin typeface="Poppins" panose="020B0604020202020204" charset="0"/>
                <a:cs typeface="Poppins" panose="020B0604020202020204" charset="0"/>
              </a:rPr>
              <a:t>Realizzazione degli utili e della competenza economica</a:t>
            </a:r>
          </a:p>
          <a:p>
            <a:pPr marL="771525" indent="-771525">
              <a:buClr>
                <a:srgbClr val="C00000"/>
              </a:buClr>
              <a:buFontTx/>
              <a:buAutoNum type="alphaLcParenR"/>
              <a:defRPr/>
            </a:pPr>
            <a:endParaRPr lang="it-IT" sz="3000" dirty="0">
              <a:solidFill>
                <a:srgbClr val="0070C0"/>
              </a:solidFill>
              <a:latin typeface="Poppins" panose="020B0604020202020204" charset="0"/>
              <a:cs typeface="Poppins" panose="020B0604020202020204" charset="0"/>
            </a:endParaRPr>
          </a:p>
          <a:p>
            <a:pPr marL="771525" indent="-771525">
              <a:buClr>
                <a:srgbClr val="0070C0"/>
              </a:buClr>
              <a:buFontTx/>
              <a:buAutoNum type="alphaLcParenR"/>
              <a:defRPr/>
            </a:pPr>
            <a:r>
              <a:rPr lang="it-IT" sz="3000" dirty="0">
                <a:solidFill>
                  <a:srgbClr val="0070C0"/>
                </a:solidFill>
                <a:latin typeface="Poppins" panose="020B0604020202020204" charset="0"/>
                <a:cs typeface="Poppins" panose="020B0604020202020204" charset="0"/>
              </a:rPr>
              <a:t>Fatti intervenuti dopo la chiusura dell’esercizio</a:t>
            </a:r>
          </a:p>
          <a:p>
            <a:pPr marL="771525" indent="-771525">
              <a:buClr>
                <a:srgbClr val="C00000"/>
              </a:buClr>
              <a:buFontTx/>
              <a:buAutoNum type="alphaLcParenR"/>
              <a:defRPr/>
            </a:pPr>
            <a:endParaRPr lang="it-IT" sz="3000" dirty="0">
              <a:solidFill>
                <a:srgbClr val="0070C0"/>
              </a:solidFill>
              <a:latin typeface="Poppins" panose="020B0604020202020204" charset="0"/>
              <a:cs typeface="Poppins" panose="020B0604020202020204" charset="0"/>
            </a:endParaRPr>
          </a:p>
          <a:p>
            <a:pPr marL="771525" indent="-771525">
              <a:buClr>
                <a:srgbClr val="0070C0"/>
              </a:buClr>
              <a:buFontTx/>
              <a:buAutoNum type="alphaLcParenR"/>
              <a:defRPr/>
            </a:pPr>
            <a:r>
              <a:rPr lang="it-IT" sz="3000" dirty="0">
                <a:solidFill>
                  <a:srgbClr val="0070C0"/>
                </a:solidFill>
                <a:latin typeface="Poppins" panose="020B0604020202020204" charset="0"/>
                <a:cs typeface="Poppins" panose="020B0604020202020204" charset="0"/>
              </a:rPr>
              <a:t>Valutazione separata degli elementi eterogenei</a:t>
            </a:r>
          </a:p>
          <a:p>
            <a:pPr marL="771525" indent="-771525">
              <a:buClr>
                <a:srgbClr val="C00000"/>
              </a:buClr>
              <a:buFontTx/>
              <a:buAutoNum type="alphaLcParenR"/>
              <a:defRPr/>
            </a:pPr>
            <a:endParaRPr lang="it-IT" sz="3000" dirty="0">
              <a:solidFill>
                <a:srgbClr val="0070C0"/>
              </a:solidFill>
              <a:latin typeface="Poppins" panose="020B0604020202020204" charset="0"/>
              <a:cs typeface="Poppins" panose="020B0604020202020204" charset="0"/>
            </a:endParaRPr>
          </a:p>
          <a:p>
            <a:pPr marL="771525" indent="-771525">
              <a:buClr>
                <a:srgbClr val="0070C0"/>
              </a:buClr>
              <a:buFontTx/>
              <a:buAutoNum type="alphaLcParenR"/>
              <a:defRPr/>
            </a:pPr>
            <a:r>
              <a:rPr lang="it-IT" sz="3000" dirty="0">
                <a:solidFill>
                  <a:srgbClr val="0070C0"/>
                </a:solidFill>
                <a:latin typeface="Poppins" panose="020B0604020202020204" charset="0"/>
                <a:cs typeface="Poppins" panose="020B0604020202020204" charset="0"/>
              </a:rPr>
              <a:t>Cambiamento di principi contabili e cambiamenti di stime</a:t>
            </a:r>
          </a:p>
        </p:txBody>
      </p:sp>
      <p:cxnSp>
        <p:nvCxnSpPr>
          <p:cNvPr id="11" name="Connettore 1 6">
            <a:extLst>
              <a:ext uri="{FF2B5EF4-FFF2-40B4-BE49-F238E27FC236}">
                <a16:creationId xmlns:a16="http://schemas.microsoft.com/office/drawing/2014/main" id="{6EF8B612-F743-4AAC-BDB8-1098F22A9ABD}"/>
              </a:ext>
            </a:extLst>
          </p:cNvPr>
          <p:cNvCxnSpPr>
            <a:cxnSpLocks/>
          </p:cNvCxnSpPr>
          <p:nvPr/>
        </p:nvCxnSpPr>
        <p:spPr>
          <a:xfrm flipV="1">
            <a:off x="12760798" y="1321595"/>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22534" name="Rettangolo 11">
            <a:extLst>
              <a:ext uri="{FF2B5EF4-FFF2-40B4-BE49-F238E27FC236}">
                <a16:creationId xmlns:a16="http://schemas.microsoft.com/office/drawing/2014/main" id="{CEDA9A3C-6F51-4CB5-8440-0351D1C97298}"/>
              </a:ext>
            </a:extLst>
          </p:cNvPr>
          <p:cNvSpPr>
            <a:spLocks noChangeArrowheads="1"/>
          </p:cNvSpPr>
          <p:nvPr/>
        </p:nvSpPr>
        <p:spPr bwMode="auto">
          <a:xfrm>
            <a:off x="928688" y="1957388"/>
            <a:ext cx="6834188" cy="646331"/>
          </a:xfrm>
          <a:prstGeom prst="rect">
            <a:avLst/>
          </a:prstGeom>
          <a:solidFill>
            <a:srgbClr val="0070C0"/>
          </a:solid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r>
              <a:rPr lang="it-IT" altLang="it-IT" sz="3600" b="1" dirty="0">
                <a:solidFill>
                  <a:schemeClr val="bg1"/>
                </a:solidFill>
                <a:latin typeface="Poppins" panose="020B0604020202020204" charset="0"/>
                <a:cs typeface="Poppins" panose="020B0604020202020204" charset="0"/>
              </a:rPr>
              <a:t>Art. 2423-bis</a:t>
            </a:r>
          </a:p>
        </p:txBody>
      </p:sp>
      <p:pic>
        <p:nvPicPr>
          <p:cNvPr id="22535" name="Immagine 12">
            <a:extLst>
              <a:ext uri="{FF2B5EF4-FFF2-40B4-BE49-F238E27FC236}">
                <a16:creationId xmlns:a16="http://schemas.microsoft.com/office/drawing/2014/main" id="{E0257717-9413-46A8-81CA-76D9616FC7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2704"/>
          <a:stretch>
            <a:fillRect/>
          </a:stretch>
        </p:blipFill>
        <p:spPr bwMode="auto">
          <a:xfrm>
            <a:off x="12963525" y="1321595"/>
            <a:ext cx="5324475" cy="791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asellaDiTesto 8">
            <a:extLst>
              <a:ext uri="{FF2B5EF4-FFF2-40B4-BE49-F238E27FC236}">
                <a16:creationId xmlns:a16="http://schemas.microsoft.com/office/drawing/2014/main" id="{1DDBAFD4-E945-436E-B335-373CE05E3289}"/>
              </a:ext>
            </a:extLst>
          </p:cNvPr>
          <p:cNvSpPr txBox="1">
            <a:spLocks noChangeArrowheads="1"/>
          </p:cNvSpPr>
          <p:nvPr/>
        </p:nvSpPr>
        <p:spPr bwMode="auto">
          <a:xfrm>
            <a:off x="776288" y="404813"/>
            <a:ext cx="124872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800" b="1" dirty="0">
                <a:solidFill>
                  <a:srgbClr val="0070C0"/>
                </a:solidFill>
                <a:latin typeface="Poppins" panose="020B0604020202020204" charset="0"/>
                <a:cs typeface="Poppins" panose="020B0604020202020204" charset="0"/>
              </a:rPr>
              <a:t>I postulati di bilancio</a:t>
            </a:r>
            <a:endParaRPr lang="it-IT" altLang="it-IT" sz="4200" i="1" dirty="0">
              <a:solidFill>
                <a:srgbClr val="0070C0"/>
              </a:solidFill>
              <a:latin typeface="Poppins" panose="020B0604020202020204" charset="0"/>
              <a:cs typeface="Poppins" panose="020B0604020202020204" charset="0"/>
            </a:endParaRPr>
          </a:p>
        </p:txBody>
      </p:sp>
      <p:sp>
        <p:nvSpPr>
          <p:cNvPr id="3" name="Rettangolo 2">
            <a:extLst>
              <a:ext uri="{FF2B5EF4-FFF2-40B4-BE49-F238E27FC236}">
                <a16:creationId xmlns:a16="http://schemas.microsoft.com/office/drawing/2014/main" id="{28C4FBB2-373C-404A-B53D-51BA8CFF7A46}"/>
              </a:ext>
            </a:extLst>
          </p:cNvPr>
          <p:cNvSpPr/>
          <p:nvPr/>
        </p:nvSpPr>
        <p:spPr>
          <a:xfrm>
            <a:off x="928688" y="2707483"/>
            <a:ext cx="10298907" cy="6093976"/>
          </a:xfrm>
          <a:prstGeom prst="rect">
            <a:avLst/>
          </a:prstGeom>
          <a:solidFill>
            <a:schemeClr val="bg1"/>
          </a:solidFill>
          <a:ln>
            <a:solidFill>
              <a:schemeClr val="bg1"/>
            </a:solidFill>
          </a:ln>
        </p:spPr>
        <p:txBody>
          <a:bodyPr>
            <a:spAutoFit/>
          </a:bodyPr>
          <a:lstStyle/>
          <a:p>
            <a:pPr marL="771525" indent="-771525">
              <a:buClr>
                <a:srgbClr val="0070C0"/>
              </a:buClr>
              <a:buFontTx/>
              <a:buAutoNum type="alphaLcParenR"/>
              <a:defRPr/>
            </a:pPr>
            <a:r>
              <a:rPr lang="it-IT" sz="3000" dirty="0">
                <a:solidFill>
                  <a:srgbClr val="0070C0"/>
                </a:solidFill>
                <a:latin typeface="Poppins" panose="020B0604020202020204" charset="0"/>
                <a:cs typeface="Poppins" panose="020B0604020202020204" charset="0"/>
              </a:rPr>
              <a:t>Prudenza</a:t>
            </a:r>
          </a:p>
          <a:p>
            <a:pPr marL="771525" indent="-771525">
              <a:buClr>
                <a:srgbClr val="C00000"/>
              </a:buClr>
              <a:buFontTx/>
              <a:buAutoNum type="alphaLcParenR"/>
              <a:defRPr/>
            </a:pPr>
            <a:endParaRPr lang="it-IT" sz="3000" dirty="0">
              <a:solidFill>
                <a:srgbClr val="0070C0"/>
              </a:solidFill>
              <a:latin typeface="Poppins" panose="020B0604020202020204" charset="0"/>
              <a:cs typeface="Poppins" panose="020B0604020202020204" charset="0"/>
            </a:endParaRPr>
          </a:p>
          <a:p>
            <a:pPr marL="771525" indent="-771525">
              <a:buClr>
                <a:srgbClr val="0070C0"/>
              </a:buClr>
              <a:buFontTx/>
              <a:buAutoNum type="alphaLcParenR"/>
              <a:defRPr/>
            </a:pPr>
            <a:r>
              <a:rPr lang="it-IT" sz="3000" dirty="0">
                <a:solidFill>
                  <a:srgbClr val="0070C0"/>
                </a:solidFill>
                <a:latin typeface="Poppins" panose="020B0604020202020204" charset="0"/>
                <a:cs typeface="Poppins" panose="020B0604020202020204" charset="0"/>
              </a:rPr>
              <a:t>Prospettiva della continuità aziendale</a:t>
            </a:r>
          </a:p>
          <a:p>
            <a:pPr marL="771525" indent="-771525">
              <a:buClr>
                <a:srgbClr val="C00000"/>
              </a:buClr>
              <a:buFontTx/>
              <a:buAutoNum type="alphaLcParenR"/>
              <a:defRPr/>
            </a:pPr>
            <a:endParaRPr lang="it-IT" sz="3000" dirty="0">
              <a:solidFill>
                <a:srgbClr val="0070C0"/>
              </a:solidFill>
              <a:latin typeface="Poppins" panose="020B0604020202020204" charset="0"/>
              <a:cs typeface="Poppins" panose="020B0604020202020204" charset="0"/>
            </a:endParaRPr>
          </a:p>
          <a:p>
            <a:pPr marL="771525" indent="-771525">
              <a:buClr>
                <a:srgbClr val="0070C0"/>
              </a:buClr>
              <a:buFontTx/>
              <a:buAutoNum type="alphaLcParenR"/>
              <a:defRPr/>
            </a:pPr>
            <a:r>
              <a:rPr lang="it-IT" sz="3000" dirty="0">
                <a:solidFill>
                  <a:srgbClr val="0070C0"/>
                </a:solidFill>
                <a:latin typeface="Poppins" panose="020B0604020202020204" charset="0"/>
                <a:cs typeface="Poppins" panose="020B0604020202020204" charset="0"/>
              </a:rPr>
              <a:t>Rappresentazione sostanziale</a:t>
            </a:r>
          </a:p>
          <a:p>
            <a:pPr marL="771525" indent="-771525">
              <a:buClr>
                <a:srgbClr val="C00000"/>
              </a:buClr>
              <a:buFontTx/>
              <a:buAutoNum type="alphaLcParenR"/>
              <a:defRPr/>
            </a:pPr>
            <a:endParaRPr lang="it-IT" sz="3000" dirty="0">
              <a:solidFill>
                <a:srgbClr val="0070C0"/>
              </a:solidFill>
              <a:latin typeface="Poppins" panose="020B0604020202020204" charset="0"/>
              <a:cs typeface="Poppins" panose="020B0604020202020204" charset="0"/>
            </a:endParaRPr>
          </a:p>
          <a:p>
            <a:pPr marL="771525" indent="-771525">
              <a:buClr>
                <a:srgbClr val="0070C0"/>
              </a:buClr>
              <a:buFontTx/>
              <a:buAutoNum type="alphaLcParenR"/>
              <a:defRPr/>
            </a:pPr>
            <a:r>
              <a:rPr lang="it-IT" sz="3000" dirty="0">
                <a:solidFill>
                  <a:srgbClr val="0070C0"/>
                </a:solidFill>
                <a:latin typeface="Poppins" panose="020B0604020202020204" charset="0"/>
                <a:cs typeface="Poppins" panose="020B0604020202020204" charset="0"/>
              </a:rPr>
              <a:t>Competenza</a:t>
            </a:r>
          </a:p>
          <a:p>
            <a:pPr marL="771525" indent="-771525">
              <a:buClr>
                <a:srgbClr val="C00000"/>
              </a:buClr>
              <a:buFontTx/>
              <a:buAutoNum type="alphaLcParenR"/>
              <a:defRPr/>
            </a:pPr>
            <a:endParaRPr lang="it-IT" sz="3000" dirty="0">
              <a:solidFill>
                <a:srgbClr val="0070C0"/>
              </a:solidFill>
              <a:latin typeface="Poppins" panose="020B0604020202020204" charset="0"/>
              <a:cs typeface="Poppins" panose="020B0604020202020204" charset="0"/>
            </a:endParaRPr>
          </a:p>
          <a:p>
            <a:pPr marL="771525" indent="-771525">
              <a:buClr>
                <a:srgbClr val="0070C0"/>
              </a:buClr>
              <a:buFontTx/>
              <a:buAutoNum type="alphaLcParenR"/>
              <a:defRPr/>
            </a:pPr>
            <a:r>
              <a:rPr lang="it-IT" sz="3000" dirty="0">
                <a:solidFill>
                  <a:srgbClr val="0070C0"/>
                </a:solidFill>
                <a:latin typeface="Poppins" panose="020B0604020202020204" charset="0"/>
                <a:cs typeface="Poppins" panose="020B0604020202020204" charset="0"/>
              </a:rPr>
              <a:t>Costanza nei criteri di valutazione</a:t>
            </a:r>
          </a:p>
          <a:p>
            <a:pPr marL="771525" indent="-771525">
              <a:buClr>
                <a:srgbClr val="0070C0"/>
              </a:buClr>
              <a:buFontTx/>
              <a:buAutoNum type="alphaLcParenR"/>
              <a:defRPr/>
            </a:pPr>
            <a:endParaRPr lang="it-IT" sz="3000" dirty="0">
              <a:solidFill>
                <a:srgbClr val="0070C0"/>
              </a:solidFill>
              <a:latin typeface="Poppins" panose="020B0604020202020204" charset="0"/>
              <a:cs typeface="Poppins" panose="020B0604020202020204" charset="0"/>
            </a:endParaRPr>
          </a:p>
          <a:p>
            <a:pPr marL="771525" indent="-771525">
              <a:buClr>
                <a:srgbClr val="0070C0"/>
              </a:buClr>
              <a:buFontTx/>
              <a:buAutoNum type="alphaLcParenR"/>
              <a:defRPr/>
            </a:pPr>
            <a:r>
              <a:rPr lang="it-IT" sz="3000" dirty="0">
                <a:solidFill>
                  <a:srgbClr val="0070C0"/>
                </a:solidFill>
                <a:latin typeface="Poppins" panose="020B0604020202020204" charset="0"/>
                <a:cs typeface="Poppins" panose="020B0604020202020204" charset="0"/>
              </a:rPr>
              <a:t>Rilevanza</a:t>
            </a:r>
          </a:p>
          <a:p>
            <a:pPr marL="771525" indent="-771525">
              <a:buClr>
                <a:srgbClr val="C00000"/>
              </a:buClr>
              <a:buFontTx/>
              <a:buAutoNum type="alphaLcParenR"/>
              <a:defRPr/>
            </a:pPr>
            <a:endParaRPr lang="it-IT" sz="3000" dirty="0">
              <a:solidFill>
                <a:srgbClr val="0070C0"/>
              </a:solidFill>
              <a:latin typeface="Poppins" panose="020B0604020202020204" charset="0"/>
              <a:cs typeface="Poppins" panose="020B0604020202020204" charset="0"/>
            </a:endParaRPr>
          </a:p>
          <a:p>
            <a:pPr marL="771525" indent="-771525">
              <a:buClr>
                <a:srgbClr val="0070C0"/>
              </a:buClr>
              <a:buFont typeface="+mj-lt"/>
              <a:buAutoNum type="alphaLcParenR"/>
              <a:defRPr/>
            </a:pPr>
            <a:r>
              <a:rPr lang="it-IT" sz="3000" dirty="0">
                <a:solidFill>
                  <a:srgbClr val="0070C0"/>
                </a:solidFill>
                <a:latin typeface="Poppins" panose="020B0604020202020204" charset="0"/>
                <a:cs typeface="Poppins" panose="020B0604020202020204" charset="0"/>
              </a:rPr>
              <a:t>Comparabilità</a:t>
            </a:r>
          </a:p>
        </p:txBody>
      </p:sp>
      <p:sp>
        <p:nvSpPr>
          <p:cNvPr id="24580" name="Rettangolo 1">
            <a:extLst>
              <a:ext uri="{FF2B5EF4-FFF2-40B4-BE49-F238E27FC236}">
                <a16:creationId xmlns:a16="http://schemas.microsoft.com/office/drawing/2014/main" id="{9520F77A-1CCF-4AEF-94B0-E10876FD9E51}"/>
              </a:ext>
            </a:extLst>
          </p:cNvPr>
          <p:cNvSpPr>
            <a:spLocks noChangeArrowheads="1"/>
          </p:cNvSpPr>
          <p:nvPr/>
        </p:nvSpPr>
        <p:spPr bwMode="auto">
          <a:xfrm>
            <a:off x="928688" y="1957388"/>
            <a:ext cx="6834188" cy="646331"/>
          </a:xfrm>
          <a:prstGeom prst="rect">
            <a:avLst/>
          </a:prstGeom>
          <a:solidFill>
            <a:srgbClr val="0070C0"/>
          </a:solid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r>
              <a:rPr lang="it-IT" altLang="it-IT" sz="3600" b="1" dirty="0">
                <a:solidFill>
                  <a:schemeClr val="bg1"/>
                </a:solidFill>
                <a:latin typeface="Poppins" panose="020B0604020202020204" charset="0"/>
                <a:cs typeface="Poppins" panose="020B0604020202020204" charset="0"/>
              </a:rPr>
              <a:t>OIC 11, p. 15</a:t>
            </a:r>
          </a:p>
        </p:txBody>
      </p:sp>
      <p:pic>
        <p:nvPicPr>
          <p:cNvPr id="24582" name="Immagine 7">
            <a:extLst>
              <a:ext uri="{FF2B5EF4-FFF2-40B4-BE49-F238E27FC236}">
                <a16:creationId xmlns:a16="http://schemas.microsoft.com/office/drawing/2014/main" id="{84CB61B1-4B83-41A5-83BA-570C5D963A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2704"/>
          <a:stretch>
            <a:fillRect/>
          </a:stretch>
        </p:blipFill>
        <p:spPr bwMode="auto">
          <a:xfrm>
            <a:off x="12963525" y="1321595"/>
            <a:ext cx="5324475" cy="791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Connettore 1 6">
            <a:extLst>
              <a:ext uri="{FF2B5EF4-FFF2-40B4-BE49-F238E27FC236}">
                <a16:creationId xmlns:a16="http://schemas.microsoft.com/office/drawing/2014/main" id="{C7AE8A80-3D31-44F3-9E96-8BDB5FC2310A}"/>
              </a:ext>
            </a:extLst>
          </p:cNvPr>
          <p:cNvCxnSpPr>
            <a:cxnSpLocks/>
          </p:cNvCxnSpPr>
          <p:nvPr/>
        </p:nvCxnSpPr>
        <p:spPr>
          <a:xfrm flipV="1">
            <a:off x="12963525" y="1321595"/>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3">
            <a:extLst>
              <a:ext uri="{FF2B5EF4-FFF2-40B4-BE49-F238E27FC236}">
                <a16:creationId xmlns:a16="http://schemas.microsoft.com/office/drawing/2014/main" id="{B1769E60-8A17-4A56-A6AB-BB31C7B2B45C}"/>
              </a:ext>
            </a:extLst>
          </p:cNvPr>
          <p:cNvSpPr>
            <a:spLocks noGrp="1" noChangeArrowheads="1"/>
          </p:cNvSpPr>
          <p:nvPr>
            <p:ph idx="1"/>
          </p:nvPr>
        </p:nvSpPr>
        <p:spPr>
          <a:xfrm>
            <a:off x="2062162" y="2925987"/>
            <a:ext cx="9915525" cy="4453480"/>
          </a:xfrm>
          <a:solidFill>
            <a:schemeClr val="bg1"/>
          </a:solidFill>
        </p:spPr>
        <p:txBody>
          <a:bodyPr rtlCol="0">
            <a:normAutofit/>
          </a:bodyPr>
          <a:lstStyle/>
          <a:p>
            <a:pPr marL="0" indent="0" algn="ctr">
              <a:buNone/>
              <a:defRPr/>
            </a:pPr>
            <a:r>
              <a:rPr lang="it-IT" altLang="it-IT" sz="3600" b="1" dirty="0">
                <a:solidFill>
                  <a:srgbClr val="0070C0"/>
                </a:solidFill>
                <a:latin typeface="Poppins" panose="020B0604020202020204" charset="0"/>
                <a:cs typeface="Poppins" panose="020B0604020202020204" charset="0"/>
              </a:rPr>
              <a:t>Funzione interpretativa</a:t>
            </a:r>
          </a:p>
          <a:p>
            <a:pPr algn="just">
              <a:buClr>
                <a:srgbClr val="0070C0"/>
              </a:buClr>
              <a:buFont typeface="Wingdings" panose="05000000000000000000" pitchFamily="2" charset="2"/>
              <a:buChar char="§"/>
              <a:defRPr/>
            </a:pPr>
            <a:r>
              <a:rPr lang="it-IT" altLang="it-IT" sz="3600" dirty="0">
                <a:solidFill>
                  <a:srgbClr val="0070C0"/>
                </a:solidFill>
                <a:latin typeface="Poppins" panose="020B0604020202020204" charset="0"/>
                <a:cs typeface="Poppins" panose="020B0604020202020204" charset="0"/>
              </a:rPr>
              <a:t>Interpretare in chiave tecnica le norme di legge in materia di bilancio</a:t>
            </a:r>
          </a:p>
          <a:p>
            <a:pPr marL="0" indent="0" algn="just">
              <a:buNone/>
              <a:defRPr/>
            </a:pPr>
            <a:endParaRPr lang="it-IT" altLang="it-IT" sz="3600" dirty="0">
              <a:solidFill>
                <a:srgbClr val="0070C0"/>
              </a:solidFill>
              <a:latin typeface="Poppins" panose="020B0604020202020204" charset="0"/>
              <a:cs typeface="Poppins" panose="020B0604020202020204" charset="0"/>
            </a:endParaRPr>
          </a:p>
          <a:p>
            <a:pPr marL="0" indent="0" algn="ctr">
              <a:buNone/>
              <a:defRPr/>
            </a:pPr>
            <a:r>
              <a:rPr lang="it-IT" altLang="it-IT" sz="3600" b="1" dirty="0">
                <a:solidFill>
                  <a:srgbClr val="0070C0"/>
                </a:solidFill>
                <a:latin typeface="Poppins" panose="020B0604020202020204" charset="0"/>
                <a:cs typeface="Poppins" panose="020B0604020202020204" charset="0"/>
              </a:rPr>
              <a:t>Funzione integrativa</a:t>
            </a:r>
          </a:p>
          <a:p>
            <a:pPr algn="just">
              <a:buClr>
                <a:srgbClr val="0070C0"/>
              </a:buClr>
              <a:buFont typeface="Wingdings" panose="05000000000000000000" pitchFamily="2" charset="2"/>
              <a:buChar char="§"/>
              <a:defRPr/>
            </a:pPr>
            <a:r>
              <a:rPr lang="it-IT" altLang="it-IT" sz="3600" dirty="0">
                <a:solidFill>
                  <a:srgbClr val="0070C0"/>
                </a:solidFill>
                <a:latin typeface="Poppins" panose="020B0604020202020204" charset="0"/>
                <a:cs typeface="Poppins" panose="020B0604020202020204" charset="0"/>
              </a:rPr>
              <a:t>Colmare lacune presenti nelle norme di legge</a:t>
            </a:r>
          </a:p>
        </p:txBody>
      </p:sp>
      <p:sp>
        <p:nvSpPr>
          <p:cNvPr id="26629" name="CasellaDiTesto 3">
            <a:extLst>
              <a:ext uri="{FF2B5EF4-FFF2-40B4-BE49-F238E27FC236}">
                <a16:creationId xmlns:a16="http://schemas.microsoft.com/office/drawing/2014/main" id="{AFB86241-46E2-43B5-9910-D281D76BC400}"/>
              </a:ext>
            </a:extLst>
          </p:cNvPr>
          <p:cNvSpPr txBox="1">
            <a:spLocks noChangeArrowheads="1"/>
          </p:cNvSpPr>
          <p:nvPr/>
        </p:nvSpPr>
        <p:spPr bwMode="auto">
          <a:xfrm>
            <a:off x="776288" y="404813"/>
            <a:ext cx="1248727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5400" b="1" dirty="0">
                <a:solidFill>
                  <a:srgbClr val="0070C0"/>
                </a:solidFill>
                <a:latin typeface="Poppins" panose="020B0604020202020204" charset="0"/>
                <a:cs typeface="Poppins" panose="020B0604020202020204" charset="0"/>
              </a:rPr>
              <a:t>La duplice funzione dei principi contabili</a:t>
            </a:r>
          </a:p>
        </p:txBody>
      </p:sp>
      <p:pic>
        <p:nvPicPr>
          <p:cNvPr id="26631" name="Immagine 10">
            <a:extLst>
              <a:ext uri="{FF2B5EF4-FFF2-40B4-BE49-F238E27FC236}">
                <a16:creationId xmlns:a16="http://schemas.microsoft.com/office/drawing/2014/main" id="{562B2413-B070-4275-B697-68C48E5714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2704"/>
          <a:stretch>
            <a:fillRect/>
          </a:stretch>
        </p:blipFill>
        <p:spPr bwMode="auto">
          <a:xfrm>
            <a:off x="12963525" y="1321595"/>
            <a:ext cx="5324475" cy="791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Connettore 1 6">
            <a:extLst>
              <a:ext uri="{FF2B5EF4-FFF2-40B4-BE49-F238E27FC236}">
                <a16:creationId xmlns:a16="http://schemas.microsoft.com/office/drawing/2014/main" id="{9776BF88-8B46-477D-8A94-EFA832820FBD}"/>
              </a:ext>
            </a:extLst>
          </p:cNvPr>
          <p:cNvCxnSpPr>
            <a:cxnSpLocks/>
          </p:cNvCxnSpPr>
          <p:nvPr/>
        </p:nvCxnSpPr>
        <p:spPr>
          <a:xfrm flipV="1">
            <a:off x="12963525" y="1309687"/>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asellaDiTesto 3">
            <a:extLst>
              <a:ext uri="{FF2B5EF4-FFF2-40B4-BE49-F238E27FC236}">
                <a16:creationId xmlns:a16="http://schemas.microsoft.com/office/drawing/2014/main" id="{DC3A83AD-1A33-4C11-8F4C-9F37B263C0B7}"/>
              </a:ext>
            </a:extLst>
          </p:cNvPr>
          <p:cNvSpPr txBox="1">
            <a:spLocks noChangeArrowheads="1"/>
          </p:cNvSpPr>
          <p:nvPr/>
        </p:nvSpPr>
        <p:spPr bwMode="auto">
          <a:xfrm>
            <a:off x="776288" y="404813"/>
            <a:ext cx="1553765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800" b="1" i="1">
                <a:solidFill>
                  <a:srgbClr val="0070C0"/>
                </a:solidFill>
                <a:latin typeface="Poppins" panose="020B0604020202020204" charset="0"/>
                <a:cs typeface="Poppins" panose="020B0604020202020204" charset="0"/>
              </a:rPr>
              <a:t>Postulato della prospettiva della continuità aziendale</a:t>
            </a:r>
            <a:endParaRPr lang="it-IT" altLang="it-IT" sz="4800">
              <a:solidFill>
                <a:srgbClr val="0070C0"/>
              </a:solidFill>
              <a:latin typeface="Poppins" panose="020B0604020202020204" charset="0"/>
              <a:cs typeface="Poppins" panose="020B0604020202020204" charset="0"/>
            </a:endParaRPr>
          </a:p>
        </p:txBody>
      </p:sp>
      <p:pic>
        <p:nvPicPr>
          <p:cNvPr id="27652" name="Immagine 5">
            <a:extLst>
              <a:ext uri="{FF2B5EF4-FFF2-40B4-BE49-F238E27FC236}">
                <a16:creationId xmlns:a16="http://schemas.microsoft.com/office/drawing/2014/main" id="{C3D6D046-2B8A-4776-91FC-FB0B963E36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2704"/>
          <a:stretch>
            <a:fillRect/>
          </a:stretch>
        </p:blipFill>
        <p:spPr bwMode="auto">
          <a:xfrm>
            <a:off x="12963525" y="1321595"/>
            <a:ext cx="5324475" cy="791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asellaDiTesto 1">
            <a:extLst>
              <a:ext uri="{FF2B5EF4-FFF2-40B4-BE49-F238E27FC236}">
                <a16:creationId xmlns:a16="http://schemas.microsoft.com/office/drawing/2014/main" id="{9508639E-9DF5-4B58-9668-774888E48B27}"/>
              </a:ext>
            </a:extLst>
          </p:cNvPr>
          <p:cNvSpPr txBox="1"/>
          <p:nvPr/>
        </p:nvSpPr>
        <p:spPr>
          <a:xfrm>
            <a:off x="1031963" y="2691528"/>
            <a:ext cx="11176288" cy="5170646"/>
          </a:xfrm>
          <a:prstGeom prst="rect">
            <a:avLst/>
          </a:prstGeom>
          <a:noFill/>
        </p:spPr>
        <p:txBody>
          <a:bodyPr wrap="square">
            <a:spAutoFit/>
          </a:bodyPr>
          <a:lstStyle>
            <a:defPPr>
              <a:defRPr lang="en-US"/>
            </a:defPPr>
            <a:lvl1pPr marL="285750" indent="-285750" algn="just">
              <a:buClr>
                <a:srgbClr val="C00000"/>
              </a:buClr>
              <a:buFont typeface="Wingdings" panose="05000000000000000000" pitchFamily="2" charset="2"/>
              <a:buChar char="§"/>
              <a:defRPr sz="2000">
                <a:latin typeface="Bahnschrift" panose="020B0502040204020203"/>
              </a:defRPr>
            </a:lvl1pPr>
            <a:lvl2pPr marL="674688" lvl="1" indent="-320675" algn="just">
              <a:buClr>
                <a:srgbClr val="C00000"/>
              </a:buClr>
              <a:buFont typeface="Wingdings" panose="05000000000000000000" pitchFamily="2" charset="2"/>
              <a:buChar char="§"/>
              <a:defRPr>
                <a:latin typeface="Bahnschrift" panose="020B0502040204020203"/>
              </a:defRPr>
            </a:lvl2pPr>
          </a:lstStyle>
          <a:p>
            <a:pPr marL="0" indent="0">
              <a:buNone/>
              <a:defRPr/>
            </a:pPr>
            <a:r>
              <a:rPr lang="it-IT" sz="3300" dirty="0">
                <a:solidFill>
                  <a:srgbClr val="0070C0"/>
                </a:solidFill>
                <a:latin typeface="Poppins" panose="020B0604020202020204" charset="0"/>
                <a:cs typeface="Poppins" panose="020B0604020202020204" charset="0"/>
              </a:rPr>
              <a:t>«</a:t>
            </a:r>
            <a:r>
              <a:rPr lang="it-IT" sz="3300" i="1" dirty="0">
                <a:solidFill>
                  <a:srgbClr val="0070C0"/>
                </a:solidFill>
                <a:latin typeface="Poppins" panose="020B0604020202020204" charset="0"/>
                <a:cs typeface="Poppins" panose="020B0604020202020204" charset="0"/>
              </a:rPr>
              <a:t>La valutazione delle voci deve essere fatta (…) nella prospettiva della continuazione dell’attività»</a:t>
            </a:r>
            <a:r>
              <a:rPr lang="it-IT" sz="3300" dirty="0">
                <a:solidFill>
                  <a:srgbClr val="0070C0"/>
                </a:solidFill>
                <a:latin typeface="Poppins" panose="020B0604020202020204" charset="0"/>
                <a:cs typeface="Poppins" panose="020B0604020202020204" charset="0"/>
              </a:rPr>
              <a:t> (art. 2423-bis co. 1 n. 1).</a:t>
            </a:r>
          </a:p>
          <a:p>
            <a:pPr marL="0" indent="0">
              <a:buNone/>
              <a:defRPr/>
            </a:pPr>
            <a:endParaRPr lang="it-IT" sz="3300" dirty="0">
              <a:solidFill>
                <a:srgbClr val="0070C0"/>
              </a:solidFill>
              <a:latin typeface="Poppins" panose="020B0604020202020204" charset="0"/>
              <a:cs typeface="Poppins" panose="020B0604020202020204" charset="0"/>
            </a:endParaRPr>
          </a:p>
          <a:p>
            <a:pPr lvl="1">
              <a:buClr>
                <a:srgbClr val="0070C0"/>
              </a:buClr>
              <a:defRPr/>
            </a:pPr>
            <a:r>
              <a:rPr lang="it-IT" sz="3300" dirty="0">
                <a:solidFill>
                  <a:srgbClr val="0070C0"/>
                </a:solidFill>
                <a:latin typeface="Poppins" panose="020B0604020202020204" charset="0"/>
                <a:cs typeface="Poppins" panose="020B0604020202020204" charset="0"/>
              </a:rPr>
              <a:t>Il bilancio d’esercizio, infatti, è volto a fornire informazioni patrimoniali, finanziarie ed economiche di un’impresa in funzionamento, cioè di un’impresa caratterizzata da continuità operativa, e non in situazioni particolari quali la cessione o la liquidazione. </a:t>
            </a:r>
          </a:p>
        </p:txBody>
      </p:sp>
      <p:cxnSp>
        <p:nvCxnSpPr>
          <p:cNvPr id="11" name="Connettore 1 6">
            <a:extLst>
              <a:ext uri="{FF2B5EF4-FFF2-40B4-BE49-F238E27FC236}">
                <a16:creationId xmlns:a16="http://schemas.microsoft.com/office/drawing/2014/main" id="{3752B0F2-4687-497B-932F-02FA20FEB26E}"/>
              </a:ext>
            </a:extLst>
          </p:cNvPr>
          <p:cNvCxnSpPr>
            <a:cxnSpLocks/>
          </p:cNvCxnSpPr>
          <p:nvPr/>
        </p:nvCxnSpPr>
        <p:spPr>
          <a:xfrm flipV="1">
            <a:off x="12963525" y="1980334"/>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asellaDiTesto 3">
            <a:extLst>
              <a:ext uri="{FF2B5EF4-FFF2-40B4-BE49-F238E27FC236}">
                <a16:creationId xmlns:a16="http://schemas.microsoft.com/office/drawing/2014/main" id="{B0E37C54-E340-4887-9177-9DB0676AA47F}"/>
              </a:ext>
            </a:extLst>
          </p:cNvPr>
          <p:cNvSpPr txBox="1">
            <a:spLocks noChangeArrowheads="1"/>
          </p:cNvSpPr>
          <p:nvPr/>
        </p:nvSpPr>
        <p:spPr bwMode="auto">
          <a:xfrm>
            <a:off x="776289" y="404813"/>
            <a:ext cx="1690954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000" b="1" dirty="0">
                <a:solidFill>
                  <a:srgbClr val="0070C0"/>
                </a:solidFill>
                <a:latin typeface="Poppins" panose="020B0604020202020204" charset="0"/>
                <a:cs typeface="Poppins" panose="020B0604020202020204" charset="0"/>
              </a:rPr>
              <a:t>Postulato della prospettiva della continuità aziendale - </a:t>
            </a:r>
            <a:r>
              <a:rPr lang="it-IT" altLang="it-IT" sz="3600" i="1" dirty="0">
                <a:solidFill>
                  <a:srgbClr val="0070C0"/>
                </a:solidFill>
                <a:latin typeface="Poppins" panose="020B0604020202020204" charset="0"/>
                <a:cs typeface="Poppins" panose="020B0604020202020204" charset="0"/>
              </a:rPr>
              <a:t>esempio</a:t>
            </a:r>
            <a:endParaRPr lang="it-IT" altLang="it-IT" sz="4000" dirty="0">
              <a:solidFill>
                <a:srgbClr val="0070C0"/>
              </a:solidFill>
              <a:latin typeface="Poppins" panose="020B0604020202020204" charset="0"/>
              <a:cs typeface="Poppins" panose="020B0604020202020204" charset="0"/>
            </a:endParaRPr>
          </a:p>
        </p:txBody>
      </p:sp>
      <p:sp>
        <p:nvSpPr>
          <p:cNvPr id="7" name="CasellaDiTesto 6">
            <a:extLst>
              <a:ext uri="{FF2B5EF4-FFF2-40B4-BE49-F238E27FC236}">
                <a16:creationId xmlns:a16="http://schemas.microsoft.com/office/drawing/2014/main" id="{860E6528-9FAA-4631-B46E-EA94A104E406}"/>
              </a:ext>
            </a:extLst>
          </p:cNvPr>
          <p:cNvSpPr txBox="1"/>
          <p:nvPr/>
        </p:nvSpPr>
        <p:spPr>
          <a:xfrm>
            <a:off x="1596307" y="1773346"/>
            <a:ext cx="15790361" cy="6740307"/>
          </a:xfrm>
          <a:prstGeom prst="rect">
            <a:avLst/>
          </a:prstGeom>
          <a:noFill/>
        </p:spPr>
        <p:txBody>
          <a:bodyPr wrap="square">
            <a:spAutoFit/>
          </a:bodyPr>
          <a:lstStyle>
            <a:defPPr>
              <a:defRPr lang="en-US"/>
            </a:defPPr>
            <a:lvl1pPr indent="0" algn="just">
              <a:buClr>
                <a:srgbClr val="C00000"/>
              </a:buClr>
              <a:buFont typeface="Wingdings" panose="05000000000000000000" pitchFamily="2" charset="2"/>
              <a:buNone/>
              <a:defRPr sz="2200">
                <a:solidFill>
                  <a:schemeClr val="tx1">
                    <a:lumMod val="65000"/>
                    <a:lumOff val="35000"/>
                  </a:schemeClr>
                </a:solidFill>
                <a:latin typeface="Bahnschrift" panose="020B0502040204020203"/>
              </a:defRPr>
            </a:lvl1pPr>
            <a:lvl2pPr marL="674688" lvl="1" indent="-320675" algn="just">
              <a:buClr>
                <a:srgbClr val="C00000"/>
              </a:buClr>
              <a:buFont typeface="Wingdings" panose="05000000000000000000" pitchFamily="2" charset="2"/>
              <a:buChar char="§"/>
              <a:defRPr sz="2200">
                <a:solidFill>
                  <a:schemeClr val="tx1">
                    <a:lumMod val="65000"/>
                    <a:lumOff val="35000"/>
                  </a:schemeClr>
                </a:solidFill>
                <a:latin typeface="Bahnschrift" panose="020B0502040204020203"/>
              </a:defRPr>
            </a:lvl2pPr>
          </a:lstStyle>
          <a:p>
            <a:pPr>
              <a:defRPr/>
            </a:pPr>
            <a:r>
              <a:rPr lang="it-IT" sz="2700" dirty="0">
                <a:solidFill>
                  <a:srgbClr val="0070C0"/>
                </a:solidFill>
                <a:latin typeface="Poppins" panose="020B0604020202020204" charset="0"/>
                <a:cs typeface="Poppins" panose="020B0604020202020204" charset="0"/>
              </a:rPr>
              <a:t>Il postulato della continuità aziendale implica che tutti i beni di un’attività in funzionamento non abbiano un valore intrinseco di per sé, ma lo abbiano, invece, in funzione della loro capacità di produrre un reddito futuro, dunque, in contrapposizione ai casi di imprese in liquidazione, ove essi sono esclusivamente destinati a soddisfare i creditori.</a:t>
            </a:r>
          </a:p>
          <a:p>
            <a:pPr>
              <a:defRPr/>
            </a:pPr>
            <a:endParaRPr lang="it-IT" sz="2700" dirty="0">
              <a:solidFill>
                <a:srgbClr val="0070C0"/>
              </a:solidFill>
              <a:latin typeface="Poppins" panose="020B0604020202020204" charset="0"/>
              <a:cs typeface="Poppins" panose="020B0604020202020204" charset="0"/>
            </a:endParaRPr>
          </a:p>
          <a:p>
            <a:pPr>
              <a:defRPr/>
            </a:pPr>
            <a:r>
              <a:rPr lang="it-IT" sz="2400" b="1" dirty="0">
                <a:solidFill>
                  <a:srgbClr val="0070C0"/>
                </a:solidFill>
                <a:latin typeface="Poppins" panose="020B0604020202020204" charset="0"/>
                <a:cs typeface="Poppins" panose="020B0604020202020204" charset="0"/>
              </a:rPr>
              <a:t>IMMOBILIZZAZIONI MATERIALI E IMMATERIALI</a:t>
            </a:r>
            <a:r>
              <a:rPr lang="it-IT" sz="2700" dirty="0">
                <a:solidFill>
                  <a:srgbClr val="0070C0"/>
                </a:solidFill>
                <a:latin typeface="Poppins" panose="020B0604020202020204" charset="0"/>
                <a:cs typeface="Poppins" panose="020B0604020202020204" charset="0"/>
              </a:rPr>
              <a:t>: il valore considerato è quello d’uso (ovvero quel valore che può essere recuperato nel corso della residua possibilità di utilizzazione);</a:t>
            </a:r>
          </a:p>
          <a:p>
            <a:pPr>
              <a:defRPr/>
            </a:pPr>
            <a:r>
              <a:rPr lang="it-IT" sz="2700" dirty="0">
                <a:solidFill>
                  <a:srgbClr val="0070C0"/>
                </a:solidFill>
                <a:latin typeface="Poppins" panose="020B0604020202020204" charset="0"/>
                <a:cs typeface="Poppins" panose="020B0604020202020204" charset="0"/>
              </a:rPr>
              <a:t> </a:t>
            </a:r>
          </a:p>
          <a:p>
            <a:pPr>
              <a:defRPr/>
            </a:pPr>
            <a:r>
              <a:rPr lang="it-IT" sz="2400" b="1" dirty="0">
                <a:solidFill>
                  <a:srgbClr val="0070C0"/>
                </a:solidFill>
                <a:latin typeface="Poppins" panose="020B0604020202020204" charset="0"/>
                <a:cs typeface="Poppins" panose="020B0604020202020204" charset="0"/>
              </a:rPr>
              <a:t>COSTI DIFFERITI </a:t>
            </a:r>
            <a:r>
              <a:rPr lang="it-IT" sz="2700" dirty="0">
                <a:solidFill>
                  <a:srgbClr val="0070C0"/>
                </a:solidFill>
                <a:latin typeface="Poppins" panose="020B0604020202020204" charset="0"/>
                <a:cs typeface="Poppins" panose="020B0604020202020204" charset="0"/>
              </a:rPr>
              <a:t>(impianto e ampliamento, costi di sviluppo, …): devono trovare nella continuazione dell’attività uno dei presupposti per essere capitalizzati, in quanto in assenza di continuità aziendale tali costi perdono ogni valore e devono essere stornati dall’attivo ed imputati a costi nell’esercizio.</a:t>
            </a:r>
          </a:p>
          <a:p>
            <a:pPr>
              <a:defRPr/>
            </a:pPr>
            <a:endParaRPr lang="it-IT" sz="2700" dirty="0">
              <a:solidFill>
                <a:srgbClr val="0070C0"/>
              </a:solidFill>
              <a:latin typeface="Poppins" panose="020B0604020202020204" charset="0"/>
              <a:cs typeface="Poppins" panose="020B0604020202020204" charset="0"/>
            </a:endParaRPr>
          </a:p>
          <a:p>
            <a:pPr>
              <a:defRPr/>
            </a:pPr>
            <a:r>
              <a:rPr lang="it-IT" sz="2400" b="1" dirty="0">
                <a:solidFill>
                  <a:srgbClr val="0070C0"/>
                </a:solidFill>
                <a:latin typeface="Poppins" panose="020B0604020202020204" charset="0"/>
                <a:cs typeface="Poppins" panose="020B0604020202020204" charset="0"/>
              </a:rPr>
              <a:t>ATTIVITÀ FISCALI DIFFERITE</a:t>
            </a:r>
            <a:r>
              <a:rPr lang="it-IT" sz="2700" dirty="0">
                <a:solidFill>
                  <a:srgbClr val="0070C0"/>
                </a:solidFill>
                <a:latin typeface="Poppins" panose="020B0604020202020204" charset="0"/>
                <a:cs typeface="Poppins" panose="020B0604020202020204" charset="0"/>
              </a:rPr>
              <a:t>: per l’iscrizione delle imposte differite l’OIC 25 richiede che vi sia la ragionevole certezza del loro futuro recupero</a:t>
            </a:r>
          </a:p>
        </p:txBody>
      </p:sp>
      <p:pic>
        <p:nvPicPr>
          <p:cNvPr id="29701" name="Immagine 11">
            <a:extLst>
              <a:ext uri="{FF2B5EF4-FFF2-40B4-BE49-F238E27FC236}">
                <a16:creationId xmlns:a16="http://schemas.microsoft.com/office/drawing/2014/main" id="{68418239-E219-4011-9F06-D0B6297C0A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259" r="8966"/>
          <a:stretch>
            <a:fillRect/>
          </a:stretch>
        </p:blipFill>
        <p:spPr bwMode="auto">
          <a:xfrm>
            <a:off x="898950" y="4114802"/>
            <a:ext cx="661988" cy="788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2" name="Immagine 12">
            <a:extLst>
              <a:ext uri="{FF2B5EF4-FFF2-40B4-BE49-F238E27FC236}">
                <a16:creationId xmlns:a16="http://schemas.microsoft.com/office/drawing/2014/main" id="{FE3408DF-6C2D-4FB2-B244-34C7346D4E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259" r="8966"/>
          <a:stretch>
            <a:fillRect/>
          </a:stretch>
        </p:blipFill>
        <p:spPr bwMode="auto">
          <a:xfrm>
            <a:off x="901332" y="5403058"/>
            <a:ext cx="659606" cy="788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3" name="Immagine 13">
            <a:extLst>
              <a:ext uri="{FF2B5EF4-FFF2-40B4-BE49-F238E27FC236}">
                <a16:creationId xmlns:a16="http://schemas.microsoft.com/office/drawing/2014/main" id="{EBCE610F-1A24-496B-8C8F-B4E9153889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259" r="8966"/>
          <a:stretch>
            <a:fillRect/>
          </a:stretch>
        </p:blipFill>
        <p:spPr bwMode="auto">
          <a:xfrm>
            <a:off x="898950" y="7511003"/>
            <a:ext cx="661988" cy="788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asellaDiTesto 3">
            <a:extLst>
              <a:ext uri="{FF2B5EF4-FFF2-40B4-BE49-F238E27FC236}">
                <a16:creationId xmlns:a16="http://schemas.microsoft.com/office/drawing/2014/main" id="{931700B8-D6AF-4FAA-9A4D-B39B1BBD9B17}"/>
              </a:ext>
            </a:extLst>
          </p:cNvPr>
          <p:cNvSpPr txBox="1">
            <a:spLocks noChangeArrowheads="1"/>
          </p:cNvSpPr>
          <p:nvPr/>
        </p:nvSpPr>
        <p:spPr bwMode="auto">
          <a:xfrm>
            <a:off x="754858" y="404813"/>
            <a:ext cx="1248965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800" b="1" dirty="0">
                <a:solidFill>
                  <a:srgbClr val="0070C0"/>
                </a:solidFill>
                <a:latin typeface="Poppins" panose="020B0604020202020204" charset="0"/>
                <a:cs typeface="Poppins" panose="020B0604020202020204" charset="0"/>
              </a:rPr>
              <a:t>Postulato della prudenza</a:t>
            </a:r>
            <a:endParaRPr lang="it-IT" altLang="it-IT" sz="4800" dirty="0">
              <a:solidFill>
                <a:srgbClr val="0070C0"/>
              </a:solidFill>
              <a:latin typeface="Poppins" panose="020B0604020202020204" charset="0"/>
              <a:cs typeface="Poppins" panose="020B0604020202020204" charset="0"/>
            </a:endParaRPr>
          </a:p>
        </p:txBody>
      </p:sp>
      <p:sp>
        <p:nvSpPr>
          <p:cNvPr id="31748" name="CasellaDiTesto 1">
            <a:extLst>
              <a:ext uri="{FF2B5EF4-FFF2-40B4-BE49-F238E27FC236}">
                <a16:creationId xmlns:a16="http://schemas.microsoft.com/office/drawing/2014/main" id="{881CA86F-177A-461C-86DC-6F5BE1D3A505}"/>
              </a:ext>
            </a:extLst>
          </p:cNvPr>
          <p:cNvSpPr txBox="1">
            <a:spLocks noChangeArrowheads="1"/>
          </p:cNvSpPr>
          <p:nvPr/>
        </p:nvSpPr>
        <p:spPr bwMode="auto">
          <a:xfrm>
            <a:off x="392181" y="1900815"/>
            <a:ext cx="10227468" cy="415498"/>
          </a:xfrm>
          <a:prstGeom prst="rect">
            <a:avLst/>
          </a:prstGeom>
          <a:solidFill>
            <a:srgbClr val="0070C0"/>
          </a:solid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r>
              <a:rPr lang="it-IT" altLang="it-IT" sz="2100" b="1">
                <a:solidFill>
                  <a:schemeClr val="bg1"/>
                </a:solidFill>
                <a:latin typeface="Poppins" panose="020B0604020202020204" charset="0"/>
                <a:cs typeface="Poppins" panose="020B0604020202020204" charset="0"/>
              </a:rPr>
              <a:t>ART. 2423-BIS, CO. 1, NN. 1, 2 E 4</a:t>
            </a:r>
          </a:p>
        </p:txBody>
      </p:sp>
      <p:sp>
        <p:nvSpPr>
          <p:cNvPr id="3" name="CasellaDiTesto 2">
            <a:extLst>
              <a:ext uri="{FF2B5EF4-FFF2-40B4-BE49-F238E27FC236}">
                <a16:creationId xmlns:a16="http://schemas.microsoft.com/office/drawing/2014/main" id="{A541825F-D43C-4272-BE3B-CE6B02B1EB1C}"/>
              </a:ext>
            </a:extLst>
          </p:cNvPr>
          <p:cNvSpPr txBox="1"/>
          <p:nvPr/>
        </p:nvSpPr>
        <p:spPr>
          <a:xfrm>
            <a:off x="392181" y="2793124"/>
            <a:ext cx="11762646" cy="6370975"/>
          </a:xfrm>
          <a:prstGeom prst="rect">
            <a:avLst/>
          </a:prstGeom>
          <a:noFill/>
        </p:spPr>
        <p:txBody>
          <a:bodyPr wrap="square">
            <a:spAutoFit/>
          </a:bodyPr>
          <a:lstStyle/>
          <a:p>
            <a:pPr>
              <a:defRPr/>
            </a:pPr>
            <a:r>
              <a:rPr lang="it-IT" sz="2400" dirty="0">
                <a:solidFill>
                  <a:srgbClr val="0070C0"/>
                </a:solidFill>
                <a:latin typeface="Poppins" panose="020B0604020202020204" charset="0"/>
                <a:cs typeface="Poppins" panose="020B0604020202020204" charset="0"/>
              </a:rPr>
              <a:t>Nel bilancio d’esercizio devono essere rilevati:</a:t>
            </a:r>
          </a:p>
          <a:p>
            <a:pPr marL="428625" indent="-428625">
              <a:buClr>
                <a:srgbClr val="0070C0"/>
              </a:buClr>
              <a:buFont typeface="Wingdings" panose="05000000000000000000" pitchFamily="2" charset="2"/>
              <a:buChar char="§"/>
              <a:defRPr/>
            </a:pPr>
            <a:r>
              <a:rPr lang="it-IT" sz="2400" dirty="0">
                <a:solidFill>
                  <a:srgbClr val="0070C0"/>
                </a:solidFill>
                <a:latin typeface="Poppins" panose="020B0604020202020204" charset="0"/>
                <a:cs typeface="Poppins" panose="020B0604020202020204" charset="0"/>
              </a:rPr>
              <a:t>Soltanto i profitti realizzati;</a:t>
            </a:r>
          </a:p>
          <a:p>
            <a:pPr marL="428625" indent="-428625">
              <a:buClr>
                <a:srgbClr val="0070C0"/>
              </a:buClr>
              <a:buFont typeface="Wingdings" panose="05000000000000000000" pitchFamily="2" charset="2"/>
              <a:buChar char="§"/>
              <a:defRPr/>
            </a:pPr>
            <a:r>
              <a:rPr lang="it-IT" sz="2400" dirty="0">
                <a:solidFill>
                  <a:srgbClr val="0070C0"/>
                </a:solidFill>
                <a:latin typeface="Poppins" panose="020B0604020202020204" charset="0"/>
                <a:cs typeface="Poppins" panose="020B0604020202020204" charset="0"/>
              </a:rPr>
              <a:t>Tutte le perdite, anche se non definitivamente realizzate;</a:t>
            </a:r>
          </a:p>
          <a:p>
            <a:pPr marL="428625" indent="-428625" algn="just">
              <a:buClr>
                <a:srgbClr val="055E98"/>
              </a:buClr>
              <a:buFont typeface="Courier New" panose="02070309020205020404" pitchFamily="49" charset="0"/>
              <a:buChar char="o"/>
              <a:defRPr/>
            </a:pPr>
            <a:endParaRPr lang="it-IT" sz="2400" dirty="0">
              <a:solidFill>
                <a:srgbClr val="0070C0"/>
              </a:solidFill>
              <a:latin typeface="Poppins" panose="020B0604020202020204" charset="0"/>
              <a:cs typeface="Poppins" panose="020B0604020202020204" charset="0"/>
            </a:endParaRPr>
          </a:p>
          <a:p>
            <a:pPr marL="1114425" lvl="1" indent="-428625" algn="just">
              <a:buClr>
                <a:srgbClr val="055E98"/>
              </a:buClr>
              <a:buFont typeface="Courier New" panose="02070309020205020404" pitchFamily="49" charset="0"/>
              <a:buChar char="o"/>
              <a:defRPr/>
            </a:pPr>
            <a:r>
              <a:rPr lang="it-IT" sz="2400" dirty="0">
                <a:solidFill>
                  <a:srgbClr val="0070C0"/>
                </a:solidFill>
                <a:latin typeface="Poppins" panose="020B0604020202020204" charset="0"/>
                <a:cs typeface="Poppins" panose="020B0604020202020204" charset="0"/>
              </a:rPr>
              <a:t>Il principio della prudenza rappresenta uno degli elementi fondamentali del processo valutativo di formazione del bilancio.</a:t>
            </a:r>
          </a:p>
          <a:p>
            <a:pPr marL="1114425" lvl="1" indent="-428625" algn="just">
              <a:buClr>
                <a:srgbClr val="055E98"/>
              </a:buClr>
              <a:buFont typeface="Courier New" panose="02070309020205020404" pitchFamily="49" charset="0"/>
              <a:buChar char="o"/>
              <a:defRPr/>
            </a:pPr>
            <a:endParaRPr lang="it-IT" sz="2400" dirty="0">
              <a:solidFill>
                <a:srgbClr val="0070C0"/>
              </a:solidFill>
              <a:latin typeface="Poppins" panose="020B0604020202020204" charset="0"/>
              <a:cs typeface="Poppins" panose="020B0604020202020204" charset="0"/>
            </a:endParaRPr>
          </a:p>
          <a:p>
            <a:pPr marL="1114425" lvl="1" indent="-428625" algn="just">
              <a:buClr>
                <a:srgbClr val="055E98"/>
              </a:buClr>
              <a:buFont typeface="Courier New" panose="02070309020205020404" pitchFamily="49" charset="0"/>
              <a:buChar char="o"/>
              <a:defRPr/>
            </a:pPr>
            <a:r>
              <a:rPr lang="it-IT" sz="2400" dirty="0">
                <a:solidFill>
                  <a:srgbClr val="0070C0"/>
                </a:solidFill>
                <a:latin typeface="Poppins" panose="020B0604020202020204" charset="0"/>
                <a:cs typeface="Poppins" panose="020B0604020202020204" charset="0"/>
              </a:rPr>
              <a:t>L’applicazione del principio non deve determinare l’arbitraria riduzione del reddito e del patrimonio dell’impresa;</a:t>
            </a:r>
          </a:p>
          <a:p>
            <a:pPr marL="1114425" lvl="1" indent="-428625" algn="just">
              <a:buClr>
                <a:srgbClr val="055E98"/>
              </a:buClr>
              <a:buFont typeface="Courier New" panose="02070309020205020404" pitchFamily="49" charset="0"/>
              <a:buChar char="o"/>
              <a:defRPr/>
            </a:pPr>
            <a:endParaRPr lang="it-IT" sz="2400" dirty="0">
              <a:solidFill>
                <a:srgbClr val="0070C0"/>
              </a:solidFill>
              <a:latin typeface="Poppins" panose="020B0604020202020204" charset="0"/>
              <a:cs typeface="Poppins" panose="020B0604020202020204" charset="0"/>
            </a:endParaRPr>
          </a:p>
          <a:p>
            <a:pPr marL="1114425" lvl="1" indent="-428625" algn="just">
              <a:buClr>
                <a:srgbClr val="055E98"/>
              </a:buClr>
              <a:buFont typeface="Courier New" panose="02070309020205020404" pitchFamily="49" charset="0"/>
              <a:buChar char="o"/>
              <a:defRPr/>
            </a:pPr>
            <a:r>
              <a:rPr lang="it-IT" sz="2400" dirty="0">
                <a:solidFill>
                  <a:srgbClr val="0070C0"/>
                </a:solidFill>
                <a:latin typeface="Poppins" panose="020B0604020202020204" charset="0"/>
                <a:cs typeface="Poppins" panose="020B0604020202020204" charset="0"/>
              </a:rPr>
              <a:t>Il principio di prudenza è strettamente correlato con il postulato della valutazione separata degli elementi eterogenei ricompresi nelle singole voci e con il divieto di compensi di partite.</a:t>
            </a:r>
          </a:p>
          <a:p>
            <a:pPr marL="1114425" lvl="1" indent="-428625" algn="just">
              <a:buClr>
                <a:srgbClr val="055E98"/>
              </a:buClr>
              <a:buFont typeface="Courier New" panose="02070309020205020404" pitchFamily="49" charset="0"/>
              <a:buChar char="o"/>
              <a:defRPr/>
            </a:pPr>
            <a:endParaRPr lang="it-IT" sz="2400" dirty="0">
              <a:solidFill>
                <a:srgbClr val="0070C0"/>
              </a:solidFill>
              <a:latin typeface="Poppins" panose="020B0604020202020204" charset="0"/>
              <a:cs typeface="Poppins" panose="020B0604020202020204" charset="0"/>
            </a:endParaRPr>
          </a:p>
          <a:p>
            <a:pPr marL="1114425" lvl="1" indent="-428625" algn="just">
              <a:buClr>
                <a:srgbClr val="055E98"/>
              </a:buClr>
              <a:buFont typeface="Courier New" panose="02070309020205020404" pitchFamily="49" charset="0"/>
              <a:buChar char="o"/>
              <a:defRPr/>
            </a:pPr>
            <a:r>
              <a:rPr lang="it-IT" sz="2400" dirty="0">
                <a:solidFill>
                  <a:srgbClr val="0070C0"/>
                </a:solidFill>
                <a:latin typeface="Poppins" panose="020B0604020202020204" charset="0"/>
                <a:cs typeface="Poppins" panose="020B0604020202020204" charset="0"/>
              </a:rPr>
              <a:t>L’applicazione di tali principi evita, infatti, compensazioni tra perdite che devono essere rilevate e profitti che non devono essere riconosciuti, in quanto non realizzati.</a:t>
            </a:r>
          </a:p>
        </p:txBody>
      </p:sp>
      <p:pic>
        <p:nvPicPr>
          <p:cNvPr id="31750" name="Immagine 8">
            <a:extLst>
              <a:ext uri="{FF2B5EF4-FFF2-40B4-BE49-F238E27FC236}">
                <a16:creationId xmlns:a16="http://schemas.microsoft.com/office/drawing/2014/main" id="{5742149D-1176-4C48-8D93-5F188FD8DC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2704"/>
          <a:stretch>
            <a:fillRect/>
          </a:stretch>
        </p:blipFill>
        <p:spPr bwMode="auto">
          <a:xfrm>
            <a:off x="12963525" y="1321595"/>
            <a:ext cx="5324475" cy="791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nettore 1 6">
            <a:extLst>
              <a:ext uri="{FF2B5EF4-FFF2-40B4-BE49-F238E27FC236}">
                <a16:creationId xmlns:a16="http://schemas.microsoft.com/office/drawing/2014/main" id="{0CCE2A41-4BF4-4BAD-8BB3-CCC10B87FC64}"/>
              </a:ext>
            </a:extLst>
          </p:cNvPr>
          <p:cNvCxnSpPr>
            <a:cxnSpLocks/>
          </p:cNvCxnSpPr>
          <p:nvPr/>
        </p:nvCxnSpPr>
        <p:spPr>
          <a:xfrm flipV="1">
            <a:off x="12785978" y="1729756"/>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23118E22-BDDF-45FC-8D1B-712083E03D58}"/>
              </a:ext>
            </a:extLst>
          </p:cNvPr>
          <p:cNvSpPr txBox="1"/>
          <p:nvPr/>
        </p:nvSpPr>
        <p:spPr>
          <a:xfrm>
            <a:off x="8906195" y="1453481"/>
            <a:ext cx="8714735" cy="6740307"/>
          </a:xfrm>
          <a:prstGeom prst="rect">
            <a:avLst/>
          </a:prstGeom>
          <a:noFill/>
        </p:spPr>
        <p:txBody>
          <a:bodyPr wrap="square">
            <a:spAutoFit/>
          </a:bodyPr>
          <a:lstStyle/>
          <a:p>
            <a:pPr marL="428625" indent="-428625" algn="just">
              <a:buClr>
                <a:srgbClr val="C00000"/>
              </a:buClr>
              <a:buFont typeface="Wingdings" panose="05000000000000000000" pitchFamily="2" charset="2"/>
              <a:buChar char="§"/>
              <a:defRPr/>
            </a:pPr>
            <a:endParaRPr lang="it-IT" sz="2400" dirty="0">
              <a:solidFill>
                <a:srgbClr val="0070C0"/>
              </a:solidFill>
              <a:latin typeface="Poppins" panose="020B0604020202020204" charset="0"/>
              <a:cs typeface="Poppins" panose="020B0604020202020204" charset="0"/>
            </a:endParaRPr>
          </a:p>
          <a:p>
            <a:pPr algn="just">
              <a:buClr>
                <a:srgbClr val="0070C0"/>
              </a:buClr>
              <a:defRPr/>
            </a:pPr>
            <a:r>
              <a:rPr lang="it-IT" sz="2400" dirty="0">
                <a:solidFill>
                  <a:srgbClr val="0070C0"/>
                </a:solidFill>
                <a:latin typeface="Poppins" panose="020B0604020202020204" charset="0"/>
                <a:cs typeface="Poppins" panose="020B0604020202020204" charset="0"/>
              </a:rPr>
              <a:t>Una immobilizzazione materiale o una partecipazione: se nell’esercizio sono stati stipulati un compromesso di vendita o una lettera d’intenti dai quali si determini una plusvalenza, per il riconoscimento di questa, allora, si dovrà attendere l’esercizio in cui l’immobilizzazione sarà stata definitivamente ceduta ed avvenga il passaggio di proprietà.</a:t>
            </a:r>
          </a:p>
          <a:p>
            <a:pPr marL="428625" indent="-428625" algn="just">
              <a:buClr>
                <a:srgbClr val="C00000"/>
              </a:buClr>
              <a:buFont typeface="Wingdings" panose="05000000000000000000" pitchFamily="2" charset="2"/>
              <a:buChar char="§"/>
              <a:defRPr/>
            </a:pPr>
            <a:endParaRPr lang="it-IT" sz="2400" dirty="0">
              <a:solidFill>
                <a:srgbClr val="0070C0"/>
              </a:solidFill>
              <a:latin typeface="Poppins" panose="020B0604020202020204" charset="0"/>
              <a:cs typeface="Poppins" panose="020B0604020202020204" charset="0"/>
            </a:endParaRPr>
          </a:p>
          <a:p>
            <a:pPr algn="just">
              <a:buClr>
                <a:srgbClr val="0070C0"/>
              </a:buClr>
              <a:defRPr/>
            </a:pPr>
            <a:r>
              <a:rPr lang="it-IT" sz="2400" dirty="0">
                <a:solidFill>
                  <a:srgbClr val="0070C0"/>
                </a:solidFill>
                <a:latin typeface="Poppins" panose="020B0604020202020204" charset="0"/>
                <a:cs typeface="Poppins" panose="020B0604020202020204" charset="0"/>
              </a:rPr>
              <a:t>Si dovrà tenere conto in bilancio di tutte le perdite ed i rischi prevedibili, aventi origine nel corso dell’esercizio od in esercizi precedenti, compresi quelli emersi dopo la chiusura dell’esercizio, fino alla data del C.d.A. che approva il progetto di bilancio. Ad esempio, il fallimento di un cliente manifestatosi successivamente alla chiusura dell’esercizio ma che già alla fine dello stesso versava in uno stato di difficoltà finanziaria. </a:t>
            </a:r>
          </a:p>
        </p:txBody>
      </p:sp>
      <p:sp>
        <p:nvSpPr>
          <p:cNvPr id="33795" name="CasellaDiTesto 3">
            <a:extLst>
              <a:ext uri="{FF2B5EF4-FFF2-40B4-BE49-F238E27FC236}">
                <a16:creationId xmlns:a16="http://schemas.microsoft.com/office/drawing/2014/main" id="{6E03DE92-50A8-4AA9-90F4-C202FAD0D6C1}"/>
              </a:ext>
            </a:extLst>
          </p:cNvPr>
          <p:cNvSpPr txBox="1">
            <a:spLocks noChangeArrowheads="1"/>
          </p:cNvSpPr>
          <p:nvPr/>
        </p:nvSpPr>
        <p:spPr bwMode="auto">
          <a:xfrm>
            <a:off x="776288" y="404813"/>
            <a:ext cx="124872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800" b="1" dirty="0">
                <a:solidFill>
                  <a:srgbClr val="0070C0"/>
                </a:solidFill>
                <a:latin typeface="Poppins" panose="020B0604020202020204" charset="0"/>
                <a:cs typeface="Poppins" panose="020B0604020202020204" charset="0"/>
              </a:rPr>
              <a:t>Postulato della prudenza </a:t>
            </a:r>
            <a:r>
              <a:rPr lang="it-IT" altLang="it-IT" sz="4200" i="1" dirty="0">
                <a:solidFill>
                  <a:srgbClr val="0070C0"/>
                </a:solidFill>
                <a:latin typeface="Poppins" panose="020B0604020202020204" charset="0"/>
                <a:cs typeface="Poppins" panose="020B0604020202020204" charset="0"/>
              </a:rPr>
              <a:t>- esempio</a:t>
            </a:r>
            <a:endParaRPr lang="it-IT" altLang="it-IT" sz="4800" i="1" dirty="0">
              <a:solidFill>
                <a:srgbClr val="0070C0"/>
              </a:solidFill>
              <a:latin typeface="Poppins" panose="020B0604020202020204" charset="0"/>
              <a:cs typeface="Poppins" panose="020B0604020202020204" charset="0"/>
            </a:endParaRPr>
          </a:p>
        </p:txBody>
      </p:sp>
      <p:sp>
        <p:nvSpPr>
          <p:cNvPr id="6" name="Rettangolo 5">
            <a:extLst>
              <a:ext uri="{FF2B5EF4-FFF2-40B4-BE49-F238E27FC236}">
                <a16:creationId xmlns:a16="http://schemas.microsoft.com/office/drawing/2014/main" id="{59A11E15-C401-404C-8203-B9328C7E9883}"/>
              </a:ext>
            </a:extLst>
          </p:cNvPr>
          <p:cNvSpPr/>
          <p:nvPr/>
        </p:nvSpPr>
        <p:spPr>
          <a:xfrm>
            <a:off x="781050" y="2250282"/>
            <a:ext cx="5791200" cy="4893647"/>
          </a:xfrm>
          <a:prstGeom prst="rect">
            <a:avLst/>
          </a:prstGeom>
        </p:spPr>
        <p:txBody>
          <a:bodyPr>
            <a:spAutoFit/>
          </a:bodyPr>
          <a:lstStyle/>
          <a:p>
            <a:pPr marL="428625" indent="-428625" algn="just">
              <a:buClr>
                <a:srgbClr val="0070C0"/>
              </a:buClr>
              <a:buFont typeface="Wingdings" panose="05000000000000000000" pitchFamily="2" charset="2"/>
              <a:buChar char="§"/>
              <a:defRPr/>
            </a:pPr>
            <a:r>
              <a:rPr lang="it-IT" sz="2400" dirty="0">
                <a:solidFill>
                  <a:srgbClr val="0070C0"/>
                </a:solidFill>
                <a:latin typeface="Poppins" panose="020B0604020202020204" charset="0"/>
                <a:cs typeface="Poppins" panose="020B0604020202020204" charset="0"/>
              </a:rPr>
              <a:t>Si possono indicare in bilancio esclusivamente gli utili realizzati alla data di bilancio</a:t>
            </a:r>
          </a:p>
          <a:p>
            <a:pPr marL="428625" indent="-428625" algn="just">
              <a:buClr>
                <a:srgbClr val="C00000"/>
              </a:buClr>
              <a:buFont typeface="Wingdings" panose="05000000000000000000" pitchFamily="2" charset="2"/>
              <a:buChar char="§"/>
              <a:defRPr/>
            </a:pPr>
            <a:endParaRPr lang="it-IT" sz="2400" dirty="0">
              <a:solidFill>
                <a:srgbClr val="0070C0"/>
              </a:solidFill>
              <a:latin typeface="Poppins" panose="020B0604020202020204" charset="0"/>
              <a:cs typeface="Poppins" panose="020B0604020202020204" charset="0"/>
            </a:endParaRPr>
          </a:p>
          <a:p>
            <a:pPr marL="428625" indent="-428625" algn="just">
              <a:buClr>
                <a:srgbClr val="C00000"/>
              </a:buClr>
              <a:buFont typeface="Wingdings" panose="05000000000000000000" pitchFamily="2" charset="2"/>
              <a:buChar char="§"/>
              <a:defRPr/>
            </a:pPr>
            <a:endParaRPr lang="it-IT" sz="2400" dirty="0">
              <a:solidFill>
                <a:srgbClr val="0070C0"/>
              </a:solidFill>
              <a:latin typeface="Poppins" panose="020B0604020202020204" charset="0"/>
              <a:cs typeface="Poppins" panose="020B0604020202020204" charset="0"/>
            </a:endParaRPr>
          </a:p>
          <a:p>
            <a:pPr marL="428625" indent="-428625" algn="just">
              <a:buClr>
                <a:srgbClr val="C00000"/>
              </a:buClr>
              <a:buFont typeface="Wingdings" panose="05000000000000000000" pitchFamily="2" charset="2"/>
              <a:buChar char="§"/>
              <a:defRPr/>
            </a:pPr>
            <a:endParaRPr lang="it-IT" sz="2400" dirty="0">
              <a:solidFill>
                <a:srgbClr val="0070C0"/>
              </a:solidFill>
              <a:latin typeface="Poppins" panose="020B0604020202020204" charset="0"/>
              <a:cs typeface="Poppins" panose="020B0604020202020204" charset="0"/>
            </a:endParaRPr>
          </a:p>
          <a:p>
            <a:pPr marL="428625" indent="-428625" algn="just">
              <a:buClr>
                <a:srgbClr val="C00000"/>
              </a:buClr>
              <a:buFont typeface="Wingdings" panose="05000000000000000000" pitchFamily="2" charset="2"/>
              <a:buChar char="§"/>
              <a:defRPr/>
            </a:pPr>
            <a:endParaRPr lang="it-IT" sz="2400" dirty="0">
              <a:solidFill>
                <a:srgbClr val="0070C0"/>
              </a:solidFill>
              <a:latin typeface="Poppins" panose="020B0604020202020204" charset="0"/>
              <a:cs typeface="Poppins" panose="020B0604020202020204" charset="0"/>
            </a:endParaRPr>
          </a:p>
          <a:p>
            <a:pPr marL="428625" indent="-428625" algn="just">
              <a:buClr>
                <a:srgbClr val="C00000"/>
              </a:buClr>
              <a:buFont typeface="Wingdings" panose="05000000000000000000" pitchFamily="2" charset="2"/>
              <a:buChar char="§"/>
              <a:defRPr/>
            </a:pPr>
            <a:endParaRPr lang="it-IT" sz="2400" dirty="0">
              <a:solidFill>
                <a:srgbClr val="0070C0"/>
              </a:solidFill>
              <a:latin typeface="Poppins" panose="020B0604020202020204" charset="0"/>
              <a:cs typeface="Poppins" panose="020B0604020202020204" charset="0"/>
            </a:endParaRPr>
          </a:p>
          <a:p>
            <a:pPr marL="428625" indent="-428625" algn="just">
              <a:buClr>
                <a:srgbClr val="0070C0"/>
              </a:buClr>
              <a:buFont typeface="Wingdings" panose="05000000000000000000" pitchFamily="2" charset="2"/>
              <a:buChar char="§"/>
              <a:defRPr/>
            </a:pPr>
            <a:r>
              <a:rPr lang="it-IT" sz="2400" dirty="0">
                <a:solidFill>
                  <a:srgbClr val="0070C0"/>
                </a:solidFill>
                <a:latin typeface="Poppins" panose="020B0604020202020204" charset="0"/>
                <a:cs typeface="Poppins" panose="020B0604020202020204" charset="0"/>
              </a:rPr>
              <a:t>Si deve tener conto dei rischi e delle perdite di competenza dell’esercizio, anche se conosciuti dopo la data di chiusura dello stesso.</a:t>
            </a:r>
          </a:p>
        </p:txBody>
      </p:sp>
      <p:sp>
        <p:nvSpPr>
          <p:cNvPr id="33798" name="Rettangolo 6">
            <a:extLst>
              <a:ext uri="{FF2B5EF4-FFF2-40B4-BE49-F238E27FC236}">
                <a16:creationId xmlns:a16="http://schemas.microsoft.com/office/drawing/2014/main" id="{EB2CA8C2-EEE9-419D-85E5-43202C66A833}"/>
              </a:ext>
            </a:extLst>
          </p:cNvPr>
          <p:cNvSpPr>
            <a:spLocks noChangeArrowheads="1"/>
          </p:cNvSpPr>
          <p:nvPr/>
        </p:nvSpPr>
        <p:spPr bwMode="auto">
          <a:xfrm>
            <a:off x="952500" y="9016274"/>
            <a:ext cx="15780545"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eaLnBrk="1" hangingPunct="1"/>
            <a:endParaRPr lang="it-IT" altLang="it-IT" sz="800" dirty="0">
              <a:latin typeface="Poppins" panose="020B0604020202020204" charset="0"/>
              <a:cs typeface="Poppins" panose="020B0604020202020204" charset="0"/>
            </a:endParaRPr>
          </a:p>
          <a:p>
            <a:pPr algn="just" eaLnBrk="1" hangingPunct="1"/>
            <a:endParaRPr lang="it-IT" altLang="it-IT" sz="800" dirty="0">
              <a:latin typeface="Poppins" panose="020B0604020202020204" charset="0"/>
              <a:cs typeface="Poppins" panose="020B0604020202020204" charset="0"/>
            </a:endParaRPr>
          </a:p>
          <a:p>
            <a:pPr algn="just" eaLnBrk="1" hangingPunct="1"/>
            <a:r>
              <a:rPr lang="it-IT" altLang="it-IT" sz="2100" dirty="0">
                <a:solidFill>
                  <a:srgbClr val="0070C0"/>
                </a:solidFill>
                <a:latin typeface="Poppins" panose="020B0604020202020204" charset="0"/>
                <a:cs typeface="Poppins" panose="020B0604020202020204" charset="0"/>
              </a:rPr>
              <a:t>Una conferma dell’importanza attribuita dal legislatore al principio della prudenza la si può trovare nel fatto che lo stesso prescriva l’obbligo di rilevare in bilancio gli accantonamenti per rischi e oneri </a:t>
            </a:r>
          </a:p>
        </p:txBody>
      </p:sp>
      <p:cxnSp>
        <p:nvCxnSpPr>
          <p:cNvPr id="14" name="Connettore diritto 13">
            <a:extLst>
              <a:ext uri="{FF2B5EF4-FFF2-40B4-BE49-F238E27FC236}">
                <a16:creationId xmlns:a16="http://schemas.microsoft.com/office/drawing/2014/main" id="{5FCFB494-62F0-4710-8592-2B5BAD4B2824}"/>
              </a:ext>
            </a:extLst>
          </p:cNvPr>
          <p:cNvCxnSpPr>
            <a:cxnSpLocks/>
          </p:cNvCxnSpPr>
          <p:nvPr/>
        </p:nvCxnSpPr>
        <p:spPr>
          <a:xfrm>
            <a:off x="959005" y="8946357"/>
            <a:ext cx="16392293"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Doppia parentesi quadra 14">
            <a:extLst>
              <a:ext uri="{FF2B5EF4-FFF2-40B4-BE49-F238E27FC236}">
                <a16:creationId xmlns:a16="http://schemas.microsoft.com/office/drawing/2014/main" id="{A88638B7-4DFE-43C9-9751-003AAA7E0985}"/>
              </a:ext>
            </a:extLst>
          </p:cNvPr>
          <p:cNvSpPr/>
          <p:nvPr/>
        </p:nvSpPr>
        <p:spPr>
          <a:xfrm>
            <a:off x="864393" y="9194380"/>
            <a:ext cx="15956758" cy="764381"/>
          </a:xfrm>
          <a:prstGeom prst="bracketPair">
            <a:avLst/>
          </a:prstGeom>
          <a:ln w="28575"/>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it-IT" sz="2100">
              <a:latin typeface="Poppins" panose="020B0604020202020204" charset="0"/>
              <a:cs typeface="Poppins" panose="020B0604020202020204" charset="0"/>
            </a:endParaRPr>
          </a:p>
        </p:txBody>
      </p:sp>
      <p:sp>
        <p:nvSpPr>
          <p:cNvPr id="4" name="Freccia a destra 3">
            <a:extLst>
              <a:ext uri="{FF2B5EF4-FFF2-40B4-BE49-F238E27FC236}">
                <a16:creationId xmlns:a16="http://schemas.microsoft.com/office/drawing/2014/main" id="{6168407C-D906-4970-A28C-771571E7CD99}"/>
              </a:ext>
            </a:extLst>
          </p:cNvPr>
          <p:cNvSpPr/>
          <p:nvPr/>
        </p:nvSpPr>
        <p:spPr>
          <a:xfrm>
            <a:off x="7019925" y="5284608"/>
            <a:ext cx="1432699" cy="11619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Freccia a destra 12">
            <a:extLst>
              <a:ext uri="{FF2B5EF4-FFF2-40B4-BE49-F238E27FC236}">
                <a16:creationId xmlns:a16="http://schemas.microsoft.com/office/drawing/2014/main" id="{AFF4877B-1D2C-4C60-B4E4-81845C2D904F}"/>
              </a:ext>
            </a:extLst>
          </p:cNvPr>
          <p:cNvSpPr/>
          <p:nvPr/>
        </p:nvSpPr>
        <p:spPr>
          <a:xfrm>
            <a:off x="7019924" y="2250282"/>
            <a:ext cx="1432699" cy="11619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CasellaDiTesto 1">
            <a:extLst>
              <a:ext uri="{FF2B5EF4-FFF2-40B4-BE49-F238E27FC236}">
                <a16:creationId xmlns:a16="http://schemas.microsoft.com/office/drawing/2014/main" id="{98A55494-08D6-455D-B067-B9EB03B80769}"/>
              </a:ext>
            </a:extLst>
          </p:cNvPr>
          <p:cNvSpPr txBox="1">
            <a:spLocks noChangeArrowheads="1"/>
          </p:cNvSpPr>
          <p:nvPr/>
        </p:nvSpPr>
        <p:spPr bwMode="auto">
          <a:xfrm>
            <a:off x="928688" y="2216945"/>
            <a:ext cx="9882188" cy="415498"/>
          </a:xfrm>
          <a:prstGeom prst="rect">
            <a:avLst/>
          </a:prstGeom>
          <a:solidFill>
            <a:srgbClr val="0070C0"/>
          </a:solid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r>
              <a:rPr lang="it-IT" altLang="it-IT" sz="2100" b="1">
                <a:solidFill>
                  <a:schemeClr val="bg1"/>
                </a:solidFill>
                <a:latin typeface="Poppins" panose="020B0604020202020204" charset="0"/>
                <a:cs typeface="Poppins" panose="020B0604020202020204" charset="0"/>
              </a:rPr>
              <a:t>ART. 2423-BIS, CO. 1, N. 1 ante D.lgs.139/2015</a:t>
            </a:r>
          </a:p>
        </p:txBody>
      </p:sp>
      <p:pic>
        <p:nvPicPr>
          <p:cNvPr id="35844" name="Immagine 8">
            <a:extLst>
              <a:ext uri="{FF2B5EF4-FFF2-40B4-BE49-F238E27FC236}">
                <a16:creationId xmlns:a16="http://schemas.microsoft.com/office/drawing/2014/main" id="{90657784-19D2-4151-B0E2-66D549B452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2704"/>
          <a:stretch>
            <a:fillRect/>
          </a:stretch>
        </p:blipFill>
        <p:spPr bwMode="auto">
          <a:xfrm>
            <a:off x="12963525" y="1321595"/>
            <a:ext cx="5324475" cy="791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asellaDiTesto 10">
            <a:extLst>
              <a:ext uri="{FF2B5EF4-FFF2-40B4-BE49-F238E27FC236}">
                <a16:creationId xmlns:a16="http://schemas.microsoft.com/office/drawing/2014/main" id="{3679AB3B-98D0-43A2-8942-9933E5C50979}"/>
              </a:ext>
            </a:extLst>
          </p:cNvPr>
          <p:cNvSpPr txBox="1"/>
          <p:nvPr/>
        </p:nvSpPr>
        <p:spPr>
          <a:xfrm>
            <a:off x="928688" y="2900072"/>
            <a:ext cx="9882185" cy="6232475"/>
          </a:xfrm>
          <a:prstGeom prst="rect">
            <a:avLst/>
          </a:prstGeom>
          <a:noFill/>
        </p:spPr>
        <p:txBody>
          <a:bodyPr wrap="square">
            <a:spAutoFit/>
          </a:bodyPr>
          <a:lstStyle>
            <a:defPPr>
              <a:defRPr lang="en-US"/>
            </a:defPPr>
            <a:lvl1pPr>
              <a:defRPr>
                <a:latin typeface="Bahnschrift" panose="020B0502040204020203"/>
              </a:defRPr>
            </a:lvl1pPr>
            <a:lvl2pPr marL="742950" lvl="1" indent="-285750" algn="just">
              <a:buClr>
                <a:srgbClr val="055E98"/>
              </a:buClr>
              <a:buFont typeface="Courier New" panose="02070309020205020404" pitchFamily="49" charset="0"/>
              <a:buChar char="o"/>
              <a:defRPr>
                <a:latin typeface="Bahnschrift" panose="020B0502040204020203"/>
              </a:defRPr>
            </a:lvl2pPr>
          </a:lstStyle>
          <a:p>
            <a:pPr algn="just">
              <a:defRPr/>
            </a:pPr>
            <a:r>
              <a:rPr lang="it-IT" sz="2100" dirty="0">
                <a:solidFill>
                  <a:srgbClr val="0070C0"/>
                </a:solidFill>
                <a:latin typeface="Poppins" panose="020B0604020202020204" charset="0"/>
                <a:cs typeface="Poppins" panose="020B0604020202020204" charset="0"/>
              </a:rPr>
              <a:t>«</a:t>
            </a:r>
            <a:r>
              <a:rPr lang="it-IT" sz="2100" i="1" dirty="0">
                <a:solidFill>
                  <a:srgbClr val="0070C0"/>
                </a:solidFill>
                <a:latin typeface="Poppins" panose="020B0604020202020204" charset="0"/>
                <a:cs typeface="Poppins" panose="020B0604020202020204" charset="0"/>
              </a:rPr>
              <a:t>(…) nonché tenendo conto della funzione economica dell’elemento dell’attivo o del passivo considerato</a:t>
            </a:r>
            <a:r>
              <a:rPr lang="it-IT" sz="2100" dirty="0">
                <a:solidFill>
                  <a:srgbClr val="0070C0"/>
                </a:solidFill>
                <a:latin typeface="Poppins" panose="020B0604020202020204" charset="0"/>
                <a:cs typeface="Poppins" panose="020B0604020202020204" charset="0"/>
              </a:rPr>
              <a:t>»</a:t>
            </a:r>
          </a:p>
          <a:p>
            <a:pPr algn="just">
              <a:defRPr/>
            </a:pPr>
            <a:endParaRPr lang="it-IT" sz="2100" dirty="0">
              <a:solidFill>
                <a:srgbClr val="0070C0"/>
              </a:solidFill>
              <a:latin typeface="Poppins" panose="020B0604020202020204" charset="0"/>
              <a:cs typeface="Poppins" panose="020B0604020202020204" charset="0"/>
            </a:endParaRPr>
          </a:p>
          <a:p>
            <a:pPr algn="just">
              <a:defRPr/>
            </a:pPr>
            <a:endParaRPr lang="it-IT" sz="2100" dirty="0">
              <a:solidFill>
                <a:srgbClr val="0070C0"/>
              </a:solidFill>
              <a:latin typeface="Poppins" panose="020B0604020202020204" charset="0"/>
              <a:cs typeface="Poppins" panose="020B0604020202020204" charset="0"/>
            </a:endParaRPr>
          </a:p>
          <a:p>
            <a:pPr algn="just">
              <a:defRPr/>
            </a:pPr>
            <a:endParaRPr lang="it-IT" sz="2100" dirty="0">
              <a:solidFill>
                <a:srgbClr val="0070C0"/>
              </a:solidFill>
              <a:latin typeface="Poppins" panose="020B0604020202020204" charset="0"/>
              <a:cs typeface="Poppins" panose="020B0604020202020204" charset="0"/>
            </a:endParaRPr>
          </a:p>
          <a:p>
            <a:pPr algn="just">
              <a:defRPr/>
            </a:pPr>
            <a:endParaRPr lang="it-IT" sz="2100" dirty="0">
              <a:solidFill>
                <a:srgbClr val="0070C0"/>
              </a:solidFill>
              <a:latin typeface="Poppins" panose="020B0604020202020204" charset="0"/>
              <a:cs typeface="Poppins" panose="020B0604020202020204" charset="0"/>
            </a:endParaRPr>
          </a:p>
          <a:p>
            <a:pPr algn="just">
              <a:defRPr/>
            </a:pPr>
            <a:r>
              <a:rPr lang="it-IT" sz="2100" dirty="0">
                <a:solidFill>
                  <a:srgbClr val="0070C0"/>
                </a:solidFill>
                <a:latin typeface="Poppins" panose="020B0604020202020204" charset="0"/>
                <a:cs typeface="Poppins" panose="020B0604020202020204" charset="0"/>
              </a:rPr>
              <a:t>«</a:t>
            </a:r>
            <a:r>
              <a:rPr lang="it-IT" sz="2100" i="1" dirty="0">
                <a:solidFill>
                  <a:srgbClr val="0070C0"/>
                </a:solidFill>
                <a:latin typeface="Poppins" panose="020B0604020202020204" charset="0"/>
                <a:cs typeface="Poppins" panose="020B0604020202020204" charset="0"/>
              </a:rPr>
              <a:t>(…) la rilevazione e la presentazione delle voci è effettuata tenendo conto della sostanza dell’operazione o del contratto</a:t>
            </a:r>
            <a:r>
              <a:rPr lang="it-IT" sz="2100" dirty="0">
                <a:solidFill>
                  <a:srgbClr val="0070C0"/>
                </a:solidFill>
                <a:latin typeface="Poppins" panose="020B0604020202020204" charset="0"/>
                <a:cs typeface="Poppins" panose="020B0604020202020204" charset="0"/>
              </a:rPr>
              <a:t>»</a:t>
            </a:r>
          </a:p>
          <a:p>
            <a:pPr algn="just">
              <a:defRPr/>
            </a:pPr>
            <a:endParaRPr lang="it-IT" sz="2100" dirty="0">
              <a:solidFill>
                <a:srgbClr val="0070C0"/>
              </a:solidFill>
              <a:latin typeface="Poppins" panose="020B0604020202020204" charset="0"/>
              <a:cs typeface="Poppins" panose="020B0604020202020204" charset="0"/>
            </a:endParaRPr>
          </a:p>
          <a:p>
            <a:pPr marL="1012032" lvl="1" indent="-481013">
              <a:buClr>
                <a:srgbClr val="0070C0"/>
              </a:buClr>
              <a:buFont typeface="Wingdings" panose="05000000000000000000" pitchFamily="2" charset="2"/>
              <a:buChar char="§"/>
              <a:defRPr/>
            </a:pPr>
            <a:r>
              <a:rPr lang="it-IT" sz="2100" dirty="0">
                <a:solidFill>
                  <a:srgbClr val="0070C0"/>
                </a:solidFill>
                <a:latin typeface="Poppins" panose="020B0604020202020204" charset="0"/>
                <a:cs typeface="Poppins" panose="020B0604020202020204" charset="0"/>
              </a:rPr>
              <a:t>Gli eventi ed i fatti di gestione devono essere rilevati sulla base della loro sostanza economica e non sulla base degli aspetti meramente formali.</a:t>
            </a:r>
          </a:p>
          <a:p>
            <a:pPr marL="1012032" lvl="1" indent="-481013">
              <a:buClr>
                <a:srgbClr val="C00000"/>
              </a:buClr>
              <a:buFont typeface="Wingdings" panose="05000000000000000000" pitchFamily="2" charset="2"/>
              <a:buChar char="§"/>
              <a:defRPr/>
            </a:pPr>
            <a:endParaRPr lang="it-IT" sz="2100" dirty="0">
              <a:solidFill>
                <a:srgbClr val="0070C0"/>
              </a:solidFill>
              <a:latin typeface="Poppins" panose="020B0604020202020204" charset="0"/>
              <a:cs typeface="Poppins" panose="020B0604020202020204" charset="0"/>
            </a:endParaRPr>
          </a:p>
          <a:p>
            <a:pPr marL="1012032" lvl="1" indent="-481013">
              <a:buClr>
                <a:srgbClr val="0070C0"/>
              </a:buClr>
              <a:buFont typeface="Wingdings" panose="05000000000000000000" pitchFamily="2" charset="2"/>
              <a:buChar char="§"/>
              <a:defRPr/>
            </a:pPr>
            <a:r>
              <a:rPr lang="it-IT" sz="2100" dirty="0">
                <a:solidFill>
                  <a:srgbClr val="0070C0"/>
                </a:solidFill>
                <a:latin typeface="Poppins" panose="020B0604020202020204" charset="0"/>
                <a:cs typeface="Poppins" panose="020B0604020202020204" charset="0"/>
              </a:rPr>
              <a:t>La volontà del legislatore, rifacendosi alla moderna dottrina aziendalistica ed alla prassi internazionale, è stata quella di prevedere che la rappresentazione in bilancio degli accadimenti economici venisse effettuata secondo la realtà economica sottostante gli aspetti formali (OIC 11, sub «Scopo e contenuto»)</a:t>
            </a:r>
          </a:p>
        </p:txBody>
      </p:sp>
      <p:sp>
        <p:nvSpPr>
          <p:cNvPr id="35846" name="CasellaDiTesto 11">
            <a:extLst>
              <a:ext uri="{FF2B5EF4-FFF2-40B4-BE49-F238E27FC236}">
                <a16:creationId xmlns:a16="http://schemas.microsoft.com/office/drawing/2014/main" id="{A02E0771-240F-4848-BEB6-E6A7ACB4F58B}"/>
              </a:ext>
            </a:extLst>
          </p:cNvPr>
          <p:cNvSpPr txBox="1">
            <a:spLocks noChangeArrowheads="1"/>
          </p:cNvSpPr>
          <p:nvPr/>
        </p:nvSpPr>
        <p:spPr bwMode="auto">
          <a:xfrm>
            <a:off x="928688" y="4081463"/>
            <a:ext cx="9882188" cy="415498"/>
          </a:xfrm>
          <a:prstGeom prst="rect">
            <a:avLst/>
          </a:prstGeom>
          <a:solidFill>
            <a:srgbClr val="0070C0"/>
          </a:solid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r>
              <a:rPr lang="it-IT" altLang="it-IT" sz="2100" b="1">
                <a:solidFill>
                  <a:schemeClr val="bg1"/>
                </a:solidFill>
                <a:latin typeface="Poppins" panose="020B0604020202020204" charset="0"/>
                <a:cs typeface="Poppins" panose="020B0604020202020204" charset="0"/>
              </a:rPr>
              <a:t>ART. 2423-BIS, CO. 1, N. 1 post D.lgs.139/2015</a:t>
            </a:r>
          </a:p>
        </p:txBody>
      </p:sp>
      <p:sp>
        <p:nvSpPr>
          <p:cNvPr id="35847" name="CasellaDiTesto 12">
            <a:extLst>
              <a:ext uri="{FF2B5EF4-FFF2-40B4-BE49-F238E27FC236}">
                <a16:creationId xmlns:a16="http://schemas.microsoft.com/office/drawing/2014/main" id="{32937847-A823-48AA-BEAE-FB67E7201D98}"/>
              </a:ext>
            </a:extLst>
          </p:cNvPr>
          <p:cNvSpPr txBox="1">
            <a:spLocks noChangeArrowheads="1"/>
          </p:cNvSpPr>
          <p:nvPr/>
        </p:nvSpPr>
        <p:spPr bwMode="auto">
          <a:xfrm>
            <a:off x="776288" y="404813"/>
            <a:ext cx="124872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800" b="1" i="1" dirty="0">
                <a:solidFill>
                  <a:srgbClr val="0070C0"/>
                </a:solidFill>
                <a:latin typeface="Poppins" panose="020B0604020202020204" charset="0"/>
                <a:cs typeface="Poppins" panose="020B0604020202020204" charset="0"/>
              </a:rPr>
              <a:t>Postulato della sostanza economica</a:t>
            </a:r>
            <a:endParaRPr lang="it-IT" altLang="it-IT" sz="4800" dirty="0">
              <a:solidFill>
                <a:srgbClr val="0070C0"/>
              </a:solidFill>
              <a:latin typeface="Poppins" panose="020B0604020202020204" charset="0"/>
              <a:cs typeface="Poppins" panose="020B0604020202020204" charset="0"/>
            </a:endParaRPr>
          </a:p>
        </p:txBody>
      </p:sp>
      <p:cxnSp>
        <p:nvCxnSpPr>
          <p:cNvPr id="16" name="Connettore 1 6">
            <a:extLst>
              <a:ext uri="{FF2B5EF4-FFF2-40B4-BE49-F238E27FC236}">
                <a16:creationId xmlns:a16="http://schemas.microsoft.com/office/drawing/2014/main" id="{241BA5E2-F2DF-47C5-BE55-0DCD817E8512}"/>
              </a:ext>
            </a:extLst>
          </p:cNvPr>
          <p:cNvCxnSpPr>
            <a:cxnSpLocks/>
          </p:cNvCxnSpPr>
          <p:nvPr/>
        </p:nvCxnSpPr>
        <p:spPr>
          <a:xfrm flipV="1">
            <a:off x="12807408" y="1564483"/>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a:extLst>
              <a:ext uri="{FF2B5EF4-FFF2-40B4-BE49-F238E27FC236}">
                <a16:creationId xmlns:a16="http://schemas.microsoft.com/office/drawing/2014/main" id="{DD4EA080-3399-401D-A132-EDE3B6376087}"/>
              </a:ext>
            </a:extLst>
          </p:cNvPr>
          <p:cNvSpPr>
            <a:spLocks noGrp="1" noChangeArrowheads="1"/>
          </p:cNvSpPr>
          <p:nvPr>
            <p:ph idx="1"/>
          </p:nvPr>
        </p:nvSpPr>
        <p:spPr>
          <a:xfrm>
            <a:off x="928688" y="2064545"/>
            <a:ext cx="9748838" cy="7096125"/>
          </a:xfrm>
        </p:spPr>
        <p:txBody>
          <a:bodyPr rtlCol="0">
            <a:normAutofit fontScale="92500" lnSpcReduction="10000"/>
          </a:bodyPr>
          <a:lstStyle/>
          <a:p>
            <a:pPr algn="just">
              <a:buClr>
                <a:srgbClr val="0070C0"/>
              </a:buClr>
              <a:buFont typeface="Wingdings" panose="05000000000000000000" pitchFamily="2" charset="2"/>
              <a:buChar char="§"/>
              <a:defRPr/>
            </a:pPr>
            <a:r>
              <a:rPr lang="it-IT" altLang="it-IT" sz="3600" dirty="0">
                <a:solidFill>
                  <a:srgbClr val="0070C0"/>
                </a:solidFill>
                <a:latin typeface="Poppins" panose="020B0604020202020204" charset="0"/>
                <a:cs typeface="Poppins" panose="020B0604020202020204" charset="0"/>
              </a:rPr>
              <a:t>Ha la funzione di guidare l'attribuzione dei componenti di reddito ai diversi esercizi a cui essi spettano:</a:t>
            </a:r>
          </a:p>
          <a:p>
            <a:pPr lvl="1">
              <a:buClr>
                <a:srgbClr val="0070C0"/>
              </a:buClr>
              <a:buFont typeface="Wingdings" panose="05000000000000000000" pitchFamily="2" charset="2"/>
              <a:buChar char="Ø"/>
              <a:defRPr/>
            </a:pPr>
            <a:r>
              <a:rPr lang="it-IT" altLang="it-IT" dirty="0">
                <a:solidFill>
                  <a:srgbClr val="0070C0"/>
                </a:solidFill>
                <a:latin typeface="Poppins" panose="020B0604020202020204" charset="0"/>
                <a:cs typeface="Poppins" panose="020B0604020202020204" charset="0"/>
              </a:rPr>
              <a:t>Occorre considerare i proventi e oneri di competenza, indipendentemente dalla data di incasso e pagamento</a:t>
            </a:r>
          </a:p>
          <a:p>
            <a:pPr lvl="1">
              <a:buClr>
                <a:srgbClr val="0070C0"/>
              </a:buClr>
              <a:buFont typeface="Wingdings" panose="05000000000000000000" pitchFamily="2" charset="2"/>
              <a:buChar char="Ø"/>
              <a:defRPr/>
            </a:pPr>
            <a:r>
              <a:rPr lang="it-IT" altLang="it-IT" dirty="0">
                <a:solidFill>
                  <a:srgbClr val="0070C0"/>
                </a:solidFill>
                <a:latin typeface="Poppins" panose="020B0604020202020204" charset="0"/>
                <a:cs typeface="Poppins" panose="020B0604020202020204" charset="0"/>
              </a:rPr>
              <a:t>Occorre considerare i rischi e le perdite di competenza, anche se conosciuti dopo la chiusura dell’esercizio</a:t>
            </a:r>
          </a:p>
          <a:p>
            <a:pPr algn="just">
              <a:buClr>
                <a:srgbClr val="0070C0"/>
              </a:buClr>
              <a:buFont typeface="Wingdings" panose="05000000000000000000" pitchFamily="2" charset="2"/>
              <a:buChar char="§"/>
              <a:defRPr/>
            </a:pPr>
            <a:r>
              <a:rPr lang="it-IT" altLang="it-IT" sz="3600" dirty="0">
                <a:solidFill>
                  <a:srgbClr val="0070C0"/>
                </a:solidFill>
                <a:latin typeface="Poppins" panose="020B0604020202020204" charset="0"/>
                <a:cs typeface="Poppins" panose="020B0604020202020204" charset="0"/>
              </a:rPr>
              <a:t>Al principio di competenza viene però affiancato il principio di prudenza. Contemperando i due principi, si deve rinunciare a considerare gli effetti positivi che non si siano ancora realizzati, mentre si considerano quelli negativi</a:t>
            </a:r>
          </a:p>
          <a:p>
            <a:pPr algn="just">
              <a:buClr>
                <a:srgbClr val="C00000"/>
              </a:buClr>
              <a:buFont typeface="Wingdings" panose="05000000000000000000" pitchFamily="2" charset="2"/>
              <a:buChar char="§"/>
              <a:defRPr/>
            </a:pPr>
            <a:endParaRPr lang="it-IT" altLang="it-IT" sz="3600" dirty="0">
              <a:solidFill>
                <a:srgbClr val="0070C0"/>
              </a:solidFill>
              <a:latin typeface="Poppins" panose="020B0604020202020204" charset="0"/>
              <a:cs typeface="Poppins" panose="020B0604020202020204" charset="0"/>
            </a:endParaRPr>
          </a:p>
        </p:txBody>
      </p:sp>
      <p:sp>
        <p:nvSpPr>
          <p:cNvPr id="37891" name="CasellaDiTesto 3">
            <a:extLst>
              <a:ext uri="{FF2B5EF4-FFF2-40B4-BE49-F238E27FC236}">
                <a16:creationId xmlns:a16="http://schemas.microsoft.com/office/drawing/2014/main" id="{91EB0BC1-A6C5-4144-A49B-FFE852E53ADE}"/>
              </a:ext>
            </a:extLst>
          </p:cNvPr>
          <p:cNvSpPr txBox="1">
            <a:spLocks noChangeArrowheads="1"/>
          </p:cNvSpPr>
          <p:nvPr/>
        </p:nvSpPr>
        <p:spPr bwMode="auto">
          <a:xfrm>
            <a:off x="776288" y="404813"/>
            <a:ext cx="124872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800" b="1" i="1">
                <a:solidFill>
                  <a:srgbClr val="0070C0"/>
                </a:solidFill>
                <a:latin typeface="Poppins" panose="020B0604020202020204" charset="0"/>
                <a:cs typeface="Poppins" panose="020B0604020202020204" charset="0"/>
              </a:rPr>
              <a:t>La competenza</a:t>
            </a:r>
            <a:endParaRPr lang="it-IT" altLang="it-IT" sz="4800">
              <a:solidFill>
                <a:srgbClr val="0070C0"/>
              </a:solidFill>
              <a:latin typeface="Poppins" panose="020B0604020202020204" charset="0"/>
              <a:cs typeface="Poppins" panose="020B0604020202020204" charset="0"/>
            </a:endParaRPr>
          </a:p>
        </p:txBody>
      </p:sp>
      <p:pic>
        <p:nvPicPr>
          <p:cNvPr id="37893" name="Immagine 5">
            <a:extLst>
              <a:ext uri="{FF2B5EF4-FFF2-40B4-BE49-F238E27FC236}">
                <a16:creationId xmlns:a16="http://schemas.microsoft.com/office/drawing/2014/main" id="{215700CE-729A-494F-BD35-999B9B60A6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2704"/>
          <a:stretch>
            <a:fillRect/>
          </a:stretch>
        </p:blipFill>
        <p:spPr bwMode="auto">
          <a:xfrm>
            <a:off x="12963525" y="1321595"/>
            <a:ext cx="5324475" cy="791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Connettore 1 6">
            <a:extLst>
              <a:ext uri="{FF2B5EF4-FFF2-40B4-BE49-F238E27FC236}">
                <a16:creationId xmlns:a16="http://schemas.microsoft.com/office/drawing/2014/main" id="{130E6AE2-C09B-4251-9189-F70E023B8D7D}"/>
              </a:ext>
            </a:extLst>
          </p:cNvPr>
          <p:cNvCxnSpPr>
            <a:cxnSpLocks/>
          </p:cNvCxnSpPr>
          <p:nvPr/>
        </p:nvCxnSpPr>
        <p:spPr>
          <a:xfrm flipV="1">
            <a:off x="12963525" y="1818810"/>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CasellaDiTesto 15">
            <a:extLst>
              <a:ext uri="{FF2B5EF4-FFF2-40B4-BE49-F238E27FC236}">
                <a16:creationId xmlns:a16="http://schemas.microsoft.com/office/drawing/2014/main" id="{32208257-1EBA-4B44-84AE-550250084372}"/>
              </a:ext>
            </a:extLst>
          </p:cNvPr>
          <p:cNvSpPr txBox="1">
            <a:spLocks noChangeArrowheads="1"/>
          </p:cNvSpPr>
          <p:nvPr/>
        </p:nvSpPr>
        <p:spPr bwMode="auto">
          <a:xfrm>
            <a:off x="754858" y="404813"/>
            <a:ext cx="1650920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5400" b="1">
                <a:solidFill>
                  <a:srgbClr val="0070C0"/>
                </a:solidFill>
                <a:latin typeface="Poppins" panose="020B0604020202020204" charset="0"/>
                <a:cs typeface="Poppins" panose="020B0604020202020204" charset="0"/>
              </a:rPr>
              <a:t>Il principio di competenza economica (1/3)</a:t>
            </a:r>
          </a:p>
        </p:txBody>
      </p:sp>
      <p:sp>
        <p:nvSpPr>
          <p:cNvPr id="2" name="Rettangolo 1">
            <a:extLst>
              <a:ext uri="{FF2B5EF4-FFF2-40B4-BE49-F238E27FC236}">
                <a16:creationId xmlns:a16="http://schemas.microsoft.com/office/drawing/2014/main" id="{1C69016B-10BF-417A-BAE3-0BBF9C35331A}"/>
              </a:ext>
            </a:extLst>
          </p:cNvPr>
          <p:cNvSpPr/>
          <p:nvPr/>
        </p:nvSpPr>
        <p:spPr>
          <a:xfrm>
            <a:off x="1394830" y="1518604"/>
            <a:ext cx="10893813" cy="7294305"/>
          </a:xfrm>
          <a:prstGeom prst="rect">
            <a:avLst/>
          </a:prstGeom>
        </p:spPr>
        <p:txBody>
          <a:bodyPr wrap="square">
            <a:spAutoFit/>
          </a:bodyPr>
          <a:lstStyle/>
          <a:p>
            <a:pPr algn="ctr">
              <a:buClr>
                <a:srgbClr val="C00000"/>
              </a:buClr>
              <a:defRPr/>
            </a:pPr>
            <a:r>
              <a:rPr lang="it-IT" sz="3900" b="1" dirty="0">
                <a:solidFill>
                  <a:srgbClr val="0070C0"/>
                </a:solidFill>
                <a:latin typeface="Poppins" panose="020B0604020202020204" charset="0"/>
                <a:cs typeface="Poppins" panose="020B0604020202020204" charset="0"/>
              </a:rPr>
              <a:t>Principio della realizzazione dei ricavi</a:t>
            </a:r>
          </a:p>
          <a:p>
            <a:pPr marL="428625" indent="-428625" algn="just">
              <a:buClr>
                <a:srgbClr val="0070C0"/>
              </a:buClr>
              <a:buFont typeface="Wingdings" panose="05000000000000000000" pitchFamily="2" charset="2"/>
              <a:buChar char="§"/>
              <a:defRPr/>
            </a:pPr>
            <a:r>
              <a:rPr lang="it-IT" sz="3900" dirty="0">
                <a:solidFill>
                  <a:srgbClr val="0070C0"/>
                </a:solidFill>
                <a:latin typeface="Poppins" panose="020B0604020202020204" charset="0"/>
                <a:cs typeface="Poppins" panose="020B0604020202020204" charset="0"/>
              </a:rPr>
              <a:t>I ricavi devono incidere sul reddito di un assegnato periodo quando sono “realizzati” ovvero quando:</a:t>
            </a:r>
          </a:p>
          <a:p>
            <a:pPr marL="571500" lvl="3" indent="-571500" algn="just">
              <a:buClr>
                <a:srgbClr val="0070C0"/>
              </a:buClr>
              <a:buFont typeface="Wingdings" panose="05000000000000000000" pitchFamily="2" charset="2"/>
              <a:buChar char="q"/>
              <a:defRPr/>
            </a:pPr>
            <a:r>
              <a:rPr lang="it-IT" sz="3900" dirty="0">
                <a:solidFill>
                  <a:srgbClr val="0070C0"/>
                </a:solidFill>
                <a:latin typeface="Poppins" panose="020B0604020202020204" charset="0"/>
                <a:cs typeface="Poppins" panose="020B0604020202020204" charset="0"/>
              </a:rPr>
              <a:t>il processo di produzione dei beni e/o dei servizi è stato completato;</a:t>
            </a:r>
          </a:p>
          <a:p>
            <a:pPr marL="742950" indent="-742950" algn="just">
              <a:buClr>
                <a:srgbClr val="0070C0"/>
              </a:buClr>
              <a:buFont typeface="Wingdings" panose="05000000000000000000" pitchFamily="2" charset="2"/>
              <a:buChar char="q"/>
              <a:defRPr/>
            </a:pPr>
            <a:r>
              <a:rPr lang="it-IT" sz="3900" dirty="0">
                <a:solidFill>
                  <a:srgbClr val="0070C0"/>
                </a:solidFill>
                <a:latin typeface="Poppins" panose="020B0604020202020204" charset="0"/>
                <a:cs typeface="Poppins" panose="020B0604020202020204" charset="0"/>
              </a:rPr>
              <a:t>lo scambio è avvenuto, cioè si è verificato il passaggio del titolo di proprietà:</a:t>
            </a:r>
          </a:p>
          <a:p>
            <a:pPr marL="1200150" lvl="1" indent="-514350" algn="just">
              <a:buClr>
                <a:srgbClr val="0070C0"/>
              </a:buClr>
              <a:buFont typeface="Wingdings" panose="05000000000000000000" pitchFamily="2" charset="2"/>
              <a:buChar char="Ø"/>
              <a:defRPr/>
            </a:pPr>
            <a:r>
              <a:rPr lang="it-IT" sz="3900" dirty="0">
                <a:solidFill>
                  <a:srgbClr val="0070C0"/>
                </a:solidFill>
                <a:latin typeface="Poppins" panose="020B0604020202020204" charset="0"/>
                <a:cs typeface="Poppins" panose="020B0604020202020204" charset="0"/>
              </a:rPr>
              <a:t>BENI = momento della spedizione</a:t>
            </a:r>
          </a:p>
          <a:p>
            <a:pPr marL="1200150" lvl="1" indent="-514350" algn="just">
              <a:buClr>
                <a:srgbClr val="0070C0"/>
              </a:buClr>
              <a:buFont typeface="Wingdings" panose="05000000000000000000" pitchFamily="2" charset="2"/>
              <a:buChar char="Ø"/>
              <a:defRPr/>
            </a:pPr>
            <a:r>
              <a:rPr lang="it-IT" sz="3900" dirty="0">
                <a:solidFill>
                  <a:srgbClr val="0070C0"/>
                </a:solidFill>
                <a:latin typeface="Poppins" panose="020B0604020202020204" charset="0"/>
                <a:cs typeface="Poppins" panose="020B0604020202020204" charset="0"/>
              </a:rPr>
              <a:t>SERVIZI = momento in cui sono resi e fatturabili</a:t>
            </a:r>
          </a:p>
        </p:txBody>
      </p:sp>
      <p:pic>
        <p:nvPicPr>
          <p:cNvPr id="39942" name="Immagine 8">
            <a:extLst>
              <a:ext uri="{FF2B5EF4-FFF2-40B4-BE49-F238E27FC236}">
                <a16:creationId xmlns:a16="http://schemas.microsoft.com/office/drawing/2014/main" id="{20126032-D613-4916-813B-312CD3F327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2704"/>
          <a:stretch>
            <a:fillRect/>
          </a:stretch>
        </p:blipFill>
        <p:spPr bwMode="auto">
          <a:xfrm>
            <a:off x="12963525" y="1321595"/>
            <a:ext cx="5324475" cy="791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Connettore 1 6">
            <a:extLst>
              <a:ext uri="{FF2B5EF4-FFF2-40B4-BE49-F238E27FC236}">
                <a16:creationId xmlns:a16="http://schemas.microsoft.com/office/drawing/2014/main" id="{8FB4E866-4081-4357-9AB0-8E89A6423102}"/>
              </a:ext>
            </a:extLst>
          </p:cNvPr>
          <p:cNvCxnSpPr>
            <a:cxnSpLocks/>
          </p:cNvCxnSpPr>
          <p:nvPr/>
        </p:nvCxnSpPr>
        <p:spPr>
          <a:xfrm flipV="1">
            <a:off x="12719070" y="1632027"/>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FFF10D0B-B68F-4E89-886B-4EBB9F6B5000}"/>
              </a:ext>
            </a:extLst>
          </p:cNvPr>
          <p:cNvSpPr/>
          <p:nvPr/>
        </p:nvSpPr>
        <p:spPr>
          <a:xfrm>
            <a:off x="1491853" y="1568103"/>
            <a:ext cx="9422607" cy="7940635"/>
          </a:xfrm>
          <a:prstGeom prst="rect">
            <a:avLst/>
          </a:prstGeom>
        </p:spPr>
        <p:txBody>
          <a:bodyPr>
            <a:spAutoFit/>
          </a:bodyPr>
          <a:lstStyle/>
          <a:p>
            <a:pPr algn="ctr">
              <a:defRPr/>
            </a:pPr>
            <a:r>
              <a:rPr lang="it-IT" sz="3000" b="1" dirty="0">
                <a:solidFill>
                  <a:srgbClr val="0070C0"/>
                </a:solidFill>
                <a:latin typeface="Poppins" panose="020B0604020202020204" charset="0"/>
                <a:cs typeface="Poppins" panose="020B0604020202020204" charset="0"/>
              </a:rPr>
              <a:t>Principio dell’inerenza </a:t>
            </a:r>
          </a:p>
          <a:p>
            <a:pPr algn="ctr">
              <a:defRPr/>
            </a:pPr>
            <a:r>
              <a:rPr lang="it-IT" sz="3000" b="1" dirty="0">
                <a:solidFill>
                  <a:srgbClr val="0070C0"/>
                </a:solidFill>
                <a:latin typeface="Poppins" panose="020B0604020202020204" charset="0"/>
                <a:cs typeface="Poppins" panose="020B0604020202020204" charset="0"/>
              </a:rPr>
              <a:t>(o correlazione economica) dei costi</a:t>
            </a:r>
          </a:p>
          <a:p>
            <a:pPr algn="ctr">
              <a:defRPr/>
            </a:pPr>
            <a:endParaRPr lang="it-IT" sz="3000" b="1" dirty="0">
              <a:solidFill>
                <a:srgbClr val="0070C0"/>
              </a:solidFill>
              <a:latin typeface="Poppins" panose="020B0604020202020204" charset="0"/>
              <a:cs typeface="Poppins" panose="020B0604020202020204" charset="0"/>
            </a:endParaRPr>
          </a:p>
          <a:p>
            <a:pPr algn="just">
              <a:defRPr/>
            </a:pPr>
            <a:r>
              <a:rPr lang="it-IT" sz="3000" dirty="0">
                <a:solidFill>
                  <a:srgbClr val="0070C0"/>
                </a:solidFill>
                <a:latin typeface="Poppins" panose="020B0604020202020204" charset="0"/>
                <a:cs typeface="Poppins" panose="020B0604020202020204" charset="0"/>
              </a:rPr>
              <a:t>I costi devono incidere sul reddito di un assegnato periodo quando essi possono essere correlati a ricavi considerati di competenza: </a:t>
            </a:r>
          </a:p>
          <a:p>
            <a:pPr marL="1114425" lvl="1" indent="-428625" algn="just">
              <a:buClr>
                <a:srgbClr val="0070C0"/>
              </a:buClr>
              <a:buFont typeface="Wingdings" panose="05000000000000000000" pitchFamily="2" charset="2"/>
              <a:buChar char="Ø"/>
              <a:defRPr/>
            </a:pPr>
            <a:r>
              <a:rPr lang="it-IT" sz="3000" dirty="0">
                <a:solidFill>
                  <a:srgbClr val="0070C0"/>
                </a:solidFill>
                <a:latin typeface="Poppins" panose="020B0604020202020204" charset="0"/>
                <a:cs typeface="Poppins" panose="020B0604020202020204" charset="0"/>
              </a:rPr>
              <a:t>per associazione di causa ad effetto tra costi e ricavi</a:t>
            </a:r>
          </a:p>
          <a:p>
            <a:pPr marL="1114425" lvl="1" indent="-428625" algn="just">
              <a:buClr>
                <a:srgbClr val="0070C0"/>
              </a:buClr>
              <a:buFont typeface="Wingdings" panose="05000000000000000000" pitchFamily="2" charset="2"/>
              <a:buChar char="Ø"/>
              <a:defRPr/>
            </a:pPr>
            <a:r>
              <a:rPr lang="it-IT" sz="3000" dirty="0">
                <a:solidFill>
                  <a:srgbClr val="0070C0"/>
                </a:solidFill>
                <a:latin typeface="Poppins" panose="020B0604020202020204" charset="0"/>
                <a:cs typeface="Poppins" panose="020B0604020202020204" charset="0"/>
              </a:rPr>
              <a:t>per ripartizione dell’utilità o funzionalità pluriennale su base razionale e sistematica</a:t>
            </a:r>
          </a:p>
          <a:p>
            <a:pPr marL="1114425" lvl="1" indent="-428625" algn="just">
              <a:buClr>
                <a:srgbClr val="0070C0"/>
              </a:buClr>
              <a:buFont typeface="Wingdings" panose="05000000000000000000" pitchFamily="2" charset="2"/>
              <a:buChar char="Ø"/>
              <a:defRPr/>
            </a:pPr>
            <a:r>
              <a:rPr lang="it-IT" sz="3000" dirty="0">
                <a:solidFill>
                  <a:srgbClr val="0070C0"/>
                </a:solidFill>
                <a:latin typeface="Poppins" panose="020B0604020202020204" charset="0"/>
                <a:cs typeface="Poppins" panose="020B0604020202020204" charset="0"/>
              </a:rPr>
              <a:t>per imputazione diretta di costi al prospetto del reddito dell’esercizio o perché associati al tempo o perché sia venuta meno l’utilità o la funzionalità del costo</a:t>
            </a:r>
          </a:p>
        </p:txBody>
      </p:sp>
      <p:sp>
        <p:nvSpPr>
          <p:cNvPr id="40965" name="CasellaDiTesto 8">
            <a:extLst>
              <a:ext uri="{FF2B5EF4-FFF2-40B4-BE49-F238E27FC236}">
                <a16:creationId xmlns:a16="http://schemas.microsoft.com/office/drawing/2014/main" id="{E7E1FF53-7357-4493-BAE7-DB0D559EE8C7}"/>
              </a:ext>
            </a:extLst>
          </p:cNvPr>
          <p:cNvSpPr txBox="1">
            <a:spLocks noChangeArrowheads="1"/>
          </p:cNvSpPr>
          <p:nvPr/>
        </p:nvSpPr>
        <p:spPr bwMode="auto">
          <a:xfrm>
            <a:off x="754858" y="404813"/>
            <a:ext cx="1650920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5400" b="1">
                <a:solidFill>
                  <a:srgbClr val="0070C0"/>
                </a:solidFill>
                <a:latin typeface="Poppins" panose="020B0604020202020204" charset="0"/>
                <a:cs typeface="Poppins" panose="020B0604020202020204" charset="0"/>
              </a:rPr>
              <a:t>Il principio di competenza economica (2/3)</a:t>
            </a:r>
          </a:p>
        </p:txBody>
      </p:sp>
      <p:pic>
        <p:nvPicPr>
          <p:cNvPr id="40966" name="Immagine 9">
            <a:extLst>
              <a:ext uri="{FF2B5EF4-FFF2-40B4-BE49-F238E27FC236}">
                <a16:creationId xmlns:a16="http://schemas.microsoft.com/office/drawing/2014/main" id="{61D941B1-3B5C-4C0D-B209-571EDF8A38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2704"/>
          <a:stretch>
            <a:fillRect/>
          </a:stretch>
        </p:blipFill>
        <p:spPr bwMode="auto">
          <a:xfrm>
            <a:off x="12963525" y="1321595"/>
            <a:ext cx="5324475" cy="791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nettore 1 6">
            <a:extLst>
              <a:ext uri="{FF2B5EF4-FFF2-40B4-BE49-F238E27FC236}">
                <a16:creationId xmlns:a16="http://schemas.microsoft.com/office/drawing/2014/main" id="{1A2E961D-5A56-48B4-8EB2-D31811637AF8}"/>
              </a:ext>
            </a:extLst>
          </p:cNvPr>
          <p:cNvCxnSpPr>
            <a:cxnSpLocks/>
          </p:cNvCxnSpPr>
          <p:nvPr/>
        </p:nvCxnSpPr>
        <p:spPr>
          <a:xfrm flipV="1">
            <a:off x="12963525" y="1841113"/>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71B68003-272F-4097-AEAE-7342EAB7E550}"/>
              </a:ext>
            </a:extLst>
          </p:cNvPr>
          <p:cNvSpPr/>
          <p:nvPr/>
        </p:nvSpPr>
        <p:spPr>
          <a:xfrm>
            <a:off x="2629077" y="2888515"/>
            <a:ext cx="8060532" cy="3323987"/>
          </a:xfrm>
          <a:prstGeom prst="rect">
            <a:avLst/>
          </a:prstGeom>
        </p:spPr>
        <p:txBody>
          <a:bodyPr>
            <a:spAutoFit/>
          </a:bodyPr>
          <a:lstStyle/>
          <a:p>
            <a:pPr algn="just">
              <a:defRPr/>
            </a:pPr>
            <a:r>
              <a:rPr lang="it-IT" sz="4200" dirty="0">
                <a:solidFill>
                  <a:srgbClr val="0070C0"/>
                </a:solidFill>
                <a:latin typeface="Poppins" panose="020B0604020202020204" charset="0"/>
                <a:cs typeface="Poppins" panose="020B0604020202020204" charset="0"/>
              </a:rPr>
              <a:t>I</a:t>
            </a:r>
            <a:r>
              <a:rPr lang="it-IT" sz="4200" b="1" dirty="0">
                <a:solidFill>
                  <a:srgbClr val="0070C0"/>
                </a:solidFill>
                <a:latin typeface="Poppins" panose="020B0604020202020204" charset="0"/>
                <a:cs typeface="Poppins" panose="020B0604020202020204" charset="0"/>
              </a:rPr>
              <a:t> </a:t>
            </a:r>
            <a:r>
              <a:rPr lang="it-IT" sz="4200" dirty="0">
                <a:solidFill>
                  <a:srgbClr val="0070C0"/>
                </a:solidFill>
                <a:latin typeface="Poppins" panose="020B0604020202020204" charset="0"/>
                <a:cs typeface="Poppins" panose="020B0604020202020204" charset="0"/>
              </a:rPr>
              <a:t>costi e i ricavi relativi a processi in corso non competono al periodo considerato e devono essere rinviati ai periodi futuri</a:t>
            </a:r>
          </a:p>
        </p:txBody>
      </p:sp>
      <p:sp>
        <p:nvSpPr>
          <p:cNvPr id="41988" name="CasellaDiTesto 8">
            <a:extLst>
              <a:ext uri="{FF2B5EF4-FFF2-40B4-BE49-F238E27FC236}">
                <a16:creationId xmlns:a16="http://schemas.microsoft.com/office/drawing/2014/main" id="{A6CB1F8A-93A9-4BE6-B83E-031F1F08E34D}"/>
              </a:ext>
            </a:extLst>
          </p:cNvPr>
          <p:cNvSpPr txBox="1">
            <a:spLocks noChangeArrowheads="1"/>
          </p:cNvSpPr>
          <p:nvPr/>
        </p:nvSpPr>
        <p:spPr bwMode="auto">
          <a:xfrm>
            <a:off x="754858" y="404813"/>
            <a:ext cx="1650920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5400" b="1">
                <a:solidFill>
                  <a:srgbClr val="0070C0"/>
                </a:solidFill>
                <a:latin typeface="Poppins" panose="020B0604020202020204" charset="0"/>
                <a:cs typeface="Poppins" panose="020B0604020202020204" charset="0"/>
              </a:rPr>
              <a:t>Il principio di competenza economica (3/3)</a:t>
            </a:r>
          </a:p>
        </p:txBody>
      </p:sp>
      <p:pic>
        <p:nvPicPr>
          <p:cNvPr id="41989" name="Immagine 9">
            <a:extLst>
              <a:ext uri="{FF2B5EF4-FFF2-40B4-BE49-F238E27FC236}">
                <a16:creationId xmlns:a16="http://schemas.microsoft.com/office/drawing/2014/main" id="{57306CCC-BA20-4044-9E89-C34E081977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2704"/>
          <a:stretch>
            <a:fillRect/>
          </a:stretch>
        </p:blipFill>
        <p:spPr bwMode="auto">
          <a:xfrm>
            <a:off x="12963525" y="1321595"/>
            <a:ext cx="5324475" cy="791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nettore 1 6">
            <a:extLst>
              <a:ext uri="{FF2B5EF4-FFF2-40B4-BE49-F238E27FC236}">
                <a16:creationId xmlns:a16="http://schemas.microsoft.com/office/drawing/2014/main" id="{9E623C0A-E372-4954-8B3D-C017D96FED3B}"/>
              </a:ext>
            </a:extLst>
          </p:cNvPr>
          <p:cNvCxnSpPr>
            <a:cxnSpLocks/>
          </p:cNvCxnSpPr>
          <p:nvPr/>
        </p:nvCxnSpPr>
        <p:spPr>
          <a:xfrm flipV="1">
            <a:off x="12763676" y="1676632"/>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asellaDiTesto 3">
            <a:extLst>
              <a:ext uri="{FF2B5EF4-FFF2-40B4-BE49-F238E27FC236}">
                <a16:creationId xmlns:a16="http://schemas.microsoft.com/office/drawing/2014/main" id="{A5F28F41-901D-494C-955A-0F94EB08C977}"/>
              </a:ext>
            </a:extLst>
          </p:cNvPr>
          <p:cNvSpPr txBox="1">
            <a:spLocks noChangeArrowheads="1"/>
          </p:cNvSpPr>
          <p:nvPr/>
        </p:nvSpPr>
        <p:spPr bwMode="auto">
          <a:xfrm>
            <a:off x="611982" y="485775"/>
            <a:ext cx="1767601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800" b="1" i="1">
                <a:solidFill>
                  <a:srgbClr val="0070C0"/>
                </a:solidFill>
                <a:latin typeface="Poppins" panose="020B0604020202020204" charset="0"/>
                <a:cs typeface="Poppins" panose="020B0604020202020204" charset="0"/>
              </a:rPr>
              <a:t>Postulato della valutazione separata degli elementi eterogenei</a:t>
            </a:r>
            <a:endParaRPr lang="it-IT" altLang="it-IT" sz="4800">
              <a:solidFill>
                <a:srgbClr val="0070C0"/>
              </a:solidFill>
              <a:latin typeface="Poppins" panose="020B0604020202020204" charset="0"/>
              <a:cs typeface="Poppins" panose="020B0604020202020204" charset="0"/>
            </a:endParaRPr>
          </a:p>
        </p:txBody>
      </p:sp>
      <p:pic>
        <p:nvPicPr>
          <p:cNvPr id="43012" name="Immagine 5">
            <a:extLst>
              <a:ext uri="{FF2B5EF4-FFF2-40B4-BE49-F238E27FC236}">
                <a16:creationId xmlns:a16="http://schemas.microsoft.com/office/drawing/2014/main" id="{4CE8ED14-834A-40FB-B256-A1E8480B71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2704"/>
          <a:stretch>
            <a:fillRect/>
          </a:stretch>
        </p:blipFill>
        <p:spPr bwMode="auto">
          <a:xfrm>
            <a:off x="12963525" y="1321595"/>
            <a:ext cx="5324475" cy="791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asellaDiTesto 1">
            <a:extLst>
              <a:ext uri="{FF2B5EF4-FFF2-40B4-BE49-F238E27FC236}">
                <a16:creationId xmlns:a16="http://schemas.microsoft.com/office/drawing/2014/main" id="{97C274A6-DA5F-4160-8E06-471684A81BF0}"/>
              </a:ext>
            </a:extLst>
          </p:cNvPr>
          <p:cNvSpPr txBox="1"/>
          <p:nvPr/>
        </p:nvSpPr>
        <p:spPr>
          <a:xfrm>
            <a:off x="1440598" y="3058448"/>
            <a:ext cx="9591675" cy="5170646"/>
          </a:xfrm>
          <a:prstGeom prst="rect">
            <a:avLst/>
          </a:prstGeom>
          <a:noFill/>
        </p:spPr>
        <p:txBody>
          <a:bodyPr>
            <a:spAutoFit/>
          </a:bodyPr>
          <a:lstStyle>
            <a:defPPr>
              <a:defRPr lang="en-US"/>
            </a:defPPr>
            <a:lvl1pPr algn="just">
              <a:defRPr>
                <a:latin typeface="Bahnschrift" panose="020B0502040204020203"/>
              </a:defRPr>
            </a:lvl1pPr>
            <a:lvl2pPr marL="674688" lvl="1" indent="-320675" algn="just">
              <a:buClr>
                <a:srgbClr val="C00000"/>
              </a:buClr>
              <a:buFont typeface="Wingdings" panose="05000000000000000000" pitchFamily="2" charset="2"/>
              <a:buChar char="§"/>
              <a:defRPr>
                <a:latin typeface="Bahnschrift" panose="020B0502040204020203"/>
              </a:defRPr>
            </a:lvl2pPr>
          </a:lstStyle>
          <a:p>
            <a:pPr marL="428625" indent="-428625">
              <a:buClr>
                <a:srgbClr val="0070C0"/>
              </a:buClr>
              <a:buFont typeface="Wingdings" panose="05000000000000000000" pitchFamily="2" charset="2"/>
              <a:buChar char="§"/>
              <a:defRPr/>
            </a:pPr>
            <a:r>
              <a:rPr lang="it-IT" sz="3000" dirty="0">
                <a:solidFill>
                  <a:srgbClr val="0070C0"/>
                </a:solidFill>
                <a:latin typeface="Poppins" panose="020B0604020202020204" charset="0"/>
                <a:cs typeface="Poppins" panose="020B0604020202020204" charset="0"/>
              </a:rPr>
              <a:t>Gli elementi eterogenei ricompresi nelle singole voci di bilancio devono essere valutati separatamente (ai sensi dell’art. 2423-bis co. 5).</a:t>
            </a:r>
          </a:p>
          <a:p>
            <a:pPr marL="428625" indent="-428625">
              <a:buClr>
                <a:srgbClr val="C00000"/>
              </a:buClr>
              <a:buFont typeface="Wingdings" panose="05000000000000000000" pitchFamily="2" charset="2"/>
              <a:buChar char="§"/>
              <a:defRPr/>
            </a:pPr>
            <a:endParaRPr lang="it-IT" sz="3000" dirty="0">
              <a:solidFill>
                <a:srgbClr val="0070C0"/>
              </a:solidFill>
              <a:latin typeface="Poppins" panose="020B0604020202020204" charset="0"/>
              <a:cs typeface="Poppins" panose="020B0604020202020204" charset="0"/>
            </a:endParaRPr>
          </a:p>
          <a:p>
            <a:pPr marL="428625" indent="-428625">
              <a:buClr>
                <a:srgbClr val="0070C0"/>
              </a:buClr>
              <a:buFont typeface="Wingdings" panose="05000000000000000000" pitchFamily="2" charset="2"/>
              <a:buChar char="§"/>
              <a:defRPr/>
            </a:pPr>
            <a:r>
              <a:rPr lang="it-IT" sz="3000" dirty="0">
                <a:solidFill>
                  <a:srgbClr val="0070C0"/>
                </a:solidFill>
                <a:latin typeface="Poppins" panose="020B0604020202020204" charset="0"/>
                <a:cs typeface="Poppins" panose="020B0604020202020204" charset="0"/>
              </a:rPr>
              <a:t>In dottrina è stato sottolineato come tale disposizione sia volta ad evitare la compensazione, attraverso la valutazione congiunta di elementi eterogenei ricompresi nelle singole voci, tra perdite presunte e utili soltanto sperati.</a:t>
            </a:r>
          </a:p>
        </p:txBody>
      </p:sp>
      <p:cxnSp>
        <p:nvCxnSpPr>
          <p:cNvPr id="11" name="Connettore 1 6">
            <a:extLst>
              <a:ext uri="{FF2B5EF4-FFF2-40B4-BE49-F238E27FC236}">
                <a16:creationId xmlns:a16="http://schemas.microsoft.com/office/drawing/2014/main" id="{9989AD92-F913-43AC-A899-1FC064419762}"/>
              </a:ext>
            </a:extLst>
          </p:cNvPr>
          <p:cNvCxnSpPr>
            <a:cxnSpLocks/>
          </p:cNvCxnSpPr>
          <p:nvPr/>
        </p:nvCxnSpPr>
        <p:spPr>
          <a:xfrm flipV="1">
            <a:off x="12963525" y="2050276"/>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asellaDiTesto 3">
            <a:extLst>
              <a:ext uri="{FF2B5EF4-FFF2-40B4-BE49-F238E27FC236}">
                <a16:creationId xmlns:a16="http://schemas.microsoft.com/office/drawing/2014/main" id="{372EA4A4-0929-408E-95AC-DE0C1B72FD0A}"/>
              </a:ext>
            </a:extLst>
          </p:cNvPr>
          <p:cNvSpPr txBox="1">
            <a:spLocks noChangeArrowheads="1"/>
          </p:cNvSpPr>
          <p:nvPr/>
        </p:nvSpPr>
        <p:spPr bwMode="auto">
          <a:xfrm>
            <a:off x="523876" y="478632"/>
            <a:ext cx="1751409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800" b="1" i="1">
                <a:solidFill>
                  <a:srgbClr val="0070C0"/>
                </a:solidFill>
                <a:latin typeface="Poppins" panose="020B0604020202020204" charset="0"/>
                <a:cs typeface="Poppins" panose="020B0604020202020204" charset="0"/>
              </a:rPr>
              <a:t>Postulato della valutazione separata degli elementi eterogenei</a:t>
            </a:r>
            <a:endParaRPr lang="it-IT" altLang="it-IT" sz="4800">
              <a:solidFill>
                <a:srgbClr val="0070C0"/>
              </a:solidFill>
              <a:latin typeface="Poppins" panose="020B0604020202020204" charset="0"/>
              <a:cs typeface="Poppins" panose="020B0604020202020204" charset="0"/>
            </a:endParaRPr>
          </a:p>
        </p:txBody>
      </p:sp>
      <p:sp>
        <p:nvSpPr>
          <p:cNvPr id="2" name="CasellaDiTesto 1">
            <a:extLst>
              <a:ext uri="{FF2B5EF4-FFF2-40B4-BE49-F238E27FC236}">
                <a16:creationId xmlns:a16="http://schemas.microsoft.com/office/drawing/2014/main" id="{9FC00800-7791-439E-B711-6DFE015AC15D}"/>
              </a:ext>
            </a:extLst>
          </p:cNvPr>
          <p:cNvSpPr txBox="1"/>
          <p:nvPr/>
        </p:nvSpPr>
        <p:spPr>
          <a:xfrm>
            <a:off x="767240" y="2808030"/>
            <a:ext cx="14635163" cy="7478970"/>
          </a:xfrm>
          <a:prstGeom prst="rect">
            <a:avLst/>
          </a:prstGeom>
          <a:noFill/>
        </p:spPr>
        <p:txBody>
          <a:bodyPr>
            <a:spAutoFit/>
          </a:bodyPr>
          <a:lstStyle>
            <a:defPPr>
              <a:defRPr lang="en-US"/>
            </a:defPPr>
            <a:lvl1pPr algn="just">
              <a:defRPr>
                <a:latin typeface="Bahnschrift" panose="020B0502040204020203"/>
              </a:defRPr>
            </a:lvl1pPr>
            <a:lvl2pPr marL="674688" lvl="1" indent="-320675" algn="just">
              <a:buClr>
                <a:srgbClr val="C00000"/>
              </a:buClr>
              <a:buFont typeface="Wingdings" panose="05000000000000000000" pitchFamily="2" charset="2"/>
              <a:buChar char="§"/>
              <a:defRPr>
                <a:latin typeface="Bahnschrift" panose="020B0502040204020203"/>
              </a:defRPr>
            </a:lvl2pPr>
          </a:lstStyle>
          <a:p>
            <a:pPr>
              <a:buClr>
                <a:srgbClr val="C00000"/>
              </a:buClr>
              <a:defRPr/>
            </a:pPr>
            <a:r>
              <a:rPr lang="it-IT" sz="3000" dirty="0">
                <a:solidFill>
                  <a:srgbClr val="0070C0"/>
                </a:solidFill>
                <a:latin typeface="Poppins" panose="020B0604020202020204" charset="0"/>
                <a:cs typeface="Poppins" panose="020B0604020202020204" charset="0"/>
              </a:rPr>
              <a:t>Questo principio intende evitare che mediante una valutazione globale di alcune poste in bilancio si effettuino delle compensazioni tra elementi, ricompresi in tali poste,  che necessitano di una svalutazione per la presenza di perdite certe o probabili, ed altri elementi che, invece, presentano utili attesi che non dovrebbero essere presi in considerazione ai fini della redazione del bilancio.</a:t>
            </a:r>
          </a:p>
          <a:p>
            <a:pPr>
              <a:buClr>
                <a:srgbClr val="C00000"/>
              </a:buClr>
              <a:defRPr/>
            </a:pPr>
            <a:endParaRPr lang="it-IT" sz="3000" dirty="0">
              <a:solidFill>
                <a:srgbClr val="0070C0"/>
              </a:solidFill>
              <a:latin typeface="Poppins" panose="020B0604020202020204" charset="0"/>
              <a:cs typeface="Poppins" panose="020B0604020202020204" charset="0"/>
            </a:endParaRPr>
          </a:p>
          <a:p>
            <a:pPr marL="807245">
              <a:buClr>
                <a:srgbClr val="C00000"/>
              </a:buClr>
              <a:defRPr/>
            </a:pPr>
            <a:r>
              <a:rPr lang="it-IT" sz="3000" dirty="0">
                <a:solidFill>
                  <a:srgbClr val="0070C0"/>
                </a:solidFill>
                <a:latin typeface="Poppins" panose="020B0604020202020204" charset="0"/>
                <a:cs typeface="Poppins" panose="020B0604020202020204" charset="0"/>
              </a:rPr>
              <a:t>Tipica voce in cui questo principio trova la sua applicazione sono le rimanenze di magazzino.</a:t>
            </a:r>
          </a:p>
          <a:p>
            <a:pPr marL="807245">
              <a:buClr>
                <a:srgbClr val="C00000"/>
              </a:buClr>
              <a:defRPr/>
            </a:pPr>
            <a:r>
              <a:rPr lang="it-IT" sz="3000" dirty="0">
                <a:solidFill>
                  <a:srgbClr val="0070C0"/>
                </a:solidFill>
                <a:latin typeface="Poppins" panose="020B0604020202020204" charset="0"/>
                <a:cs typeface="Poppins" panose="020B0604020202020204" charset="0"/>
              </a:rPr>
              <a:t>Nell’ambito di questa voce, infatti, vi sono codici che devono essere adeguati al valore di presunto realizzo, in quanto inferiore  al costo mentre ve ne sono altri – di norma la maggior parte – il cui costo è inferiore al prezzo di vendita, ma non per questo tali codici devono essere valutati a tale maggior valore</a:t>
            </a:r>
          </a:p>
          <a:p>
            <a:pPr>
              <a:buClr>
                <a:srgbClr val="C00000"/>
              </a:buClr>
              <a:defRPr/>
            </a:pPr>
            <a:endParaRPr lang="it-IT" sz="3000" dirty="0">
              <a:solidFill>
                <a:srgbClr val="0070C0"/>
              </a:solidFill>
              <a:latin typeface="Poppins" panose="020B0604020202020204" charset="0"/>
              <a:cs typeface="Poppins" panose="020B0604020202020204" charset="0"/>
            </a:endParaRPr>
          </a:p>
          <a:p>
            <a:pPr>
              <a:buClr>
                <a:srgbClr val="C00000"/>
              </a:buClr>
              <a:defRPr/>
            </a:pPr>
            <a:endParaRPr lang="it-IT" sz="3000" dirty="0">
              <a:solidFill>
                <a:srgbClr val="0070C0"/>
              </a:solidFill>
              <a:latin typeface="Poppins" panose="020B0604020202020204" charset="0"/>
              <a:cs typeface="Poppins" panose="020B0604020202020204" charset="0"/>
            </a:endParaRPr>
          </a:p>
        </p:txBody>
      </p:sp>
      <p:sp>
        <p:nvSpPr>
          <p:cNvPr id="9" name="Freccia angolare in su 8">
            <a:extLst>
              <a:ext uri="{FF2B5EF4-FFF2-40B4-BE49-F238E27FC236}">
                <a16:creationId xmlns:a16="http://schemas.microsoft.com/office/drawing/2014/main" id="{FD489DCB-9102-40A2-9817-BB55DD3C7444}"/>
              </a:ext>
            </a:extLst>
          </p:cNvPr>
          <p:cNvSpPr/>
          <p:nvPr/>
        </p:nvSpPr>
        <p:spPr>
          <a:xfrm rot="5400000">
            <a:off x="427427" y="6161087"/>
            <a:ext cx="1304925" cy="390525"/>
          </a:xfrm>
          <a:prstGeom prst="bentUpArrow">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t-IT" sz="2100">
              <a:solidFill>
                <a:srgbClr val="0070C0"/>
              </a:solidFill>
              <a:latin typeface="Poppins" panose="020B0604020202020204" charset="0"/>
              <a:cs typeface="Poppins" panose="020B0604020202020204" charset="0"/>
            </a:endParaRPr>
          </a:p>
        </p:txBody>
      </p:sp>
      <p:sp>
        <p:nvSpPr>
          <p:cNvPr id="3" name="Doppia parentesi quadra 2">
            <a:extLst>
              <a:ext uri="{FF2B5EF4-FFF2-40B4-BE49-F238E27FC236}">
                <a16:creationId xmlns:a16="http://schemas.microsoft.com/office/drawing/2014/main" id="{71BEA21E-0BA6-4FA7-BBB2-4776DFEBF190}"/>
              </a:ext>
            </a:extLst>
          </p:cNvPr>
          <p:cNvSpPr/>
          <p:nvPr/>
        </p:nvSpPr>
        <p:spPr>
          <a:xfrm>
            <a:off x="1383490" y="5862868"/>
            <a:ext cx="14043830" cy="3415236"/>
          </a:xfrm>
          <a:prstGeom prst="bracketPair">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it-IT" sz="2100">
              <a:solidFill>
                <a:srgbClr val="0070C0"/>
              </a:solidFill>
              <a:latin typeface="Poppins" panose="020B0604020202020204" charset="0"/>
              <a:cs typeface="Poppins" panose="020B06040202020202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asellaDiTesto 3">
            <a:extLst>
              <a:ext uri="{FF2B5EF4-FFF2-40B4-BE49-F238E27FC236}">
                <a16:creationId xmlns:a16="http://schemas.microsoft.com/office/drawing/2014/main" id="{DCC8C5D5-A00B-4DD0-829D-F966E74701E2}"/>
              </a:ext>
            </a:extLst>
          </p:cNvPr>
          <p:cNvSpPr txBox="1">
            <a:spLocks noChangeArrowheads="1"/>
          </p:cNvSpPr>
          <p:nvPr/>
        </p:nvSpPr>
        <p:spPr bwMode="auto">
          <a:xfrm>
            <a:off x="776288" y="404813"/>
            <a:ext cx="1248727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800" b="1" i="1">
                <a:solidFill>
                  <a:srgbClr val="0070C0"/>
                </a:solidFill>
                <a:latin typeface="Poppins" panose="020B0604020202020204" charset="0"/>
                <a:cs typeface="Poppins" panose="020B0604020202020204" charset="0"/>
              </a:rPr>
              <a:t>Postulato della rilevanza (significatività)</a:t>
            </a:r>
            <a:endParaRPr lang="it-IT" altLang="it-IT" sz="4800">
              <a:solidFill>
                <a:srgbClr val="0070C0"/>
              </a:solidFill>
              <a:latin typeface="Poppins" panose="020B0604020202020204" charset="0"/>
              <a:cs typeface="Poppins" panose="020B0604020202020204" charset="0"/>
            </a:endParaRPr>
          </a:p>
        </p:txBody>
      </p:sp>
      <p:pic>
        <p:nvPicPr>
          <p:cNvPr id="47108" name="Immagine 5">
            <a:extLst>
              <a:ext uri="{FF2B5EF4-FFF2-40B4-BE49-F238E27FC236}">
                <a16:creationId xmlns:a16="http://schemas.microsoft.com/office/drawing/2014/main" id="{0327E6A9-EA05-4494-9449-D4AC40FD0C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2704"/>
          <a:stretch>
            <a:fillRect/>
          </a:stretch>
        </p:blipFill>
        <p:spPr bwMode="auto">
          <a:xfrm>
            <a:off x="12963525" y="1321595"/>
            <a:ext cx="5324475" cy="791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asellaDiTesto 1">
            <a:extLst>
              <a:ext uri="{FF2B5EF4-FFF2-40B4-BE49-F238E27FC236}">
                <a16:creationId xmlns:a16="http://schemas.microsoft.com/office/drawing/2014/main" id="{D8D27468-F93B-4F54-8C33-25A5430E3ECF}"/>
              </a:ext>
            </a:extLst>
          </p:cNvPr>
          <p:cNvSpPr txBox="1"/>
          <p:nvPr/>
        </p:nvSpPr>
        <p:spPr>
          <a:xfrm>
            <a:off x="1668793" y="2648635"/>
            <a:ext cx="9498807" cy="5909310"/>
          </a:xfrm>
          <a:prstGeom prst="rect">
            <a:avLst/>
          </a:prstGeom>
          <a:noFill/>
        </p:spPr>
        <p:txBody>
          <a:bodyPr>
            <a:spAutoFit/>
          </a:bodyPr>
          <a:lstStyle/>
          <a:p>
            <a:pPr algn="just">
              <a:defRPr/>
            </a:pPr>
            <a:r>
              <a:rPr lang="it-IT" sz="2100" dirty="0">
                <a:solidFill>
                  <a:srgbClr val="0070C0"/>
                </a:solidFill>
                <a:latin typeface="Poppins" panose="020B0604020202020204" charset="0"/>
                <a:cs typeface="Poppins" panose="020B0604020202020204" charset="0"/>
              </a:rPr>
              <a:t>Il bilancio d’esercizio deve esporre solo i fatti e le informazioni che hanno effetto significativo e rilevante sul processo decisionale dei destinatari  (documento OIC 11, sub «Postulati del bilancio d’esercizio).</a:t>
            </a:r>
          </a:p>
          <a:p>
            <a:pPr algn="just">
              <a:defRPr/>
            </a:pPr>
            <a:endParaRPr lang="it-IT" sz="2100" b="1" u="sng" dirty="0">
              <a:solidFill>
                <a:srgbClr val="0070C0"/>
              </a:solidFill>
              <a:latin typeface="Poppins" panose="020B0604020202020204" charset="0"/>
              <a:cs typeface="Poppins" panose="020B0604020202020204" charset="0"/>
            </a:endParaRPr>
          </a:p>
          <a:p>
            <a:pPr algn="just">
              <a:defRPr/>
            </a:pPr>
            <a:r>
              <a:rPr lang="it-IT" sz="2100" b="1" u="sng" dirty="0">
                <a:solidFill>
                  <a:srgbClr val="0070C0"/>
                </a:solidFill>
                <a:latin typeface="Poppins" panose="020B0604020202020204" charset="0"/>
                <a:cs typeface="Poppins" panose="020B0604020202020204" charset="0"/>
              </a:rPr>
              <a:t>Errori, semplificazioni e arrotondamenti </a:t>
            </a:r>
          </a:p>
          <a:p>
            <a:pPr marL="428625" indent="-428625" algn="just">
              <a:buClr>
                <a:srgbClr val="0070C0"/>
              </a:buClr>
              <a:buFont typeface="Wingdings" panose="05000000000000000000" pitchFamily="2" charset="2"/>
              <a:buChar char="§"/>
              <a:defRPr/>
            </a:pPr>
            <a:r>
              <a:rPr lang="it-IT" sz="2100" dirty="0">
                <a:solidFill>
                  <a:srgbClr val="0070C0"/>
                </a:solidFill>
                <a:latin typeface="Poppins" panose="020B0604020202020204" charset="0"/>
                <a:cs typeface="Poppins" panose="020B0604020202020204" charset="0"/>
              </a:rPr>
              <a:t>Il procedimento di formazione del bilancio implica l’effettuazione di stime o previsioni. Pertanto, la correttezza dei dati di bilancio non si riferisce soltanto all’esattezza aritmetica, bensì anche alla correttezza economica, alla ragionevolezza, all’attendibilità del risultato che viene ottenuto dall’applicazione oculata ed onesta dei procedimenti di valutazione adottati nella stesura del bilancio.</a:t>
            </a:r>
          </a:p>
          <a:p>
            <a:pPr marL="428625" indent="-428625" algn="just">
              <a:buClr>
                <a:srgbClr val="0070C0"/>
              </a:buClr>
              <a:buFont typeface="Wingdings" panose="05000000000000000000" pitchFamily="2" charset="2"/>
              <a:buChar char="§"/>
              <a:defRPr/>
            </a:pPr>
            <a:r>
              <a:rPr lang="it-IT" sz="2100" dirty="0">
                <a:solidFill>
                  <a:srgbClr val="0070C0"/>
                </a:solidFill>
                <a:latin typeface="Poppins" panose="020B0604020202020204" charset="0"/>
                <a:cs typeface="Poppins" panose="020B0604020202020204" charset="0"/>
              </a:rPr>
              <a:t>Errori, semplificazioni e arrotondamenti sono tecnicamente inevitabili e trovano il loro limite nel concetto di rilevanza: essi, cioè, non devono essere di portata tale da avere un effetto rilevante sui dati di bilancio e sul loro significato per i destinatari.</a:t>
            </a:r>
          </a:p>
        </p:txBody>
      </p:sp>
      <p:cxnSp>
        <p:nvCxnSpPr>
          <p:cNvPr id="11" name="Connettore 1 6">
            <a:extLst>
              <a:ext uri="{FF2B5EF4-FFF2-40B4-BE49-F238E27FC236}">
                <a16:creationId xmlns:a16="http://schemas.microsoft.com/office/drawing/2014/main" id="{28A5814E-C674-493A-A3A7-F001C927EDCB}"/>
              </a:ext>
            </a:extLst>
          </p:cNvPr>
          <p:cNvCxnSpPr>
            <a:cxnSpLocks/>
          </p:cNvCxnSpPr>
          <p:nvPr/>
        </p:nvCxnSpPr>
        <p:spPr>
          <a:xfrm flipV="1">
            <a:off x="12763676" y="1850233"/>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asellaDiTesto 3">
            <a:extLst>
              <a:ext uri="{FF2B5EF4-FFF2-40B4-BE49-F238E27FC236}">
                <a16:creationId xmlns:a16="http://schemas.microsoft.com/office/drawing/2014/main" id="{BC2F9104-C8AD-4697-A24D-871C0B83997F}"/>
              </a:ext>
            </a:extLst>
          </p:cNvPr>
          <p:cNvSpPr txBox="1">
            <a:spLocks noChangeArrowheads="1"/>
          </p:cNvSpPr>
          <p:nvPr/>
        </p:nvSpPr>
        <p:spPr bwMode="auto">
          <a:xfrm>
            <a:off x="776288" y="404813"/>
            <a:ext cx="124872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800" b="1" i="1">
                <a:solidFill>
                  <a:srgbClr val="0070C0"/>
                </a:solidFill>
                <a:latin typeface="Poppins" panose="020B0604020202020204" charset="0"/>
                <a:cs typeface="Poppins" panose="020B0604020202020204" charset="0"/>
              </a:rPr>
              <a:t>Postulato della comparabilità (1/2)</a:t>
            </a:r>
            <a:endParaRPr lang="it-IT" altLang="it-IT" sz="4800">
              <a:solidFill>
                <a:srgbClr val="0070C0"/>
              </a:solidFill>
              <a:latin typeface="Poppins" panose="020B0604020202020204" charset="0"/>
              <a:cs typeface="Poppins" panose="020B0604020202020204" charset="0"/>
            </a:endParaRPr>
          </a:p>
        </p:txBody>
      </p:sp>
      <p:pic>
        <p:nvPicPr>
          <p:cNvPr id="49156" name="Immagine 5">
            <a:extLst>
              <a:ext uri="{FF2B5EF4-FFF2-40B4-BE49-F238E27FC236}">
                <a16:creationId xmlns:a16="http://schemas.microsoft.com/office/drawing/2014/main" id="{F162D00E-170D-42D6-AE54-563C9A2F1C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2704"/>
          <a:stretch>
            <a:fillRect/>
          </a:stretch>
        </p:blipFill>
        <p:spPr bwMode="auto">
          <a:xfrm>
            <a:off x="12963525" y="1321595"/>
            <a:ext cx="5324475" cy="791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asellaDiTesto 1">
            <a:extLst>
              <a:ext uri="{FF2B5EF4-FFF2-40B4-BE49-F238E27FC236}">
                <a16:creationId xmlns:a16="http://schemas.microsoft.com/office/drawing/2014/main" id="{0C933E01-DAEB-4B11-96DE-AF67A4FB7FC1}"/>
              </a:ext>
            </a:extLst>
          </p:cNvPr>
          <p:cNvSpPr txBox="1"/>
          <p:nvPr/>
        </p:nvSpPr>
        <p:spPr>
          <a:xfrm>
            <a:off x="776288" y="1816120"/>
            <a:ext cx="11639898" cy="7940635"/>
          </a:xfrm>
          <a:prstGeom prst="rect">
            <a:avLst/>
          </a:prstGeom>
          <a:noFill/>
        </p:spPr>
        <p:txBody>
          <a:bodyPr wrap="square">
            <a:spAutoFit/>
          </a:bodyPr>
          <a:lstStyle/>
          <a:p>
            <a:pPr algn="just">
              <a:defRPr/>
            </a:pPr>
            <a:r>
              <a:rPr lang="it-IT" sz="3000" b="1" dirty="0">
                <a:solidFill>
                  <a:srgbClr val="0070C0"/>
                </a:solidFill>
                <a:latin typeface="Poppins" panose="020B0604020202020204" charset="0"/>
                <a:cs typeface="Poppins" panose="020B0604020202020204" charset="0"/>
              </a:rPr>
              <a:t>Nell’ambito della stessa impresa . . .</a:t>
            </a:r>
          </a:p>
          <a:p>
            <a:pPr algn="just">
              <a:defRPr/>
            </a:pPr>
            <a:endParaRPr lang="it-IT" sz="3000" dirty="0">
              <a:solidFill>
                <a:srgbClr val="0070C0"/>
              </a:solidFill>
              <a:latin typeface="Poppins" panose="020B0604020202020204" charset="0"/>
              <a:cs typeface="Poppins" panose="020B0604020202020204" charset="0"/>
            </a:endParaRPr>
          </a:p>
          <a:p>
            <a:pPr algn="just">
              <a:defRPr/>
            </a:pPr>
            <a:r>
              <a:rPr lang="it-IT" sz="3000" dirty="0">
                <a:solidFill>
                  <a:srgbClr val="0070C0"/>
                </a:solidFill>
                <a:latin typeface="Poppins" panose="020B0604020202020204" charset="0"/>
                <a:cs typeface="Poppins" panose="020B0604020202020204" charset="0"/>
              </a:rPr>
              <a:t>La comparabilità dei bilanci a date diverse è subordinata alla sussistenza delle seguenti condizioni:</a:t>
            </a:r>
          </a:p>
          <a:p>
            <a:pPr marL="1114425" lvl="1" indent="-428625" algn="just">
              <a:buClr>
                <a:srgbClr val="0070C0"/>
              </a:buClr>
              <a:buFont typeface="Wingdings" panose="05000000000000000000" pitchFamily="2" charset="2"/>
              <a:buChar char="§"/>
              <a:defRPr/>
            </a:pPr>
            <a:r>
              <a:rPr lang="it-IT" sz="3000" dirty="0">
                <a:solidFill>
                  <a:srgbClr val="0070C0"/>
                </a:solidFill>
                <a:latin typeface="Poppins" panose="020B0604020202020204" charset="0"/>
                <a:cs typeface="Poppins" panose="020B0604020202020204" charset="0"/>
              </a:rPr>
              <a:t>costanza della forma di presentazione: la classificazione, la separazione e l’identificazione per gruppi omogenei delle voci deve essere uguale o, almeno, comparabile;</a:t>
            </a:r>
          </a:p>
          <a:p>
            <a:pPr marL="1114425" lvl="1" indent="-428625" algn="just">
              <a:buClr>
                <a:srgbClr val="0070C0"/>
              </a:buClr>
              <a:buFont typeface="Wingdings" panose="05000000000000000000" pitchFamily="2" charset="2"/>
              <a:buChar char="§"/>
              <a:defRPr/>
            </a:pPr>
            <a:r>
              <a:rPr lang="it-IT" sz="3000" dirty="0">
                <a:solidFill>
                  <a:srgbClr val="0070C0"/>
                </a:solidFill>
                <a:latin typeface="Poppins" panose="020B0604020202020204" charset="0"/>
                <a:cs typeface="Poppins" panose="020B0604020202020204" charset="0"/>
              </a:rPr>
              <a:t>costanza dei criteri di valutazione adottati: l’eventuale cambiamento deve essere giustificato da circostanze eccezionali per frequenza e natura ed il suo effetto sul risultato dell’esercizio e sul patrimonio netto deve essere propriamente evidenziato;</a:t>
            </a:r>
          </a:p>
          <a:p>
            <a:pPr marL="1114425" lvl="1" indent="-428625" algn="just">
              <a:buClr>
                <a:srgbClr val="0070C0"/>
              </a:buClr>
              <a:buFont typeface="Wingdings" panose="05000000000000000000" pitchFamily="2" charset="2"/>
              <a:buChar char="§"/>
              <a:defRPr/>
            </a:pPr>
            <a:r>
              <a:rPr lang="it-IT" sz="3000" dirty="0">
                <a:solidFill>
                  <a:srgbClr val="0070C0"/>
                </a:solidFill>
                <a:latin typeface="Poppins" panose="020B0604020202020204" charset="0"/>
                <a:cs typeface="Poppins" panose="020B0604020202020204" charset="0"/>
              </a:rPr>
              <a:t>chiara esposizione dei mutamenti strutturali (acquisizioni, fusioni, scissioni, etc..) e degli eventi di natura straordinaria.</a:t>
            </a:r>
          </a:p>
        </p:txBody>
      </p:sp>
      <p:cxnSp>
        <p:nvCxnSpPr>
          <p:cNvPr id="11" name="Connettore 1 6">
            <a:extLst>
              <a:ext uri="{FF2B5EF4-FFF2-40B4-BE49-F238E27FC236}">
                <a16:creationId xmlns:a16="http://schemas.microsoft.com/office/drawing/2014/main" id="{0461938B-2251-4CF2-BF9E-C6C9AE41F9A2}"/>
              </a:ext>
            </a:extLst>
          </p:cNvPr>
          <p:cNvCxnSpPr>
            <a:cxnSpLocks/>
          </p:cNvCxnSpPr>
          <p:nvPr/>
        </p:nvCxnSpPr>
        <p:spPr>
          <a:xfrm flipV="1">
            <a:off x="12963525" y="1952626"/>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asellaDiTesto 3">
            <a:extLst>
              <a:ext uri="{FF2B5EF4-FFF2-40B4-BE49-F238E27FC236}">
                <a16:creationId xmlns:a16="http://schemas.microsoft.com/office/drawing/2014/main" id="{20F3B255-CE77-4B97-87BE-C4140646D6B9}"/>
              </a:ext>
            </a:extLst>
          </p:cNvPr>
          <p:cNvSpPr txBox="1">
            <a:spLocks noChangeArrowheads="1"/>
          </p:cNvSpPr>
          <p:nvPr/>
        </p:nvSpPr>
        <p:spPr bwMode="auto">
          <a:xfrm>
            <a:off x="776288" y="404813"/>
            <a:ext cx="124872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800" b="1" i="1" dirty="0">
                <a:solidFill>
                  <a:srgbClr val="0070C0"/>
                </a:solidFill>
                <a:latin typeface="Poppins" panose="020B0604020202020204" charset="0"/>
                <a:cs typeface="Poppins" panose="020B0604020202020204" charset="0"/>
              </a:rPr>
              <a:t>Postulato della comparabilità (2/2)</a:t>
            </a:r>
            <a:endParaRPr lang="it-IT" altLang="it-IT" sz="4800" dirty="0">
              <a:solidFill>
                <a:srgbClr val="0070C0"/>
              </a:solidFill>
              <a:latin typeface="Poppins" panose="020B0604020202020204" charset="0"/>
              <a:cs typeface="Poppins" panose="020B0604020202020204" charset="0"/>
            </a:endParaRPr>
          </a:p>
        </p:txBody>
      </p:sp>
      <p:pic>
        <p:nvPicPr>
          <p:cNvPr id="51204" name="Immagine 5">
            <a:extLst>
              <a:ext uri="{FF2B5EF4-FFF2-40B4-BE49-F238E27FC236}">
                <a16:creationId xmlns:a16="http://schemas.microsoft.com/office/drawing/2014/main" id="{CDA95EF8-B33F-4830-BE64-F95114BDDA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2704"/>
          <a:stretch>
            <a:fillRect/>
          </a:stretch>
        </p:blipFill>
        <p:spPr bwMode="auto">
          <a:xfrm>
            <a:off x="12963525" y="1321595"/>
            <a:ext cx="5324475" cy="791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asellaDiTesto 1">
            <a:extLst>
              <a:ext uri="{FF2B5EF4-FFF2-40B4-BE49-F238E27FC236}">
                <a16:creationId xmlns:a16="http://schemas.microsoft.com/office/drawing/2014/main" id="{64A0BCBC-475E-471B-9334-ECED1085E345}"/>
              </a:ext>
            </a:extLst>
          </p:cNvPr>
          <p:cNvSpPr txBox="1"/>
          <p:nvPr/>
        </p:nvSpPr>
        <p:spPr>
          <a:xfrm>
            <a:off x="1040200" y="1768198"/>
            <a:ext cx="11136930" cy="7017306"/>
          </a:xfrm>
          <a:prstGeom prst="rect">
            <a:avLst/>
          </a:prstGeom>
          <a:noFill/>
        </p:spPr>
        <p:txBody>
          <a:bodyPr wrap="square">
            <a:spAutoFit/>
          </a:bodyPr>
          <a:lstStyle/>
          <a:p>
            <a:pPr algn="just">
              <a:defRPr/>
            </a:pPr>
            <a:r>
              <a:rPr lang="it-IT" sz="3000" b="1" dirty="0">
                <a:solidFill>
                  <a:srgbClr val="0070C0"/>
                </a:solidFill>
                <a:latin typeface="Poppins" panose="020B0604020202020204" charset="0"/>
                <a:cs typeface="Poppins" panose="020B0604020202020204" charset="0"/>
              </a:rPr>
              <a:t>Nell’ambito di imprese diverse . . . </a:t>
            </a:r>
          </a:p>
          <a:p>
            <a:pPr algn="just">
              <a:defRPr/>
            </a:pPr>
            <a:endParaRPr lang="it-IT" sz="3000" b="1" dirty="0">
              <a:solidFill>
                <a:srgbClr val="0070C0"/>
              </a:solidFill>
              <a:latin typeface="Poppins" panose="020B0604020202020204" charset="0"/>
              <a:cs typeface="Poppins" panose="020B0604020202020204" charset="0"/>
            </a:endParaRPr>
          </a:p>
          <a:p>
            <a:pPr algn="just">
              <a:defRPr/>
            </a:pPr>
            <a:r>
              <a:rPr lang="it-IT" sz="3000" dirty="0">
                <a:solidFill>
                  <a:srgbClr val="0070C0"/>
                </a:solidFill>
                <a:latin typeface="Poppins" panose="020B0604020202020204" charset="0"/>
                <a:cs typeface="Poppins" panose="020B0604020202020204" charset="0"/>
              </a:rPr>
              <a:t>La comparabilità tra bilanci di imprese diverse risulta maggiormente difficile da realizzare rispetto alla comparabilità tra bilanci della stessa impresa, stante la possibilità, concessa dal legislatore, di utilizzare criteri di valutazione alternativi (documento OIC 11, sub «Postulati del bilancio d’esercizio»).</a:t>
            </a:r>
          </a:p>
          <a:p>
            <a:pPr algn="just">
              <a:defRPr/>
            </a:pPr>
            <a:r>
              <a:rPr lang="it-IT" sz="3000" dirty="0">
                <a:solidFill>
                  <a:srgbClr val="0070C0"/>
                </a:solidFill>
                <a:latin typeface="Poppins" panose="020B0604020202020204" charset="0"/>
                <a:cs typeface="Poppins" panose="020B0604020202020204" charset="0"/>
              </a:rPr>
              <a:t>Pertanto, è necessario evidenziare, all’interno della nota integrativa, i criteri di valutazione adottati, le circostanze che giustificano i cambiamenti nei criteri di valutazione ed i loro effetti, i cambiamenti apportati nell’esposizione delle voci di bilancio, i cambiamenti strutturali e gli eventi di natura straordinaria, se non direttamente intelligibili dai prospetti di bilancio. </a:t>
            </a:r>
          </a:p>
        </p:txBody>
      </p:sp>
      <p:cxnSp>
        <p:nvCxnSpPr>
          <p:cNvPr id="13" name="Connettore 1 6">
            <a:extLst>
              <a:ext uri="{FF2B5EF4-FFF2-40B4-BE49-F238E27FC236}">
                <a16:creationId xmlns:a16="http://schemas.microsoft.com/office/drawing/2014/main" id="{60FFDA3A-5347-4313-9CDC-D3FF31AB0346}"/>
              </a:ext>
            </a:extLst>
          </p:cNvPr>
          <p:cNvCxnSpPr>
            <a:cxnSpLocks/>
          </p:cNvCxnSpPr>
          <p:nvPr/>
        </p:nvCxnSpPr>
        <p:spPr>
          <a:xfrm flipV="1">
            <a:off x="12696768" y="1729601"/>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CasellaDiTesto 3">
            <a:extLst>
              <a:ext uri="{FF2B5EF4-FFF2-40B4-BE49-F238E27FC236}">
                <a16:creationId xmlns:a16="http://schemas.microsoft.com/office/drawing/2014/main" id="{4A21F745-1F8B-402C-8E86-BAFABDBE5DE6}"/>
              </a:ext>
            </a:extLst>
          </p:cNvPr>
          <p:cNvSpPr txBox="1">
            <a:spLocks noChangeArrowheads="1"/>
          </p:cNvSpPr>
          <p:nvPr/>
        </p:nvSpPr>
        <p:spPr bwMode="auto">
          <a:xfrm>
            <a:off x="1066220" y="204091"/>
            <a:ext cx="1707118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800" b="1" i="1">
                <a:solidFill>
                  <a:srgbClr val="0070C0"/>
                </a:solidFill>
                <a:latin typeface="Poppins" panose="020B0604020202020204" charset="0"/>
                <a:cs typeface="Poppins" panose="020B0604020202020204" charset="0"/>
              </a:rPr>
              <a:t>Postulato della </a:t>
            </a:r>
            <a:r>
              <a:rPr lang="it-IT" altLang="it-IT" sz="4800" b="1">
                <a:solidFill>
                  <a:srgbClr val="0070C0"/>
                </a:solidFill>
                <a:latin typeface="Poppins" panose="020B0604020202020204" charset="0"/>
                <a:cs typeface="Poppins" panose="020B0604020202020204" charset="0"/>
              </a:rPr>
              <a:t>continuità dei criteri di valutazione</a:t>
            </a:r>
          </a:p>
        </p:txBody>
      </p:sp>
      <p:sp>
        <p:nvSpPr>
          <p:cNvPr id="56323" name="Rectangle 3">
            <a:extLst>
              <a:ext uri="{FF2B5EF4-FFF2-40B4-BE49-F238E27FC236}">
                <a16:creationId xmlns:a16="http://schemas.microsoft.com/office/drawing/2014/main" id="{2983560D-4C65-41F8-95CA-94832E0AA9E0}"/>
              </a:ext>
            </a:extLst>
          </p:cNvPr>
          <p:cNvSpPr>
            <a:spLocks noGrp="1" noChangeArrowheads="1"/>
          </p:cNvSpPr>
          <p:nvPr>
            <p:ph idx="1"/>
          </p:nvPr>
        </p:nvSpPr>
        <p:spPr>
          <a:xfrm>
            <a:off x="1218619" y="1940023"/>
            <a:ext cx="11114629" cy="7560468"/>
          </a:xfrm>
        </p:spPr>
        <p:txBody>
          <a:bodyPr rtlCol="0">
            <a:normAutofit fontScale="92500"/>
          </a:bodyPr>
          <a:lstStyle/>
          <a:p>
            <a:pPr algn="just">
              <a:buClr>
                <a:srgbClr val="0070C0"/>
              </a:buClr>
              <a:buFont typeface="Wingdings" panose="05000000000000000000" pitchFamily="2" charset="2"/>
              <a:buChar char="§"/>
              <a:defRPr/>
            </a:pPr>
            <a:r>
              <a:rPr lang="it-IT" altLang="it-IT" sz="3600" dirty="0">
                <a:solidFill>
                  <a:srgbClr val="0070C0"/>
                </a:solidFill>
                <a:latin typeface="Poppins" panose="020B0604020202020204" charset="0"/>
                <a:cs typeface="Poppins" panose="020B0604020202020204" charset="0"/>
              </a:rPr>
              <a:t>L’applicazione costante nel tempo dei medesimi criteri di valutazione è un presupposto indispensabile per poter confrontare i bilanci dei diversi esercizi e apprezzare le variazioni nella situazione economica, patrimoniale e finanziaria dell’impresa</a:t>
            </a:r>
          </a:p>
          <a:p>
            <a:pPr algn="just">
              <a:buClr>
                <a:srgbClr val="C00000"/>
              </a:buClr>
              <a:buFont typeface="Wingdings" panose="05000000000000000000" pitchFamily="2" charset="2"/>
              <a:buChar char="§"/>
              <a:defRPr/>
            </a:pPr>
            <a:endParaRPr lang="it-IT" altLang="it-IT" sz="3600" dirty="0">
              <a:solidFill>
                <a:srgbClr val="0070C0"/>
              </a:solidFill>
              <a:latin typeface="Poppins" panose="020B0604020202020204" charset="0"/>
              <a:cs typeface="Poppins" panose="020B0604020202020204" charset="0"/>
            </a:endParaRPr>
          </a:p>
          <a:p>
            <a:pPr algn="just">
              <a:buClr>
                <a:srgbClr val="0070C0"/>
              </a:buClr>
              <a:buFont typeface="Wingdings" panose="05000000000000000000" pitchFamily="2" charset="2"/>
              <a:buChar char="§"/>
              <a:defRPr/>
            </a:pPr>
            <a:r>
              <a:rPr lang="it-IT" altLang="it-IT" sz="3600" dirty="0">
                <a:solidFill>
                  <a:srgbClr val="0070C0"/>
                </a:solidFill>
                <a:latin typeface="Poppins" panose="020B0604020202020204" charset="0"/>
                <a:cs typeface="Poppins" panose="020B0604020202020204" charset="0"/>
              </a:rPr>
              <a:t>Il divieto di modifica dei criteri di valutazione a cui fa riferimento il Codice Civile (art. 2423-bis, 1° comma, n.6) deve essere inteso come riferito alle politiche contabili (cioè alla scelta dei metodi di valutazione alternativamente utilizzabili) e non alle stime (cioè alle ipotesi) utilizzate nella loro applicazione. </a:t>
            </a:r>
          </a:p>
        </p:txBody>
      </p:sp>
      <p:pic>
        <p:nvPicPr>
          <p:cNvPr id="53253" name="Immagine 5">
            <a:extLst>
              <a:ext uri="{FF2B5EF4-FFF2-40B4-BE49-F238E27FC236}">
                <a16:creationId xmlns:a16="http://schemas.microsoft.com/office/drawing/2014/main" id="{27037F3E-7A51-4098-9DA2-8916D5EF8B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2704"/>
          <a:stretch>
            <a:fillRect/>
          </a:stretch>
        </p:blipFill>
        <p:spPr bwMode="auto">
          <a:xfrm>
            <a:off x="12964398" y="1589978"/>
            <a:ext cx="5324475" cy="791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Connettore 1 6">
            <a:extLst>
              <a:ext uri="{FF2B5EF4-FFF2-40B4-BE49-F238E27FC236}">
                <a16:creationId xmlns:a16="http://schemas.microsoft.com/office/drawing/2014/main" id="{D5D31EA0-412D-4323-B60E-B6C8FA69CDC2}"/>
              </a:ext>
            </a:extLst>
          </p:cNvPr>
          <p:cNvCxnSpPr>
            <a:cxnSpLocks/>
          </p:cNvCxnSpPr>
          <p:nvPr/>
        </p:nvCxnSpPr>
        <p:spPr>
          <a:xfrm flipV="1">
            <a:off x="12964398" y="1832866"/>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a:extLst>
              <a:ext uri="{FF2B5EF4-FFF2-40B4-BE49-F238E27FC236}">
                <a16:creationId xmlns:a16="http://schemas.microsoft.com/office/drawing/2014/main" id="{D0C567A6-139F-4A23-8EA2-DFF34BD04230}"/>
              </a:ext>
            </a:extLst>
          </p:cNvPr>
          <p:cNvSpPr>
            <a:spLocks noGrp="1" noChangeArrowheads="1"/>
          </p:cNvSpPr>
          <p:nvPr>
            <p:ph idx="1"/>
          </p:nvPr>
        </p:nvSpPr>
        <p:spPr>
          <a:xfrm>
            <a:off x="928688" y="2014538"/>
            <a:ext cx="11025418" cy="6527007"/>
          </a:xfrm>
        </p:spPr>
        <p:txBody>
          <a:bodyPr rtlCol="0">
            <a:normAutofit fontScale="77500" lnSpcReduction="20000"/>
          </a:bodyPr>
          <a:lstStyle/>
          <a:p>
            <a:pPr>
              <a:lnSpc>
                <a:spcPct val="120000"/>
              </a:lnSpc>
              <a:buClr>
                <a:srgbClr val="0070C0"/>
              </a:buClr>
              <a:buFont typeface="Wingdings" panose="05000000000000000000" pitchFamily="2" charset="2"/>
              <a:buChar char="§"/>
              <a:defRPr/>
            </a:pPr>
            <a:r>
              <a:rPr lang="it-IT" altLang="it-IT" sz="4800" dirty="0">
                <a:solidFill>
                  <a:srgbClr val="0070C0"/>
                </a:solidFill>
                <a:latin typeface="Poppins" panose="020B0604020202020204" charset="0"/>
                <a:cs typeface="Poppins" panose="020B0604020202020204" charset="0"/>
              </a:rPr>
              <a:t>Non è disciplinato dal c.c. in modo esplicito</a:t>
            </a:r>
          </a:p>
          <a:p>
            <a:pPr>
              <a:lnSpc>
                <a:spcPct val="120000"/>
              </a:lnSpc>
              <a:buClr>
                <a:srgbClr val="0070C0"/>
              </a:buClr>
              <a:buFont typeface="Wingdings" panose="05000000000000000000" pitchFamily="2" charset="2"/>
              <a:buChar char="§"/>
              <a:defRPr/>
            </a:pPr>
            <a:r>
              <a:rPr lang="it-IT" altLang="it-IT" sz="4800" dirty="0">
                <a:solidFill>
                  <a:srgbClr val="0070C0"/>
                </a:solidFill>
                <a:latin typeface="Poppins" panose="020B0604020202020204" charset="0"/>
                <a:cs typeface="Poppins" panose="020B0604020202020204" charset="0"/>
              </a:rPr>
              <a:t>“il bilancio deve essere preparato per una moltitudine di destinatari e deve fondarsi su principi contabili indipendenti ed imparziali verso tutti i destinatari”</a:t>
            </a:r>
          </a:p>
          <a:p>
            <a:pPr>
              <a:lnSpc>
                <a:spcPct val="120000"/>
              </a:lnSpc>
              <a:buClr>
                <a:srgbClr val="0070C0"/>
              </a:buClr>
              <a:buFont typeface="Wingdings" panose="05000000000000000000" pitchFamily="2" charset="2"/>
              <a:buChar char="§"/>
              <a:defRPr/>
            </a:pPr>
            <a:r>
              <a:rPr lang="it-IT" altLang="it-IT" sz="4800" dirty="0">
                <a:solidFill>
                  <a:srgbClr val="0070C0"/>
                </a:solidFill>
                <a:latin typeface="Poppins" panose="020B0604020202020204" charset="0"/>
                <a:cs typeface="Poppins" panose="020B0604020202020204" charset="0"/>
              </a:rPr>
              <a:t>La finalità del bilancio non è riconducibile esclusivamente alla determinazione del reddito ai fini fiscali</a:t>
            </a:r>
          </a:p>
        </p:txBody>
      </p:sp>
      <p:sp>
        <p:nvSpPr>
          <p:cNvPr id="55299" name="CasellaDiTesto 3">
            <a:extLst>
              <a:ext uri="{FF2B5EF4-FFF2-40B4-BE49-F238E27FC236}">
                <a16:creationId xmlns:a16="http://schemas.microsoft.com/office/drawing/2014/main" id="{78CF3288-17ED-49D2-91A6-C1B54B3B503A}"/>
              </a:ext>
            </a:extLst>
          </p:cNvPr>
          <p:cNvSpPr txBox="1">
            <a:spLocks noChangeArrowheads="1"/>
          </p:cNvSpPr>
          <p:nvPr/>
        </p:nvSpPr>
        <p:spPr bwMode="auto">
          <a:xfrm>
            <a:off x="776288" y="404813"/>
            <a:ext cx="125682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t-IT" altLang="it-IT" sz="4800" b="1" dirty="0">
                <a:solidFill>
                  <a:srgbClr val="0070C0"/>
                </a:solidFill>
                <a:latin typeface="Poppins" panose="020B0604020202020204" charset="0"/>
                <a:cs typeface="Poppins" panose="020B0604020202020204" charset="0"/>
              </a:rPr>
              <a:t>Postulato</a:t>
            </a:r>
            <a:r>
              <a:rPr lang="it-IT" altLang="it-IT" sz="4800" b="1" i="1" dirty="0">
                <a:solidFill>
                  <a:srgbClr val="0070C0"/>
                </a:solidFill>
                <a:latin typeface="Poppins" panose="020B0604020202020204" charset="0"/>
                <a:cs typeface="Poppins" panose="020B0604020202020204" charset="0"/>
              </a:rPr>
              <a:t> </a:t>
            </a:r>
            <a:r>
              <a:rPr lang="it-IT" altLang="it-IT" sz="4800" b="1" dirty="0">
                <a:solidFill>
                  <a:srgbClr val="0070C0"/>
                </a:solidFill>
                <a:latin typeface="Poppins" panose="020B0604020202020204" charset="0"/>
                <a:cs typeface="Poppins" panose="020B0604020202020204" charset="0"/>
              </a:rPr>
              <a:t>della</a:t>
            </a:r>
            <a:r>
              <a:rPr lang="it-IT" altLang="it-IT" sz="4800" b="1" i="1" dirty="0">
                <a:solidFill>
                  <a:srgbClr val="0070C0"/>
                </a:solidFill>
                <a:latin typeface="Poppins" panose="020B0604020202020204" charset="0"/>
                <a:cs typeface="Poppins" panose="020B0604020202020204" charset="0"/>
              </a:rPr>
              <a:t> </a:t>
            </a:r>
            <a:r>
              <a:rPr lang="it-IT" altLang="it-IT" sz="4800" b="1" dirty="0">
                <a:solidFill>
                  <a:srgbClr val="0070C0"/>
                </a:solidFill>
                <a:latin typeface="Poppins" panose="020B0604020202020204" charset="0"/>
                <a:cs typeface="Poppins" panose="020B0604020202020204" charset="0"/>
              </a:rPr>
              <a:t>neutralità</a:t>
            </a:r>
          </a:p>
        </p:txBody>
      </p:sp>
      <p:pic>
        <p:nvPicPr>
          <p:cNvPr id="55301" name="Immagine 6">
            <a:extLst>
              <a:ext uri="{FF2B5EF4-FFF2-40B4-BE49-F238E27FC236}">
                <a16:creationId xmlns:a16="http://schemas.microsoft.com/office/drawing/2014/main" id="{E49E6852-BE98-4905-A807-861983C0E8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2704"/>
          <a:stretch>
            <a:fillRect/>
          </a:stretch>
        </p:blipFill>
        <p:spPr bwMode="auto">
          <a:xfrm>
            <a:off x="12963525" y="1321595"/>
            <a:ext cx="5324475" cy="791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Connettore 1 6">
            <a:extLst>
              <a:ext uri="{FF2B5EF4-FFF2-40B4-BE49-F238E27FC236}">
                <a16:creationId xmlns:a16="http://schemas.microsoft.com/office/drawing/2014/main" id="{2D0A5F46-A523-490F-BE11-D63D2EEA67DE}"/>
              </a:ext>
            </a:extLst>
          </p:cNvPr>
          <p:cNvCxnSpPr>
            <a:cxnSpLocks/>
          </p:cNvCxnSpPr>
          <p:nvPr/>
        </p:nvCxnSpPr>
        <p:spPr>
          <a:xfrm flipV="1">
            <a:off x="12696768" y="1564483"/>
            <a:ext cx="0" cy="766762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5" y="990643"/>
            <a:ext cx="8230961" cy="9048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err="1">
                <a:solidFill>
                  <a:srgbClr val="216AD9"/>
                </a:solidFill>
                <a:latin typeface="Poppins SemiBold"/>
                <a:ea typeface="Poppins SemiBold"/>
                <a:cs typeface="Poppins SemiBold"/>
                <a:sym typeface="Poppins SemiBold"/>
              </a:rPr>
              <a:t>Stato</a:t>
            </a:r>
            <a:r>
              <a:rPr lang="en-US" sz="5600" b="1" i="0" u="none" strike="noStrike" cap="none" dirty="0">
                <a:solidFill>
                  <a:srgbClr val="216AD9"/>
                </a:solidFill>
                <a:latin typeface="Poppins SemiBold"/>
                <a:ea typeface="Poppins SemiBold"/>
                <a:cs typeface="Poppins SemiBold"/>
                <a:sym typeface="Poppins SemiBold"/>
              </a:rPr>
              <a:t> </a:t>
            </a:r>
            <a:r>
              <a:rPr lang="en-US" sz="5600" b="1" i="0" u="none" strike="noStrike" cap="none" dirty="0" err="1">
                <a:solidFill>
                  <a:srgbClr val="216AD9"/>
                </a:solidFill>
                <a:latin typeface="Poppins SemiBold"/>
                <a:ea typeface="Poppins SemiBold"/>
                <a:cs typeface="Poppins SemiBold"/>
                <a:sym typeface="Poppins SemiBold"/>
              </a:rPr>
              <a:t>Patrimoniale</a:t>
            </a:r>
            <a:endParaRPr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679270" y="2225753"/>
            <a:ext cx="17164593" cy="7017306"/>
          </a:xfrm>
          <a:prstGeom prst="rect">
            <a:avLst/>
          </a:prstGeom>
          <a:noFill/>
        </p:spPr>
        <p:txBody>
          <a:bodyPr wrap="square">
            <a:spAutoFit/>
          </a:bodyPr>
          <a:lstStyle/>
          <a:p>
            <a:pPr algn="just"/>
            <a:r>
              <a:rPr lang="it-IT" sz="3000" dirty="0">
                <a:solidFill>
                  <a:srgbClr val="0070C0"/>
                </a:solidFill>
                <a:latin typeface="Poppins" panose="020B0604020202020204" charset="0"/>
                <a:cs typeface="Poppins" panose="020B0604020202020204" charset="0"/>
              </a:rPr>
              <a:t>Lo stato patrimoniale è un rendiconto della situazione patrimoniale e finanziaria della società; quando viene redatto si ottiene una fotografia, relativa a un certo istante, delle attività e delle passività dell’impresa.</a:t>
            </a:r>
          </a:p>
          <a:p>
            <a:pPr algn="just"/>
            <a:endParaRPr lang="it-IT" sz="3000" dirty="0">
              <a:solidFill>
                <a:srgbClr val="0070C0"/>
              </a:solidFill>
              <a:latin typeface="Poppins" panose="020B0604020202020204" charset="0"/>
              <a:cs typeface="Poppins" panose="020B0604020202020204" charset="0"/>
            </a:endParaRPr>
          </a:p>
          <a:p>
            <a:pPr algn="just"/>
            <a:r>
              <a:rPr lang="it-IT" sz="3000" dirty="0">
                <a:solidFill>
                  <a:srgbClr val="0070C0"/>
                </a:solidFill>
                <a:latin typeface="Poppins" panose="020B0604020202020204" charset="0"/>
                <a:cs typeface="Poppins" panose="020B0604020202020204" charset="0"/>
              </a:rPr>
              <a:t>Lo stato patrimoniale testimonia quindi la struttura del capitale della società al termine dell’esercizio e si articola in due sezioni contrapposte:</a:t>
            </a:r>
          </a:p>
          <a:p>
            <a:pPr algn="just"/>
            <a:endParaRPr lang="it-IT" sz="3000" dirty="0">
              <a:solidFill>
                <a:srgbClr val="0070C0"/>
              </a:solidFill>
              <a:latin typeface="Poppins" panose="020B0604020202020204" charset="0"/>
              <a:cs typeface="Poppins" panose="020B0604020202020204" charset="0"/>
            </a:endParaRPr>
          </a:p>
          <a:p>
            <a:pPr marL="457200" indent="-457200" algn="just">
              <a:buClr>
                <a:srgbClr val="0070C0"/>
              </a:buClr>
              <a:buFont typeface="Poppins" panose="020B0604020202020204" charset="0"/>
              <a:buChar char="•"/>
            </a:pPr>
            <a:r>
              <a:rPr lang="it-IT" sz="3000" b="1" u="sng" dirty="0">
                <a:solidFill>
                  <a:srgbClr val="0070C0"/>
                </a:solidFill>
                <a:latin typeface="Poppins" panose="020B0604020202020204" charset="0"/>
                <a:cs typeface="Poppins" panose="020B0604020202020204" charset="0"/>
              </a:rPr>
              <a:t>Attivo</a:t>
            </a:r>
            <a:r>
              <a:rPr lang="it-IT" sz="3000" dirty="0">
                <a:solidFill>
                  <a:srgbClr val="0070C0"/>
                </a:solidFill>
                <a:latin typeface="Poppins" panose="020B0604020202020204" charset="0"/>
                <a:cs typeface="Poppins" panose="020B0604020202020204" charset="0"/>
              </a:rPr>
              <a:t> (chiamato anche impieghi), che indica dove e per che cosa l’impresa spende il denaro proveniente dalle fonti citate nel Passivo; l’ammontare dell’Attivo viene presentato suddiviso per tipologie di investimenti e impieghi effettuati;</a:t>
            </a:r>
          </a:p>
          <a:p>
            <a:pPr marL="457200" indent="-457200" algn="just">
              <a:buFont typeface="Arial" panose="020B0604020202020204" pitchFamily="34" charset="0"/>
              <a:buChar char="•"/>
            </a:pPr>
            <a:endParaRPr lang="it-IT" sz="3000" u="sng" dirty="0">
              <a:solidFill>
                <a:srgbClr val="0070C0"/>
              </a:solidFill>
              <a:latin typeface="Poppins" panose="020B0604020202020204" charset="0"/>
              <a:cs typeface="Poppins" panose="020B0604020202020204" charset="0"/>
            </a:endParaRPr>
          </a:p>
          <a:p>
            <a:pPr marL="457200" indent="-457200" algn="just">
              <a:buClr>
                <a:srgbClr val="0070C0"/>
              </a:buClr>
              <a:buFont typeface="Arial" panose="020B0604020202020204" pitchFamily="34" charset="0"/>
              <a:buChar char="•"/>
            </a:pPr>
            <a:r>
              <a:rPr lang="it-IT" sz="3000" b="1" u="sng" dirty="0">
                <a:solidFill>
                  <a:srgbClr val="0070C0"/>
                </a:solidFill>
                <a:latin typeface="Poppins" panose="020B0604020202020204" charset="0"/>
                <a:cs typeface="Poppins" panose="020B0604020202020204" charset="0"/>
              </a:rPr>
              <a:t>Passivo</a:t>
            </a:r>
            <a:r>
              <a:rPr lang="it-IT" sz="3000" dirty="0">
                <a:solidFill>
                  <a:srgbClr val="0070C0"/>
                </a:solidFill>
                <a:latin typeface="Poppins" panose="020B0604020202020204" charset="0"/>
                <a:cs typeface="Poppins" panose="020B0604020202020204" charset="0"/>
              </a:rPr>
              <a:t> (chiamato anche fonti), che indica da dove l’impresa prende i soldi: in particolare chiarisce quanto denaro l’azienda ha ricevuto dall’esterno (dai finanziatori) e quanto ne raccoglie dall’interno (ovvero il capitale sociale, le riserve e l’utile generato negli anni precedenti e non distribuito ai soci).</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7" y="1144900"/>
            <a:ext cx="3293040"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ATTIVO</a:t>
            </a:r>
            <a:endParaRPr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605957" y="2337381"/>
            <a:ext cx="14863463" cy="7294305"/>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Qualsiasi impresa, per poter esercitare, deve dotarsi di una struttura produttiva. Questo significa che devono essere effettuati degli investimenti e che il denaro deve essere impiegato in diversi modi. È possibile individuare varie destinazioni tra cui, per esempio, terreni e fabbricati, macchinari e attrezzature, mobili e arredi, automezzi, scorte, crediti concessi ai clienti, cassa ecc.</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Tutti i valori di queste voci, alla data in cui si chiude l’esercizio fiscale (generalmente il 31 dicembre), vengono inseriti nella sezione delle attività dello stato patrimoniale: quindi, le voci elencate tra le attività rappresentano le modalità con cui sono stati utilizzati i capitali di cui l’azienda dispone.</a:t>
            </a:r>
          </a:p>
        </p:txBody>
      </p:sp>
    </p:spTree>
    <p:extLst>
      <p:ext uri="{BB962C8B-B14F-4D97-AF65-F5344CB8AC3E}">
        <p14:creationId xmlns:p14="http://schemas.microsoft.com/office/powerpoint/2010/main" val="17735348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7" y="1144900"/>
            <a:ext cx="3293040"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PASSIVO</a:t>
            </a:r>
            <a:endParaRPr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605957" y="2881342"/>
            <a:ext cx="14863463" cy="5078313"/>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Per poter far fronte agli investimenti, l’impresa deve quindi disporre di capitali, che si procura attingendo alle varie fonti di finanziamento che costituiscono il Passivo. Alcune di esse sono i conferimenti dei soci, le obbligazioni, i debiti verso le banche o verso i fornitori.</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 valori delle fonti di finanziamento vengono quindi riportati al 31 dicembre di ogni anno nella sezione delle passività dello stato patrimoniale.</a:t>
            </a:r>
          </a:p>
        </p:txBody>
      </p:sp>
    </p:spTree>
    <p:extLst>
      <p:ext uri="{BB962C8B-B14F-4D97-AF65-F5344CB8AC3E}">
        <p14:creationId xmlns:p14="http://schemas.microsoft.com/office/powerpoint/2010/main" val="42693991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2011189"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COSA C’È NELL’ATTIVO?</a:t>
            </a:r>
            <a:endParaRPr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605957" y="2881342"/>
            <a:ext cx="14863463" cy="4524315"/>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Secondo le disposizioni riportate dal Codice civile, le voci dell’Attivo si distinguono in quattro </a:t>
            </a:r>
            <a:r>
              <a:rPr lang="it-IT" sz="3600" dirty="0" err="1">
                <a:solidFill>
                  <a:srgbClr val="0070C0"/>
                </a:solidFill>
                <a:latin typeface="Poppins" panose="020B0604020202020204" charset="0"/>
                <a:cs typeface="Poppins" panose="020B0604020202020204" charset="0"/>
              </a:rPr>
              <a:t>macroclassi</a:t>
            </a:r>
            <a:r>
              <a:rPr lang="it-IT" sz="3600" dirty="0">
                <a:solidFill>
                  <a:srgbClr val="0070C0"/>
                </a:solidFill>
                <a:latin typeface="Poppins" panose="020B0604020202020204" charset="0"/>
                <a:cs typeface="Poppins" panose="020B0604020202020204" charset="0"/>
              </a:rPr>
              <a:t>, che possono essere così sintetizzate:</a:t>
            </a:r>
          </a:p>
          <a:p>
            <a:pPr algn="just"/>
            <a:endParaRPr lang="it-IT" sz="3600" dirty="0">
              <a:solidFill>
                <a:srgbClr val="0070C0"/>
              </a:solidFill>
              <a:latin typeface="Poppins" panose="020B0604020202020204" charset="0"/>
              <a:cs typeface="Poppins" panose="020B0604020202020204" charset="0"/>
            </a:endParaRP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Crediti verso soci per versamenti ancora dovuti;</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Immobilizzazioni;</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Attivo circolante;</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Ratei e risconti attivi.</a:t>
            </a:r>
          </a:p>
        </p:txBody>
      </p:sp>
    </p:spTree>
    <p:extLst>
      <p:ext uri="{BB962C8B-B14F-4D97-AF65-F5344CB8AC3E}">
        <p14:creationId xmlns:p14="http://schemas.microsoft.com/office/powerpoint/2010/main" val="772262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2011189"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CREDITI VERSO I SOCI</a:t>
            </a:r>
            <a:endParaRPr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605956" y="3509789"/>
            <a:ext cx="15460610" cy="5632311"/>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L’inserimento di questa specifica </a:t>
            </a:r>
            <a:r>
              <a:rPr lang="it-IT" sz="3600" dirty="0" err="1">
                <a:solidFill>
                  <a:srgbClr val="0070C0"/>
                </a:solidFill>
                <a:latin typeface="Poppins" panose="020B0604020202020204" charset="0"/>
                <a:cs typeface="Poppins" panose="020B0604020202020204" charset="0"/>
              </a:rPr>
              <a:t>macroclasse</a:t>
            </a:r>
            <a:r>
              <a:rPr lang="it-IT" sz="3600" dirty="0">
                <a:solidFill>
                  <a:srgbClr val="0070C0"/>
                </a:solidFill>
                <a:latin typeface="Poppins" panose="020B0604020202020204" charset="0"/>
                <a:cs typeface="Poppins" panose="020B0604020202020204" charset="0"/>
              </a:rPr>
              <a:t> all’interno delle attività dello stato patrimoniale risponde all’esigenza di evidenziare quei casi in cui il capitale sociale risulta interamente sottoscritto, ma solo parzialmente versato.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Pertanto, i crediti si riferiscono ai versamenti ancora dovuti dai soci, nel rispetto degli accordi presi in sede di sottoscrizione del capitale sociale. Qui si inserisce perciò quella parte di capitale sociale che i soci non hanno ancora versato, ma che dovranno a tutti i costi garantire.</a:t>
            </a:r>
          </a:p>
        </p:txBody>
      </p:sp>
      <p:pic>
        <p:nvPicPr>
          <p:cNvPr id="2" name="Immagine 1">
            <a:extLst>
              <a:ext uri="{FF2B5EF4-FFF2-40B4-BE49-F238E27FC236}">
                <a16:creationId xmlns:a16="http://schemas.microsoft.com/office/drawing/2014/main" id="{1898B731-EB8A-44CE-80CB-A5217C3CD07F}"/>
              </a:ext>
            </a:extLst>
          </p:cNvPr>
          <p:cNvPicPr>
            <a:picLocks noChangeAspect="1"/>
          </p:cNvPicPr>
          <p:nvPr/>
        </p:nvPicPr>
        <p:blipFill>
          <a:blip r:embed="rId3"/>
          <a:stretch>
            <a:fillRect/>
          </a:stretch>
        </p:blipFill>
        <p:spPr>
          <a:xfrm>
            <a:off x="10336749" y="602166"/>
            <a:ext cx="2662109" cy="2662109"/>
          </a:xfrm>
          <a:prstGeom prst="rect">
            <a:avLst/>
          </a:prstGeom>
        </p:spPr>
      </p:pic>
    </p:spTree>
    <p:extLst>
      <p:ext uri="{BB962C8B-B14F-4D97-AF65-F5344CB8AC3E}">
        <p14:creationId xmlns:p14="http://schemas.microsoft.com/office/powerpoint/2010/main" val="32952707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2011189"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IMMOBILIZZAZIONI</a:t>
            </a:r>
            <a:endParaRPr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413695" y="3158341"/>
            <a:ext cx="15460610" cy="3970318"/>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In questa </a:t>
            </a:r>
            <a:r>
              <a:rPr lang="it-IT" sz="3600" dirty="0" err="1">
                <a:solidFill>
                  <a:srgbClr val="0070C0"/>
                </a:solidFill>
                <a:latin typeface="Poppins" panose="020B0604020202020204" charset="0"/>
                <a:cs typeface="Poppins" panose="020B0604020202020204" charset="0"/>
              </a:rPr>
              <a:t>macroclasse</a:t>
            </a:r>
            <a:r>
              <a:rPr lang="it-IT" sz="3600" dirty="0">
                <a:solidFill>
                  <a:srgbClr val="0070C0"/>
                </a:solidFill>
                <a:latin typeface="Poppins" panose="020B0604020202020204" charset="0"/>
                <a:cs typeface="Poppins" panose="020B0604020202020204" charset="0"/>
              </a:rPr>
              <a:t> rientrano tutte le risorse destinate a essere utilizzate in maniera durevole nell’ambito dell’attività d’impresa; al suo interno si distinguono tre sottocategorie:</a:t>
            </a:r>
          </a:p>
          <a:p>
            <a:pPr algn="just"/>
            <a:endParaRPr lang="it-IT" sz="3600" dirty="0">
              <a:solidFill>
                <a:srgbClr val="0070C0"/>
              </a:solidFill>
              <a:latin typeface="Poppins" panose="020B0604020202020204" charset="0"/>
              <a:cs typeface="Poppins" panose="020B0604020202020204" charset="0"/>
            </a:endParaRP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Le immobilizzazioni immateriali</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Le immobilizzazioni materiali</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Le immobilizzazioni finanziarie</a:t>
            </a:r>
          </a:p>
        </p:txBody>
      </p:sp>
    </p:spTree>
    <p:extLst>
      <p:ext uri="{BB962C8B-B14F-4D97-AF65-F5344CB8AC3E}">
        <p14:creationId xmlns:p14="http://schemas.microsoft.com/office/powerpoint/2010/main" val="23167680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2011189"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IMMOBILIZZAZIONI IMMATERIALI</a:t>
            </a:r>
            <a:endParaRPr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413695" y="3712339"/>
            <a:ext cx="15460610" cy="2862322"/>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Sono tutti quei beni intangibili – come i marchi, le licenze o i brevetti – che hanno un valore per l’impresa, anche se non hanno una consistenza fisica.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Per esempio il marchio: più è forte, più l’impresa acquista valore.</a:t>
            </a:r>
          </a:p>
        </p:txBody>
      </p:sp>
      <p:pic>
        <p:nvPicPr>
          <p:cNvPr id="2" name="Immagine 1">
            <a:extLst>
              <a:ext uri="{FF2B5EF4-FFF2-40B4-BE49-F238E27FC236}">
                <a16:creationId xmlns:a16="http://schemas.microsoft.com/office/drawing/2014/main" id="{BB046905-9F27-4048-BDBC-D0FE9CCEB774}"/>
              </a:ext>
            </a:extLst>
          </p:cNvPr>
          <p:cNvPicPr>
            <a:picLocks noChangeAspect="1"/>
          </p:cNvPicPr>
          <p:nvPr/>
        </p:nvPicPr>
        <p:blipFill>
          <a:blip r:embed="rId3"/>
          <a:stretch>
            <a:fillRect/>
          </a:stretch>
        </p:blipFill>
        <p:spPr>
          <a:xfrm>
            <a:off x="13401669" y="392501"/>
            <a:ext cx="2003667" cy="2538926"/>
          </a:xfrm>
          <a:prstGeom prst="rect">
            <a:avLst/>
          </a:prstGeom>
        </p:spPr>
      </p:pic>
    </p:spTree>
    <p:extLst>
      <p:ext uri="{BB962C8B-B14F-4D97-AF65-F5344CB8AC3E}">
        <p14:creationId xmlns:p14="http://schemas.microsoft.com/office/powerpoint/2010/main" val="3562335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2011189"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IMMOBILIZZAZIONI MATERIALI</a:t>
            </a:r>
            <a:endParaRPr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413695" y="3553757"/>
            <a:ext cx="15460610" cy="4524315"/>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I beni tangibili che l’impresa ha comprato per esercitare la propria attività produttiva (per esempio fabbricati, macchinari, impianti, automezzi, attrezzature industriali e commerciali, computer, mobili d’ufficio ecc.).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Il loro valore nell’Attivo corrisponde al costo di acquisto o, in alternativa, al costo di produzione (nel caso in cui un macchinario sia stato prodotto internamente).</a:t>
            </a:r>
          </a:p>
        </p:txBody>
      </p:sp>
      <p:pic>
        <p:nvPicPr>
          <p:cNvPr id="3" name="Immagine 2">
            <a:extLst>
              <a:ext uri="{FF2B5EF4-FFF2-40B4-BE49-F238E27FC236}">
                <a16:creationId xmlns:a16="http://schemas.microsoft.com/office/drawing/2014/main" id="{64014109-4855-434F-A75F-20814ADE6BAC}"/>
              </a:ext>
            </a:extLst>
          </p:cNvPr>
          <p:cNvPicPr>
            <a:picLocks noChangeAspect="1"/>
          </p:cNvPicPr>
          <p:nvPr/>
        </p:nvPicPr>
        <p:blipFill rotWithShape="1">
          <a:blip r:embed="rId3"/>
          <a:srcRect t="3363" b="9190"/>
          <a:stretch/>
        </p:blipFill>
        <p:spPr>
          <a:xfrm>
            <a:off x="12726437" y="120670"/>
            <a:ext cx="3337348" cy="3082587"/>
          </a:xfrm>
          <a:prstGeom prst="rect">
            <a:avLst/>
          </a:prstGeom>
        </p:spPr>
      </p:pic>
    </p:spTree>
    <p:extLst>
      <p:ext uri="{BB962C8B-B14F-4D97-AF65-F5344CB8AC3E}">
        <p14:creationId xmlns:p14="http://schemas.microsoft.com/office/powerpoint/2010/main" val="8908830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2011189"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IMMOBILIZZAZIONI FINANZIARIE</a:t>
            </a:r>
            <a:endParaRPr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413695" y="2955791"/>
            <a:ext cx="15460610" cy="6186309"/>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Rientrano le partecipazioni detenute in altre società, i crediti verso altre imprese, eventuali titoli diversi dalle partecipazioni (obbligazioni, titoli di stato, quote di fondi comuni d’investimento ecc.) e le azioni proprie.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È bene precisare che le partecipazioni che devono essere iscritte tra le immobilizzazioni finanziarie sono quelle destinate a una detenzione duratura; a tale proposito, la legge presume che la detenzione sia duratura quando l’impresa partecipa in misura superiore al 20% al capitale di un’altra società (o superiore al 10% se la società a cui si partecipa è quotata in borsa).</a:t>
            </a:r>
          </a:p>
        </p:txBody>
      </p:sp>
      <p:pic>
        <p:nvPicPr>
          <p:cNvPr id="2" name="Immagine 1">
            <a:extLst>
              <a:ext uri="{FF2B5EF4-FFF2-40B4-BE49-F238E27FC236}">
                <a16:creationId xmlns:a16="http://schemas.microsoft.com/office/drawing/2014/main" id="{60CC2445-2601-4F53-9F2B-B1B06BAEBE72}"/>
              </a:ext>
            </a:extLst>
          </p:cNvPr>
          <p:cNvPicPr>
            <a:picLocks noChangeAspect="1"/>
          </p:cNvPicPr>
          <p:nvPr/>
        </p:nvPicPr>
        <p:blipFill rotWithShape="1">
          <a:blip r:embed="rId3"/>
          <a:srcRect l="10211" t="15606" r="10211" b="14747"/>
          <a:stretch/>
        </p:blipFill>
        <p:spPr>
          <a:xfrm>
            <a:off x="13390506" y="301842"/>
            <a:ext cx="3202509" cy="2368523"/>
          </a:xfrm>
          <a:prstGeom prst="rect">
            <a:avLst/>
          </a:prstGeom>
        </p:spPr>
      </p:pic>
    </p:spTree>
    <p:extLst>
      <p:ext uri="{BB962C8B-B14F-4D97-AF65-F5344CB8AC3E}">
        <p14:creationId xmlns:p14="http://schemas.microsoft.com/office/powerpoint/2010/main" val="41589917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2011189"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ATTIVO CIRCOLANTE</a:t>
            </a:r>
            <a:endParaRPr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413695" y="3158341"/>
            <a:ext cx="15460610" cy="5632311"/>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Nell’Attivo circolante rientrano tutte le attività a breve termine: ovvero quelle che non sono destinate a rimanere a lungo all’interno dell’impresa. In questo raggruppamento, si trovano le seguenti componenti:</a:t>
            </a:r>
          </a:p>
          <a:p>
            <a:pPr algn="just"/>
            <a:endParaRPr lang="it-IT" sz="3600" dirty="0">
              <a:solidFill>
                <a:srgbClr val="0070C0"/>
              </a:solidFill>
              <a:latin typeface="Poppins" panose="020B0604020202020204" charset="0"/>
              <a:cs typeface="Poppins" panose="020B0604020202020204" charset="0"/>
            </a:endParaRP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Le rimanenze o scorte</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I crediti</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Le attività finanziarie che non costituiscono immobilizzazioni</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Le disponibilità liquide</a:t>
            </a:r>
          </a:p>
          <a:p>
            <a:pPr marL="571500" indent="-571500" algn="just">
              <a:buClr>
                <a:srgbClr val="0070C0"/>
              </a:buClr>
              <a:buFont typeface="Arial" panose="020B0604020202020204" pitchFamily="34" charset="0"/>
              <a:buChar char="•"/>
            </a:pPr>
            <a:endParaRPr lang="it-IT" sz="36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9109060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2011189"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LE RIMANENZE O SCORTE</a:t>
            </a:r>
            <a:endParaRPr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413695" y="4048028"/>
            <a:ext cx="15460610" cy="3970318"/>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Vi rientrano le materie prime (il filo, la stoffa e i bottoni per una giacca), semilavorati (le giacche imbastite, senza le rifiniture) e/o prodotti finiti (le giacche pronte per essere vendute).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Le rimanenze sono collocate nell’Attivo perché rappresentano investimenti che in genere si trasformano in denaro al massimo entro 12 mesi (quando le giacche saranno vendute).</a:t>
            </a:r>
          </a:p>
        </p:txBody>
      </p:sp>
      <p:pic>
        <p:nvPicPr>
          <p:cNvPr id="2" name="Immagine 1">
            <a:extLst>
              <a:ext uri="{FF2B5EF4-FFF2-40B4-BE49-F238E27FC236}">
                <a16:creationId xmlns:a16="http://schemas.microsoft.com/office/drawing/2014/main" id="{FBD29F66-9F21-426E-8AEE-4D9E47861F86}"/>
              </a:ext>
            </a:extLst>
          </p:cNvPr>
          <p:cNvPicPr>
            <a:picLocks noChangeAspect="1"/>
          </p:cNvPicPr>
          <p:nvPr/>
        </p:nvPicPr>
        <p:blipFill>
          <a:blip r:embed="rId3"/>
          <a:stretch>
            <a:fillRect/>
          </a:stretch>
        </p:blipFill>
        <p:spPr>
          <a:xfrm>
            <a:off x="11303086" y="898431"/>
            <a:ext cx="2561195" cy="2561195"/>
          </a:xfrm>
          <a:prstGeom prst="rect">
            <a:avLst/>
          </a:prstGeom>
        </p:spPr>
      </p:pic>
    </p:spTree>
    <p:extLst>
      <p:ext uri="{BB962C8B-B14F-4D97-AF65-F5344CB8AC3E}">
        <p14:creationId xmlns:p14="http://schemas.microsoft.com/office/powerpoint/2010/main" val="4826342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2011189"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I CREDITI</a:t>
            </a:r>
            <a:endParaRPr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413695" y="4937714"/>
            <a:ext cx="15460610" cy="1754326"/>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Riguardano i crediti verso i clienti ai quali l’impresa ha già consegnato i propri prodotti, che però non sono stati ancora pagati.</a:t>
            </a:r>
          </a:p>
        </p:txBody>
      </p:sp>
      <p:pic>
        <p:nvPicPr>
          <p:cNvPr id="3" name="Immagine 2">
            <a:extLst>
              <a:ext uri="{FF2B5EF4-FFF2-40B4-BE49-F238E27FC236}">
                <a16:creationId xmlns:a16="http://schemas.microsoft.com/office/drawing/2014/main" id="{5B7D199A-127A-448F-ADF3-64FAE621169A}"/>
              </a:ext>
            </a:extLst>
          </p:cNvPr>
          <p:cNvPicPr>
            <a:picLocks noChangeAspect="1"/>
          </p:cNvPicPr>
          <p:nvPr/>
        </p:nvPicPr>
        <p:blipFill>
          <a:blip r:embed="rId3"/>
          <a:stretch>
            <a:fillRect/>
          </a:stretch>
        </p:blipFill>
        <p:spPr>
          <a:xfrm>
            <a:off x="6739002" y="456033"/>
            <a:ext cx="3445991" cy="3445991"/>
          </a:xfrm>
          <a:prstGeom prst="rect">
            <a:avLst/>
          </a:prstGeom>
        </p:spPr>
      </p:pic>
    </p:spTree>
    <p:extLst>
      <p:ext uri="{BB962C8B-B14F-4D97-AF65-F5344CB8AC3E}">
        <p14:creationId xmlns:p14="http://schemas.microsoft.com/office/powerpoint/2010/main" val="13898249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5693503" cy="206825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600" b="1" i="0" u="none" strike="noStrike" cap="none" dirty="0">
                <a:solidFill>
                  <a:srgbClr val="216AD9"/>
                </a:solidFill>
                <a:latin typeface="Poppins SemiBold"/>
                <a:ea typeface="Poppins SemiBold"/>
                <a:cs typeface="Poppins SemiBold"/>
                <a:sym typeface="Poppins SemiBold"/>
              </a:rPr>
              <a:t>ATTIVITÀ FINANZIARIE CHE NON COSTITUISCONO IMMOBILIZZAZIONI</a:t>
            </a:r>
            <a:endParaRPr lang="it-IT"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413695" y="4418730"/>
            <a:ext cx="15460610" cy="3416320"/>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Tutte le partecipazioni che non sono destinate a una detenzione duratura.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Pertanto, qui rientrano le partecipazioni di portata inferiore al 20% del capitale di un’altra società (o inferiore al 10% se la società a cui si partecipa è quotata in borsa).</a:t>
            </a:r>
          </a:p>
        </p:txBody>
      </p:sp>
      <p:pic>
        <p:nvPicPr>
          <p:cNvPr id="2" name="Immagine 1">
            <a:extLst>
              <a:ext uri="{FF2B5EF4-FFF2-40B4-BE49-F238E27FC236}">
                <a16:creationId xmlns:a16="http://schemas.microsoft.com/office/drawing/2014/main" id="{8969B09F-6471-42A9-840F-7641F83586A9}"/>
              </a:ext>
            </a:extLst>
          </p:cNvPr>
          <p:cNvPicPr>
            <a:picLocks noChangeAspect="1"/>
          </p:cNvPicPr>
          <p:nvPr/>
        </p:nvPicPr>
        <p:blipFill rotWithShape="1">
          <a:blip r:embed="rId3"/>
          <a:srcRect l="14294" t="27387" r="14552" b="16396"/>
          <a:stretch/>
        </p:blipFill>
        <p:spPr>
          <a:xfrm>
            <a:off x="14778682" y="1014522"/>
            <a:ext cx="2749960" cy="2323071"/>
          </a:xfrm>
          <a:prstGeom prst="rect">
            <a:avLst/>
          </a:prstGeom>
        </p:spPr>
      </p:pic>
    </p:spTree>
    <p:extLst>
      <p:ext uri="{BB962C8B-B14F-4D97-AF65-F5344CB8AC3E}">
        <p14:creationId xmlns:p14="http://schemas.microsoft.com/office/powerpoint/2010/main" val="17744774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5693503"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600" b="1" i="0" u="none" strike="noStrike" cap="none" dirty="0">
                <a:solidFill>
                  <a:srgbClr val="216AD9"/>
                </a:solidFill>
                <a:latin typeface="Poppins SemiBold"/>
                <a:ea typeface="Poppins SemiBold"/>
                <a:cs typeface="Poppins SemiBold"/>
                <a:sym typeface="Poppins SemiBold"/>
              </a:rPr>
              <a:t>DISPONIBILITÀ LIQUIDE</a:t>
            </a:r>
            <a:endParaRPr lang="it-IT"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413695" y="5407271"/>
            <a:ext cx="15460610" cy="1200329"/>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La cassa e il denaro sul conto corrente. In poche parole, i soldi liquidi di cui l’impresa dispone.</a:t>
            </a:r>
          </a:p>
        </p:txBody>
      </p:sp>
      <p:pic>
        <p:nvPicPr>
          <p:cNvPr id="3" name="Immagine 2">
            <a:extLst>
              <a:ext uri="{FF2B5EF4-FFF2-40B4-BE49-F238E27FC236}">
                <a16:creationId xmlns:a16="http://schemas.microsoft.com/office/drawing/2014/main" id="{CC83F869-39BD-4BAA-9FC6-655517911D6B}"/>
              </a:ext>
            </a:extLst>
          </p:cNvPr>
          <p:cNvPicPr>
            <a:picLocks noChangeAspect="1"/>
          </p:cNvPicPr>
          <p:nvPr/>
        </p:nvPicPr>
        <p:blipFill>
          <a:blip r:embed="rId3"/>
          <a:stretch>
            <a:fillRect/>
          </a:stretch>
        </p:blipFill>
        <p:spPr>
          <a:xfrm>
            <a:off x="10981038" y="980143"/>
            <a:ext cx="3899586" cy="3899586"/>
          </a:xfrm>
          <a:prstGeom prst="rect">
            <a:avLst/>
          </a:prstGeom>
        </p:spPr>
      </p:pic>
    </p:spTree>
    <p:extLst>
      <p:ext uri="{BB962C8B-B14F-4D97-AF65-F5344CB8AC3E}">
        <p14:creationId xmlns:p14="http://schemas.microsoft.com/office/powerpoint/2010/main" val="12409950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5693503"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600" b="1" i="0" u="none" strike="noStrike" cap="none" dirty="0">
                <a:solidFill>
                  <a:srgbClr val="216AD9"/>
                </a:solidFill>
                <a:latin typeface="Poppins SemiBold"/>
                <a:ea typeface="Poppins SemiBold"/>
                <a:cs typeface="Poppins SemiBold"/>
                <a:sym typeface="Poppins SemiBold"/>
              </a:rPr>
              <a:t>RATEI E RISCONTI ATTIVI</a:t>
            </a:r>
            <a:endParaRPr lang="it-IT"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141846" y="2179029"/>
            <a:ext cx="16157613" cy="7294305"/>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Si tratta di ricavi di competenza dell’esercizio realizzabili in esercizi successivi oppure di costi sostenuti nell’esercizio, ma di competenza degli esercizi successivi.</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Se il rateo attivo rappresenta un’entrata futura, relativa a ricavi già maturati ma non ancora riscossi, si configura anche come un credito nei confronti della controparte che ci deve ancora pagare, ma ha già iniziato a beneficiare dei nostri servizi.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In modo speculare, i risconti attivi rinviano al futuro una quota di costi non ancora maturati, ma già pagati; pertanto anch’essi rappresentano dei crediti per servizi non ancora goduti dalla nostra impresa, ma già pagati. </a:t>
            </a:r>
          </a:p>
        </p:txBody>
      </p:sp>
    </p:spTree>
    <p:extLst>
      <p:ext uri="{BB962C8B-B14F-4D97-AF65-F5344CB8AC3E}">
        <p14:creationId xmlns:p14="http://schemas.microsoft.com/office/powerpoint/2010/main" val="39176708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5693503"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600" b="1" i="0" u="none" strike="noStrike" cap="none" dirty="0">
                <a:solidFill>
                  <a:srgbClr val="216AD9"/>
                </a:solidFill>
                <a:latin typeface="Poppins SemiBold"/>
                <a:ea typeface="Poppins SemiBold"/>
                <a:cs typeface="Poppins SemiBold"/>
                <a:sym typeface="Poppins SemiBold"/>
              </a:rPr>
              <a:t>RATEO ATTIVO – ESEMPIO </a:t>
            </a:r>
            <a:endParaRPr lang="it-IT"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141846" y="2881342"/>
            <a:ext cx="16157613" cy="4524315"/>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Supponiamo che a fronte di una vendita effettuata il primo novembre di un certo anno, tu abbia concesso ad un cliente una dilazione del pagamento a sei mesi, ma con l’applicazione di interessi. A quel punto, è probabile che incasserai la liquidità che ti spetta nell’esercizio seguente, ma al momento della chiusura del bilancio avrai già maturato una parte di quegli interessi, ovvero quella relativa al bimestre novembre-dicembre. Questa parte dei ricavi è definita rateo attivo.</a:t>
            </a:r>
          </a:p>
        </p:txBody>
      </p:sp>
      <p:pic>
        <p:nvPicPr>
          <p:cNvPr id="2" name="Immagine 1">
            <a:extLst>
              <a:ext uri="{FF2B5EF4-FFF2-40B4-BE49-F238E27FC236}">
                <a16:creationId xmlns:a16="http://schemas.microsoft.com/office/drawing/2014/main" id="{4F8DEB8C-A2BD-4281-B4A7-1D9E69A76E82}"/>
              </a:ext>
            </a:extLst>
          </p:cNvPr>
          <p:cNvPicPr>
            <a:picLocks noChangeAspect="1"/>
          </p:cNvPicPr>
          <p:nvPr/>
        </p:nvPicPr>
        <p:blipFill rotWithShape="1">
          <a:blip r:embed="rId3"/>
          <a:srcRect l="17095" t="28010" r="14010" b="32493"/>
          <a:stretch/>
        </p:blipFill>
        <p:spPr>
          <a:xfrm>
            <a:off x="11751064" y="7111549"/>
            <a:ext cx="3917304" cy="2403153"/>
          </a:xfrm>
          <a:prstGeom prst="rect">
            <a:avLst/>
          </a:prstGeom>
        </p:spPr>
      </p:pic>
    </p:spTree>
    <p:extLst>
      <p:ext uri="{BB962C8B-B14F-4D97-AF65-F5344CB8AC3E}">
        <p14:creationId xmlns:p14="http://schemas.microsoft.com/office/powerpoint/2010/main" val="8888163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5693503"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600" b="1" i="0" u="none" strike="noStrike" cap="none" dirty="0">
                <a:solidFill>
                  <a:srgbClr val="216AD9"/>
                </a:solidFill>
                <a:latin typeface="Poppins SemiBold"/>
                <a:ea typeface="Poppins SemiBold"/>
                <a:cs typeface="Poppins SemiBold"/>
                <a:sym typeface="Poppins SemiBold"/>
              </a:rPr>
              <a:t>RISCONTO ATTIVO – ESEMPIO </a:t>
            </a:r>
            <a:endParaRPr lang="it-IT"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141846" y="2881342"/>
            <a:ext cx="16157613" cy="5632311"/>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Un tipico esempio di risconto attivo è quello del pagamento di un affitto.</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Immagina che il 15 di ogni mese paghi l’affitto del tuo ufficio, pari a 2.000 euro. Arriva il 15 dicembre di un certo anno e paghi 2.000 euro, di questa somma però, metà è di competenza di dicembre, ma l’altra metà è di competenza fino al 15 gennaio. In questo caso ci sarà quindi da considerare un risconto attivo, ossia circa 1.000 euro rappresentano un costo di competenza di gennaio, che vanno stornati dall’esercizio 2022.</a:t>
            </a:r>
          </a:p>
        </p:txBody>
      </p:sp>
      <p:pic>
        <p:nvPicPr>
          <p:cNvPr id="3" name="Immagine 2">
            <a:extLst>
              <a:ext uri="{FF2B5EF4-FFF2-40B4-BE49-F238E27FC236}">
                <a16:creationId xmlns:a16="http://schemas.microsoft.com/office/drawing/2014/main" id="{0C56B684-1D4C-43FA-B7BC-1F195AC40350}"/>
              </a:ext>
            </a:extLst>
          </p:cNvPr>
          <p:cNvPicPr>
            <a:picLocks noChangeAspect="1"/>
          </p:cNvPicPr>
          <p:nvPr/>
        </p:nvPicPr>
        <p:blipFill rotWithShape="1">
          <a:blip r:embed="rId3"/>
          <a:srcRect l="13482" t="9462" r="13724" b="11129"/>
          <a:stretch/>
        </p:blipFill>
        <p:spPr>
          <a:xfrm>
            <a:off x="13993993" y="7967132"/>
            <a:ext cx="1749132" cy="1908133"/>
          </a:xfrm>
          <a:prstGeom prst="rect">
            <a:avLst/>
          </a:prstGeom>
        </p:spPr>
      </p:pic>
    </p:spTree>
    <p:extLst>
      <p:ext uri="{BB962C8B-B14F-4D97-AF65-F5344CB8AC3E}">
        <p14:creationId xmlns:p14="http://schemas.microsoft.com/office/powerpoint/2010/main" val="56759890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EADD803C0F48442AB4649F39F36D470" ma:contentTypeVersion="3" ma:contentTypeDescription="Creare un nuovo documento." ma:contentTypeScope="" ma:versionID="d35b2196341eb729f5da875762150e16">
  <xsd:schema xmlns:xsd="http://www.w3.org/2001/XMLSchema" xmlns:xs="http://www.w3.org/2001/XMLSchema" xmlns:p="http://schemas.microsoft.com/office/2006/metadata/properties" xmlns:ns2="e77681ba-7771-496a-b5df-ee3e7b098b60" targetNamespace="http://schemas.microsoft.com/office/2006/metadata/properties" ma:root="true" ma:fieldsID="a7b6408fcc08daad0ede9d1b64b7a63e" ns2:_="">
    <xsd:import namespace="e77681ba-7771-496a-b5df-ee3e7b098b6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7681ba-7771-496a-b5df-ee3e7b098b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6096147-23FE-4DAC-94D1-F3A88FE93B36}"/>
</file>

<file path=customXml/itemProps2.xml><?xml version="1.0" encoding="utf-8"?>
<ds:datastoreItem xmlns:ds="http://schemas.openxmlformats.org/officeDocument/2006/customXml" ds:itemID="{63571321-EB28-481C-A38C-3CDAE1E50878}"/>
</file>

<file path=customXml/itemProps3.xml><?xml version="1.0" encoding="utf-8"?>
<ds:datastoreItem xmlns:ds="http://schemas.openxmlformats.org/officeDocument/2006/customXml" ds:itemID="{0B9E084A-CFF4-44C0-B4FF-6147B72B09E3}"/>
</file>

<file path=docProps/app.xml><?xml version="1.0" encoding="utf-8"?>
<Properties xmlns="http://schemas.openxmlformats.org/officeDocument/2006/extended-properties" xmlns:vt="http://schemas.openxmlformats.org/officeDocument/2006/docPropsVTypes">
  <TotalTime>273</TotalTime>
  <Words>3819</Words>
  <Application>Microsoft Office PowerPoint</Application>
  <PresentationFormat>Personalizzato</PresentationFormat>
  <Paragraphs>330</Paragraphs>
  <Slides>47</Slides>
  <Notes>43</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47</vt:i4>
      </vt:variant>
    </vt:vector>
  </HeadingPairs>
  <TitlesOfParts>
    <vt:vector size="55" baseType="lpstr">
      <vt:lpstr>Wingdings</vt:lpstr>
      <vt:lpstr>Courier New</vt:lpstr>
      <vt:lpstr>Poppins SemiBold</vt:lpstr>
      <vt:lpstr>Arial</vt:lpstr>
      <vt:lpstr>Open Sans</vt:lpstr>
      <vt:lpstr>Calibri</vt:lpstr>
      <vt:lpstr>Poppins</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Lenovo</dc:creator>
  <cp:lastModifiedBy>Piccirillo Giuseppe</cp:lastModifiedBy>
  <cp:revision>19</cp:revision>
  <dcterms:modified xsi:type="dcterms:W3CDTF">2026-04-17T16:03:25Z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0x010100CEADD803C0F48442AB4649F39F36D470</vt:lpwstr>
  </property>
</Properties>
</file>