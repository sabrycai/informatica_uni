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1.xml" ContentType="application/vnd.openxmlformats-officedocument.presentationml.slide+xml"/>
  <Override PartName="/ppt/slides/slide28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4"/>
  </p:notesMasterIdLst>
  <p:sldIdLst>
    <p:sldId id="321" r:id="rId3"/>
    <p:sldId id="319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40" r:id="rId21"/>
    <p:sldId id="341" r:id="rId22"/>
    <p:sldId id="342" r:id="rId23"/>
    <p:sldId id="343" r:id="rId24"/>
    <p:sldId id="344" r:id="rId25"/>
    <p:sldId id="355" r:id="rId26"/>
    <p:sldId id="346" r:id="rId27"/>
    <p:sldId id="361" r:id="rId28"/>
    <p:sldId id="348" r:id="rId29"/>
    <p:sldId id="349" r:id="rId30"/>
    <p:sldId id="350" r:id="rId31"/>
    <p:sldId id="362" r:id="rId32"/>
    <p:sldId id="363" r:id="rId3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530" autoAdjust="0"/>
  </p:normalViewPr>
  <p:slideViewPr>
    <p:cSldViewPr snapToGrid="0">
      <p:cViewPr varScale="1">
        <p:scale>
          <a:sx n="72" d="100"/>
          <a:sy n="72" d="100"/>
        </p:scale>
        <p:origin x="110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ustomXml" Target="../customXml/item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493A2-DF13-4115-97E7-C6035F4116CB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4C47E-9652-49FD-81BB-9E5D231745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5180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8170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368837-5288-47E5-A833-E3E3519B3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578F856-4B6A-4ED6-A203-1BE5896FF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D2E2E7D-4CA7-43C7-A807-ECCE44C5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DA2F36-3038-4040-8483-E73ACE0AD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E94B57-E4E9-4A8F-98E3-0E51EC1A2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101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3C5775-AB0F-46CE-BA22-390245003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6510D4-E73D-451E-B48E-4BCA9307F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3BDE66-140A-4845-B713-0276F509A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E24D9D-DAFA-4623-B545-D642CCCC5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0DE184-B902-425B-B1B1-979C12A8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229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8EE8D5-3730-4DBD-A749-781D78790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CE7788-352D-48DD-84A7-D04E87F33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2F352B-5879-4EE4-AC7E-A224962B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5737B0-274F-4323-84A7-A6C6B139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F05AE5D-D98A-45E6-85CE-458A4503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082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64C420-186E-4B94-972B-7ABA8E9B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4CD84D-C174-499D-8E8F-0D392E00B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3F88DA7-AFF0-426E-820B-3C838D5B8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C0A725E-7EF5-4915-831C-C0F2F5E6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CD361F0-0898-40D5-BF49-830517AD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34E2330-B793-45D4-B81A-4E306F5F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59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B5F04-31DF-43EB-956B-4EAC3EBEC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3D81060-765D-41DE-A86C-916CE0295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88A0D31-EDD4-4372-A8C7-6343D7C4F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7D0FA69-B712-46BC-9393-03F759648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55F1BD7-4DCA-4EB9-A453-353920514E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31EA687-BCAD-4D59-9B5A-A8C15BB78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6B3CED9-8688-43D0-98F1-E8E3D189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B00C7AF-27C8-4F0A-BC21-05660E2F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6244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02E6E2-3353-4A3A-8B2C-BDACE197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D8C5F73-F032-4CC9-B247-78BA3D9E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D635235-9FE9-4CEF-87A0-F66DC6DEE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7B71705-86F9-4116-8F32-A13CE56C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662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C8D9CB1-8F78-4C37-AD0A-B492C067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B540092-6ABE-420D-A902-021F6538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BBE8BC9-4090-4683-B534-3818804D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4771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C9FB83-FA33-45B9-BFEC-D5C829B7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1EF28E-23D5-4DBB-A827-4D40FAE85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D0A8C9A-3FD8-41BC-B0D6-BABC43A0C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61658A-27D5-4587-9A78-FA2704CED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D43C08F-25A8-451C-9502-B6C2C852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7D59952-49F9-4D6B-83B0-AE52CF3F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320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2872A0-49A4-41AE-9158-785521A3E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F092E96-E1E5-4E7B-8169-7BDB7C616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C869C89-12CD-4FE1-A00B-CA7CB7DDF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C84C2D0-BE17-4C01-81C6-72CF033D2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752A295-24E9-4505-B8F6-F1E8AF0C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621BB4F-4DF6-41EF-9BAE-3593EECE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880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AA7206-1E15-48EB-9513-5090494FA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52D3766-4530-4B58-BB58-6A7C97BDF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F698F9-B520-4001-8F4A-D067C36F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C86F44-2F84-43CF-9F7E-58E0AAF93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506024-6409-4235-B64A-8715E416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5143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D73AA2F-F844-4B33-9D7A-65FF40BFA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13E856E-C78D-4558-A739-2748DE8F4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B624E1-4E3E-47D6-A5D1-A0FF513C4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A06D3C-62A8-410B-91E4-2670EFC56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8D0662-936B-4C63-9D2B-6BD61185B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7148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4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01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2667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333">
                <a:solidFill>
                  <a:srgbClr val="888888"/>
                </a:solidFill>
              </a:defRPr>
            </a:lvl1pPr>
            <a:lvl2pPr marL="609630" lvl="1" indent="-152408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200">
                <a:solidFill>
                  <a:srgbClr val="888888"/>
                </a:solidFill>
              </a:defRPr>
            </a:lvl2pPr>
            <a:lvl3pPr marL="914446" lvl="2" indent="-152408" algn="l"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067">
                <a:solidFill>
                  <a:srgbClr val="888888"/>
                </a:solidFill>
              </a:defRPr>
            </a:lvl3pPr>
            <a:lvl4pPr marL="1219261" lvl="3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4pPr>
            <a:lvl5pPr marL="1524076" lvl="4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5pPr>
            <a:lvl6pPr marL="1828891" lvl="5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6pPr>
            <a:lvl7pPr marL="2133707" lvl="6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7pPr>
            <a:lvl8pPr marL="2438522" lvl="7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8pPr>
            <a:lvl9pPr marL="2743337" lvl="8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30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marL="609630" lvl="1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marL="914446" lvl="2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098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marL="609630" lvl="1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marL="914446" lvl="2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0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3096684" y="1023409"/>
            <a:ext cx="2694517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3096684" y="1449917"/>
            <a:ext cx="2694517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68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80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2383367" y="182034"/>
            <a:ext cx="3407833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87881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133"/>
            </a:lvl1pPr>
            <a:lvl2pPr marL="609630" lvl="1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1867"/>
            </a:lvl2pPr>
            <a:lvl3pPr marL="914446" lvl="2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3pPr>
            <a:lvl4pPr marL="1219261" lvl="3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4pPr>
            <a:lvl5pPr marL="1524076" lvl="4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333"/>
            </a:lvl5pPr>
            <a:lvl6pPr marL="1828891" lvl="5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6pPr>
            <a:lvl7pPr marL="2133707" lvl="6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7pPr>
            <a:lvl8pPr marL="2438522" lvl="7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8pPr>
            <a:lvl9pPr marL="2743337" lvl="8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304800" y="956734"/>
            <a:ext cx="2005542" cy="312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175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88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539346" y="-167745"/>
            <a:ext cx="3017309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2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3154892" y="1447801"/>
            <a:ext cx="390101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60892" y="127000"/>
            <a:ext cx="3901017" cy="40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0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FE853A8-BABE-4EEA-9FB1-73EA704E8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67CB922-0E3E-41C0-9C80-31C796257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024FB5-D1BA-4637-A2B3-2469BDB1A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443A6-83DC-4856-A11D-DBC81456071D}" type="datetimeFigureOut">
              <a:rPr lang="it-IT" smtClean="0"/>
              <a:t>15/05/2026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C43967-B4CD-4ABA-9935-2FFB83B74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309784-7990-4C3F-B899-222DC7D40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913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697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79E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5800" y="834282"/>
            <a:ext cx="2706633" cy="962350"/>
          </a:xfrm>
          <a:custGeom>
            <a:avLst/>
            <a:gdLst/>
            <a:ahLst/>
            <a:cxnLst/>
            <a:rect l="l" t="t" r="r" b="b"/>
            <a:pathLst>
              <a:path w="4059950" h="1443525" extrusionOk="0">
                <a:moveTo>
                  <a:pt x="0" y="0"/>
                </a:moveTo>
                <a:lnTo>
                  <a:pt x="4059950" y="0"/>
                </a:lnTo>
                <a:lnTo>
                  <a:pt x="4059950" y="1443525"/>
                </a:lnTo>
                <a:lnTo>
                  <a:pt x="0" y="1443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59"/>
            </a:stretch>
          </a:blipFill>
          <a:ln>
            <a:noFill/>
          </a:ln>
        </p:spPr>
      </p:sp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7684" y="3048800"/>
            <a:ext cx="3738517" cy="297212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85800" y="3201627"/>
            <a:ext cx="4832657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20000"/>
              </a:lnSpc>
              <a:buClr>
                <a:srgbClr val="000000"/>
              </a:buClr>
            </a:pPr>
            <a:r>
              <a:rPr lang="en-US" sz="5600" b="1" kern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Corso EOA</a:t>
            </a:r>
            <a:endParaRPr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585412" y="902380"/>
            <a:ext cx="3151981" cy="66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61030"/>
              </a:lnSpc>
              <a:buClr>
                <a:srgbClr val="000000"/>
              </a:buClr>
            </a:pPr>
            <a:r>
              <a:rPr lang="en-US" sz="1333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LAUREA TRIENNALE IN INFORMATICA 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87679" y="4196240"/>
            <a:ext cx="447372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20010"/>
              </a:lnSpc>
              <a:buClr>
                <a:srgbClr val="000000"/>
              </a:buClr>
            </a:pPr>
            <a:r>
              <a:rPr lang="en-US" sz="1867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Prof. Giuseppe </a:t>
            </a:r>
            <a:r>
              <a:rPr lang="en-US" sz="1867" b="1" kern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Piccirillo</a:t>
            </a:r>
            <a:endParaRPr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609630">
              <a:lnSpc>
                <a:spcPct val="120010"/>
              </a:lnSpc>
              <a:buClr>
                <a:srgbClr val="000000"/>
              </a:buClr>
            </a:pPr>
            <a:endParaRPr sz="1333" b="1" kern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967489" y="959530"/>
            <a:ext cx="3694067" cy="49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20010"/>
              </a:lnSpc>
              <a:buClr>
                <a:srgbClr val="000000"/>
              </a:buClr>
            </a:pPr>
            <a:r>
              <a:rPr lang="en-US" sz="1333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CORSO II SEMESTRE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609630">
              <a:lnSpc>
                <a:spcPct val="120010"/>
              </a:lnSpc>
              <a:buClr>
                <a:srgbClr val="000000"/>
              </a:buClr>
            </a:pPr>
            <a:r>
              <a:rPr lang="en-US" sz="1333" b="1" kern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2025 - 2026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85800" y="2453454"/>
            <a:ext cx="10124792" cy="369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20006"/>
              </a:lnSpc>
              <a:buClr>
                <a:srgbClr val="000000"/>
              </a:buClr>
            </a:pPr>
            <a:r>
              <a:rPr lang="en-US" sz="1999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LEZIONE. </a:t>
            </a:r>
            <a:r>
              <a:rPr lang="en-US" sz="1999" b="1" kern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 </a:t>
            </a:r>
            <a:r>
              <a:rPr lang="en-US" sz="1999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– IL BUSINESS PLAN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42A3D5D-630E-4EEA-9559-084305AF6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37" y="2326329"/>
            <a:ext cx="11103725" cy="4123166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90199" y="408505"/>
            <a:ext cx="1037216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</a:t>
            </a:r>
          </a:p>
          <a:p>
            <a:pPr algn="just"/>
            <a:endParaRPr lang="it-IT" sz="16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40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È un documento che descrive un progetto imprenditoriale.</a:t>
            </a:r>
          </a:p>
        </p:txBody>
      </p:sp>
    </p:spTree>
    <p:extLst>
      <p:ext uri="{BB962C8B-B14F-4D97-AF65-F5344CB8AC3E}">
        <p14:creationId xmlns:p14="http://schemas.microsoft.com/office/powerpoint/2010/main" val="321679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90199" y="408505"/>
            <a:ext cx="1037216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</a:t>
            </a:r>
          </a:p>
          <a:p>
            <a:pPr algn="just"/>
            <a:endParaRPr lang="it-IT" sz="40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40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Il Business Plan viene solitamente concepito come lo strumento da utilizzare per le decisioni di avvio di una nuova impresa. </a:t>
            </a:r>
          </a:p>
          <a:p>
            <a:pPr algn="just"/>
            <a:endParaRPr lang="it-IT" sz="4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40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Tuttavia, limitare la sua funzione a questo obiettivo sarebbe estremamente riduttivo.</a:t>
            </a:r>
          </a:p>
        </p:txBody>
      </p:sp>
    </p:spTree>
    <p:extLst>
      <p:ext uri="{BB962C8B-B14F-4D97-AF65-F5344CB8AC3E}">
        <p14:creationId xmlns:p14="http://schemas.microsoft.com/office/powerpoint/2010/main" val="24900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90199" y="408505"/>
            <a:ext cx="1037216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</a:t>
            </a:r>
          </a:p>
          <a:p>
            <a:pPr algn="just"/>
            <a:endParaRPr lang="it-IT" sz="40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40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Ha molteplici funzioni, corrispondenti alle diverse finalità che dovrà assolvere.</a:t>
            </a:r>
          </a:p>
          <a:p>
            <a:pPr algn="just"/>
            <a:endParaRPr lang="it-IT" sz="4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40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Rappresenta un supporto sia nelle “</a:t>
            </a:r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fasi straordinarie</a:t>
            </a:r>
            <a:r>
              <a:rPr lang="it-IT" sz="40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” della vita dell’impresa sia nella “</a:t>
            </a:r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fase ordinaria</a:t>
            </a:r>
            <a:r>
              <a:rPr lang="it-IT" sz="40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” della gestione corrente.</a:t>
            </a:r>
          </a:p>
        </p:txBody>
      </p:sp>
    </p:spTree>
    <p:extLst>
      <p:ext uri="{BB962C8B-B14F-4D97-AF65-F5344CB8AC3E}">
        <p14:creationId xmlns:p14="http://schemas.microsoft.com/office/powerpoint/2010/main" val="2114710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C42B9DA-ED0B-4748-81F7-2849D41148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542"/>
          <a:stretch/>
        </p:blipFill>
        <p:spPr>
          <a:xfrm>
            <a:off x="705441" y="813544"/>
            <a:ext cx="10781117" cy="5657993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90199" y="408505"/>
            <a:ext cx="103721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</a:t>
            </a:r>
          </a:p>
          <a:p>
            <a:pPr algn="just"/>
            <a:endParaRPr lang="it-IT" sz="40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033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90199" y="408505"/>
            <a:ext cx="103721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</a:t>
            </a:r>
          </a:p>
          <a:p>
            <a:pPr algn="just"/>
            <a:endParaRPr lang="it-IT" sz="40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Il Business Plan rappresenta lo strumento cardine del management accounting (contabilità di direzione), inteso come insieme di principi, tecniche e strumenti impiegati dalle organizzazioni aziendali per:</a:t>
            </a:r>
          </a:p>
          <a:p>
            <a:pPr algn="just"/>
            <a:endParaRPr lang="it-IT" sz="28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Pianificare le strategie, le tattiche e le operazioni future;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Ottimizzare l’uso delle risorse;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Misurare e valutare le prestazioni;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Ridurre, per quanto possibile, la soggettività del processo decisionale;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Migliorare la comunicazione esterna ed interna.</a:t>
            </a:r>
          </a:p>
        </p:txBody>
      </p:sp>
    </p:spTree>
    <p:extLst>
      <p:ext uri="{BB962C8B-B14F-4D97-AF65-F5344CB8AC3E}">
        <p14:creationId xmlns:p14="http://schemas.microsoft.com/office/powerpoint/2010/main" val="294257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90199" y="408505"/>
            <a:ext cx="103721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</a:t>
            </a:r>
          </a:p>
          <a:p>
            <a:pPr algn="just"/>
            <a:endParaRPr lang="it-IT" sz="40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2BAD579-84A7-436B-91FF-F003BCB8F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43" y="1496291"/>
            <a:ext cx="11655314" cy="435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7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90199" y="408505"/>
            <a:ext cx="10372166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40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Fattori da considerare:</a:t>
            </a:r>
          </a:p>
          <a:p>
            <a:pPr algn="just"/>
            <a:endParaRPr lang="it-IT" sz="32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DESTINATARI DEL BUSINESS PLAN</a:t>
            </a: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DEFINIRE UN OBIETTIVO CHIARO</a:t>
            </a: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RICERCA</a:t>
            </a: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CHIAREZZA E CAPACITÀ DI SINTESI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896C65C-98DA-4FBD-BE87-7B0480CA4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371" y="2254742"/>
            <a:ext cx="1031474" cy="103147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8198CBE-23AC-494B-AD91-186602AA69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537" t="10121" r="17405" b="19273"/>
          <a:stretch/>
        </p:blipFill>
        <p:spPr>
          <a:xfrm>
            <a:off x="6641869" y="3429000"/>
            <a:ext cx="847898" cy="103147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FA64F2B-17FA-4DCC-B761-B9F72730F2A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20" t="12122" r="11373" b="12000"/>
          <a:stretch/>
        </p:blipFill>
        <p:spPr>
          <a:xfrm>
            <a:off x="2826327" y="4189613"/>
            <a:ext cx="1242077" cy="123028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0F8B871-1879-45E4-BBE1-DB8490A974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154" t="3475" r="7526" b="4133"/>
          <a:stretch/>
        </p:blipFill>
        <p:spPr>
          <a:xfrm>
            <a:off x="6829916" y="4989669"/>
            <a:ext cx="1216242" cy="131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892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90199" y="408505"/>
            <a:ext cx="103721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40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1 - Executive </a:t>
            </a:r>
            <a:r>
              <a:rPr lang="it-IT" sz="4000" u="sng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summary</a:t>
            </a:r>
            <a:endParaRPr lang="it-IT" sz="40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2 - Informazioni sull’azienda</a:t>
            </a: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4 - L’impresa</a:t>
            </a: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5 - Strategia di marketing</a:t>
            </a: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6 - Piano logistico e gestionale</a:t>
            </a: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7 - Analisi economico-finanziaria</a:t>
            </a:r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561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07071" y="151179"/>
            <a:ext cx="10372166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L'executive </a:t>
            </a:r>
            <a:r>
              <a:rPr lang="it-IT" sz="3200" u="sng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summary</a:t>
            </a:r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è una sezione del business plan che ha lo scopo di sintetizzare tutto ciò che segue, fornendo ai lettori - ad esempio, a potenziali investitori - una panoramica generale dell’attività.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concept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Obiettivi e visione aziendale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Descrizione del prodotto e differenziazione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Mercato target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Strategia di marketing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Situazione finanziaria attuale e prevista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Il team</a:t>
            </a:r>
          </a:p>
        </p:txBody>
      </p:sp>
    </p:spTree>
    <p:extLst>
      <p:ext uri="{BB962C8B-B14F-4D97-AF65-F5344CB8AC3E}">
        <p14:creationId xmlns:p14="http://schemas.microsoft.com/office/powerpoint/2010/main" val="967637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07071" y="167805"/>
            <a:ext cx="10372166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2 - Informazioni sull’azienda</a:t>
            </a:r>
          </a:p>
          <a:p>
            <a:pPr algn="just"/>
            <a:endParaRPr lang="it-IT" sz="32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Questa sezione dovrebbe rispondere a due domande chiave:</a:t>
            </a: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Chi sei?</a:t>
            </a: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Cosa hai in mente di realizzare?</a:t>
            </a: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In tal modo, si può spiegare perché si è sul mercato e quali sono le caratteristiche che differenziano il business da quello dei concorrenti. Inoltre, vanno individuati i progetti e le ragioni per cui l’azienda è una buona realtà su cui investire.</a:t>
            </a:r>
          </a:p>
        </p:txBody>
      </p:sp>
    </p:spTree>
    <p:extLst>
      <p:ext uri="{BB962C8B-B14F-4D97-AF65-F5344CB8AC3E}">
        <p14:creationId xmlns:p14="http://schemas.microsoft.com/office/powerpoint/2010/main" val="1079460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07071" y="167805"/>
            <a:ext cx="10372166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2 - Informazioni sull’azienda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Idea imprenditoriale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Va sintetizzato il settore in cui il progetto di impresa si inserisce, i principali prodotti/servizi che intende offrire sul mercato, un’indicazione del modello di business e dei potenziali clienti. Ciascuno di questi aspetti viene successivamente approfondito nel business plan.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Struttura aziendale e natura dell’attività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Settore di attività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Vision, mission e valori aziendali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Informazioni su come è nata l’azienda o sulla sua storia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Obiettivi di business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Il team, con i collaboratori chiave e i loro stipendi</a:t>
            </a:r>
          </a:p>
        </p:txBody>
      </p:sp>
    </p:spTree>
    <p:extLst>
      <p:ext uri="{BB962C8B-B14F-4D97-AF65-F5344CB8AC3E}">
        <p14:creationId xmlns:p14="http://schemas.microsoft.com/office/powerpoint/2010/main" val="1525811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07071" y="167805"/>
            <a:ext cx="1037216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È una sezione chiave del business plan.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Dimensioni del mercato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Analisi della posizione dell’azienda sul mercato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Descrizione del panorama competitivo</a:t>
            </a:r>
          </a:p>
          <a:p>
            <a:pPr algn="just"/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Mercato potenziale 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  <a:sym typeface="Wingdings" panose="05000000000000000000" pitchFamily="2" charset="2"/>
              </a:rPr>
              <a:t> 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è importante:</a:t>
            </a:r>
          </a:p>
          <a:p>
            <a:pPr marL="449263" indent="-449263"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Delineare il profilo del cliente ideale, soprattutto per quanto riguarda gli aspetti demografici.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Ricercare le principali tendenze e prospettive del settore.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Effettuare previsioni sulla base delle informazioni.</a:t>
            </a:r>
          </a:p>
        </p:txBody>
      </p:sp>
    </p:spTree>
    <p:extLst>
      <p:ext uri="{BB962C8B-B14F-4D97-AF65-F5344CB8AC3E}">
        <p14:creationId xmlns:p14="http://schemas.microsoft.com/office/powerpoint/2010/main" val="2790103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3437911" y="1203116"/>
            <a:ext cx="7907333" cy="533745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07071" y="167805"/>
            <a:ext cx="1037216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</a:t>
            </a:r>
          </a:p>
        </p:txBody>
      </p:sp>
    </p:spTree>
    <p:extLst>
      <p:ext uri="{BB962C8B-B14F-4D97-AF65-F5344CB8AC3E}">
        <p14:creationId xmlns:p14="http://schemas.microsoft.com/office/powerpoint/2010/main" val="3824893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8458803" y="425470"/>
            <a:ext cx="3395151" cy="229172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06182" y="425470"/>
            <a:ext cx="11379635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Un’analisi SWOT è quanto di più importante si possa fare per valutare un progetto e sviluppare la strategia. 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Bisognerà chiedersi dove si vuole andare, come arrivarci e cosa potrebbe intralciare il  percorso.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Capire quali sono i punti di forza e di debolezza della startup; le opportunità e le minacce del business; stabilire una strategia che tenga conto di questi aspetti.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723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8458803" y="425470"/>
            <a:ext cx="3395151" cy="229172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06182" y="425470"/>
            <a:ext cx="11379635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SWOT è l’acronimo di </a:t>
            </a:r>
            <a:r>
              <a:rPr lang="it-IT" sz="2400" u="sng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Strengths</a:t>
            </a:r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,</a:t>
            </a: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 </a:t>
            </a:r>
            <a:r>
              <a:rPr lang="it-IT" sz="2400" u="sng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Weaknesses</a:t>
            </a:r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,</a:t>
            </a: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 </a:t>
            </a:r>
            <a:r>
              <a:rPr lang="it-IT" sz="2400" u="sng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Opportunities</a:t>
            </a:r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,</a:t>
            </a: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e </a:t>
            </a:r>
            <a:r>
              <a:rPr lang="it-IT" sz="2400" u="sng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Threats</a:t>
            </a:r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(forze, debolezze, opportunità e minacce). Determinando e analizzando questi quattro aspetti del progetto si avranno gli strumenti per definire una strategia di lancio efficace.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Le startup e le aziende sono esposte a fattori interni ed esterni, meglio noti come fattori controllabili e incontrollabili.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340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8458803" y="425470"/>
            <a:ext cx="3395151" cy="229172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06182" y="212735"/>
            <a:ext cx="11379635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 tal proposito l’analisi SWOT sottolinea questa distinzione: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b="1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 punti di forza e di debolezza </a:t>
            </a: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sono interni all’azienda, si può esercitare su di loro un controllo e nel caso anche modificarli o migliorarli.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b="1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Le opportunità e le minacce </a:t>
            </a: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sono esterne e ovviamente NON sono controllabili.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Le aziende possono utilizzare l’analisi SWOT per valutare la loro </a:t>
            </a:r>
            <a:r>
              <a:rPr lang="it-IT" sz="2400" b="1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situazione attuale </a:t>
            </a: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e per determinare una</a:t>
            </a:r>
            <a:r>
              <a:rPr lang="it-IT" sz="2400" b="1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 strategia futura</a:t>
            </a: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2091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8458803" y="425470"/>
            <a:ext cx="3395151" cy="229172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06182" y="56138"/>
            <a:ext cx="11379635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 punti di forza sono gli aspetti positivi di cui ci si può vantare.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Essendo fattori interni sono sotto il controllo così come i punti di debolezza che richiedono una particolare attenzione e necessitano di essere migliorati nel tempo. Le debolezze sono negative riducono i punti di forza. 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Chi o cosa all’interno dell’organizzazione può fare la differenza o necessita di un miglioramento? 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Prendiamo quindi in esame: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Risorse umane (ruoli, dipendenti, processi organizzativi)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Risorse finanziarie (reddito, bilancio)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Risorse fisiche (materie prime, attrezzature)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Brevetto, marchio etc..</a:t>
            </a:r>
          </a:p>
        </p:txBody>
      </p:sp>
    </p:spTree>
    <p:extLst>
      <p:ext uri="{BB962C8B-B14F-4D97-AF65-F5344CB8AC3E}">
        <p14:creationId xmlns:p14="http://schemas.microsoft.com/office/powerpoint/2010/main" val="1696661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8458803" y="425470"/>
            <a:ext cx="3395151" cy="229172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06182" y="56138"/>
            <a:ext cx="11379635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Le opportunità sono considerate come ipotetiche situazioni che potrebbero portare un reale vantaggio competitivo mentre le minacce potrebbero danneggiare l’attuale posizione. In quest’ultimo caso la soluzione migliore è cercare di prevenire eventuali disagi attraverso la creazione di piani di emergenza da attuare nel momento opportuno.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Trattandosi di fattori esterni e non potendo avere controllo su di essi il compito sarà quello di esaminare accuratamente tutte le situazioni derivanti da:</a:t>
            </a:r>
          </a:p>
          <a:p>
            <a:pPr algn="just"/>
            <a:endParaRPr lang="it-IT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Politica (regolamenti ambientali ed economici)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Tendenze economiche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Tendenze di mercato (progressi tecnologici, cambiamenti nelle esigenze)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Rapporti con gli stakeholder</a:t>
            </a:r>
          </a:p>
        </p:txBody>
      </p:sp>
    </p:spTree>
    <p:extLst>
      <p:ext uri="{BB962C8B-B14F-4D97-AF65-F5344CB8AC3E}">
        <p14:creationId xmlns:p14="http://schemas.microsoft.com/office/powerpoint/2010/main" val="3936539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8458803" y="425470"/>
            <a:ext cx="3395151" cy="229172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06182" y="604778"/>
            <a:ext cx="11379635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L’analisi SWOT può essere usata per </a:t>
            </a:r>
            <a:r>
              <a:rPr lang="it-IT" sz="2400" b="1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definire una strategia</a:t>
            </a: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. Analizzando i fattori esterni e quelli interni si può valutare se sia meglio percorrere una strategia aggressiva oppure difensiva. 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La prima è consigliata quando c’è una forte relazione tra i punti di forza e le opportunità, la seconda, al contrario, quando c’è una forte interazione tra debolezze e minacce.</a:t>
            </a:r>
          </a:p>
        </p:txBody>
      </p:sp>
    </p:spTree>
    <p:extLst>
      <p:ext uri="{BB962C8B-B14F-4D97-AF65-F5344CB8AC3E}">
        <p14:creationId xmlns:p14="http://schemas.microsoft.com/office/powerpoint/2010/main" val="4282516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8458803" y="425470"/>
            <a:ext cx="3395151" cy="229172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06182" y="212735"/>
            <a:ext cx="11379635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Un altro motivo per cui fare l’analisi SWOT è estremamente importante è per la </a:t>
            </a:r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prevenzione dei rischi</a:t>
            </a: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.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Dopo aver completato l’analisi SWOT, infatti, si possono definire i rischi che la startup corre: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Rischi positivi: tutte le opportunità individuate.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Rischi negativi: tutte le minacce identificate.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È importante ricordare che per ogni nuova identificazione del rischio è necessario definire strategie in cui è possibile utilizzare i punti di forza e le opportunità per ridurre al minimo i punti deboli ed evitare le minacce.</a:t>
            </a:r>
          </a:p>
        </p:txBody>
      </p:sp>
    </p:spTree>
    <p:extLst>
      <p:ext uri="{BB962C8B-B14F-4D97-AF65-F5344CB8AC3E}">
        <p14:creationId xmlns:p14="http://schemas.microsoft.com/office/powerpoint/2010/main" val="1467710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8458803" y="425470"/>
            <a:ext cx="3395151" cy="229172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06182" y="212735"/>
            <a:ext cx="11379635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CE2A5CD-D6E9-46F2-8F12-E349C9EC8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50" y="2970426"/>
            <a:ext cx="11523804" cy="32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71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8390666" y="109311"/>
            <a:ext cx="3395151" cy="229172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06182" y="212735"/>
            <a:ext cx="11379635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it-IT" sz="36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6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 – ESEMPIO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0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Proviamo a fare un esempio di analisi partendo dalla definizione dell’obiettivo da raggiungere che ipotizziamo sia immettere sul mercato un nuovo prodotto X da parte dell’azienda Y. </a:t>
            </a:r>
          </a:p>
          <a:p>
            <a:pPr algn="just"/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0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Il CEO dichiara aperta la seduta di brainstorming chiedendo di ragionare sui fattori interni e esterni, positivi e negativi, che possono influire sul lancio del nuovo prodotto.</a:t>
            </a:r>
          </a:p>
          <a:p>
            <a:pPr algn="just"/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0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L’azienda è presente da 10 anni sul mercato, vanta un brand affermato grazie al prodotto realizzato con successo in precedenza. Hanno a disposizione delle abbondanti risorse finanziare che permetteranno di avere una certa stabilità per l’intero esercizio.</a:t>
            </a:r>
          </a:p>
          <a:p>
            <a:pPr algn="just"/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0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D’altro canto però sono carenti di personale in alcuni reparti, in particolare quello di ricerca e sviluppo che da tempo cerca di scoprire se dei nuovi materiali ecosostenibili possano essere adatti alla realizzazione del prodotto X e le attrezzature dedicate alla produzione e alla gestione dello stesso non sono ancora state ottimizzate.</a:t>
            </a:r>
          </a:p>
        </p:txBody>
      </p:sp>
    </p:spTree>
    <p:extLst>
      <p:ext uri="{BB962C8B-B14F-4D97-AF65-F5344CB8AC3E}">
        <p14:creationId xmlns:p14="http://schemas.microsoft.com/office/powerpoint/2010/main" val="3018723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8390666" y="109311"/>
            <a:ext cx="3395151" cy="229172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06182" y="212735"/>
            <a:ext cx="1137963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it-IT" sz="36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6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 – ESEMPIO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graphicFrame>
        <p:nvGraphicFramePr>
          <p:cNvPr id="5" name="Segnaposto contenuto 3">
            <a:extLst>
              <a:ext uri="{FF2B5EF4-FFF2-40B4-BE49-F238E27FC236}">
                <a16:creationId xmlns:a16="http://schemas.microsoft.com/office/drawing/2014/main" id="{747C6455-ACE8-4B88-A47C-5A50226A5C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49382" y="2483856"/>
          <a:ext cx="10293236" cy="3946214"/>
        </p:xfrm>
        <a:graphic>
          <a:graphicData uri="http://schemas.openxmlformats.org/drawingml/2006/table">
            <a:tbl>
              <a:tblPr/>
              <a:tblGrid>
                <a:gridCol w="5146618">
                  <a:extLst>
                    <a:ext uri="{9D8B030D-6E8A-4147-A177-3AD203B41FA5}">
                      <a16:colId xmlns:a16="http://schemas.microsoft.com/office/drawing/2014/main" val="1293216897"/>
                    </a:ext>
                  </a:extLst>
                </a:gridCol>
                <a:gridCol w="5146618">
                  <a:extLst>
                    <a:ext uri="{9D8B030D-6E8A-4147-A177-3AD203B41FA5}">
                      <a16:colId xmlns:a16="http://schemas.microsoft.com/office/drawing/2014/main" val="1030427977"/>
                    </a:ext>
                  </a:extLst>
                </a:gridCol>
              </a:tblGrid>
              <a:tr h="1536358">
                <a:tc>
                  <a:txBody>
                    <a:bodyPr/>
                    <a:lstStyle/>
                    <a:p>
                      <a:pPr algn="ctr" fontAlgn="base"/>
                      <a:r>
                        <a:rPr lang="it-IT" sz="4000" b="1" cap="all" dirty="0">
                          <a:solidFill>
                            <a:srgbClr val="FFFFFF"/>
                          </a:solidFill>
                          <a:effectLst/>
                          <a:latin typeface="Poppins" panose="020B0604020202020204"/>
                        </a:rPr>
                        <a:t>PUNTI DI FORZA</a:t>
                      </a:r>
                    </a:p>
                  </a:txBody>
                  <a:tcPr marL="114300" marR="114300" marT="171450" marB="171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1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it-IT" sz="4000" b="1" cap="all" dirty="0">
                          <a:solidFill>
                            <a:srgbClr val="FFFFFF"/>
                          </a:solidFill>
                          <a:effectLst/>
                          <a:latin typeface="Poppins" panose="020B0604020202020204"/>
                        </a:rPr>
                        <a:t>PUNTI DI DEBOLEZZA</a:t>
                      </a:r>
                    </a:p>
                  </a:txBody>
                  <a:tcPr marL="114300" marR="114300" marT="171450" marB="171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1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369583"/>
                  </a:ext>
                </a:extLst>
              </a:tr>
              <a:tr h="2409856"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r>
                        <a:rPr lang="it-IT" sz="2800" b="0" dirty="0">
                          <a:solidFill>
                            <a:srgbClr val="0070C0"/>
                          </a:solidFill>
                          <a:effectLst/>
                          <a:latin typeface="Poppins" panose="020B0604020202020204"/>
                        </a:rPr>
                        <a:t>Presenza solida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r>
                        <a:rPr lang="it-IT" sz="2800" b="0" dirty="0">
                          <a:solidFill>
                            <a:srgbClr val="0070C0"/>
                          </a:solidFill>
                          <a:effectLst/>
                          <a:latin typeface="Poppins" panose="020B0604020202020204"/>
                        </a:rPr>
                        <a:t>Riconoscimento del brand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r>
                        <a:rPr lang="it-IT" sz="2800" b="0" dirty="0">
                          <a:solidFill>
                            <a:srgbClr val="0070C0"/>
                          </a:solidFill>
                          <a:effectLst/>
                          <a:latin typeface="Poppins" panose="020B0604020202020204"/>
                        </a:rPr>
                        <a:t>Risorse finanziarie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r>
                        <a:rPr lang="it-IT" sz="2800" b="0" dirty="0">
                          <a:solidFill>
                            <a:srgbClr val="0070C0"/>
                          </a:solidFill>
                          <a:effectLst/>
                          <a:latin typeface="Poppins" panose="020B0604020202020204"/>
                        </a:rPr>
                        <a:t>Mancanza di personale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r>
                        <a:rPr lang="it-IT" sz="2800" b="0" dirty="0">
                          <a:solidFill>
                            <a:srgbClr val="0070C0"/>
                          </a:solidFill>
                          <a:effectLst/>
                          <a:latin typeface="Poppins" panose="020B0604020202020204"/>
                        </a:rPr>
                        <a:t>Attrezzature non pronte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r>
                        <a:rPr lang="it-IT" sz="2800" b="0" dirty="0">
                          <a:solidFill>
                            <a:srgbClr val="0070C0"/>
                          </a:solidFill>
                          <a:effectLst/>
                          <a:latin typeface="Poppins" panose="020B0604020202020204"/>
                        </a:rPr>
                        <a:t>Poca ricerca e sviluppo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486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47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8390666" y="109311"/>
            <a:ext cx="3395151" cy="229172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06182" y="212735"/>
            <a:ext cx="11379635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it-IT" sz="36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6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 – ESEMPIO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Nel 2019 diverse aziende hanno provato a collocarsi all’interno del mercato con prodotti simili arrivando a conquistare delle buone posizioni grazie a delle barriere all’ingresso non troppo elevate.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Alcune materie prime utili alla costruzione del prodotto hanno avuto un incremento di prezzo, mentre alcune stanno pian piano scomparendo per dare spazio a sostituti meno inquinanti.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Il mercato nell’ultimo biennio ha dimostrato di tendere verso un’economia più sostenibile e attenta all’ambiente e l’azienda ha da sempre promosso queste iniziative.</a:t>
            </a:r>
          </a:p>
        </p:txBody>
      </p:sp>
    </p:spTree>
    <p:extLst>
      <p:ext uri="{BB962C8B-B14F-4D97-AF65-F5344CB8AC3E}">
        <p14:creationId xmlns:p14="http://schemas.microsoft.com/office/powerpoint/2010/main" val="3185781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8390666" y="109311"/>
            <a:ext cx="3395151" cy="229172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06182" y="212735"/>
            <a:ext cx="1137963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it-IT" sz="36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6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 – ESEMPIO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graphicFrame>
        <p:nvGraphicFramePr>
          <p:cNvPr id="5" name="Segnaposto contenuto 3">
            <a:extLst>
              <a:ext uri="{FF2B5EF4-FFF2-40B4-BE49-F238E27FC236}">
                <a16:creationId xmlns:a16="http://schemas.microsoft.com/office/drawing/2014/main" id="{747C6455-ACE8-4B88-A47C-5A50226A5C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60975"/>
              </p:ext>
            </p:extLst>
          </p:nvPr>
        </p:nvGraphicFramePr>
        <p:xfrm>
          <a:off x="949382" y="2483856"/>
          <a:ext cx="10293236" cy="3946214"/>
        </p:xfrm>
        <a:graphic>
          <a:graphicData uri="http://schemas.openxmlformats.org/drawingml/2006/table">
            <a:tbl>
              <a:tblPr/>
              <a:tblGrid>
                <a:gridCol w="5146618">
                  <a:extLst>
                    <a:ext uri="{9D8B030D-6E8A-4147-A177-3AD203B41FA5}">
                      <a16:colId xmlns:a16="http://schemas.microsoft.com/office/drawing/2014/main" val="1293216897"/>
                    </a:ext>
                  </a:extLst>
                </a:gridCol>
                <a:gridCol w="5146618">
                  <a:extLst>
                    <a:ext uri="{9D8B030D-6E8A-4147-A177-3AD203B41FA5}">
                      <a16:colId xmlns:a16="http://schemas.microsoft.com/office/drawing/2014/main" val="1030427977"/>
                    </a:ext>
                  </a:extLst>
                </a:gridCol>
              </a:tblGrid>
              <a:tr h="1536358">
                <a:tc>
                  <a:txBody>
                    <a:bodyPr/>
                    <a:lstStyle/>
                    <a:p>
                      <a:pPr algn="ctr" fontAlgn="base"/>
                      <a:r>
                        <a:rPr lang="it-IT" sz="4000" b="1" cap="all" dirty="0">
                          <a:solidFill>
                            <a:srgbClr val="FFFFFF"/>
                          </a:solidFill>
                          <a:effectLst/>
                          <a:latin typeface="Poppins" panose="020B0604020202020204"/>
                        </a:rPr>
                        <a:t>MINACCE</a:t>
                      </a:r>
                    </a:p>
                  </a:txBody>
                  <a:tcPr marL="114300" marR="114300" marT="171450" marB="171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1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it-IT" sz="4000" b="1" cap="all" dirty="0">
                          <a:solidFill>
                            <a:srgbClr val="FFFFFF"/>
                          </a:solidFill>
                          <a:effectLst/>
                          <a:latin typeface="Poppins" panose="020B0604020202020204"/>
                        </a:rPr>
                        <a:t>Opportunità</a:t>
                      </a:r>
                    </a:p>
                  </a:txBody>
                  <a:tcPr marL="114300" marR="114300" marT="171450" marB="171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1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369583"/>
                  </a:ext>
                </a:extLst>
              </a:tr>
              <a:tr h="2409856"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r>
                        <a:rPr lang="it-IT" sz="2800" b="0" dirty="0">
                          <a:solidFill>
                            <a:srgbClr val="0070C0"/>
                          </a:solidFill>
                          <a:effectLst/>
                          <a:latin typeface="Poppins" panose="020B0604020202020204"/>
                        </a:rPr>
                        <a:t>Nuovi competitor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r>
                        <a:rPr lang="it-IT" sz="2800" b="0" dirty="0">
                          <a:solidFill>
                            <a:srgbClr val="0070C0"/>
                          </a:solidFill>
                          <a:effectLst/>
                          <a:latin typeface="Poppins" panose="020B0604020202020204"/>
                        </a:rPr>
                        <a:t>Aumento prezzi materie prime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r>
                        <a:rPr lang="it-IT" sz="2800" b="0" dirty="0">
                          <a:solidFill>
                            <a:srgbClr val="0070C0"/>
                          </a:solidFill>
                          <a:effectLst/>
                          <a:latin typeface="Poppins" panose="020B0604020202020204"/>
                        </a:rPr>
                        <a:t>Scomparsa di materiali inquinanti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r>
                        <a:rPr lang="it-IT" sz="2800" b="0" dirty="0">
                          <a:solidFill>
                            <a:srgbClr val="0070C0"/>
                          </a:solidFill>
                          <a:effectLst/>
                          <a:latin typeface="Poppins" panose="020B0604020202020204"/>
                        </a:rPr>
                        <a:t>Tendenze di mercato verso un’economia attenta all’ambiente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None/>
                      </a:pPr>
                      <a:r>
                        <a:rPr lang="it-IT" sz="2800" b="0" dirty="0">
                          <a:solidFill>
                            <a:srgbClr val="0070C0"/>
                          </a:solidFill>
                          <a:effectLst/>
                          <a:latin typeface="Poppins" panose="020B0604020202020204"/>
                        </a:rPr>
                        <a:t>Nuovi materiali meno inquinanti</a:t>
                      </a:r>
                    </a:p>
                  </a:txBody>
                  <a:tcPr marL="114300" marR="114300" marT="114300" marB="1143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486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899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DE2C001-83B9-4B53-A7C3-BB2531672C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92" t="9856" r="12983" b="9409"/>
          <a:stretch/>
        </p:blipFill>
        <p:spPr>
          <a:xfrm>
            <a:off x="8390666" y="109311"/>
            <a:ext cx="3395151" cy="229172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06182" y="212735"/>
            <a:ext cx="11379635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it-IT" sz="36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6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SWOT – ESEMPIO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b="1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Considerazioni: </a:t>
            </a: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volendo provare a risolvere questo esempio si potrebbe in primis pensare di investire nel personale o nella formazione dello stesso ma per affrontare i fattori esterni, un punto di svolta potrebbe essere ricercato nel team di ricerca e sviluppo che potrebbe così sperimentare e studiare i nuovi materiali con meno impatto ambientale, ridurre la minaccia dell’aumento dei prezzi di alcuni o della scomparsa di altri.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Infine il posizionamento e l’attenzione dedicata all’ambiente, come punto di forza, potrebbero cogliere l’opportunità che le nuove tendenze di mercato stanno offrendo facendo si che i competitor incontrino un ulteriore ostacolo.</a:t>
            </a:r>
          </a:p>
        </p:txBody>
      </p:sp>
    </p:spTree>
    <p:extLst>
      <p:ext uri="{BB962C8B-B14F-4D97-AF65-F5344CB8AC3E}">
        <p14:creationId xmlns:p14="http://schemas.microsoft.com/office/powerpoint/2010/main" val="817942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07071" y="400561"/>
            <a:ext cx="10372166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COMPETITIVA</a:t>
            </a:r>
          </a:p>
          <a:p>
            <a:pPr algn="just"/>
            <a:endParaRPr lang="it-IT" sz="28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 fattori su cui puntare per differenziare l’attività rispetto alla concorrenza possono essere:</a:t>
            </a:r>
          </a:p>
          <a:p>
            <a:pPr algn="just"/>
            <a:endParaRPr lang="it-IT" sz="28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Gestione dei costi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Differenziazione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Segmentazione</a:t>
            </a:r>
          </a:p>
        </p:txBody>
      </p:sp>
    </p:spTree>
    <p:extLst>
      <p:ext uri="{BB962C8B-B14F-4D97-AF65-F5344CB8AC3E}">
        <p14:creationId xmlns:p14="http://schemas.microsoft.com/office/powerpoint/2010/main" val="442767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657194" y="234307"/>
            <a:ext cx="1037216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endParaRPr lang="it-IT" sz="20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SEGMENTAZIONE DELLA CLIENTELA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Il cliente ideale - mercato target - è alla base della strategia di marketing e del piano operativo nel suo complesso.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La segmentazione dei clienti spesso include: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Luogo di residenza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Fascia d'età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Livello di istruzione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Modelli di comportamento comuni e passatempi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Luogo di lavoro e settore di impiego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Tecnologie utilizzate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Reddito</a:t>
            </a:r>
          </a:p>
        </p:txBody>
      </p:sp>
    </p:spTree>
    <p:extLst>
      <p:ext uri="{BB962C8B-B14F-4D97-AF65-F5344CB8AC3E}">
        <p14:creationId xmlns:p14="http://schemas.microsoft.com/office/powerpoint/2010/main" val="1388183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475815"/>
            <a:ext cx="1037216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4 - L’impresa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Si deve procedere con la descrizione del progetto nel suo complesso. 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E176F552-179B-4FFC-A617-42B853221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40" y="2746359"/>
            <a:ext cx="2422695" cy="253189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0324AA0-EFE8-4854-BD2C-4C88607233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001" t="9346" r="16476" b="9858"/>
          <a:stretch/>
        </p:blipFill>
        <p:spPr>
          <a:xfrm>
            <a:off x="2924165" y="2722837"/>
            <a:ext cx="2147304" cy="253189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AAA3E8-C323-4E27-8A07-C3FBF1E38320}"/>
              </a:ext>
            </a:extLst>
          </p:cNvPr>
          <p:cNvSpPr txBox="1"/>
          <p:nvPr/>
        </p:nvSpPr>
        <p:spPr>
          <a:xfrm>
            <a:off x="959793" y="5450018"/>
            <a:ext cx="1211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Tecnologia 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A138606-BC85-426B-B6DE-8AA0BCC3D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290" y="2574594"/>
            <a:ext cx="2875424" cy="287542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3AB4AF03-9360-49E9-A51E-1F9A912277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466" t="27636" r="5001" b="25597"/>
          <a:stretch/>
        </p:blipFill>
        <p:spPr>
          <a:xfrm>
            <a:off x="8523665" y="3085014"/>
            <a:ext cx="3357767" cy="1854584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DD1ED33-9848-4B2F-B40B-EECCA99F49F9}"/>
              </a:ext>
            </a:extLst>
          </p:cNvPr>
          <p:cNvSpPr txBox="1"/>
          <p:nvPr/>
        </p:nvSpPr>
        <p:spPr>
          <a:xfrm>
            <a:off x="2924165" y="5468455"/>
            <a:ext cx="2147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Brevetti e Know-how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6CF9028-1FD3-43FD-B8D7-974F6699BE23}"/>
              </a:ext>
            </a:extLst>
          </p:cNvPr>
          <p:cNvSpPr txBox="1"/>
          <p:nvPr/>
        </p:nvSpPr>
        <p:spPr>
          <a:xfrm>
            <a:off x="5989320" y="5450018"/>
            <a:ext cx="1907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Prodotti e servizi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12BE96F-E963-461E-9512-8C322D595732}"/>
              </a:ext>
            </a:extLst>
          </p:cNvPr>
          <p:cNvSpPr txBox="1"/>
          <p:nvPr/>
        </p:nvSpPr>
        <p:spPr>
          <a:xfrm>
            <a:off x="8814942" y="5433721"/>
            <a:ext cx="2775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del Ciclo produttivo </a:t>
            </a:r>
          </a:p>
        </p:txBody>
      </p:sp>
    </p:spTree>
    <p:extLst>
      <p:ext uri="{BB962C8B-B14F-4D97-AF65-F5344CB8AC3E}">
        <p14:creationId xmlns:p14="http://schemas.microsoft.com/office/powerpoint/2010/main" val="2682590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475815"/>
            <a:ext cx="1037216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4 - L’impresa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Si deve procedere con la descrizione del progetto nel suo complesso. 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AAA3E8-C323-4E27-8A07-C3FBF1E38320}"/>
              </a:ext>
            </a:extLst>
          </p:cNvPr>
          <p:cNvSpPr txBox="1"/>
          <p:nvPr/>
        </p:nvSpPr>
        <p:spPr>
          <a:xfrm>
            <a:off x="1262629" y="5265352"/>
            <a:ext cx="251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Modello di Business</a:t>
            </a:r>
            <a:endParaRPr lang="it-IT" sz="18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6CF9028-1FD3-43FD-B8D7-974F6699BE23}"/>
              </a:ext>
            </a:extLst>
          </p:cNvPr>
          <p:cNvSpPr txBox="1"/>
          <p:nvPr/>
        </p:nvSpPr>
        <p:spPr>
          <a:xfrm>
            <a:off x="4275512" y="5265352"/>
            <a:ext cx="3640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Team imprenditoriale e modello organizzativo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12BE96F-E963-461E-9512-8C322D595732}"/>
              </a:ext>
            </a:extLst>
          </p:cNvPr>
          <p:cNvSpPr txBox="1"/>
          <p:nvPr/>
        </p:nvSpPr>
        <p:spPr>
          <a:xfrm>
            <a:off x="9191267" y="5265352"/>
            <a:ext cx="2775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Prospettive future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591492-4BFF-44CF-837A-E1585A6244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96" t="14876" r="18646" b="10060"/>
          <a:stretch/>
        </p:blipFill>
        <p:spPr>
          <a:xfrm>
            <a:off x="1565466" y="2691699"/>
            <a:ext cx="1907772" cy="2246061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A184A06-AD1D-4A32-ACF3-6E30B577E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817" y="2766979"/>
            <a:ext cx="4286250" cy="20955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3C545B8-E218-45CE-ABB7-095A5D1574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287" t="18424" r="15886" b="15383"/>
          <a:stretch/>
        </p:blipFill>
        <p:spPr>
          <a:xfrm>
            <a:off x="9191267" y="2568655"/>
            <a:ext cx="2353106" cy="249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892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ADD803C0F48442AB4649F39F36D470" ma:contentTypeVersion="3" ma:contentTypeDescription="Creare un nuovo documento." ma:contentTypeScope="" ma:versionID="d35b2196341eb729f5da875762150e16">
  <xsd:schema xmlns:xsd="http://www.w3.org/2001/XMLSchema" xmlns:xs="http://www.w3.org/2001/XMLSchema" xmlns:p="http://schemas.microsoft.com/office/2006/metadata/properties" xmlns:ns2="e77681ba-7771-496a-b5df-ee3e7b098b60" targetNamespace="http://schemas.microsoft.com/office/2006/metadata/properties" ma:root="true" ma:fieldsID="a7b6408fcc08daad0ede9d1b64b7a63e" ns2:_="">
    <xsd:import namespace="e77681ba-7771-496a-b5df-ee3e7b098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7681ba-7771-496a-b5df-ee3e7b098b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490631-04C4-4833-808B-D3014C011EDF}"/>
</file>

<file path=customXml/itemProps2.xml><?xml version="1.0" encoding="utf-8"?>
<ds:datastoreItem xmlns:ds="http://schemas.openxmlformats.org/officeDocument/2006/customXml" ds:itemID="{3AEADE64-0890-42D5-AD38-5DCAC72BB44B}"/>
</file>

<file path=customXml/itemProps3.xml><?xml version="1.0" encoding="utf-8"?>
<ds:datastoreItem xmlns:ds="http://schemas.openxmlformats.org/officeDocument/2006/customXml" ds:itemID="{951E7BF7-ADA7-4CB4-B1C6-ACD43A3B761B}"/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1818</Words>
  <Application>Microsoft Office PowerPoint</Application>
  <PresentationFormat>Widescreen</PresentationFormat>
  <Paragraphs>282</Paragraphs>
  <Slides>31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Poppins</vt:lpstr>
      <vt:lpstr>Poppins SemiBold</vt:lpstr>
      <vt:lpstr>Wingdings</vt:lpstr>
      <vt:lpstr>Tema di Office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Piccirillo Giuseppe</dc:creator>
  <cp:lastModifiedBy>Piccirillo Giuseppe</cp:lastModifiedBy>
  <cp:revision>46</cp:revision>
  <dcterms:created xsi:type="dcterms:W3CDTF">2024-04-17T18:05:52Z</dcterms:created>
  <dcterms:modified xsi:type="dcterms:W3CDTF">2026-05-15T16:01:53Z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0x010100CEADD803C0F48442AB4649F39F36D470</vt:lpwstr>
  </property>
</Properties>
</file>